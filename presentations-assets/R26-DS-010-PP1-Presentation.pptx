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93" r:id="rId2"/>
    <p:sldId id="364" r:id="rId3"/>
    <p:sldId id="394" r:id="rId4"/>
    <p:sldId id="264" r:id="rId5"/>
    <p:sldId id="389" r:id="rId6"/>
    <p:sldId id="390" r:id="rId7"/>
    <p:sldId id="395" r:id="rId8"/>
    <p:sldId id="300" r:id="rId9"/>
    <p:sldId id="385" r:id="rId10"/>
    <p:sldId id="387" r:id="rId11"/>
    <p:sldId id="396" r:id="rId12"/>
    <p:sldId id="306" r:id="rId13"/>
    <p:sldId id="388" r:id="rId14"/>
    <p:sldId id="391" r:id="rId15"/>
    <p:sldId id="397" r:id="rId16"/>
    <p:sldId id="312" r:id="rId17"/>
    <p:sldId id="377" r:id="rId18"/>
    <p:sldId id="386" r:id="rId19"/>
    <p:sldId id="398" r:id="rId20"/>
    <p:sldId id="399" r:id="rId21"/>
    <p:sldId id="392" r:id="rId22"/>
    <p:sldId id="338" r:id="rId23"/>
    <p:sldId id="344" r:id="rId24"/>
    <p:sldId id="339" r:id="rId25"/>
    <p:sldId id="334" r:id="rId26"/>
    <p:sldId id="336" r:id="rId27"/>
    <p:sldId id="341" r:id="rId28"/>
    <p:sldId id="34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DF8"/>
    <a:srgbClr val="DA8200"/>
    <a:srgbClr val="004E9A"/>
    <a:srgbClr val="C2F1C8"/>
    <a:srgbClr val="E7EAED"/>
    <a:srgbClr val="AAE571"/>
    <a:srgbClr val="D4D4D4"/>
    <a:srgbClr val="346F9C"/>
    <a:srgbClr val="CCD2D8"/>
    <a:srgbClr val="FEDA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78" d="100"/>
          <a:sy n="78" d="100"/>
        </p:scale>
        <p:origin x="629" y="58"/>
      </p:cViewPr>
      <p:guideLst/>
    </p:cSldViewPr>
  </p:slideViewPr>
  <p:notesTextViewPr>
    <p:cViewPr>
      <p:scale>
        <a:sx n="1" d="1"/>
        <a:sy n="1" d="1"/>
      </p:scale>
      <p:origin x="0" y="-36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CC32FC-38AD-45BD-A38A-0F062591EB8C}" type="datetimeFigureOut">
              <a:rPr lang="en-SG" smtClean="0"/>
              <a:t>12/5/2026</a:t>
            </a:fld>
            <a:endParaRPr lang="en-SG"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A730EA-4618-4B6D-B3F7-BD497403B9C6}" type="slidenum">
              <a:rPr lang="en-SG" smtClean="0"/>
              <a:t>‹#›</a:t>
            </a:fld>
            <a:endParaRPr lang="en-SG" dirty="0"/>
          </a:p>
        </p:txBody>
      </p:sp>
    </p:spTree>
    <p:extLst>
      <p:ext uri="{BB962C8B-B14F-4D97-AF65-F5344CB8AC3E}">
        <p14:creationId xmlns:p14="http://schemas.microsoft.com/office/powerpoint/2010/main" val="80734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is under pressure. Caregivers burn out. Patients fall. Documentation fails. And for deaf and hard-of-hearing patients, something as basic as communication breaks down at the bedside. These are not edge cases — they are daily realities in hospitals and care homes across Sri Lanka and globally.</a:t>
            </a:r>
          </a:p>
        </p:txBody>
      </p:sp>
      <p:sp>
        <p:nvSpPr>
          <p:cNvPr id="4" name="Slide Number Placeholder 3"/>
          <p:cNvSpPr>
            <a:spLocks noGrp="1"/>
          </p:cNvSpPr>
          <p:nvPr>
            <p:ph type="sldNum" sz="quarter" idx="5"/>
          </p:nvPr>
        </p:nvSpPr>
        <p:spPr/>
        <p:txBody>
          <a:bodyPr/>
          <a:lstStyle/>
          <a:p>
            <a:fld id="{5DA730EA-4618-4B6D-B3F7-BD497403B9C6}" type="slidenum">
              <a:rPr lang="en-SG" smtClean="0"/>
              <a:t>1</a:t>
            </a:fld>
            <a:endParaRPr lang="en-SG" dirty="0"/>
          </a:p>
        </p:txBody>
      </p:sp>
    </p:spTree>
    <p:extLst>
      <p:ext uri="{BB962C8B-B14F-4D97-AF65-F5344CB8AC3E}">
        <p14:creationId xmlns:p14="http://schemas.microsoft.com/office/powerpoint/2010/main" val="1928586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PROBLEM — 40 seconds</a:t>
            </a:r>
          </a:p>
          <a:p>
            <a:r>
              <a:rPr lang="en-US" i="1" dirty="0"/>
              <a:t>"Shanafelt et al., published in Mayo Clinic Proceedings, showed that over 54% of physicians experience burnout — and the pattern is identical for nurses. But here is what makes this worse: existing tools only detect burnout after it has already occurred. They are reactive, single-modal, and impersonal — applying the same population-level threshold to every caregiver regardless of their individual physiological baseline.</a:t>
            </a:r>
            <a:endParaRPr lang="en-US" dirty="0"/>
          </a:p>
          <a:p>
            <a:r>
              <a:rPr lang="en-US" i="1" dirty="0"/>
              <a:t>And burnout is only one dimension of the problem. Caregivers also face patient falls that go undetected until it is too late, documentation systems that demand their hands and eyes when their patients need both, and a complete gap in accessible communication for deaf patients. Four connected problems. No unified solution.“</a:t>
            </a:r>
          </a:p>
          <a:p>
            <a:endParaRPr lang="en-US" i="1" dirty="0"/>
          </a:p>
          <a:p>
            <a:r>
              <a:rPr lang="en-US" b="1" dirty="0"/>
              <a:t>THE SOLUTION — 40 seconds</a:t>
            </a:r>
          </a:p>
          <a:p>
            <a:r>
              <a:rPr lang="en-US" i="1" dirty="0"/>
              <a:t>"Our group project — </a:t>
            </a:r>
            <a:r>
              <a:rPr lang="en-US" i="1" dirty="0" err="1"/>
              <a:t>CareSense</a:t>
            </a:r>
            <a:r>
              <a:rPr lang="en-US" i="1" dirty="0"/>
              <a:t> — addresses all four dimensions under one platform: Multimodal Computational Intelligence for Enhancing Caregiver Performance and Care Delivery.</a:t>
            </a:r>
            <a:endParaRPr lang="en-US" dirty="0"/>
          </a:p>
          <a:p>
            <a:r>
              <a:rPr lang="en-US" i="1" dirty="0"/>
              <a:t>The platform has four integrated components. My component — Deterioration Detection — uses physiological wearable signals and acoustic voice analysis to detect caregiver stress before the burnout threshold is reached, with </a:t>
            </a:r>
            <a:r>
              <a:rPr lang="en-US" i="1" dirty="0" err="1"/>
              <a:t>personalised</a:t>
            </a:r>
            <a:r>
              <a:rPr lang="en-US" i="1" dirty="0"/>
              <a:t> baselines and explainable AI. The second component handles edge-based fall prediction for patients. The third automates clinical documentation through voice, freeing caregiver hands entirely. The fourth provides adaptive sign-language tutoring to bridge the communication gap with deaf and hard-of-hearing patients. Together, these four components form a system that no single team member could build alone.“</a:t>
            </a:r>
          </a:p>
          <a:p>
            <a:endParaRPr lang="en-US" i="1" dirty="0"/>
          </a:p>
          <a:p>
            <a:r>
              <a:rPr lang="en-US" b="1" dirty="0"/>
              <a:t>WHO BENEFITS — 30 seconds</a:t>
            </a:r>
          </a:p>
          <a:p>
            <a:r>
              <a:rPr lang="en-US" i="1" dirty="0"/>
              <a:t>"The system serves three tiers of beneficiaries. Primary — caregivers themselves: nurses, eldercare staff, and their supervisors — who gain reduced burnout risk, better performance insights, and actionable early warnings. Secondary — patients and healthcare institutions — who benefit from fewer falls, lower error rates, and reduced turnover costs. And tertiary — deaf and hard-of-hearing patients — who gain reliable, technology-assisted signed communication at the point of care."</a:t>
            </a:r>
            <a:endParaRPr lang="en-US" dirty="0"/>
          </a:p>
          <a:p>
            <a:endParaRPr lang="en-US" dirty="0"/>
          </a:p>
          <a:p>
            <a:r>
              <a:rPr lang="en-US" b="1" dirty="0"/>
              <a:t>DESIGN EXCELLENCE — 30 seconds</a:t>
            </a:r>
          </a:p>
          <a:p>
            <a:r>
              <a:rPr lang="en-US" i="1" dirty="0"/>
              <a:t>"What distinguishes </a:t>
            </a:r>
            <a:r>
              <a:rPr lang="en-US" i="1" dirty="0" err="1"/>
              <a:t>CareSense</a:t>
            </a:r>
            <a:r>
              <a:rPr lang="en-US" i="1" dirty="0"/>
              <a:t> from existing tools comes down to four design principles. First — unified and multimodal: physiological signals, acoustic features, edge sensors, and voice documentation in a single platform. Second — </a:t>
            </a:r>
            <a:r>
              <a:rPr lang="en-US" i="1" dirty="0" err="1"/>
              <a:t>personalised</a:t>
            </a:r>
            <a:r>
              <a:rPr lang="en-US" i="1" dirty="0"/>
              <a:t> per caregiver: Isolation Forest baseline modelling means the system learns each individual's normal before raising any alert. Third — explainability built in: every risk score comes with a SHAP-based explanation so clinical supervisors can see exactly what is driving the flag, not just a number. And fourth — proactive not reactive: the system flags risk before the burnout threshold is breached, which is the fundamental gap in every existing tool."</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DA730EA-4618-4B6D-B3F7-BD497403B9C6}" type="slidenum">
              <a:rPr lang="en-SG" smtClean="0"/>
              <a:t>2</a:t>
            </a:fld>
            <a:endParaRPr lang="en-SG" dirty="0"/>
          </a:p>
        </p:txBody>
      </p:sp>
    </p:spTree>
    <p:extLst>
      <p:ext uri="{BB962C8B-B14F-4D97-AF65-F5344CB8AC3E}">
        <p14:creationId xmlns:p14="http://schemas.microsoft.com/office/powerpoint/2010/main" val="407433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FIELD VALIDATION — 40 seconds</a:t>
            </a:r>
          </a:p>
          <a:p>
            <a:r>
              <a:rPr lang="en-US" i="1" dirty="0"/>
              <a:t>"This is not a theoretical system. Before a single line of code was written, the team conducted field validation with three real </a:t>
            </a:r>
            <a:r>
              <a:rPr lang="en-US" i="1" dirty="0" err="1"/>
              <a:t>organisations</a:t>
            </a:r>
            <a:r>
              <a:rPr lang="en-US" i="1" dirty="0"/>
              <a:t>.</a:t>
            </a:r>
            <a:endParaRPr lang="en-US" dirty="0"/>
          </a:p>
          <a:p>
            <a:r>
              <a:rPr lang="en-US" i="1" dirty="0"/>
              <a:t>At Remark Elder Care, co-founder </a:t>
            </a:r>
            <a:r>
              <a:rPr lang="en-US" i="1" dirty="0" err="1"/>
              <a:t>Vidyantha</a:t>
            </a:r>
            <a:r>
              <a:rPr lang="en-US" i="1" dirty="0"/>
              <a:t> Vasantha confirmed the need for stress detection through vocal harmonics — caregivers are showing signs of stress in their voice before they report it themselves. At CCHS Colombo, the director highlighted literacy barriers — staff struggle with manual logbooks and urgently need hands-free documentation. And at Love and Elder Care, Director Hiran identified predictive fall analysis and logbook automation as their highest safety priorities.</a:t>
            </a:r>
            <a:endParaRPr lang="en-US" dirty="0"/>
          </a:p>
          <a:p>
            <a:r>
              <a:rPr lang="en-US" i="1" dirty="0"/>
              <a:t>Three </a:t>
            </a:r>
            <a:r>
              <a:rPr lang="en-US" i="1" dirty="0" err="1"/>
              <a:t>organisations</a:t>
            </a:r>
            <a:r>
              <a:rPr lang="en-US" i="1" dirty="0"/>
              <a:t>. Three independent confirmations that these four problems are real and unsolved."</a:t>
            </a:r>
            <a:endParaRPr lang="en-US" dirty="0"/>
          </a:p>
          <a:p>
            <a:endParaRPr lang="en-US" dirty="0"/>
          </a:p>
        </p:txBody>
      </p:sp>
      <p:sp>
        <p:nvSpPr>
          <p:cNvPr id="4" name="Slide Number Placeholder 3"/>
          <p:cNvSpPr>
            <a:spLocks noGrp="1"/>
          </p:cNvSpPr>
          <p:nvPr>
            <p:ph type="sldNum" sz="quarter" idx="5"/>
          </p:nvPr>
        </p:nvSpPr>
        <p:spPr/>
        <p:txBody>
          <a:bodyPr/>
          <a:lstStyle/>
          <a:p>
            <a:fld id="{5DA730EA-4618-4B6D-B3F7-BD497403B9C6}" type="slidenum">
              <a:rPr lang="en-SG" smtClean="0"/>
              <a:t>3</a:t>
            </a:fld>
            <a:endParaRPr lang="en-SG" dirty="0"/>
          </a:p>
        </p:txBody>
      </p:sp>
    </p:spTree>
    <p:extLst>
      <p:ext uri="{BB962C8B-B14F-4D97-AF65-F5344CB8AC3E}">
        <p14:creationId xmlns:p14="http://schemas.microsoft.com/office/powerpoint/2010/main" val="869439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component is AI Assisted Caregiver Workforce Deterioration Detection and Adaptive Workload Redistribution. My component addresses the most invisible problem in healthcare — a caregiver burning out before anyone notices</a:t>
            </a:r>
          </a:p>
        </p:txBody>
      </p:sp>
      <p:sp>
        <p:nvSpPr>
          <p:cNvPr id="4" name="Slide Number Placeholder 3"/>
          <p:cNvSpPr>
            <a:spLocks noGrp="1"/>
          </p:cNvSpPr>
          <p:nvPr>
            <p:ph type="sldNum" sz="quarter" idx="5"/>
          </p:nvPr>
        </p:nvSpPr>
        <p:spPr/>
        <p:txBody>
          <a:bodyPr/>
          <a:lstStyle/>
          <a:p>
            <a:fld id="{5DA730EA-4618-4B6D-B3F7-BD497403B9C6}" type="slidenum">
              <a:rPr lang="en-SG" smtClean="0"/>
              <a:t>4</a:t>
            </a:fld>
            <a:endParaRPr lang="en-SG" dirty="0"/>
          </a:p>
        </p:txBody>
      </p:sp>
    </p:spTree>
    <p:extLst>
      <p:ext uri="{BB962C8B-B14F-4D97-AF65-F5344CB8AC3E}">
        <p14:creationId xmlns:p14="http://schemas.microsoft.com/office/powerpoint/2010/main" val="2972835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"The sub-problem I identified: existing systems are reactive, population-level, and unexplainable. </a:t>
            </a:r>
            <a:r>
              <a:rPr lang="en-US" sz="1200" i="1" kern="1200" dirty="0" err="1">
                <a:solidFill>
                  <a:schemeClr val="tx1"/>
                </a:solidFill>
                <a:effectLst/>
                <a:latin typeface="+mn-lt"/>
                <a:ea typeface="+mn-ea"/>
                <a:cs typeface="+mn-cs"/>
              </a:rPr>
              <a:t>CareSense</a:t>
            </a:r>
            <a:r>
              <a:rPr lang="en-US" sz="1200" i="1" kern="1200" dirty="0">
                <a:solidFill>
                  <a:schemeClr val="tx1"/>
                </a:solidFill>
                <a:effectLst/>
                <a:latin typeface="+mn-lt"/>
                <a:ea typeface="+mn-ea"/>
                <a:cs typeface="+mn-cs"/>
              </a:rPr>
              <a:t> addresses this in three layers.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Detect — </a:t>
            </a:r>
            <a:r>
              <a:rPr lang="en-US" sz="1200" i="1" kern="1200" dirty="0" err="1">
                <a:solidFill>
                  <a:schemeClr val="tx1"/>
                </a:solidFill>
                <a:effectLst/>
                <a:latin typeface="+mn-lt"/>
                <a:ea typeface="+mn-ea"/>
                <a:cs typeface="+mn-cs"/>
              </a:rPr>
              <a:t>XGBoost</a:t>
            </a:r>
            <a:r>
              <a:rPr lang="en-US" sz="1200" i="1" kern="1200" dirty="0">
                <a:solidFill>
                  <a:schemeClr val="tx1"/>
                </a:solidFill>
                <a:effectLst/>
                <a:latin typeface="+mn-lt"/>
                <a:ea typeface="+mn-ea"/>
                <a:cs typeface="+mn-cs"/>
              </a:rPr>
              <a:t> trained on EDA, temperature, and HRV from 15 real hospital nurses. 13,287 signal windows. Binary F1 of 0.861 under Leave-One-Subject-Out validation — the test nurse was never seen during training.</a:t>
            </a:r>
            <a:endParaRPr lang="en-US" sz="1200" kern="1200" dirty="0">
              <a:solidFill>
                <a:schemeClr val="tx1"/>
              </a:solidFill>
              <a:effectLst/>
              <a:latin typeface="+mn-lt"/>
              <a:ea typeface="+mn-ea"/>
              <a:cs typeface="+mn-cs"/>
            </a:endParaRPr>
          </a:p>
          <a:p>
            <a:r>
              <a:rPr lang="en-US" sz="1200" i="1" kern="1200" dirty="0" err="1">
                <a:solidFill>
                  <a:schemeClr val="tx1"/>
                </a:solidFill>
                <a:effectLst/>
                <a:latin typeface="+mn-lt"/>
                <a:ea typeface="+mn-ea"/>
                <a:cs typeface="+mn-cs"/>
              </a:rPr>
              <a:t>Personalise</a:t>
            </a:r>
            <a:r>
              <a:rPr lang="en-US" sz="1200" i="1" kern="1200" dirty="0">
                <a:solidFill>
                  <a:schemeClr val="tx1"/>
                </a:solidFill>
                <a:effectLst/>
                <a:latin typeface="+mn-lt"/>
                <a:ea typeface="+mn-ea"/>
                <a:cs typeface="+mn-cs"/>
              </a:rPr>
              <a:t> — an Isolation Forest model fitted per nurse on their first 7 days. Not compared against the average. Compared against herself. My ablation study — three strategies head to head — proves this reduces false positive rate over both fixed and population thresholds.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Predict — daily risk scores with a slope computed per nurse. Nurse 5C is already critical at slope plus 2.73 per day. Nurse 83 is 8 days from the threshold. The system tells you not just who is stressed — but who is about to be.</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On the right you can see all 12 requirements — 9 fully complete, 1 partial, 1 prototype, 1 planned for PP2. The backend inference layer is architected and designed — deployment is the PP2 milestone."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DA730EA-4618-4B6D-B3F7-BD497403B9C6}" type="slidenum">
              <a:rPr lang="en-SG" smtClean="0"/>
              <a:t>5</a:t>
            </a:fld>
            <a:endParaRPr lang="en-SG" dirty="0"/>
          </a:p>
        </p:txBody>
      </p:sp>
    </p:spTree>
    <p:extLst>
      <p:ext uri="{BB962C8B-B14F-4D97-AF65-F5344CB8AC3E}">
        <p14:creationId xmlns:p14="http://schemas.microsoft.com/office/powerpoint/2010/main" val="2713759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"Three research contributions that go beyond prior work.</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First — per-nurse SHAP attribution. Hosseini 2022, the authors of my dataset, report only a global feature importance. Topol 2019 in The Lancet says AI must explain at the individual level. My system does. Nurses 5C and 6B have temperature as their dominant stress biomarker. Nurses F5 and 7A have EDA peaks. Same model — different explanation per person.</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Second — Isolation Forest ablation. </a:t>
            </a:r>
            <a:r>
              <a:rPr lang="en-US" sz="1200" i="1" kern="1200" dirty="0" err="1">
                <a:solidFill>
                  <a:schemeClr val="tx1"/>
                </a:solidFill>
                <a:effectLst/>
                <a:latin typeface="+mn-lt"/>
                <a:ea typeface="+mn-ea"/>
                <a:cs typeface="+mn-cs"/>
              </a:rPr>
              <a:t>Gjoreski</a:t>
            </a:r>
            <a:r>
              <a:rPr lang="en-US" sz="1200" i="1" kern="1200" dirty="0">
                <a:solidFill>
                  <a:schemeClr val="tx1"/>
                </a:solidFill>
                <a:effectLst/>
                <a:latin typeface="+mn-lt"/>
                <a:ea typeface="+mn-ea"/>
                <a:cs typeface="+mn-cs"/>
              </a:rPr>
              <a:t> 2017 and Hosseini 2022 both name </a:t>
            </a:r>
            <a:r>
              <a:rPr lang="en-US" sz="1200" i="1" kern="1200" dirty="0" err="1">
                <a:solidFill>
                  <a:schemeClr val="tx1"/>
                </a:solidFill>
                <a:effectLst/>
                <a:latin typeface="+mn-lt"/>
                <a:ea typeface="+mn-ea"/>
                <a:cs typeface="+mn-cs"/>
              </a:rPr>
              <a:t>personalised</a:t>
            </a:r>
            <a:r>
              <a:rPr lang="en-US" sz="1200" i="1" kern="1200" dirty="0">
                <a:solidFill>
                  <a:schemeClr val="tx1"/>
                </a:solidFill>
                <a:effectLst/>
                <a:latin typeface="+mn-lt"/>
                <a:ea typeface="+mn-ea"/>
                <a:cs typeface="+mn-cs"/>
              </a:rPr>
              <a:t> thresholds as future work. I implemented and empirically evaluated it.</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Third — 1D CNN on temporal MFCC matrix. F1 of 0.804, AUC of 0.889. </a:t>
            </a:r>
            <a:r>
              <a:rPr lang="en-US" sz="1200" i="1" kern="1200" dirty="0" err="1">
                <a:solidFill>
                  <a:schemeClr val="tx1"/>
                </a:solidFill>
                <a:effectLst/>
                <a:latin typeface="+mn-lt"/>
                <a:ea typeface="+mn-ea"/>
                <a:cs typeface="+mn-cs"/>
              </a:rPr>
              <a:t>Bhangale</a:t>
            </a:r>
            <a:r>
              <a:rPr lang="en-US" sz="1200" i="1" kern="1200" dirty="0">
                <a:solidFill>
                  <a:schemeClr val="tx1"/>
                </a:solidFill>
                <a:effectLst/>
                <a:latin typeface="+mn-lt"/>
                <a:ea typeface="+mn-ea"/>
                <a:cs typeface="+mn-cs"/>
              </a:rPr>
              <a:t> 2023 did this for 8-class emotion recognition. Nobody had applied it to binary occupational stress in a caregiver monitoring system. I did.</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User feedback directly shaped the prototype — five specific changes, five direct responses, all visible in the live system."</a:t>
            </a:r>
            <a:endParaRPr lang="en-US" sz="1200" kern="1200" dirty="0">
              <a:solidFill>
                <a:schemeClr val="tx1"/>
              </a:solidFill>
              <a:effectLst/>
              <a:latin typeface="+mn-lt"/>
              <a:ea typeface="+mn-ea"/>
              <a:cs typeface="+mn-cs"/>
            </a:endParaRP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DA730EA-4618-4B6D-B3F7-BD497403B9C6}" type="slidenum">
              <a:rPr lang="en-SG" smtClean="0"/>
              <a:t>6</a:t>
            </a:fld>
            <a:endParaRPr lang="en-SG" dirty="0"/>
          </a:p>
        </p:txBody>
      </p:sp>
    </p:spTree>
    <p:extLst>
      <p:ext uri="{BB962C8B-B14F-4D97-AF65-F5344CB8AC3E}">
        <p14:creationId xmlns:p14="http://schemas.microsoft.com/office/powerpoint/2010/main" val="2765581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"The panel asked at proposal: how will you identify individual </a:t>
            </a:r>
            <a:r>
              <a:rPr lang="en-US" sz="1200" i="1" kern="1200" dirty="0" err="1">
                <a:solidFill>
                  <a:schemeClr val="tx1"/>
                </a:solidFill>
                <a:effectLst/>
                <a:latin typeface="+mn-lt"/>
                <a:ea typeface="+mn-ea"/>
                <a:cs typeface="+mn-cs"/>
              </a:rPr>
              <a:t>behavioural</a:t>
            </a:r>
            <a:r>
              <a:rPr lang="en-US" sz="1200" i="1" kern="1200" dirty="0">
                <a:solidFill>
                  <a:schemeClr val="tx1"/>
                </a:solidFill>
                <a:effectLst/>
                <a:latin typeface="+mn-lt"/>
                <a:ea typeface="+mn-ea"/>
                <a:cs typeface="+mn-cs"/>
              </a:rPr>
              <a:t> patterns? Three layers answer this — personal baseline via Isolation Forest, deviation detection against that individual's own norm, and </a:t>
            </a:r>
            <a:r>
              <a:rPr lang="en-US" sz="1200" i="1" kern="1200" dirty="0" err="1">
                <a:solidFill>
                  <a:schemeClr val="tx1"/>
                </a:solidFill>
                <a:effectLst/>
                <a:latin typeface="+mn-lt"/>
                <a:ea typeface="+mn-ea"/>
                <a:cs typeface="+mn-cs"/>
              </a:rPr>
              <a:t>personalised</a:t>
            </a:r>
            <a:r>
              <a:rPr lang="en-US" sz="1200" i="1" kern="1200" dirty="0">
                <a:solidFill>
                  <a:schemeClr val="tx1"/>
                </a:solidFill>
                <a:effectLst/>
                <a:latin typeface="+mn-lt"/>
                <a:ea typeface="+mn-ea"/>
                <a:cs typeface="+mn-cs"/>
              </a:rPr>
              <a:t> SHAP signatures showing which physiological feature drives each specific nurse's risk. That is the answer — and it is live in the dashboard."</a:t>
            </a:r>
            <a:endParaRPr lang="en-US" sz="1200" kern="1200" dirty="0">
              <a:solidFill>
                <a:schemeClr val="tx1"/>
              </a:solidFill>
              <a:effectLst/>
              <a:latin typeface="+mn-lt"/>
              <a:ea typeface="+mn-ea"/>
              <a:cs typeface="+mn-cs"/>
            </a:endParaRP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DA730EA-4618-4B6D-B3F7-BD497403B9C6}" type="slidenum">
              <a:rPr lang="en-SG" smtClean="0"/>
              <a:t>7</a:t>
            </a:fld>
            <a:endParaRPr lang="en-SG" dirty="0"/>
          </a:p>
        </p:txBody>
      </p:sp>
    </p:spTree>
    <p:extLst>
      <p:ext uri="{BB962C8B-B14F-4D97-AF65-F5344CB8AC3E}">
        <p14:creationId xmlns:p14="http://schemas.microsoft.com/office/powerpoint/2010/main" val="1588875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2EFF5-068B-AC7A-E92C-84899B9E79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211BED-4CA1-77D9-F0C2-08B91FB892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EE780D-138C-D316-870A-2CB2506B28DA}"/>
              </a:ext>
            </a:extLst>
          </p:cNvPr>
          <p:cNvSpPr>
            <a:spLocks noGrp="1"/>
          </p:cNvSpPr>
          <p:nvPr>
            <p:ph type="dt" sz="half" idx="10"/>
          </p:nvPr>
        </p:nvSpPr>
        <p:spPr/>
        <p:txBody>
          <a:bodyPr/>
          <a:lstStyle/>
          <a:p>
            <a:fld id="{0F53DDA2-F9FB-4468-8349-5E116C0D9961}" type="datetime1">
              <a:rPr lang="en-US" smtClean="0"/>
              <a:t>5/12/2026</a:t>
            </a:fld>
            <a:endParaRPr lang="en-US" dirty="0"/>
          </a:p>
        </p:txBody>
      </p:sp>
      <p:sp>
        <p:nvSpPr>
          <p:cNvPr id="5" name="Footer Placeholder 4">
            <a:extLst>
              <a:ext uri="{FF2B5EF4-FFF2-40B4-BE49-F238E27FC236}">
                <a16:creationId xmlns:a16="http://schemas.microsoft.com/office/drawing/2014/main" id="{62B66090-85E4-9DFE-35B5-A2B15C0AE29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CF8995-3087-D7ED-D794-45BFE4AC0BB0}"/>
              </a:ext>
            </a:extLst>
          </p:cNvPr>
          <p:cNvSpPr>
            <a:spLocks noGrp="1"/>
          </p:cNvSpPr>
          <p:nvPr>
            <p:ph type="sldNum" sz="quarter" idx="12"/>
          </p:nvPr>
        </p:nvSpPr>
        <p:spPr/>
        <p:txBody>
          <a:bodyPr/>
          <a:lstStyle/>
          <a:p>
            <a:fld id="{47D73ED1-4BC5-4C68-A93F-B56D3DD7872F}" type="slidenum">
              <a:rPr lang="en-US" smtClean="0"/>
              <a:t>‹#›</a:t>
            </a:fld>
            <a:endParaRPr lang="en-US" dirty="0"/>
          </a:p>
        </p:txBody>
      </p:sp>
    </p:spTree>
    <p:extLst>
      <p:ext uri="{BB962C8B-B14F-4D97-AF65-F5344CB8AC3E}">
        <p14:creationId xmlns:p14="http://schemas.microsoft.com/office/powerpoint/2010/main" val="4199848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F43F7-7846-CD30-0F20-6679AE2A25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53D9A3-313C-C9E0-9FE1-DE6BC12BDA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C22024-C8CA-92D5-C2B5-7654B08AEC44}"/>
              </a:ext>
            </a:extLst>
          </p:cNvPr>
          <p:cNvSpPr>
            <a:spLocks noGrp="1"/>
          </p:cNvSpPr>
          <p:nvPr>
            <p:ph type="dt" sz="half" idx="10"/>
          </p:nvPr>
        </p:nvSpPr>
        <p:spPr/>
        <p:txBody>
          <a:bodyPr/>
          <a:lstStyle/>
          <a:p>
            <a:fld id="{B73F0E28-8E58-41A4-80D0-E9E831A3D040}" type="datetime1">
              <a:rPr lang="en-US" smtClean="0"/>
              <a:t>5/12/2026</a:t>
            </a:fld>
            <a:endParaRPr lang="en-US" dirty="0"/>
          </a:p>
        </p:txBody>
      </p:sp>
      <p:sp>
        <p:nvSpPr>
          <p:cNvPr id="5" name="Footer Placeholder 4">
            <a:extLst>
              <a:ext uri="{FF2B5EF4-FFF2-40B4-BE49-F238E27FC236}">
                <a16:creationId xmlns:a16="http://schemas.microsoft.com/office/drawing/2014/main" id="{1269DED1-B009-4214-22AA-913ACFCD727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8B4F62-8E22-F2D1-11FF-8B1E4ECD394D}"/>
              </a:ext>
            </a:extLst>
          </p:cNvPr>
          <p:cNvSpPr>
            <a:spLocks noGrp="1"/>
          </p:cNvSpPr>
          <p:nvPr>
            <p:ph type="sldNum" sz="quarter" idx="12"/>
          </p:nvPr>
        </p:nvSpPr>
        <p:spPr/>
        <p:txBody>
          <a:bodyPr/>
          <a:lstStyle/>
          <a:p>
            <a:fld id="{47D73ED1-4BC5-4C68-A93F-B56D3DD7872F}" type="slidenum">
              <a:rPr lang="en-US" smtClean="0"/>
              <a:t>‹#›</a:t>
            </a:fld>
            <a:endParaRPr lang="en-US" dirty="0"/>
          </a:p>
        </p:txBody>
      </p:sp>
    </p:spTree>
    <p:extLst>
      <p:ext uri="{BB962C8B-B14F-4D97-AF65-F5344CB8AC3E}">
        <p14:creationId xmlns:p14="http://schemas.microsoft.com/office/powerpoint/2010/main" val="3551911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E7A4C-50B3-C44F-39E5-F2CCB3DD97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C358C7-CFC9-3249-A69E-4E6FAE5D8F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521A19-622D-FDEB-2DD5-59A4473C6ACA}"/>
              </a:ext>
            </a:extLst>
          </p:cNvPr>
          <p:cNvSpPr>
            <a:spLocks noGrp="1"/>
          </p:cNvSpPr>
          <p:nvPr>
            <p:ph type="dt" sz="half" idx="10"/>
          </p:nvPr>
        </p:nvSpPr>
        <p:spPr/>
        <p:txBody>
          <a:bodyPr/>
          <a:lstStyle/>
          <a:p>
            <a:fld id="{032BB6B0-8B91-4622-AEA0-E74A6CCA36AA}" type="datetime1">
              <a:rPr lang="en-US" smtClean="0"/>
              <a:t>5/12/2026</a:t>
            </a:fld>
            <a:endParaRPr lang="en-US" dirty="0"/>
          </a:p>
        </p:txBody>
      </p:sp>
      <p:sp>
        <p:nvSpPr>
          <p:cNvPr id="5" name="Footer Placeholder 4">
            <a:extLst>
              <a:ext uri="{FF2B5EF4-FFF2-40B4-BE49-F238E27FC236}">
                <a16:creationId xmlns:a16="http://schemas.microsoft.com/office/drawing/2014/main" id="{29662938-DA96-17F1-F2C4-EB18B176676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D2C99DB-8B08-FD16-6165-41907B9AD5AC}"/>
              </a:ext>
            </a:extLst>
          </p:cNvPr>
          <p:cNvSpPr>
            <a:spLocks noGrp="1"/>
          </p:cNvSpPr>
          <p:nvPr>
            <p:ph type="sldNum" sz="quarter" idx="12"/>
          </p:nvPr>
        </p:nvSpPr>
        <p:spPr/>
        <p:txBody>
          <a:bodyPr/>
          <a:lstStyle/>
          <a:p>
            <a:fld id="{47D73ED1-4BC5-4C68-A93F-B56D3DD7872F}" type="slidenum">
              <a:rPr lang="en-US" smtClean="0"/>
              <a:t>‹#›</a:t>
            </a:fld>
            <a:endParaRPr lang="en-US" dirty="0"/>
          </a:p>
        </p:txBody>
      </p:sp>
    </p:spTree>
    <p:extLst>
      <p:ext uri="{BB962C8B-B14F-4D97-AF65-F5344CB8AC3E}">
        <p14:creationId xmlns:p14="http://schemas.microsoft.com/office/powerpoint/2010/main" val="3962325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D29DE-A045-8776-19EE-79A0389FC8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DB0B8F-4A69-0ECA-0567-E8AC231B08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ADEE4E-2AC1-7C7B-60D0-6399671323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45C352-DB9F-07D1-1879-2D71C6EE3D58}"/>
              </a:ext>
            </a:extLst>
          </p:cNvPr>
          <p:cNvSpPr>
            <a:spLocks noGrp="1"/>
          </p:cNvSpPr>
          <p:nvPr>
            <p:ph type="dt" sz="half" idx="10"/>
          </p:nvPr>
        </p:nvSpPr>
        <p:spPr/>
        <p:txBody>
          <a:bodyPr/>
          <a:lstStyle/>
          <a:p>
            <a:fld id="{04079F91-DECF-40B4-8AE2-02D9311078D4}" type="datetime1">
              <a:rPr lang="en-US" smtClean="0"/>
              <a:t>5/12/2026</a:t>
            </a:fld>
            <a:endParaRPr lang="en-US" dirty="0"/>
          </a:p>
        </p:txBody>
      </p:sp>
      <p:sp>
        <p:nvSpPr>
          <p:cNvPr id="6" name="Footer Placeholder 5">
            <a:extLst>
              <a:ext uri="{FF2B5EF4-FFF2-40B4-BE49-F238E27FC236}">
                <a16:creationId xmlns:a16="http://schemas.microsoft.com/office/drawing/2014/main" id="{2748EE27-53A9-2C99-CC82-57EDF82E3A1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4C62F63-DA1C-8207-961C-C25FD0B398D7}"/>
              </a:ext>
            </a:extLst>
          </p:cNvPr>
          <p:cNvSpPr>
            <a:spLocks noGrp="1"/>
          </p:cNvSpPr>
          <p:nvPr>
            <p:ph type="sldNum" sz="quarter" idx="12"/>
          </p:nvPr>
        </p:nvSpPr>
        <p:spPr/>
        <p:txBody>
          <a:bodyPr/>
          <a:lstStyle/>
          <a:p>
            <a:fld id="{47D73ED1-4BC5-4C68-A93F-B56D3DD7872F}" type="slidenum">
              <a:rPr lang="en-US" smtClean="0"/>
              <a:t>‹#›</a:t>
            </a:fld>
            <a:endParaRPr lang="en-US" dirty="0"/>
          </a:p>
        </p:txBody>
      </p:sp>
    </p:spTree>
    <p:extLst>
      <p:ext uri="{BB962C8B-B14F-4D97-AF65-F5344CB8AC3E}">
        <p14:creationId xmlns:p14="http://schemas.microsoft.com/office/powerpoint/2010/main" val="1929690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6EC3A-E015-73A4-6958-F5CA345595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7D2BB3C-E2F3-8124-2D9E-C6A36E3943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9CDA71-0E7D-B0E1-A9FF-1AFB4ED2C7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C06189-3C2F-AC70-F019-A1A75DACD5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9DDFA3-7F72-70C1-D181-D88878F38B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F9707C-E037-3928-A076-171FD2E8F71E}"/>
              </a:ext>
            </a:extLst>
          </p:cNvPr>
          <p:cNvSpPr>
            <a:spLocks noGrp="1"/>
          </p:cNvSpPr>
          <p:nvPr>
            <p:ph type="dt" sz="half" idx="10"/>
          </p:nvPr>
        </p:nvSpPr>
        <p:spPr/>
        <p:txBody>
          <a:bodyPr/>
          <a:lstStyle/>
          <a:p>
            <a:fld id="{EA2B0846-7BFF-46BE-A638-D0A71B0A865E}" type="datetime1">
              <a:rPr lang="en-US" smtClean="0"/>
              <a:t>5/12/2026</a:t>
            </a:fld>
            <a:endParaRPr lang="en-US" dirty="0"/>
          </a:p>
        </p:txBody>
      </p:sp>
      <p:sp>
        <p:nvSpPr>
          <p:cNvPr id="8" name="Footer Placeholder 7">
            <a:extLst>
              <a:ext uri="{FF2B5EF4-FFF2-40B4-BE49-F238E27FC236}">
                <a16:creationId xmlns:a16="http://schemas.microsoft.com/office/drawing/2014/main" id="{3F287505-16C4-7CB7-7181-050EE88339D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A5C06C3-F0CF-EE95-403F-81AD965AD5B9}"/>
              </a:ext>
            </a:extLst>
          </p:cNvPr>
          <p:cNvSpPr>
            <a:spLocks noGrp="1"/>
          </p:cNvSpPr>
          <p:nvPr>
            <p:ph type="sldNum" sz="quarter" idx="12"/>
          </p:nvPr>
        </p:nvSpPr>
        <p:spPr/>
        <p:txBody>
          <a:bodyPr/>
          <a:lstStyle/>
          <a:p>
            <a:fld id="{47D73ED1-4BC5-4C68-A93F-B56D3DD7872F}" type="slidenum">
              <a:rPr lang="en-US" smtClean="0"/>
              <a:t>‹#›</a:t>
            </a:fld>
            <a:endParaRPr lang="en-US" dirty="0"/>
          </a:p>
        </p:txBody>
      </p:sp>
    </p:spTree>
    <p:extLst>
      <p:ext uri="{BB962C8B-B14F-4D97-AF65-F5344CB8AC3E}">
        <p14:creationId xmlns:p14="http://schemas.microsoft.com/office/powerpoint/2010/main" val="2896869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8A18-45BF-5151-3304-8E76AB0031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1C9CA6-FD80-65A5-7F6E-C83EE933A351}"/>
              </a:ext>
            </a:extLst>
          </p:cNvPr>
          <p:cNvSpPr>
            <a:spLocks noGrp="1"/>
          </p:cNvSpPr>
          <p:nvPr>
            <p:ph type="dt" sz="half" idx="10"/>
          </p:nvPr>
        </p:nvSpPr>
        <p:spPr/>
        <p:txBody>
          <a:bodyPr/>
          <a:lstStyle/>
          <a:p>
            <a:fld id="{786572B7-267E-47A4-BE2C-C469FED40A6E}" type="datetime1">
              <a:rPr lang="en-US" smtClean="0"/>
              <a:t>5/12/2026</a:t>
            </a:fld>
            <a:endParaRPr lang="en-US" dirty="0"/>
          </a:p>
        </p:txBody>
      </p:sp>
      <p:sp>
        <p:nvSpPr>
          <p:cNvPr id="4" name="Footer Placeholder 3">
            <a:extLst>
              <a:ext uri="{FF2B5EF4-FFF2-40B4-BE49-F238E27FC236}">
                <a16:creationId xmlns:a16="http://schemas.microsoft.com/office/drawing/2014/main" id="{77C32BA0-1EA6-BED2-8208-B4C10F3047F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CE11B49-69C0-E8F7-4667-24E4D2554FCF}"/>
              </a:ext>
            </a:extLst>
          </p:cNvPr>
          <p:cNvSpPr>
            <a:spLocks noGrp="1"/>
          </p:cNvSpPr>
          <p:nvPr>
            <p:ph type="sldNum" sz="quarter" idx="12"/>
          </p:nvPr>
        </p:nvSpPr>
        <p:spPr/>
        <p:txBody>
          <a:bodyPr/>
          <a:lstStyle/>
          <a:p>
            <a:fld id="{47D73ED1-4BC5-4C68-A93F-B56D3DD7872F}" type="slidenum">
              <a:rPr lang="en-US" smtClean="0"/>
              <a:t>‹#›</a:t>
            </a:fld>
            <a:endParaRPr lang="en-US" dirty="0"/>
          </a:p>
        </p:txBody>
      </p:sp>
    </p:spTree>
    <p:extLst>
      <p:ext uri="{BB962C8B-B14F-4D97-AF65-F5344CB8AC3E}">
        <p14:creationId xmlns:p14="http://schemas.microsoft.com/office/powerpoint/2010/main" val="1873654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A4BCF2-B401-44DE-8A40-296ADFB055F6}"/>
              </a:ext>
            </a:extLst>
          </p:cNvPr>
          <p:cNvSpPr>
            <a:spLocks noGrp="1"/>
          </p:cNvSpPr>
          <p:nvPr>
            <p:ph type="dt" sz="half" idx="10"/>
          </p:nvPr>
        </p:nvSpPr>
        <p:spPr/>
        <p:txBody>
          <a:bodyPr/>
          <a:lstStyle/>
          <a:p>
            <a:fld id="{E659EBAF-EE5B-4488-960D-74541868043D}" type="datetime1">
              <a:rPr lang="en-US" smtClean="0"/>
              <a:t>5/12/2026</a:t>
            </a:fld>
            <a:endParaRPr lang="en-US" dirty="0"/>
          </a:p>
        </p:txBody>
      </p:sp>
      <p:sp>
        <p:nvSpPr>
          <p:cNvPr id="3" name="Footer Placeholder 2">
            <a:extLst>
              <a:ext uri="{FF2B5EF4-FFF2-40B4-BE49-F238E27FC236}">
                <a16:creationId xmlns:a16="http://schemas.microsoft.com/office/drawing/2014/main" id="{1D2FC1E7-75F5-180A-DC43-370F15BB37C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D1F4D3E-97AD-D7AF-B2AE-9560A63F3B57}"/>
              </a:ext>
            </a:extLst>
          </p:cNvPr>
          <p:cNvSpPr>
            <a:spLocks noGrp="1"/>
          </p:cNvSpPr>
          <p:nvPr>
            <p:ph type="sldNum" sz="quarter" idx="12"/>
          </p:nvPr>
        </p:nvSpPr>
        <p:spPr/>
        <p:txBody>
          <a:bodyPr/>
          <a:lstStyle/>
          <a:p>
            <a:fld id="{47D73ED1-4BC5-4C68-A93F-B56D3DD7872F}" type="slidenum">
              <a:rPr lang="en-US" smtClean="0"/>
              <a:t>‹#›</a:t>
            </a:fld>
            <a:endParaRPr lang="en-US" dirty="0"/>
          </a:p>
        </p:txBody>
      </p:sp>
    </p:spTree>
    <p:extLst>
      <p:ext uri="{BB962C8B-B14F-4D97-AF65-F5344CB8AC3E}">
        <p14:creationId xmlns:p14="http://schemas.microsoft.com/office/powerpoint/2010/main" val="3096918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3E3E1-CF8C-38A4-6718-A215519EAF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65FE8B-D124-2C0C-F08A-B122B61591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308A1E9-54F1-165D-27BF-A3AB7A227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83052F-4FAD-6429-0A5D-614A87CC2FEC}"/>
              </a:ext>
            </a:extLst>
          </p:cNvPr>
          <p:cNvSpPr>
            <a:spLocks noGrp="1"/>
          </p:cNvSpPr>
          <p:nvPr>
            <p:ph type="dt" sz="half" idx="10"/>
          </p:nvPr>
        </p:nvSpPr>
        <p:spPr/>
        <p:txBody>
          <a:bodyPr/>
          <a:lstStyle/>
          <a:p>
            <a:fld id="{6F52CFDD-F9DD-46C8-9293-796508528CF7}" type="datetime1">
              <a:rPr lang="en-US" smtClean="0"/>
              <a:t>5/12/2026</a:t>
            </a:fld>
            <a:endParaRPr lang="en-US" dirty="0"/>
          </a:p>
        </p:txBody>
      </p:sp>
      <p:sp>
        <p:nvSpPr>
          <p:cNvPr id="6" name="Footer Placeholder 5">
            <a:extLst>
              <a:ext uri="{FF2B5EF4-FFF2-40B4-BE49-F238E27FC236}">
                <a16:creationId xmlns:a16="http://schemas.microsoft.com/office/drawing/2014/main" id="{7D89F933-737E-AB7C-AF15-6DE2CA20898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A27B512-93C7-9A9F-9A63-FC68373401BA}"/>
              </a:ext>
            </a:extLst>
          </p:cNvPr>
          <p:cNvSpPr>
            <a:spLocks noGrp="1"/>
          </p:cNvSpPr>
          <p:nvPr>
            <p:ph type="sldNum" sz="quarter" idx="12"/>
          </p:nvPr>
        </p:nvSpPr>
        <p:spPr/>
        <p:txBody>
          <a:bodyPr/>
          <a:lstStyle/>
          <a:p>
            <a:fld id="{47D73ED1-4BC5-4C68-A93F-B56D3DD7872F}" type="slidenum">
              <a:rPr lang="en-US" smtClean="0"/>
              <a:t>‹#›</a:t>
            </a:fld>
            <a:endParaRPr lang="en-US" dirty="0"/>
          </a:p>
        </p:txBody>
      </p:sp>
    </p:spTree>
    <p:extLst>
      <p:ext uri="{BB962C8B-B14F-4D97-AF65-F5344CB8AC3E}">
        <p14:creationId xmlns:p14="http://schemas.microsoft.com/office/powerpoint/2010/main" val="908600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0F26-D1CC-5091-DC8C-A2FA378345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8C44D0-ED30-36B1-0F75-4A767CDC12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829CFA0-1759-4C5A-CF8D-220EFBEBAA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8D3D1-E57C-C15E-8280-0267BC43F132}"/>
              </a:ext>
            </a:extLst>
          </p:cNvPr>
          <p:cNvSpPr>
            <a:spLocks noGrp="1"/>
          </p:cNvSpPr>
          <p:nvPr>
            <p:ph type="dt" sz="half" idx="10"/>
          </p:nvPr>
        </p:nvSpPr>
        <p:spPr/>
        <p:txBody>
          <a:bodyPr/>
          <a:lstStyle/>
          <a:p>
            <a:fld id="{C7BBF056-BA12-4F9E-B54B-6CAEC3153145}" type="datetime1">
              <a:rPr lang="en-US" smtClean="0"/>
              <a:t>5/12/2026</a:t>
            </a:fld>
            <a:endParaRPr lang="en-US" dirty="0"/>
          </a:p>
        </p:txBody>
      </p:sp>
      <p:sp>
        <p:nvSpPr>
          <p:cNvPr id="6" name="Footer Placeholder 5">
            <a:extLst>
              <a:ext uri="{FF2B5EF4-FFF2-40B4-BE49-F238E27FC236}">
                <a16:creationId xmlns:a16="http://schemas.microsoft.com/office/drawing/2014/main" id="{DE000E93-AA34-00CB-5728-E4E996970E3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29C35EC-DD90-D368-9D3D-7F1FC3D6962B}"/>
              </a:ext>
            </a:extLst>
          </p:cNvPr>
          <p:cNvSpPr>
            <a:spLocks noGrp="1"/>
          </p:cNvSpPr>
          <p:nvPr>
            <p:ph type="sldNum" sz="quarter" idx="12"/>
          </p:nvPr>
        </p:nvSpPr>
        <p:spPr/>
        <p:txBody>
          <a:bodyPr/>
          <a:lstStyle/>
          <a:p>
            <a:fld id="{47D73ED1-4BC5-4C68-A93F-B56D3DD7872F}" type="slidenum">
              <a:rPr lang="en-US" smtClean="0"/>
              <a:t>‹#›</a:t>
            </a:fld>
            <a:endParaRPr lang="en-US" dirty="0"/>
          </a:p>
        </p:txBody>
      </p:sp>
    </p:spTree>
    <p:extLst>
      <p:ext uri="{BB962C8B-B14F-4D97-AF65-F5344CB8AC3E}">
        <p14:creationId xmlns:p14="http://schemas.microsoft.com/office/powerpoint/2010/main" val="3968201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AC81E-70A0-2E5C-6A23-E83F13ADB2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3F389-8BFE-6DD9-8EA4-0D534E13FD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5FFAEC-901D-0827-D96E-453113B3ED8D}"/>
              </a:ext>
            </a:extLst>
          </p:cNvPr>
          <p:cNvSpPr>
            <a:spLocks noGrp="1"/>
          </p:cNvSpPr>
          <p:nvPr>
            <p:ph type="dt" sz="half" idx="10"/>
          </p:nvPr>
        </p:nvSpPr>
        <p:spPr/>
        <p:txBody>
          <a:bodyPr/>
          <a:lstStyle/>
          <a:p>
            <a:fld id="{E99D06F8-0030-4133-9ADA-40AE179AB4D1}" type="datetime1">
              <a:rPr lang="en-US" smtClean="0"/>
              <a:t>5/12/2026</a:t>
            </a:fld>
            <a:endParaRPr lang="en-US" dirty="0"/>
          </a:p>
        </p:txBody>
      </p:sp>
      <p:sp>
        <p:nvSpPr>
          <p:cNvPr id="5" name="Footer Placeholder 4">
            <a:extLst>
              <a:ext uri="{FF2B5EF4-FFF2-40B4-BE49-F238E27FC236}">
                <a16:creationId xmlns:a16="http://schemas.microsoft.com/office/drawing/2014/main" id="{532C7A59-CF69-0438-BE23-9C9773C1B0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7135A4E-3AC5-6422-4AB7-C2BD91E219C5}"/>
              </a:ext>
            </a:extLst>
          </p:cNvPr>
          <p:cNvSpPr>
            <a:spLocks noGrp="1"/>
          </p:cNvSpPr>
          <p:nvPr>
            <p:ph type="sldNum" sz="quarter" idx="12"/>
          </p:nvPr>
        </p:nvSpPr>
        <p:spPr/>
        <p:txBody>
          <a:bodyPr/>
          <a:lstStyle/>
          <a:p>
            <a:fld id="{47D73ED1-4BC5-4C68-A93F-B56D3DD7872F}" type="slidenum">
              <a:rPr lang="en-US" smtClean="0"/>
              <a:t>‹#›</a:t>
            </a:fld>
            <a:endParaRPr lang="en-US" dirty="0"/>
          </a:p>
        </p:txBody>
      </p:sp>
    </p:spTree>
    <p:extLst>
      <p:ext uri="{BB962C8B-B14F-4D97-AF65-F5344CB8AC3E}">
        <p14:creationId xmlns:p14="http://schemas.microsoft.com/office/powerpoint/2010/main" val="2041907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7C1043-04F7-1D38-EDD3-331443D290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61E5B4-1512-56F3-3A1B-E18AD83A5C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BD6173-A2EA-CAE0-6AD1-D4195F95F101}"/>
              </a:ext>
            </a:extLst>
          </p:cNvPr>
          <p:cNvSpPr>
            <a:spLocks noGrp="1"/>
          </p:cNvSpPr>
          <p:nvPr>
            <p:ph type="dt" sz="half" idx="10"/>
          </p:nvPr>
        </p:nvSpPr>
        <p:spPr/>
        <p:txBody>
          <a:bodyPr/>
          <a:lstStyle/>
          <a:p>
            <a:fld id="{966E2890-F9E4-40A9-87DF-179F43074BC5}" type="datetime1">
              <a:rPr lang="en-US" smtClean="0"/>
              <a:t>5/12/2026</a:t>
            </a:fld>
            <a:endParaRPr lang="en-US" dirty="0"/>
          </a:p>
        </p:txBody>
      </p:sp>
      <p:sp>
        <p:nvSpPr>
          <p:cNvPr id="5" name="Footer Placeholder 4">
            <a:extLst>
              <a:ext uri="{FF2B5EF4-FFF2-40B4-BE49-F238E27FC236}">
                <a16:creationId xmlns:a16="http://schemas.microsoft.com/office/drawing/2014/main" id="{E314C8F6-4D37-D568-9198-4F723BDEDC8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E364DA-6A7B-2C9C-4260-58FC54EC395B}"/>
              </a:ext>
            </a:extLst>
          </p:cNvPr>
          <p:cNvSpPr>
            <a:spLocks noGrp="1"/>
          </p:cNvSpPr>
          <p:nvPr>
            <p:ph type="sldNum" sz="quarter" idx="12"/>
          </p:nvPr>
        </p:nvSpPr>
        <p:spPr/>
        <p:txBody>
          <a:bodyPr/>
          <a:lstStyle/>
          <a:p>
            <a:fld id="{47D73ED1-4BC5-4C68-A93F-B56D3DD7872F}" type="slidenum">
              <a:rPr lang="en-US" smtClean="0"/>
              <a:t>‹#›</a:t>
            </a:fld>
            <a:endParaRPr lang="en-US" dirty="0"/>
          </a:p>
        </p:txBody>
      </p:sp>
    </p:spTree>
    <p:extLst>
      <p:ext uri="{BB962C8B-B14F-4D97-AF65-F5344CB8AC3E}">
        <p14:creationId xmlns:p14="http://schemas.microsoft.com/office/powerpoint/2010/main" val="504815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28164D-72FC-DABE-B599-8BFD10A869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F29D5A-BA16-E5F8-4F95-BA8DD49C41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48C08E-F027-5D4A-780E-FB114713F5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63E98E-60F5-433E-8A14-DCC8A7E0BF02}" type="datetime1">
              <a:rPr lang="en-US" smtClean="0"/>
              <a:t>5/12/2026</a:t>
            </a:fld>
            <a:endParaRPr lang="en-US" dirty="0"/>
          </a:p>
        </p:txBody>
      </p:sp>
      <p:sp>
        <p:nvSpPr>
          <p:cNvPr id="5" name="Footer Placeholder 4">
            <a:extLst>
              <a:ext uri="{FF2B5EF4-FFF2-40B4-BE49-F238E27FC236}">
                <a16:creationId xmlns:a16="http://schemas.microsoft.com/office/drawing/2014/main" id="{5E93EDC4-0696-61D4-EBB8-588D401056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1EA16FAB-A846-12C5-E895-C7EF463A5E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D73ED1-4BC5-4C68-A93F-B56D3DD7872F}" type="slidenum">
              <a:rPr lang="en-US" smtClean="0"/>
              <a:t>‹#›</a:t>
            </a:fld>
            <a:endParaRPr lang="en-US" dirty="0"/>
          </a:p>
        </p:txBody>
      </p:sp>
    </p:spTree>
    <p:extLst>
      <p:ext uri="{BB962C8B-B14F-4D97-AF65-F5344CB8AC3E}">
        <p14:creationId xmlns:p14="http://schemas.microsoft.com/office/powerpoint/2010/main" val="31937864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0B645-3AA4-2E3D-571F-786B8D4B6325}"/>
              </a:ext>
            </a:extLst>
          </p:cNvPr>
          <p:cNvSpPr>
            <a:spLocks noGrp="1"/>
          </p:cNvSpPr>
          <p:nvPr>
            <p:ph type="ctrTitle"/>
          </p:nvPr>
        </p:nvSpPr>
        <p:spPr>
          <a:xfrm>
            <a:off x="1066800" y="986634"/>
            <a:ext cx="10363200" cy="1470025"/>
          </a:xfrm>
        </p:spPr>
        <p:txBody>
          <a:bodyPr anchor="ctr">
            <a:normAutofit fontScale="90000"/>
          </a:bodyPr>
          <a:lstStyle/>
          <a:p>
            <a:pPr>
              <a:lnSpc>
                <a:spcPct val="90000"/>
              </a:lnSpc>
            </a:pPr>
            <a:r>
              <a:rPr lang="en-US" sz="3700" b="1" dirty="0"/>
              <a:t>Multimodal Computational Intelligence for Enhancing Caregiver Performance and Care Delivery</a:t>
            </a:r>
            <a:endParaRPr lang="en-US" sz="3700" dirty="0"/>
          </a:p>
          <a:p>
            <a:pPr>
              <a:lnSpc>
                <a:spcPct val="90000"/>
              </a:lnSpc>
            </a:pPr>
            <a:endParaRPr lang="en-US" sz="3700" dirty="0"/>
          </a:p>
        </p:txBody>
      </p:sp>
      <p:sp>
        <p:nvSpPr>
          <p:cNvPr id="3" name="Subtitle 2">
            <a:extLst>
              <a:ext uri="{FF2B5EF4-FFF2-40B4-BE49-F238E27FC236}">
                <a16:creationId xmlns:a16="http://schemas.microsoft.com/office/drawing/2014/main" id="{82D5A9AC-835B-6C6C-5086-297B213B4CAF}"/>
              </a:ext>
            </a:extLst>
          </p:cNvPr>
          <p:cNvSpPr>
            <a:spLocks noGrp="1"/>
          </p:cNvSpPr>
          <p:nvPr>
            <p:ph type="subTitle" idx="1"/>
          </p:nvPr>
        </p:nvSpPr>
        <p:spPr>
          <a:xfrm>
            <a:off x="2057400" y="2350373"/>
            <a:ext cx="8534400" cy="1752600"/>
          </a:xfrm>
        </p:spPr>
        <p:txBody>
          <a:bodyPr vert="horz" lIns="91440" tIns="45720" rIns="91440" bIns="45720" rtlCol="0">
            <a:normAutofit/>
          </a:bodyPr>
          <a:lstStyle/>
          <a:p>
            <a:r>
              <a:rPr lang="en-US" dirty="0"/>
              <a:t>R26-DS-010</a:t>
            </a:r>
          </a:p>
        </p:txBody>
      </p:sp>
      <p:sp>
        <p:nvSpPr>
          <p:cNvPr id="9" name="Rectangle 8">
            <a:extLst>
              <a:ext uri="{FF2B5EF4-FFF2-40B4-BE49-F238E27FC236}">
                <a16:creationId xmlns:a16="http://schemas.microsoft.com/office/drawing/2014/main" id="{3198B0DA-9759-E10C-F7E3-1284BDB8DA58}"/>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54C3193-A3A0-5891-5BBA-6F5F63A04235}"/>
              </a:ext>
            </a:extLst>
          </p:cNvPr>
          <p:cNvSpPr txBox="1"/>
          <p:nvPr/>
        </p:nvSpPr>
        <p:spPr>
          <a:xfrm>
            <a:off x="10886" y="5413301"/>
            <a:ext cx="4800600" cy="738664"/>
          </a:xfrm>
          <a:prstGeom prst="rect">
            <a:avLst/>
          </a:prstGeom>
          <a:noFill/>
        </p:spPr>
        <p:txBody>
          <a:bodyPr wrap="square" rtlCol="0">
            <a:spAutoFit/>
          </a:bodyPr>
          <a:lstStyle/>
          <a:p>
            <a:pPr marL="342900" indent="-342900">
              <a:buFont typeface="Wingdings" panose="05000000000000000000" pitchFamily="2" charset="2"/>
              <a:buChar char="v"/>
            </a:pPr>
            <a:r>
              <a:rPr lang="en-US" sz="1400" dirty="0"/>
              <a:t>Main Supervisor : Prof. Samantha </a:t>
            </a:r>
            <a:r>
              <a:rPr lang="en-US" sz="1400" dirty="0" err="1"/>
              <a:t>Thelijjagoda</a:t>
            </a:r>
            <a:r>
              <a:rPr lang="en-US" sz="1400" dirty="0"/>
              <a:t> 	</a:t>
            </a:r>
          </a:p>
          <a:p>
            <a:pPr marL="342900" indent="-342900">
              <a:buFont typeface="Wingdings" panose="05000000000000000000" pitchFamily="2" charset="2"/>
              <a:buChar char="v"/>
            </a:pPr>
            <a:r>
              <a:rPr lang="en-US" sz="1400" dirty="0"/>
              <a:t>Co – Supervisor : Mr. Samadhi Rathnayake 	</a:t>
            </a:r>
          </a:p>
          <a:p>
            <a:pPr marL="342900" indent="-342900">
              <a:buFont typeface="Wingdings" panose="05000000000000000000" pitchFamily="2" charset="2"/>
              <a:buChar char="v"/>
            </a:pPr>
            <a:r>
              <a:rPr lang="en-US" sz="1400" dirty="0"/>
              <a:t>External Supervisor :  Mr. Velu Sivakumar 	</a:t>
            </a:r>
          </a:p>
        </p:txBody>
      </p:sp>
    </p:spTree>
    <p:extLst>
      <p:ext uri="{BB962C8B-B14F-4D97-AF65-F5344CB8AC3E}">
        <p14:creationId xmlns:p14="http://schemas.microsoft.com/office/powerpoint/2010/main" val="235034486"/>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03D33-A7DF-6CB0-7213-2B68810A38C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A915CA2-92E1-3A39-22D4-E3A4F2222C20}"/>
              </a:ext>
            </a:extLst>
          </p:cNvPr>
          <p:cNvSpPr txBox="1">
            <a:spLocks/>
          </p:cNvSpPr>
          <p:nvPr/>
        </p:nvSpPr>
        <p:spPr>
          <a:xfrm>
            <a:off x="649224" y="152400"/>
            <a:ext cx="10363200" cy="1470025"/>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nSpc>
                <a:spcPct val="90000"/>
              </a:lnSpc>
            </a:pPr>
            <a:r>
              <a:rPr lang="en-US" sz="2400" b="1" dirty="0"/>
              <a:t>Multimodal Computational Intelligence for Enhancing Caregiver Performance and Care Delivery</a:t>
            </a:r>
            <a:endParaRPr lang="en-US" sz="2400" dirty="0"/>
          </a:p>
          <a:p>
            <a:pPr>
              <a:lnSpc>
                <a:spcPct val="90000"/>
              </a:lnSpc>
            </a:pPr>
            <a:endParaRPr lang="en-US" sz="2400" dirty="0"/>
          </a:p>
        </p:txBody>
      </p:sp>
      <p:sp>
        <p:nvSpPr>
          <p:cNvPr id="5" name="Rectangle 4">
            <a:extLst>
              <a:ext uri="{FF2B5EF4-FFF2-40B4-BE49-F238E27FC236}">
                <a16:creationId xmlns:a16="http://schemas.microsoft.com/office/drawing/2014/main" id="{671B3516-5582-0225-DD62-8F180035FBC5}"/>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6" name="Date Placeholder 5">
            <a:extLst>
              <a:ext uri="{FF2B5EF4-FFF2-40B4-BE49-F238E27FC236}">
                <a16:creationId xmlns:a16="http://schemas.microsoft.com/office/drawing/2014/main" id="{BFBD4DEE-FAC4-8986-65BC-B800DDFE0775}"/>
              </a:ext>
            </a:extLst>
          </p:cNvPr>
          <p:cNvSpPr>
            <a:spLocks noGrp="1"/>
          </p:cNvSpPr>
          <p:nvPr>
            <p:ph type="dt" sz="half" idx="10"/>
          </p:nvPr>
        </p:nvSpPr>
        <p:spPr>
          <a:xfrm>
            <a:off x="10060858" y="6351229"/>
            <a:ext cx="2743200" cy="365125"/>
          </a:xfrm>
        </p:spPr>
        <p:txBody>
          <a:bodyPr/>
          <a:lstStyle/>
          <a:p>
            <a:fld id="{CBFAFAB9-5C37-4C8B-98EE-D045EF0D9706}" type="datetime1">
              <a:rPr lang="en-US" b="1" smtClean="0">
                <a:solidFill>
                  <a:schemeClr val="tx1"/>
                </a:solidFill>
              </a:rPr>
              <a:t>5/12/2026</a:t>
            </a:fld>
            <a:endParaRPr lang="en-US" b="1" dirty="0">
              <a:solidFill>
                <a:schemeClr val="tx1"/>
              </a:solidFill>
            </a:endParaRPr>
          </a:p>
        </p:txBody>
      </p:sp>
      <p:sp>
        <p:nvSpPr>
          <p:cNvPr id="8" name="Slide Number Placeholder 7">
            <a:extLst>
              <a:ext uri="{FF2B5EF4-FFF2-40B4-BE49-F238E27FC236}">
                <a16:creationId xmlns:a16="http://schemas.microsoft.com/office/drawing/2014/main" id="{EEA49E1D-7D0E-BF3F-6786-7914FC34EABF}"/>
              </a:ext>
            </a:extLst>
          </p:cNvPr>
          <p:cNvSpPr>
            <a:spLocks noGrp="1"/>
          </p:cNvSpPr>
          <p:nvPr>
            <p:ph type="sldNum" sz="quarter" idx="12"/>
          </p:nvPr>
        </p:nvSpPr>
        <p:spPr/>
        <p:txBody>
          <a:bodyPr/>
          <a:lstStyle/>
          <a:p>
            <a:fld id="{47D73ED1-4BC5-4C68-A93F-B56D3DD7872F}" type="slidenum">
              <a:rPr lang="en-US" smtClean="0"/>
              <a:t>2</a:t>
            </a:fld>
            <a:endParaRPr lang="en-US" dirty="0"/>
          </a:p>
        </p:txBody>
      </p:sp>
      <p:sp>
        <p:nvSpPr>
          <p:cNvPr id="10" name="Shape 2">
            <a:extLst>
              <a:ext uri="{FF2B5EF4-FFF2-40B4-BE49-F238E27FC236}">
                <a16:creationId xmlns:a16="http://schemas.microsoft.com/office/drawing/2014/main" id="{B89BE2FE-932D-FC4E-15B8-AA703BF145ED}"/>
              </a:ext>
            </a:extLst>
          </p:cNvPr>
          <p:cNvSpPr/>
          <p:nvPr/>
        </p:nvSpPr>
        <p:spPr>
          <a:xfrm>
            <a:off x="457200" y="1234440"/>
            <a:ext cx="384048" cy="384048"/>
          </a:xfrm>
          <a:prstGeom prst="ellipse">
            <a:avLst/>
          </a:prstGeom>
          <a:solidFill>
            <a:srgbClr val="1E2761"/>
          </a:solidFill>
          <a:ln w="12700">
            <a:solidFill>
              <a:srgbClr val="1E2761"/>
            </a:solidFill>
            <a:prstDash val="solid"/>
          </a:ln>
        </p:spPr>
        <p:txBody>
          <a:bodyPr/>
          <a:lstStyle/>
          <a:p>
            <a:endParaRPr lang="en-SG" dirty="0"/>
          </a:p>
        </p:txBody>
      </p:sp>
      <p:sp>
        <p:nvSpPr>
          <p:cNvPr id="11" name="Text 3">
            <a:extLst>
              <a:ext uri="{FF2B5EF4-FFF2-40B4-BE49-F238E27FC236}">
                <a16:creationId xmlns:a16="http://schemas.microsoft.com/office/drawing/2014/main" id="{B67DC1C8-44CF-5533-505F-F2D9DFCB8E0D}"/>
              </a:ext>
            </a:extLst>
          </p:cNvPr>
          <p:cNvSpPr/>
          <p:nvPr/>
        </p:nvSpPr>
        <p:spPr>
          <a:xfrm>
            <a:off x="457200" y="123444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Text 4">
            <a:extLst>
              <a:ext uri="{FF2B5EF4-FFF2-40B4-BE49-F238E27FC236}">
                <a16:creationId xmlns:a16="http://schemas.microsoft.com/office/drawing/2014/main" id="{FE85A752-EF0E-25A7-3412-A597210C41A9}"/>
              </a:ext>
            </a:extLst>
          </p:cNvPr>
          <p:cNvSpPr/>
          <p:nvPr/>
        </p:nvSpPr>
        <p:spPr>
          <a:xfrm>
            <a:off x="960120" y="1234440"/>
            <a:ext cx="5120640" cy="384048"/>
          </a:xfrm>
          <a:prstGeom prst="rect">
            <a:avLst/>
          </a:prstGeom>
          <a:noFill/>
          <a:ln/>
        </p:spPr>
        <p:txBody>
          <a:bodyPr wrap="square" lIns="0" tIns="0" rIns="0" bIns="0" rtlCol="0" anchor="ctr"/>
          <a:lstStyle/>
          <a:p>
            <a:pPr marL="0" indent="0" algn="l">
              <a:buNone/>
            </a:pPr>
            <a:r>
              <a:rPr lang="en-US" sz="1700" b="1" dirty="0">
                <a:solidFill>
                  <a:srgbClr val="1E2761"/>
                </a:solidFill>
                <a:latin typeface="Georgia" pitchFamily="34" charset="0"/>
                <a:ea typeface="Georgia" pitchFamily="34" charset="-122"/>
                <a:cs typeface="Georgia" pitchFamily="34" charset="-120"/>
              </a:rPr>
              <a:t>Problem &amp; Impact</a:t>
            </a:r>
            <a:endParaRPr lang="en-US" sz="1700" dirty="0"/>
          </a:p>
        </p:txBody>
      </p:sp>
      <p:sp>
        <p:nvSpPr>
          <p:cNvPr id="13" name="Text 5">
            <a:extLst>
              <a:ext uri="{FF2B5EF4-FFF2-40B4-BE49-F238E27FC236}">
                <a16:creationId xmlns:a16="http://schemas.microsoft.com/office/drawing/2014/main" id="{AF0404F6-014F-C356-431D-59053F86AF99}"/>
              </a:ext>
            </a:extLst>
          </p:cNvPr>
          <p:cNvSpPr/>
          <p:nvPr/>
        </p:nvSpPr>
        <p:spPr>
          <a:xfrm>
            <a:off x="457200" y="1662946"/>
            <a:ext cx="5303520" cy="182880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Chronic stress, burnout, high error rates</a:t>
            </a:r>
            <a:r>
              <a:rPr lang="en-US" sz="1400" dirty="0">
                <a:solidFill>
                  <a:srgbClr val="475569"/>
                </a:solidFill>
                <a:latin typeface="Calibri" pitchFamily="34" charset="0"/>
                <a:ea typeface="Calibri" pitchFamily="34" charset="-122"/>
                <a:cs typeface="Calibri" pitchFamily="34" charset="-120"/>
              </a:rPr>
              <a:t> — directly affect patient safety and staff turnover </a:t>
            </a:r>
            <a:r>
              <a:rPr lang="en-US" sz="1200" i="1" dirty="0">
                <a:solidFill>
                  <a:srgbClr val="475569"/>
                </a:solidFill>
                <a:latin typeface="Calibri" pitchFamily="34" charset="0"/>
                <a:ea typeface="Calibri" pitchFamily="34" charset="-122"/>
                <a:cs typeface="Calibri" pitchFamily="34" charset="-120"/>
              </a:rPr>
              <a:t>(Shanafelt et al., Mayo Clinic Proc.)</a:t>
            </a:r>
            <a:endParaRPr lang="en-US" sz="1400" dirty="0"/>
          </a:p>
          <a:p>
            <a:pPr marL="342900" indent="-3429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Compounding burden:</a:t>
            </a:r>
            <a:r>
              <a:rPr lang="en-US" sz="1400" dirty="0">
                <a:solidFill>
                  <a:srgbClr val="475569"/>
                </a:solidFill>
                <a:latin typeface="Calibri" pitchFamily="34" charset="0"/>
                <a:ea typeface="Calibri" pitchFamily="34" charset="-122"/>
                <a:cs typeface="Calibri" pitchFamily="34" charset="-120"/>
              </a:rPr>
              <a:t> patient falls, manual documentation overload, and communication breakdowns with deaf / hard-of-hearing patients.</a:t>
            </a:r>
            <a:endParaRPr lang="en-US" sz="1400" dirty="0"/>
          </a:p>
          <a:p>
            <a:pPr marL="342900" indent="-3429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Existing tools are reactive,</a:t>
            </a:r>
            <a:r>
              <a:rPr lang="en-US" sz="1400" dirty="0">
                <a:solidFill>
                  <a:srgbClr val="475569"/>
                </a:solidFill>
                <a:latin typeface="Calibri" pitchFamily="34" charset="0"/>
                <a:ea typeface="Calibri" pitchFamily="34" charset="-122"/>
                <a:cs typeface="Calibri" pitchFamily="34" charset="-120"/>
              </a:rPr>
              <a:t> single-modal, and impersonal — missing early-warning signals before burnout threshold is reached.</a:t>
            </a:r>
            <a:endParaRPr lang="en-US" sz="1400" dirty="0"/>
          </a:p>
        </p:txBody>
      </p:sp>
      <p:sp>
        <p:nvSpPr>
          <p:cNvPr id="14" name="Shape 6">
            <a:extLst>
              <a:ext uri="{FF2B5EF4-FFF2-40B4-BE49-F238E27FC236}">
                <a16:creationId xmlns:a16="http://schemas.microsoft.com/office/drawing/2014/main" id="{111B081A-7AB5-CD36-8D7A-0834AE58911E}"/>
              </a:ext>
            </a:extLst>
          </p:cNvPr>
          <p:cNvSpPr/>
          <p:nvPr/>
        </p:nvSpPr>
        <p:spPr>
          <a:xfrm>
            <a:off x="6631912" y="1189976"/>
            <a:ext cx="384048" cy="384048"/>
          </a:xfrm>
          <a:prstGeom prst="ellipse">
            <a:avLst/>
          </a:prstGeom>
          <a:solidFill>
            <a:srgbClr val="0E7C7B"/>
          </a:solidFill>
          <a:ln w="12700">
            <a:solidFill>
              <a:srgbClr val="0E7C7B"/>
            </a:solidFill>
            <a:prstDash val="solid"/>
          </a:ln>
        </p:spPr>
        <p:txBody>
          <a:bodyPr/>
          <a:lstStyle/>
          <a:p>
            <a:endParaRPr lang="en-SG" dirty="0"/>
          </a:p>
        </p:txBody>
      </p:sp>
      <p:sp>
        <p:nvSpPr>
          <p:cNvPr id="15" name="Text 7">
            <a:extLst>
              <a:ext uri="{FF2B5EF4-FFF2-40B4-BE49-F238E27FC236}">
                <a16:creationId xmlns:a16="http://schemas.microsoft.com/office/drawing/2014/main" id="{A0446B8A-D402-1C4C-8DDA-9264D2D6E866}"/>
              </a:ext>
            </a:extLst>
          </p:cNvPr>
          <p:cNvSpPr/>
          <p:nvPr/>
        </p:nvSpPr>
        <p:spPr>
          <a:xfrm>
            <a:off x="6631912" y="118997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8">
            <a:extLst>
              <a:ext uri="{FF2B5EF4-FFF2-40B4-BE49-F238E27FC236}">
                <a16:creationId xmlns:a16="http://schemas.microsoft.com/office/drawing/2014/main" id="{D6867F84-1D10-D96C-ABD8-05DD0D6E6121}"/>
              </a:ext>
            </a:extLst>
          </p:cNvPr>
          <p:cNvSpPr/>
          <p:nvPr/>
        </p:nvSpPr>
        <p:spPr>
          <a:xfrm>
            <a:off x="7134832" y="1189976"/>
            <a:ext cx="4754880" cy="384048"/>
          </a:xfrm>
          <a:prstGeom prst="rect">
            <a:avLst/>
          </a:prstGeom>
          <a:noFill/>
          <a:ln/>
        </p:spPr>
        <p:txBody>
          <a:bodyPr wrap="square" lIns="0" tIns="0" rIns="0" bIns="0" rtlCol="0" anchor="ctr"/>
          <a:lstStyle/>
          <a:p>
            <a:pPr marL="0" indent="0" algn="l">
              <a:buNone/>
            </a:pPr>
            <a:r>
              <a:rPr lang="en-US" sz="1700" b="1" dirty="0">
                <a:solidFill>
                  <a:srgbClr val="1E2761"/>
                </a:solidFill>
                <a:latin typeface="Georgia" pitchFamily="34" charset="0"/>
                <a:ea typeface="Georgia" pitchFamily="34" charset="-122"/>
                <a:cs typeface="Georgia" pitchFamily="34" charset="-120"/>
              </a:rPr>
              <a:t>Who Benefits</a:t>
            </a:r>
            <a:endParaRPr lang="en-US" sz="1700" dirty="0"/>
          </a:p>
        </p:txBody>
      </p:sp>
      <p:graphicFrame>
        <p:nvGraphicFramePr>
          <p:cNvPr id="17" name="Table 0">
            <a:extLst>
              <a:ext uri="{FF2B5EF4-FFF2-40B4-BE49-F238E27FC236}">
                <a16:creationId xmlns:a16="http://schemas.microsoft.com/office/drawing/2014/main" id="{9E355D3A-66C1-911B-BD9A-A9612181D818}"/>
              </a:ext>
            </a:extLst>
          </p:cNvPr>
          <p:cNvGraphicFramePr>
            <a:graphicFrameLocks noGrp="1"/>
          </p:cNvGraphicFramePr>
          <p:nvPr>
            <p:extLst>
              <p:ext uri="{D42A27DB-BD31-4B8C-83A1-F6EECF244321}">
                <p14:modId xmlns:p14="http://schemas.microsoft.com/office/powerpoint/2010/main" val="708191876"/>
              </p:ext>
            </p:extLst>
          </p:nvPr>
        </p:nvGraphicFramePr>
        <p:xfrm>
          <a:off x="6631912" y="1692896"/>
          <a:ext cx="5303520" cy="2362215"/>
        </p:xfrm>
        <a:graphic>
          <a:graphicData uri="http://schemas.openxmlformats.org/drawingml/2006/table">
            <a:tbl>
              <a:tblPr/>
              <a:tblGrid>
                <a:gridCol w="1185706">
                  <a:extLst>
                    <a:ext uri="{9D8B030D-6E8A-4147-A177-3AD203B41FA5}">
                      <a16:colId xmlns:a16="http://schemas.microsoft.com/office/drawing/2014/main" val="20000"/>
                    </a:ext>
                  </a:extLst>
                </a:gridCol>
                <a:gridCol w="2321169">
                  <a:extLst>
                    <a:ext uri="{9D8B030D-6E8A-4147-A177-3AD203B41FA5}">
                      <a16:colId xmlns:a16="http://schemas.microsoft.com/office/drawing/2014/main" val="20001"/>
                    </a:ext>
                  </a:extLst>
                </a:gridCol>
                <a:gridCol w="1796645">
                  <a:extLst>
                    <a:ext uri="{9D8B030D-6E8A-4147-A177-3AD203B41FA5}">
                      <a16:colId xmlns:a16="http://schemas.microsoft.com/office/drawing/2014/main" val="20002"/>
                    </a:ext>
                  </a:extLst>
                </a:gridCol>
              </a:tblGrid>
              <a:tr h="381015">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Tier</a:t>
                      </a:r>
                      <a:endParaRPr lang="en-US" sz="14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Group</a:t>
                      </a:r>
                      <a:endParaRPr lang="en-US" sz="14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Outcome</a:t>
                      </a:r>
                      <a:endParaRPr lang="en-US" sz="14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77359">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PRIMARY</a:t>
                      </a:r>
                      <a:endParaRPr lang="en-US" sz="14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Caregivers — nurses, eldercare &amp; home-care staff, and supervisors</a:t>
                      </a:r>
                      <a:endParaRPr lang="en-US" sz="14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Reduced burnout; better performance</a:t>
                      </a:r>
                      <a:endParaRPr lang="en-US" sz="14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7359">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SECONDARY</a:t>
                      </a:r>
                      <a:endParaRPr lang="en-US" sz="14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7C7B"/>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Patients &amp; healthcare institutions</a:t>
                      </a:r>
                      <a:endParaRPr lang="en-US" sz="14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Improved safety, fewer falls, lower turnover</a:t>
                      </a:r>
                      <a:endParaRPr lang="en-US" sz="14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9796">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TERTIARY</a:t>
                      </a:r>
                      <a:endParaRPr lang="en-US" sz="14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9A441"/>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Deaf and hard-of-hearing patients</a:t>
                      </a:r>
                      <a:endParaRPr lang="en-US" sz="14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Reliable signed communication</a:t>
                      </a:r>
                      <a:endParaRPr lang="en-US" sz="14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8" name="Shape 9">
            <a:extLst>
              <a:ext uri="{FF2B5EF4-FFF2-40B4-BE49-F238E27FC236}">
                <a16:creationId xmlns:a16="http://schemas.microsoft.com/office/drawing/2014/main" id="{4596A803-BE5A-C041-7A25-831258C21E9D}"/>
              </a:ext>
            </a:extLst>
          </p:cNvPr>
          <p:cNvSpPr/>
          <p:nvPr/>
        </p:nvSpPr>
        <p:spPr>
          <a:xfrm>
            <a:off x="457200" y="4023360"/>
            <a:ext cx="384048" cy="384048"/>
          </a:xfrm>
          <a:prstGeom prst="ellipse">
            <a:avLst/>
          </a:prstGeom>
          <a:solidFill>
            <a:srgbClr val="D9A441"/>
          </a:solidFill>
          <a:ln w="12700">
            <a:solidFill>
              <a:srgbClr val="D9A441"/>
            </a:solidFill>
            <a:prstDash val="solid"/>
          </a:ln>
        </p:spPr>
        <p:txBody>
          <a:bodyPr/>
          <a:lstStyle/>
          <a:p>
            <a:endParaRPr lang="en-SG" dirty="0"/>
          </a:p>
        </p:txBody>
      </p:sp>
      <p:sp>
        <p:nvSpPr>
          <p:cNvPr id="19" name="Text 10">
            <a:extLst>
              <a:ext uri="{FF2B5EF4-FFF2-40B4-BE49-F238E27FC236}">
                <a16:creationId xmlns:a16="http://schemas.microsoft.com/office/drawing/2014/main" id="{50D583FF-3180-42CE-82B1-0E246EB09489}"/>
              </a:ext>
            </a:extLst>
          </p:cNvPr>
          <p:cNvSpPr/>
          <p:nvPr/>
        </p:nvSpPr>
        <p:spPr>
          <a:xfrm>
            <a:off x="457200" y="40233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1">
            <a:extLst>
              <a:ext uri="{FF2B5EF4-FFF2-40B4-BE49-F238E27FC236}">
                <a16:creationId xmlns:a16="http://schemas.microsoft.com/office/drawing/2014/main" id="{D96FDAFB-9CEF-BEA9-68D4-CDC8DC248703}"/>
              </a:ext>
            </a:extLst>
          </p:cNvPr>
          <p:cNvSpPr/>
          <p:nvPr/>
        </p:nvSpPr>
        <p:spPr>
          <a:xfrm>
            <a:off x="960120" y="4023360"/>
            <a:ext cx="10058400" cy="384048"/>
          </a:xfrm>
          <a:prstGeom prst="rect">
            <a:avLst/>
          </a:prstGeom>
          <a:noFill/>
          <a:ln/>
        </p:spPr>
        <p:txBody>
          <a:bodyPr wrap="square" lIns="0" tIns="0" rIns="0" bIns="0" rtlCol="0" anchor="ctr"/>
          <a:lstStyle/>
          <a:p>
            <a:pPr marL="0" indent="0" algn="l">
              <a:buNone/>
            </a:pPr>
            <a:r>
              <a:rPr lang="en-US" sz="1700" b="1" dirty="0">
                <a:solidFill>
                  <a:srgbClr val="1E2761"/>
                </a:solidFill>
                <a:latin typeface="Georgia" pitchFamily="34" charset="0"/>
                <a:ea typeface="Georgia" pitchFamily="34" charset="-122"/>
                <a:cs typeface="Georgia" pitchFamily="34" charset="-120"/>
              </a:rPr>
              <a:t>Design Excellence of the Solution</a:t>
            </a:r>
            <a:endParaRPr lang="en-US" sz="1700" dirty="0"/>
          </a:p>
        </p:txBody>
      </p:sp>
      <p:sp>
        <p:nvSpPr>
          <p:cNvPr id="21" name="Shape 12">
            <a:extLst>
              <a:ext uri="{FF2B5EF4-FFF2-40B4-BE49-F238E27FC236}">
                <a16:creationId xmlns:a16="http://schemas.microsoft.com/office/drawing/2014/main" id="{66D247E8-91A1-E032-FFC9-6B0B33317396}"/>
              </a:ext>
            </a:extLst>
          </p:cNvPr>
          <p:cNvSpPr/>
          <p:nvPr/>
        </p:nvSpPr>
        <p:spPr>
          <a:xfrm>
            <a:off x="457200" y="4617720"/>
            <a:ext cx="2688336" cy="1554480"/>
          </a:xfrm>
          <a:prstGeom prst="rect">
            <a:avLst/>
          </a:prstGeom>
          <a:solidFill>
            <a:srgbClr val="F1F5F9"/>
          </a:solidFill>
          <a:ln w="12700">
            <a:solidFill>
              <a:srgbClr val="F1F5F9"/>
            </a:solidFill>
            <a:prstDash val="solid"/>
          </a:ln>
        </p:spPr>
        <p:txBody>
          <a:bodyPr/>
          <a:lstStyle/>
          <a:p>
            <a:endParaRPr lang="en-SG" dirty="0"/>
          </a:p>
        </p:txBody>
      </p:sp>
      <p:sp>
        <p:nvSpPr>
          <p:cNvPr id="22" name="Shape 13">
            <a:extLst>
              <a:ext uri="{FF2B5EF4-FFF2-40B4-BE49-F238E27FC236}">
                <a16:creationId xmlns:a16="http://schemas.microsoft.com/office/drawing/2014/main" id="{F5FC3F65-8D95-A717-92B4-368375BD8A59}"/>
              </a:ext>
            </a:extLst>
          </p:cNvPr>
          <p:cNvSpPr/>
          <p:nvPr/>
        </p:nvSpPr>
        <p:spPr>
          <a:xfrm>
            <a:off x="457200" y="4617720"/>
            <a:ext cx="73152" cy="1554480"/>
          </a:xfrm>
          <a:prstGeom prst="rect">
            <a:avLst/>
          </a:prstGeom>
          <a:solidFill>
            <a:srgbClr val="1E2761"/>
          </a:solidFill>
          <a:ln w="12700">
            <a:solidFill>
              <a:srgbClr val="1E2761"/>
            </a:solidFill>
            <a:prstDash val="solid"/>
          </a:ln>
        </p:spPr>
        <p:txBody>
          <a:bodyPr/>
          <a:lstStyle/>
          <a:p>
            <a:endParaRPr lang="en-SG" dirty="0"/>
          </a:p>
        </p:txBody>
      </p:sp>
      <p:sp>
        <p:nvSpPr>
          <p:cNvPr id="23" name="Text 14">
            <a:extLst>
              <a:ext uri="{FF2B5EF4-FFF2-40B4-BE49-F238E27FC236}">
                <a16:creationId xmlns:a16="http://schemas.microsoft.com/office/drawing/2014/main" id="{78A9675D-A44C-8473-71F6-05785E8177B7}"/>
              </a:ext>
            </a:extLst>
          </p:cNvPr>
          <p:cNvSpPr/>
          <p:nvPr/>
        </p:nvSpPr>
        <p:spPr>
          <a:xfrm>
            <a:off x="658368" y="4709160"/>
            <a:ext cx="2395728" cy="457200"/>
          </a:xfrm>
          <a:prstGeom prst="rect">
            <a:avLst/>
          </a:prstGeom>
          <a:noFill/>
          <a:ln/>
        </p:spPr>
        <p:txBody>
          <a:bodyPr wrap="square" lIns="0" tIns="0" rIns="0" bIns="0" rtlCol="0" anchor="t"/>
          <a:lstStyle/>
          <a:p>
            <a:pPr marL="0" indent="0" algn="l">
              <a:buNone/>
            </a:pPr>
            <a:r>
              <a:rPr lang="en-US" sz="1400" b="1" dirty="0">
                <a:solidFill>
                  <a:srgbClr val="1E2761"/>
                </a:solidFill>
                <a:latin typeface="Calibri" pitchFamily="34" charset="0"/>
                <a:ea typeface="Calibri" pitchFamily="34" charset="-122"/>
                <a:cs typeface="Calibri" pitchFamily="34" charset="-120"/>
              </a:rPr>
              <a:t>Unified Multimodal Platform</a:t>
            </a:r>
            <a:endParaRPr lang="en-US" sz="1400" dirty="0"/>
          </a:p>
        </p:txBody>
      </p:sp>
      <p:sp>
        <p:nvSpPr>
          <p:cNvPr id="24" name="Text 15">
            <a:extLst>
              <a:ext uri="{FF2B5EF4-FFF2-40B4-BE49-F238E27FC236}">
                <a16:creationId xmlns:a16="http://schemas.microsoft.com/office/drawing/2014/main" id="{E447E575-5289-858B-B869-8D608D3F134B}"/>
              </a:ext>
            </a:extLst>
          </p:cNvPr>
          <p:cNvSpPr/>
          <p:nvPr/>
        </p:nvSpPr>
        <p:spPr>
          <a:xfrm>
            <a:off x="649224" y="5052695"/>
            <a:ext cx="2496312" cy="914400"/>
          </a:xfrm>
          <a:prstGeom prst="rect">
            <a:avLst/>
          </a:prstGeom>
          <a:noFill/>
          <a:ln/>
        </p:spPr>
        <p:txBody>
          <a:bodyPr wrap="square" lIns="0" tIns="0" rIns="0" bIns="0" rtlCol="0" anchor="t"/>
          <a:lstStyle/>
          <a:p>
            <a:pPr marL="0" indent="0" algn="l">
              <a:buNone/>
            </a:pPr>
            <a:r>
              <a:rPr lang="en-US" sz="1400" dirty="0">
                <a:solidFill>
                  <a:srgbClr val="475569"/>
                </a:solidFill>
                <a:latin typeface="Calibri" pitchFamily="34" charset="0"/>
                <a:ea typeface="Calibri" pitchFamily="34" charset="-122"/>
                <a:cs typeface="Calibri" pitchFamily="34" charset="-120"/>
              </a:rPr>
              <a:t>Physiological + acoustic stress detection, edge-based fall prediction, voice-driven ADL documentation, and adaptive sign-language tutoring.</a:t>
            </a:r>
            <a:endParaRPr lang="en-US" sz="1400" dirty="0"/>
          </a:p>
        </p:txBody>
      </p:sp>
      <p:sp>
        <p:nvSpPr>
          <p:cNvPr id="25" name="Shape 16">
            <a:extLst>
              <a:ext uri="{FF2B5EF4-FFF2-40B4-BE49-F238E27FC236}">
                <a16:creationId xmlns:a16="http://schemas.microsoft.com/office/drawing/2014/main" id="{225B7C1A-FD20-7AD6-5B4C-8B82F760FBFA}"/>
              </a:ext>
            </a:extLst>
          </p:cNvPr>
          <p:cNvSpPr/>
          <p:nvPr/>
        </p:nvSpPr>
        <p:spPr>
          <a:xfrm>
            <a:off x="3310128" y="4617720"/>
            <a:ext cx="2688336" cy="1554480"/>
          </a:xfrm>
          <a:prstGeom prst="rect">
            <a:avLst/>
          </a:prstGeom>
          <a:solidFill>
            <a:srgbClr val="F1F5F9"/>
          </a:solidFill>
          <a:ln w="12700">
            <a:solidFill>
              <a:srgbClr val="F1F5F9"/>
            </a:solidFill>
            <a:prstDash val="solid"/>
          </a:ln>
        </p:spPr>
        <p:txBody>
          <a:bodyPr/>
          <a:lstStyle/>
          <a:p>
            <a:endParaRPr lang="en-SG" dirty="0"/>
          </a:p>
        </p:txBody>
      </p:sp>
      <p:sp>
        <p:nvSpPr>
          <p:cNvPr id="26" name="Shape 17">
            <a:extLst>
              <a:ext uri="{FF2B5EF4-FFF2-40B4-BE49-F238E27FC236}">
                <a16:creationId xmlns:a16="http://schemas.microsoft.com/office/drawing/2014/main" id="{80747240-F2B8-E63B-D353-5451F8CECC52}"/>
              </a:ext>
            </a:extLst>
          </p:cNvPr>
          <p:cNvSpPr/>
          <p:nvPr/>
        </p:nvSpPr>
        <p:spPr>
          <a:xfrm>
            <a:off x="3310128" y="4617720"/>
            <a:ext cx="73152" cy="1554480"/>
          </a:xfrm>
          <a:prstGeom prst="rect">
            <a:avLst/>
          </a:prstGeom>
          <a:solidFill>
            <a:srgbClr val="0E7C7B"/>
          </a:solidFill>
          <a:ln w="12700">
            <a:solidFill>
              <a:srgbClr val="0E7C7B"/>
            </a:solidFill>
            <a:prstDash val="solid"/>
          </a:ln>
        </p:spPr>
        <p:txBody>
          <a:bodyPr/>
          <a:lstStyle/>
          <a:p>
            <a:endParaRPr lang="en-SG" dirty="0"/>
          </a:p>
        </p:txBody>
      </p:sp>
      <p:sp>
        <p:nvSpPr>
          <p:cNvPr id="27" name="Text 18">
            <a:extLst>
              <a:ext uri="{FF2B5EF4-FFF2-40B4-BE49-F238E27FC236}">
                <a16:creationId xmlns:a16="http://schemas.microsoft.com/office/drawing/2014/main" id="{9970BA8C-4C38-F9D0-CF96-33D956D797DA}"/>
              </a:ext>
            </a:extLst>
          </p:cNvPr>
          <p:cNvSpPr/>
          <p:nvPr/>
        </p:nvSpPr>
        <p:spPr>
          <a:xfrm>
            <a:off x="3511296" y="4709160"/>
            <a:ext cx="2395728" cy="457200"/>
          </a:xfrm>
          <a:prstGeom prst="rect">
            <a:avLst/>
          </a:prstGeom>
          <a:noFill/>
          <a:ln/>
        </p:spPr>
        <p:txBody>
          <a:bodyPr wrap="square" lIns="0" tIns="0" rIns="0" bIns="0" rtlCol="0" anchor="t"/>
          <a:lstStyle/>
          <a:p>
            <a:pPr marL="0" indent="0" algn="l">
              <a:buNone/>
            </a:pPr>
            <a:r>
              <a:rPr lang="en-US" sz="1400" b="1" dirty="0">
                <a:solidFill>
                  <a:srgbClr val="1E2761"/>
                </a:solidFill>
                <a:latin typeface="Calibri" pitchFamily="34" charset="0"/>
                <a:ea typeface="Calibri" pitchFamily="34" charset="-122"/>
                <a:cs typeface="Calibri" pitchFamily="34" charset="-120"/>
              </a:rPr>
              <a:t>Personalization Per Caregiver</a:t>
            </a:r>
            <a:endParaRPr lang="en-US" sz="1400" dirty="0"/>
          </a:p>
        </p:txBody>
      </p:sp>
      <p:sp>
        <p:nvSpPr>
          <p:cNvPr id="28" name="Text 19">
            <a:extLst>
              <a:ext uri="{FF2B5EF4-FFF2-40B4-BE49-F238E27FC236}">
                <a16:creationId xmlns:a16="http://schemas.microsoft.com/office/drawing/2014/main" id="{AAEEFFC0-A380-7CF3-F8F2-A54009CA6C67}"/>
              </a:ext>
            </a:extLst>
          </p:cNvPr>
          <p:cNvSpPr/>
          <p:nvPr/>
        </p:nvSpPr>
        <p:spPr>
          <a:xfrm>
            <a:off x="3520440" y="5052695"/>
            <a:ext cx="2395728" cy="914400"/>
          </a:xfrm>
          <a:prstGeom prst="rect">
            <a:avLst/>
          </a:prstGeom>
          <a:noFill/>
          <a:ln/>
        </p:spPr>
        <p:txBody>
          <a:bodyPr wrap="square" lIns="0" tIns="0" rIns="0" bIns="0" rtlCol="0" anchor="t"/>
          <a:lstStyle/>
          <a:p>
            <a:pPr marL="0" indent="0" algn="l">
              <a:buNone/>
            </a:pPr>
            <a:r>
              <a:rPr lang="en-US" sz="1400" dirty="0">
                <a:solidFill>
                  <a:srgbClr val="475569"/>
                </a:solidFill>
                <a:latin typeface="Calibri" pitchFamily="34" charset="0"/>
                <a:ea typeface="Calibri" pitchFamily="34" charset="-122"/>
                <a:cs typeface="Calibri" pitchFamily="34" charset="-120"/>
              </a:rPr>
              <a:t>Isolation Forest baselines and RL-based adaptive learning tuned to each individual caregiver's patterns.</a:t>
            </a:r>
            <a:endParaRPr lang="en-US" sz="1400" dirty="0"/>
          </a:p>
        </p:txBody>
      </p:sp>
      <p:sp>
        <p:nvSpPr>
          <p:cNvPr id="29" name="Shape 20">
            <a:extLst>
              <a:ext uri="{FF2B5EF4-FFF2-40B4-BE49-F238E27FC236}">
                <a16:creationId xmlns:a16="http://schemas.microsoft.com/office/drawing/2014/main" id="{7BD5D5F9-0A89-F25E-EDE9-809A5D1549DE}"/>
              </a:ext>
            </a:extLst>
          </p:cNvPr>
          <p:cNvSpPr/>
          <p:nvPr/>
        </p:nvSpPr>
        <p:spPr>
          <a:xfrm>
            <a:off x="6163056" y="4617720"/>
            <a:ext cx="2688336" cy="1554480"/>
          </a:xfrm>
          <a:prstGeom prst="rect">
            <a:avLst/>
          </a:prstGeom>
          <a:solidFill>
            <a:srgbClr val="F1F5F9"/>
          </a:solidFill>
          <a:ln w="12700">
            <a:solidFill>
              <a:srgbClr val="F1F5F9"/>
            </a:solidFill>
            <a:prstDash val="solid"/>
          </a:ln>
        </p:spPr>
        <p:txBody>
          <a:bodyPr/>
          <a:lstStyle/>
          <a:p>
            <a:endParaRPr lang="en-SG" dirty="0"/>
          </a:p>
        </p:txBody>
      </p:sp>
      <p:sp>
        <p:nvSpPr>
          <p:cNvPr id="30" name="Shape 21">
            <a:extLst>
              <a:ext uri="{FF2B5EF4-FFF2-40B4-BE49-F238E27FC236}">
                <a16:creationId xmlns:a16="http://schemas.microsoft.com/office/drawing/2014/main" id="{28DB39B4-F52D-334D-88E3-D82E6BDEE4AF}"/>
              </a:ext>
            </a:extLst>
          </p:cNvPr>
          <p:cNvSpPr/>
          <p:nvPr/>
        </p:nvSpPr>
        <p:spPr>
          <a:xfrm>
            <a:off x="6163056" y="4617720"/>
            <a:ext cx="73152" cy="1554480"/>
          </a:xfrm>
          <a:prstGeom prst="rect">
            <a:avLst/>
          </a:prstGeom>
          <a:solidFill>
            <a:srgbClr val="D9A441"/>
          </a:solidFill>
          <a:ln w="12700">
            <a:solidFill>
              <a:srgbClr val="D9A441"/>
            </a:solidFill>
            <a:prstDash val="solid"/>
          </a:ln>
        </p:spPr>
        <p:txBody>
          <a:bodyPr/>
          <a:lstStyle/>
          <a:p>
            <a:endParaRPr lang="en-SG" dirty="0"/>
          </a:p>
        </p:txBody>
      </p:sp>
      <p:sp>
        <p:nvSpPr>
          <p:cNvPr id="31" name="Text 22">
            <a:extLst>
              <a:ext uri="{FF2B5EF4-FFF2-40B4-BE49-F238E27FC236}">
                <a16:creationId xmlns:a16="http://schemas.microsoft.com/office/drawing/2014/main" id="{0ACE97B1-83F4-171E-D521-072DC5E51C5F}"/>
              </a:ext>
            </a:extLst>
          </p:cNvPr>
          <p:cNvSpPr/>
          <p:nvPr/>
        </p:nvSpPr>
        <p:spPr>
          <a:xfrm>
            <a:off x="6364224" y="4709160"/>
            <a:ext cx="2395728" cy="457200"/>
          </a:xfrm>
          <a:prstGeom prst="rect">
            <a:avLst/>
          </a:prstGeom>
          <a:noFill/>
          <a:ln/>
        </p:spPr>
        <p:txBody>
          <a:bodyPr wrap="square" lIns="0" tIns="0" rIns="0" bIns="0" rtlCol="0" anchor="t"/>
          <a:lstStyle/>
          <a:p>
            <a:pPr marL="0" indent="0" algn="l">
              <a:buNone/>
            </a:pPr>
            <a:r>
              <a:rPr lang="en-US" sz="1400" b="1" dirty="0">
                <a:solidFill>
                  <a:srgbClr val="1E2761"/>
                </a:solidFill>
                <a:latin typeface="Calibri" pitchFamily="34" charset="0"/>
                <a:ea typeface="Calibri" pitchFamily="34" charset="-122"/>
                <a:cs typeface="Calibri" pitchFamily="34" charset="-120"/>
              </a:rPr>
              <a:t>Explainability Built In</a:t>
            </a:r>
            <a:endParaRPr lang="en-US" sz="1400" dirty="0"/>
          </a:p>
        </p:txBody>
      </p:sp>
      <p:sp>
        <p:nvSpPr>
          <p:cNvPr id="32" name="Text 23">
            <a:extLst>
              <a:ext uri="{FF2B5EF4-FFF2-40B4-BE49-F238E27FC236}">
                <a16:creationId xmlns:a16="http://schemas.microsoft.com/office/drawing/2014/main" id="{9A0CCB4D-82F7-CA2E-C582-B1992FC77EEB}"/>
              </a:ext>
            </a:extLst>
          </p:cNvPr>
          <p:cNvSpPr/>
          <p:nvPr/>
        </p:nvSpPr>
        <p:spPr>
          <a:xfrm>
            <a:off x="6364224" y="5052695"/>
            <a:ext cx="2395728" cy="914400"/>
          </a:xfrm>
          <a:prstGeom prst="rect">
            <a:avLst/>
          </a:prstGeom>
          <a:noFill/>
          <a:ln/>
        </p:spPr>
        <p:txBody>
          <a:bodyPr wrap="square" lIns="0" tIns="0" rIns="0" bIns="0" rtlCol="0" anchor="t"/>
          <a:lstStyle/>
          <a:p>
            <a:pPr marL="0" indent="0" algn="l">
              <a:buNone/>
            </a:pPr>
            <a:r>
              <a:rPr lang="en-US" sz="1400" dirty="0">
                <a:solidFill>
                  <a:srgbClr val="475569"/>
                </a:solidFill>
                <a:latin typeface="Calibri" pitchFamily="34" charset="0"/>
                <a:ea typeface="Calibri" pitchFamily="34" charset="-122"/>
                <a:cs typeface="Calibri" pitchFamily="34" charset="-120"/>
              </a:rPr>
              <a:t>Transparent reasoning so caregivers and supervisors can trust and act on the system's signals.</a:t>
            </a:r>
            <a:endParaRPr lang="en-US" sz="1400" dirty="0"/>
          </a:p>
        </p:txBody>
      </p:sp>
      <p:sp>
        <p:nvSpPr>
          <p:cNvPr id="33" name="Shape 24">
            <a:extLst>
              <a:ext uri="{FF2B5EF4-FFF2-40B4-BE49-F238E27FC236}">
                <a16:creationId xmlns:a16="http://schemas.microsoft.com/office/drawing/2014/main" id="{E43D19C5-EA0A-7B17-8E6A-CFBD0191BD07}"/>
              </a:ext>
            </a:extLst>
          </p:cNvPr>
          <p:cNvSpPr/>
          <p:nvPr/>
        </p:nvSpPr>
        <p:spPr>
          <a:xfrm>
            <a:off x="9015984" y="4617720"/>
            <a:ext cx="2688336" cy="1554480"/>
          </a:xfrm>
          <a:prstGeom prst="rect">
            <a:avLst/>
          </a:prstGeom>
          <a:solidFill>
            <a:srgbClr val="F1F5F9"/>
          </a:solidFill>
          <a:ln w="12700">
            <a:solidFill>
              <a:srgbClr val="F1F5F9"/>
            </a:solidFill>
            <a:prstDash val="solid"/>
          </a:ln>
        </p:spPr>
        <p:txBody>
          <a:bodyPr/>
          <a:lstStyle/>
          <a:p>
            <a:endParaRPr lang="en-SG" dirty="0"/>
          </a:p>
        </p:txBody>
      </p:sp>
      <p:sp>
        <p:nvSpPr>
          <p:cNvPr id="34" name="Shape 25">
            <a:extLst>
              <a:ext uri="{FF2B5EF4-FFF2-40B4-BE49-F238E27FC236}">
                <a16:creationId xmlns:a16="http://schemas.microsoft.com/office/drawing/2014/main" id="{8437FB7C-1278-017B-DCB7-092FC9EC0180}"/>
              </a:ext>
            </a:extLst>
          </p:cNvPr>
          <p:cNvSpPr/>
          <p:nvPr/>
        </p:nvSpPr>
        <p:spPr>
          <a:xfrm>
            <a:off x="9015984" y="4617720"/>
            <a:ext cx="73152" cy="1554480"/>
          </a:xfrm>
          <a:prstGeom prst="rect">
            <a:avLst/>
          </a:prstGeom>
          <a:solidFill>
            <a:srgbClr val="8B5CF6"/>
          </a:solidFill>
          <a:ln w="12700">
            <a:solidFill>
              <a:srgbClr val="8B5CF6"/>
            </a:solidFill>
            <a:prstDash val="solid"/>
          </a:ln>
        </p:spPr>
        <p:txBody>
          <a:bodyPr/>
          <a:lstStyle/>
          <a:p>
            <a:endParaRPr lang="en-SG" dirty="0"/>
          </a:p>
        </p:txBody>
      </p:sp>
      <p:sp>
        <p:nvSpPr>
          <p:cNvPr id="35" name="Text 26">
            <a:extLst>
              <a:ext uri="{FF2B5EF4-FFF2-40B4-BE49-F238E27FC236}">
                <a16:creationId xmlns:a16="http://schemas.microsoft.com/office/drawing/2014/main" id="{C4DF699E-3FAD-41D2-AC5E-3BC2C8A8B95A}"/>
              </a:ext>
            </a:extLst>
          </p:cNvPr>
          <p:cNvSpPr/>
          <p:nvPr/>
        </p:nvSpPr>
        <p:spPr>
          <a:xfrm>
            <a:off x="9217152" y="4709160"/>
            <a:ext cx="2395728" cy="457200"/>
          </a:xfrm>
          <a:prstGeom prst="rect">
            <a:avLst/>
          </a:prstGeom>
          <a:noFill/>
          <a:ln/>
        </p:spPr>
        <p:txBody>
          <a:bodyPr wrap="square" lIns="0" tIns="0" rIns="0" bIns="0" rtlCol="0" anchor="t"/>
          <a:lstStyle/>
          <a:p>
            <a:pPr marL="0" indent="0" algn="l">
              <a:buNone/>
            </a:pPr>
            <a:r>
              <a:rPr lang="en-US" sz="1400" b="1" dirty="0">
                <a:solidFill>
                  <a:srgbClr val="1E2761"/>
                </a:solidFill>
                <a:latin typeface="Calibri" pitchFamily="34" charset="0"/>
                <a:ea typeface="Calibri" pitchFamily="34" charset="-122"/>
                <a:cs typeface="Calibri" pitchFamily="34" charset="-120"/>
              </a:rPr>
              <a:t>Early-Warning Focus</a:t>
            </a:r>
            <a:endParaRPr lang="en-US" sz="1400" dirty="0"/>
          </a:p>
        </p:txBody>
      </p:sp>
      <p:sp>
        <p:nvSpPr>
          <p:cNvPr id="36" name="Text 27">
            <a:extLst>
              <a:ext uri="{FF2B5EF4-FFF2-40B4-BE49-F238E27FC236}">
                <a16:creationId xmlns:a16="http://schemas.microsoft.com/office/drawing/2014/main" id="{6C7D5543-F22B-4535-D52D-AC2D01544D2A}"/>
              </a:ext>
            </a:extLst>
          </p:cNvPr>
          <p:cNvSpPr/>
          <p:nvPr/>
        </p:nvSpPr>
        <p:spPr>
          <a:xfrm>
            <a:off x="9198864" y="5052695"/>
            <a:ext cx="2395728" cy="914400"/>
          </a:xfrm>
          <a:prstGeom prst="rect">
            <a:avLst/>
          </a:prstGeom>
          <a:noFill/>
          <a:ln/>
        </p:spPr>
        <p:txBody>
          <a:bodyPr wrap="square" lIns="0" tIns="0" rIns="0" bIns="0" rtlCol="0" anchor="t"/>
          <a:lstStyle/>
          <a:p>
            <a:pPr marL="0" indent="0" algn="l">
              <a:buNone/>
            </a:pPr>
            <a:r>
              <a:rPr lang="en-US" sz="1400" dirty="0">
                <a:solidFill>
                  <a:srgbClr val="475569"/>
                </a:solidFill>
                <a:latin typeface="Calibri" pitchFamily="34" charset="0"/>
                <a:ea typeface="Calibri" pitchFamily="34" charset="-122"/>
                <a:cs typeface="Calibri" pitchFamily="34" charset="-120"/>
              </a:rPr>
              <a:t>Proactive — flags risk signals before burnout threshold is reached, unlike existing reactive tools.</a:t>
            </a:r>
            <a:endParaRPr lang="en-US" sz="1400" dirty="0"/>
          </a:p>
        </p:txBody>
      </p:sp>
      <p:pic>
        <p:nvPicPr>
          <p:cNvPr id="37" name="Picture 36">
            <a:extLst>
              <a:ext uri="{FF2B5EF4-FFF2-40B4-BE49-F238E27FC236}">
                <a16:creationId xmlns:a16="http://schemas.microsoft.com/office/drawing/2014/main" id="{566D2A36-2281-E7D2-BBC1-DFE56432D4BC}"/>
              </a:ext>
            </a:extLst>
          </p:cNvPr>
          <p:cNvPicPr>
            <a:picLocks noChangeAspect="1"/>
          </p:cNvPicPr>
          <p:nvPr/>
        </p:nvPicPr>
        <p:blipFill>
          <a:blip r:embed="rId3"/>
          <a:stretch>
            <a:fillRect/>
          </a:stretch>
        </p:blipFill>
        <p:spPr>
          <a:xfrm>
            <a:off x="117987" y="6272175"/>
            <a:ext cx="2676899" cy="533474"/>
          </a:xfrm>
          <a:prstGeom prst="rect">
            <a:avLst/>
          </a:prstGeom>
        </p:spPr>
      </p:pic>
    </p:spTree>
    <p:extLst>
      <p:ext uri="{BB962C8B-B14F-4D97-AF65-F5344CB8AC3E}">
        <p14:creationId xmlns:p14="http://schemas.microsoft.com/office/powerpoint/2010/main" val="34387658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500"/>
                                        <p:tgtEl>
                                          <p:spTgt spid="2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500"/>
                                        <p:tgtEl>
                                          <p:spTgt spid="2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5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500"/>
                                        <p:tgtEl>
                                          <p:spTgt spid="2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500"/>
                                        <p:tgtEl>
                                          <p:spTgt spid="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500"/>
                                        <p:tgtEl>
                                          <p:spTgt spid="3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500"/>
                                        <p:tgtEl>
                                          <p:spTgt spid="3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500"/>
                                        <p:tgtEl>
                                          <p:spTgt spid="3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3" dur="500"/>
                                        <p:tgtEl>
                                          <p:spTgt spid="3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500"/>
                                        <p:tgtEl>
                                          <p:spTgt spid="3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03D33-A7DF-6CB0-7213-2B68810A38C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A915CA2-92E1-3A39-22D4-E3A4F2222C20}"/>
              </a:ext>
            </a:extLst>
          </p:cNvPr>
          <p:cNvSpPr txBox="1">
            <a:spLocks/>
          </p:cNvSpPr>
          <p:nvPr/>
        </p:nvSpPr>
        <p:spPr>
          <a:xfrm>
            <a:off x="762000" y="289560"/>
            <a:ext cx="10363200" cy="1470025"/>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nSpc>
                <a:spcPct val="90000"/>
              </a:lnSpc>
            </a:pPr>
            <a:r>
              <a:rPr lang="en-US" sz="2800" b="1" dirty="0"/>
              <a:t>Multimodal Computational Intelligence for Enhancing Caregiver Performance and Care Delivery</a:t>
            </a:r>
            <a:endParaRPr lang="en-US" sz="2800" dirty="0"/>
          </a:p>
          <a:p>
            <a:pPr>
              <a:lnSpc>
                <a:spcPct val="90000"/>
              </a:lnSpc>
            </a:pPr>
            <a:endParaRPr lang="en-US" sz="2800" dirty="0"/>
          </a:p>
        </p:txBody>
      </p:sp>
      <p:sp>
        <p:nvSpPr>
          <p:cNvPr id="5" name="Rectangle 4">
            <a:extLst>
              <a:ext uri="{FF2B5EF4-FFF2-40B4-BE49-F238E27FC236}">
                <a16:creationId xmlns:a16="http://schemas.microsoft.com/office/drawing/2014/main" id="{671B3516-5582-0225-DD62-8F180035FBC5}"/>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5218F42-4C69-E04B-4921-F90195A84E40}"/>
              </a:ext>
            </a:extLst>
          </p:cNvPr>
          <p:cNvPicPr>
            <a:picLocks noChangeAspect="1"/>
          </p:cNvPicPr>
          <p:nvPr/>
        </p:nvPicPr>
        <p:blipFill>
          <a:blip r:embed="rId3"/>
          <a:stretch>
            <a:fillRect/>
          </a:stretch>
        </p:blipFill>
        <p:spPr>
          <a:xfrm>
            <a:off x="513735" y="1402853"/>
            <a:ext cx="10859729" cy="4954571"/>
          </a:xfrm>
          <a:prstGeom prst="rect">
            <a:avLst/>
          </a:prstGeom>
        </p:spPr>
      </p:pic>
    </p:spTree>
    <p:extLst>
      <p:ext uri="{BB962C8B-B14F-4D97-AF65-F5344CB8AC3E}">
        <p14:creationId xmlns:p14="http://schemas.microsoft.com/office/powerpoint/2010/main" val="801735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a:xfrm>
            <a:off x="304800" y="1400585"/>
            <a:ext cx="10363200" cy="755426"/>
          </a:xfrm>
        </p:spPr>
        <p:txBody>
          <a:bodyPr>
            <a:normAutofit fontScale="90000"/>
          </a:bodyPr>
          <a:lstStyle/>
          <a:p>
            <a:r>
              <a:rPr lang="en-US" dirty="0"/>
              <a:t>IT22178640 | DAYANA PRIYADHARSHANI KUMAR</a:t>
            </a:r>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a:xfrm>
            <a:off x="381000" y="3297516"/>
            <a:ext cx="11201400" cy="1734840"/>
          </a:xfrm>
        </p:spPr>
        <p:txBody>
          <a:bodyPr>
            <a:normAutofit/>
          </a:bodyPr>
          <a:lstStyle/>
          <a:p>
            <a:r>
              <a:rPr lang="en-US" sz="2800" b="1" dirty="0">
                <a:solidFill>
                  <a:schemeClr val="tx1"/>
                </a:solidFill>
              </a:rPr>
              <a:t>Component 01: AI-Assisted Caregiver Workforce Deterioration Detection and Adaptive Workload Redistribution</a:t>
            </a:r>
          </a:p>
          <a:p>
            <a:endParaRPr lang="en-US" b="1" dirty="0">
              <a:solidFill>
                <a:schemeClr val="tx1"/>
              </a:solidFill>
            </a:endParaRPr>
          </a:p>
        </p:txBody>
      </p:sp>
      <p:sp>
        <p:nvSpPr>
          <p:cNvPr id="4" name="Rectangle 3">
            <a:extLst>
              <a:ext uri="{FF2B5EF4-FFF2-40B4-BE49-F238E27FC236}">
                <a16:creationId xmlns:a16="http://schemas.microsoft.com/office/drawing/2014/main" id="{5FB98E66-DBD5-4B29-AC68-A58A70C64231}"/>
              </a:ext>
            </a:extLst>
          </p:cNvPr>
          <p:cNvSpPr/>
          <p:nvPr/>
        </p:nvSpPr>
        <p:spPr>
          <a:xfrm>
            <a:off x="2937235" y="6492874"/>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IT22178640 |   DAYANA PRIYADHARSHANI KUMAR |   </a:t>
            </a:r>
            <a:r>
              <a:rPr lang="en-US" b="1" dirty="0">
                <a:solidFill>
                  <a:schemeClr val="tx1"/>
                </a:solidFill>
              </a:rPr>
              <a:t>R26-DS-010</a:t>
            </a:r>
          </a:p>
        </p:txBody>
      </p:sp>
      <p:sp>
        <p:nvSpPr>
          <p:cNvPr id="3" name="Rectangle 2">
            <a:extLst>
              <a:ext uri="{FF2B5EF4-FFF2-40B4-BE49-F238E27FC236}">
                <a16:creationId xmlns:a16="http://schemas.microsoft.com/office/drawing/2014/main" id="{6C2B1B0E-3A95-38D8-C68C-389F644DF9F9}"/>
              </a:ext>
            </a:extLst>
          </p:cNvPr>
          <p:cNvSpPr/>
          <p:nvPr/>
        </p:nvSpPr>
        <p:spPr>
          <a:xfrm>
            <a:off x="10134600" y="533400"/>
            <a:ext cx="1981200" cy="228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Student Must add a professional photo to this cage</a:t>
            </a:r>
          </a:p>
        </p:txBody>
      </p:sp>
      <p:sp>
        <p:nvSpPr>
          <p:cNvPr id="9" name="Rectangle 8">
            <a:extLst>
              <a:ext uri="{FF2B5EF4-FFF2-40B4-BE49-F238E27FC236}">
                <a16:creationId xmlns:a16="http://schemas.microsoft.com/office/drawing/2014/main" id="{81BA89E3-8522-DA69-3B2E-9188FFE0A900}"/>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935E2821-E469-EA7D-D0E5-61759A7B13E5}"/>
              </a:ext>
            </a:extLst>
          </p:cNvPr>
          <p:cNvPicPr>
            <a:picLocks noChangeAspect="1"/>
          </p:cNvPicPr>
          <p:nvPr/>
        </p:nvPicPr>
        <p:blipFill>
          <a:blip r:embed="rId3" cstate="print">
            <a:extLst>
              <a:ext uri="{28A0092B-C50C-407E-A947-70E740481C1C}">
                <a14:useLocalDpi xmlns:a14="http://schemas.microsoft.com/office/drawing/2010/main" val="0"/>
              </a:ext>
            </a:extLst>
          </a:blip>
          <a:srcRect b="10000"/>
          <a:stretch>
            <a:fillRect/>
          </a:stretch>
        </p:blipFill>
        <p:spPr>
          <a:xfrm>
            <a:off x="10067901" y="495300"/>
            <a:ext cx="2114598" cy="2362199"/>
          </a:xfrm>
          <a:prstGeom prst="rect">
            <a:avLst/>
          </a:prstGeom>
        </p:spPr>
      </p:pic>
      <p:sp>
        <p:nvSpPr>
          <p:cNvPr id="8" name="Date Placeholder 7">
            <a:extLst>
              <a:ext uri="{FF2B5EF4-FFF2-40B4-BE49-F238E27FC236}">
                <a16:creationId xmlns:a16="http://schemas.microsoft.com/office/drawing/2014/main" id="{74FDAD47-18F3-A9EE-D512-DA554B5FBB6D}"/>
              </a:ext>
            </a:extLst>
          </p:cNvPr>
          <p:cNvSpPr>
            <a:spLocks noGrp="1"/>
          </p:cNvSpPr>
          <p:nvPr>
            <p:ph type="dt" sz="half" idx="10"/>
          </p:nvPr>
        </p:nvSpPr>
        <p:spPr>
          <a:xfrm>
            <a:off x="10210800" y="6424612"/>
            <a:ext cx="2743200" cy="365125"/>
          </a:xfrm>
        </p:spPr>
        <p:txBody>
          <a:bodyPr/>
          <a:lstStyle/>
          <a:p>
            <a:fld id="{C9949353-94B7-4051-9E16-0D0CB6DCE92B}" type="datetime1">
              <a:rPr lang="en-US" b="1" smtClean="0">
                <a:solidFill>
                  <a:schemeClr val="tx1"/>
                </a:solidFill>
              </a:rPr>
              <a:t>5/12/2026</a:t>
            </a:fld>
            <a:endParaRPr lang="en-US" b="1" dirty="0">
              <a:solidFill>
                <a:schemeClr val="tx1"/>
              </a:solidFill>
            </a:endParaRPr>
          </a:p>
        </p:txBody>
      </p:sp>
      <p:sp>
        <p:nvSpPr>
          <p:cNvPr id="12" name="Slide Number Placeholder 11">
            <a:extLst>
              <a:ext uri="{FF2B5EF4-FFF2-40B4-BE49-F238E27FC236}">
                <a16:creationId xmlns:a16="http://schemas.microsoft.com/office/drawing/2014/main" id="{A645D75B-60FC-EAD3-6AD2-9CED2DD22E6A}"/>
              </a:ext>
            </a:extLst>
          </p:cNvPr>
          <p:cNvSpPr>
            <a:spLocks noGrp="1"/>
          </p:cNvSpPr>
          <p:nvPr>
            <p:ph type="sldNum" sz="quarter" idx="12"/>
          </p:nvPr>
        </p:nvSpPr>
        <p:spPr/>
        <p:txBody>
          <a:bodyPr/>
          <a:lstStyle/>
          <a:p>
            <a:fld id="{47D73ED1-4BC5-4C68-A93F-B56D3DD7872F}" type="slidenum">
              <a:rPr lang="en-US" smtClean="0"/>
              <a:t>4</a:t>
            </a:fld>
            <a:endParaRPr lang="en-US" dirty="0"/>
          </a:p>
        </p:txBody>
      </p:sp>
      <p:pic>
        <p:nvPicPr>
          <p:cNvPr id="13" name="Picture 12">
            <a:extLst>
              <a:ext uri="{FF2B5EF4-FFF2-40B4-BE49-F238E27FC236}">
                <a16:creationId xmlns:a16="http://schemas.microsoft.com/office/drawing/2014/main" id="{DF5313E4-82B2-E8F2-C3C7-DCBB8924A41F}"/>
              </a:ext>
            </a:extLst>
          </p:cNvPr>
          <p:cNvPicPr>
            <a:picLocks noChangeAspect="1"/>
          </p:cNvPicPr>
          <p:nvPr/>
        </p:nvPicPr>
        <p:blipFill>
          <a:blip r:embed="rId4"/>
          <a:stretch>
            <a:fillRect/>
          </a:stretch>
        </p:blipFill>
        <p:spPr>
          <a:xfrm>
            <a:off x="117987" y="6272175"/>
            <a:ext cx="2676899" cy="533474"/>
          </a:xfrm>
          <a:prstGeom prst="rect">
            <a:avLst/>
          </a:prstGeom>
        </p:spPr>
      </p:pic>
      <p:sp>
        <p:nvSpPr>
          <p:cNvPr id="2" name="TextBox 1">
            <a:extLst>
              <a:ext uri="{FF2B5EF4-FFF2-40B4-BE49-F238E27FC236}">
                <a16:creationId xmlns:a16="http://schemas.microsoft.com/office/drawing/2014/main" id="{8C63DF97-C7C2-514E-7226-F9C7699B2922}"/>
              </a:ext>
            </a:extLst>
          </p:cNvPr>
          <p:cNvSpPr txBox="1"/>
          <p:nvPr/>
        </p:nvSpPr>
        <p:spPr>
          <a:xfrm>
            <a:off x="381000" y="4420964"/>
            <a:ext cx="3557954" cy="369332"/>
          </a:xfrm>
          <a:prstGeom prst="rect">
            <a:avLst/>
          </a:prstGeom>
          <a:noFill/>
        </p:spPr>
        <p:txBody>
          <a:bodyPr wrap="square" rtlCol="0">
            <a:spAutoFit/>
          </a:bodyPr>
          <a:lstStyle/>
          <a:p>
            <a:r>
              <a:rPr lang="en-US" b="1" dirty="0"/>
              <a:t>Specialization :  Data Science</a:t>
            </a:r>
          </a:p>
        </p:txBody>
      </p:sp>
    </p:spTree>
    <p:extLst>
      <p:ext uri="{BB962C8B-B14F-4D97-AF65-F5344CB8AC3E}">
        <p14:creationId xmlns:p14="http://schemas.microsoft.com/office/powerpoint/2010/main" val="218140999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996DD-5A19-12CA-E7DD-1A5BB5098A0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71E3713-545C-B641-C51F-ACA1A82E678B}"/>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Text 0">
            <a:extLst>
              <a:ext uri="{FF2B5EF4-FFF2-40B4-BE49-F238E27FC236}">
                <a16:creationId xmlns:a16="http://schemas.microsoft.com/office/drawing/2014/main" id="{B5E6B148-C2F9-2A74-4DA6-C9E4DEC9E372}"/>
              </a:ext>
            </a:extLst>
          </p:cNvPr>
          <p:cNvSpPr/>
          <p:nvPr/>
        </p:nvSpPr>
        <p:spPr>
          <a:xfrm>
            <a:off x="38100" y="493443"/>
            <a:ext cx="12115800" cy="347472"/>
          </a:xfrm>
          <a:prstGeom prst="rect">
            <a:avLst/>
          </a:prstGeom>
          <a:noFill/>
          <a:ln/>
        </p:spPr>
        <p:txBody>
          <a:bodyPr wrap="square" lIns="0" tIns="0" rIns="0" bIns="0" rtlCol="0" anchor="ctr"/>
          <a:lstStyle/>
          <a:p>
            <a:pPr algn="ctr"/>
            <a:r>
              <a:rPr lang="en-US" sz="2000" b="1" dirty="0"/>
              <a:t>AI-Assisted Caregiver Workforce Deterioration Detection and Adaptive Workload Redistribution</a:t>
            </a:r>
            <a:endParaRPr lang="en-US" sz="2000" b="1" dirty="0">
              <a:solidFill>
                <a:srgbClr val="0F2742"/>
              </a:solidFill>
              <a:latin typeface="+mj-lt"/>
            </a:endParaRPr>
          </a:p>
        </p:txBody>
      </p:sp>
      <p:sp>
        <p:nvSpPr>
          <p:cNvPr id="12" name="Rectangle 11">
            <a:extLst>
              <a:ext uri="{FF2B5EF4-FFF2-40B4-BE49-F238E27FC236}">
                <a16:creationId xmlns:a16="http://schemas.microsoft.com/office/drawing/2014/main" id="{AF664F55-CF64-88A2-BEA6-811B6B268969}"/>
              </a:ext>
            </a:extLst>
          </p:cNvPr>
          <p:cNvSpPr/>
          <p:nvPr/>
        </p:nvSpPr>
        <p:spPr>
          <a:xfrm>
            <a:off x="2907736" y="6455133"/>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IT22178640 |   DAYANA PRIYADHARSHANI KUMAR |   R26-DS-010</a:t>
            </a:r>
          </a:p>
        </p:txBody>
      </p:sp>
      <p:sp>
        <p:nvSpPr>
          <p:cNvPr id="4" name="Date Placeholder 3">
            <a:extLst>
              <a:ext uri="{FF2B5EF4-FFF2-40B4-BE49-F238E27FC236}">
                <a16:creationId xmlns:a16="http://schemas.microsoft.com/office/drawing/2014/main" id="{810532B2-5E1E-E0E0-A48E-EFC53E311117}"/>
              </a:ext>
            </a:extLst>
          </p:cNvPr>
          <p:cNvSpPr>
            <a:spLocks noGrp="1"/>
          </p:cNvSpPr>
          <p:nvPr>
            <p:ph type="dt" sz="half" idx="10"/>
          </p:nvPr>
        </p:nvSpPr>
        <p:spPr>
          <a:xfrm>
            <a:off x="9982200" y="6261448"/>
            <a:ext cx="2743200" cy="365125"/>
          </a:xfrm>
        </p:spPr>
        <p:txBody>
          <a:bodyPr/>
          <a:lstStyle/>
          <a:p>
            <a:fld id="{4C13C7AB-C68C-4F5B-9F28-29441B570993}" type="datetime1">
              <a:rPr lang="en-US" b="1" smtClean="0">
                <a:solidFill>
                  <a:schemeClr val="tx1"/>
                </a:solidFill>
              </a:rPr>
              <a:t>5/12/2026</a:t>
            </a:fld>
            <a:endParaRPr lang="en-US" b="1" dirty="0">
              <a:solidFill>
                <a:schemeClr val="tx1"/>
              </a:solidFill>
            </a:endParaRPr>
          </a:p>
        </p:txBody>
      </p:sp>
      <p:sp>
        <p:nvSpPr>
          <p:cNvPr id="7" name="Slide Number Placeholder 6">
            <a:extLst>
              <a:ext uri="{FF2B5EF4-FFF2-40B4-BE49-F238E27FC236}">
                <a16:creationId xmlns:a16="http://schemas.microsoft.com/office/drawing/2014/main" id="{EF6231DD-8FB3-98AE-F56E-37567D3D3BC3}"/>
              </a:ext>
            </a:extLst>
          </p:cNvPr>
          <p:cNvSpPr>
            <a:spLocks noGrp="1"/>
          </p:cNvSpPr>
          <p:nvPr>
            <p:ph type="sldNum" sz="quarter" idx="12"/>
          </p:nvPr>
        </p:nvSpPr>
        <p:spPr/>
        <p:txBody>
          <a:bodyPr/>
          <a:lstStyle/>
          <a:p>
            <a:fld id="{47D73ED1-4BC5-4C68-A93F-B56D3DD7872F}" type="slidenum">
              <a:rPr lang="en-US" smtClean="0"/>
              <a:t>5</a:t>
            </a:fld>
            <a:endParaRPr lang="en-US" dirty="0"/>
          </a:p>
        </p:txBody>
      </p:sp>
      <p:pic>
        <p:nvPicPr>
          <p:cNvPr id="2" name="Picture 1">
            <a:extLst>
              <a:ext uri="{FF2B5EF4-FFF2-40B4-BE49-F238E27FC236}">
                <a16:creationId xmlns:a16="http://schemas.microsoft.com/office/drawing/2014/main" id="{58DE46EB-C686-2CB7-C0B4-80BCABF53D9B}"/>
              </a:ext>
            </a:extLst>
          </p:cNvPr>
          <p:cNvPicPr>
            <a:picLocks noChangeAspect="1"/>
          </p:cNvPicPr>
          <p:nvPr/>
        </p:nvPicPr>
        <p:blipFill>
          <a:blip r:embed="rId3"/>
          <a:stretch>
            <a:fillRect/>
          </a:stretch>
        </p:blipFill>
        <p:spPr>
          <a:xfrm>
            <a:off x="38100" y="6261448"/>
            <a:ext cx="2676899" cy="533474"/>
          </a:xfrm>
          <a:prstGeom prst="rect">
            <a:avLst/>
          </a:prstGeom>
        </p:spPr>
      </p:pic>
      <p:sp>
        <p:nvSpPr>
          <p:cNvPr id="3" name="Shape 6">
            <a:extLst>
              <a:ext uri="{FF2B5EF4-FFF2-40B4-BE49-F238E27FC236}">
                <a16:creationId xmlns:a16="http://schemas.microsoft.com/office/drawing/2014/main" id="{FDFE520A-6C7B-E11D-5076-C3A82716547D}"/>
              </a:ext>
            </a:extLst>
          </p:cNvPr>
          <p:cNvSpPr/>
          <p:nvPr/>
        </p:nvSpPr>
        <p:spPr>
          <a:xfrm>
            <a:off x="634739" y="1029558"/>
            <a:ext cx="4160520" cy="274320"/>
          </a:xfrm>
          <a:prstGeom prst="rect">
            <a:avLst/>
          </a:prstGeom>
          <a:solidFill>
            <a:srgbClr val="1F4E79"/>
          </a:solidFill>
          <a:ln w="12700">
            <a:solidFill>
              <a:srgbClr val="1F4E79"/>
            </a:solidFill>
            <a:prstDash val="solid"/>
          </a:ln>
        </p:spPr>
        <p:txBody>
          <a:bodyPr/>
          <a:lstStyle/>
          <a:p>
            <a:endParaRPr lang="en-US"/>
          </a:p>
        </p:txBody>
      </p:sp>
      <p:sp>
        <p:nvSpPr>
          <p:cNvPr id="5" name="Text 7">
            <a:extLst>
              <a:ext uri="{FF2B5EF4-FFF2-40B4-BE49-F238E27FC236}">
                <a16:creationId xmlns:a16="http://schemas.microsoft.com/office/drawing/2014/main" id="{BB507F62-2619-F4D0-7FDE-9A2919EFEB17}"/>
              </a:ext>
            </a:extLst>
          </p:cNvPr>
          <p:cNvSpPr/>
          <p:nvPr/>
        </p:nvSpPr>
        <p:spPr>
          <a:xfrm>
            <a:off x="634739" y="1029558"/>
            <a:ext cx="4160520" cy="274320"/>
          </a:xfrm>
          <a:prstGeom prst="rect">
            <a:avLst/>
          </a:prstGeom>
          <a:noFill/>
          <a:ln/>
        </p:spPr>
        <p:txBody>
          <a:bodyPr wrap="square" lIns="0" tIns="76200" rIns="0" bIns="0" rtlCol="0" anchor="ctr"/>
          <a:lstStyle/>
          <a:p>
            <a:pPr marL="0" indent="0">
              <a:buNone/>
            </a:pPr>
            <a:r>
              <a:rPr lang="en-US" sz="1000" b="1" dirty="0">
                <a:solidFill>
                  <a:srgbClr val="FFFFFF"/>
                </a:solidFill>
              </a:rPr>
              <a:t> HOW THE SOLUTION ADDRESSES THE SUB-PROBLEM</a:t>
            </a:r>
            <a:endParaRPr lang="en-US" sz="1000" dirty="0"/>
          </a:p>
        </p:txBody>
      </p:sp>
      <p:sp>
        <p:nvSpPr>
          <p:cNvPr id="6" name="Shape 8">
            <a:extLst>
              <a:ext uri="{FF2B5EF4-FFF2-40B4-BE49-F238E27FC236}">
                <a16:creationId xmlns:a16="http://schemas.microsoft.com/office/drawing/2014/main" id="{313212A0-D575-8774-0B97-B6659E8B298E}"/>
              </a:ext>
            </a:extLst>
          </p:cNvPr>
          <p:cNvSpPr/>
          <p:nvPr/>
        </p:nvSpPr>
        <p:spPr>
          <a:xfrm>
            <a:off x="634739" y="1349598"/>
            <a:ext cx="1353312" cy="2148840"/>
          </a:xfrm>
          <a:prstGeom prst="rect">
            <a:avLst/>
          </a:prstGeom>
          <a:solidFill>
            <a:srgbClr val="F4F6F8"/>
          </a:solidFill>
          <a:ln w="10160">
            <a:solidFill>
              <a:srgbClr val="DDEAEE"/>
            </a:solidFill>
            <a:prstDash val="solid"/>
          </a:ln>
          <a:effectLst>
            <a:outerShdw blurRad="63500" dist="25400" dir="8100000" algn="bl" rotWithShape="0">
              <a:srgbClr val="000000">
                <a:alpha val="7000"/>
              </a:srgbClr>
            </a:outerShdw>
          </a:effectLst>
        </p:spPr>
        <p:txBody>
          <a:bodyPr/>
          <a:lstStyle/>
          <a:p>
            <a:endParaRPr lang="en-US"/>
          </a:p>
        </p:txBody>
      </p:sp>
      <p:sp>
        <p:nvSpPr>
          <p:cNvPr id="8" name="Shape 9">
            <a:extLst>
              <a:ext uri="{FF2B5EF4-FFF2-40B4-BE49-F238E27FC236}">
                <a16:creationId xmlns:a16="http://schemas.microsoft.com/office/drawing/2014/main" id="{F556AD33-5408-FFAB-4DE9-8D8FF14DFFA2}"/>
              </a:ext>
            </a:extLst>
          </p:cNvPr>
          <p:cNvSpPr/>
          <p:nvPr/>
        </p:nvSpPr>
        <p:spPr>
          <a:xfrm>
            <a:off x="634739" y="1349598"/>
            <a:ext cx="1353312" cy="347472"/>
          </a:xfrm>
          <a:prstGeom prst="rect">
            <a:avLst/>
          </a:prstGeom>
          <a:solidFill>
            <a:srgbClr val="1F4E79"/>
          </a:solidFill>
          <a:ln w="12700">
            <a:solidFill>
              <a:srgbClr val="1F4E79"/>
            </a:solidFill>
            <a:prstDash val="solid"/>
          </a:ln>
        </p:spPr>
        <p:txBody>
          <a:bodyPr/>
          <a:lstStyle/>
          <a:p>
            <a:endParaRPr lang="en-US"/>
          </a:p>
        </p:txBody>
      </p:sp>
      <p:pic>
        <p:nvPicPr>
          <p:cNvPr id="9" name="Image 0" descr="preencoded.png">
            <a:extLst>
              <a:ext uri="{FF2B5EF4-FFF2-40B4-BE49-F238E27FC236}">
                <a16:creationId xmlns:a16="http://schemas.microsoft.com/office/drawing/2014/main" id="{F0FBD2BC-960C-5EE4-65D2-E3DF3CA1B6C4}"/>
              </a:ext>
            </a:extLst>
          </p:cNvPr>
          <p:cNvPicPr>
            <a:picLocks noChangeAspect="1"/>
          </p:cNvPicPr>
          <p:nvPr/>
        </p:nvPicPr>
        <p:blipFill>
          <a:blip r:embed="rId4"/>
          <a:stretch>
            <a:fillRect/>
          </a:stretch>
        </p:blipFill>
        <p:spPr>
          <a:xfrm>
            <a:off x="698747" y="1386174"/>
            <a:ext cx="201168" cy="201168"/>
          </a:xfrm>
          <a:prstGeom prst="rect">
            <a:avLst/>
          </a:prstGeom>
        </p:spPr>
      </p:pic>
      <p:sp>
        <p:nvSpPr>
          <p:cNvPr id="13" name="Text 10">
            <a:extLst>
              <a:ext uri="{FF2B5EF4-FFF2-40B4-BE49-F238E27FC236}">
                <a16:creationId xmlns:a16="http://schemas.microsoft.com/office/drawing/2014/main" id="{A0C88B1F-8D70-225A-E226-606D4905A3BF}"/>
              </a:ext>
            </a:extLst>
          </p:cNvPr>
          <p:cNvSpPr/>
          <p:nvPr/>
        </p:nvSpPr>
        <p:spPr>
          <a:xfrm>
            <a:off x="927347" y="1367886"/>
            <a:ext cx="1005840" cy="256032"/>
          </a:xfrm>
          <a:prstGeom prst="rect">
            <a:avLst/>
          </a:prstGeom>
          <a:noFill/>
          <a:ln/>
        </p:spPr>
        <p:txBody>
          <a:bodyPr wrap="square" lIns="0" tIns="0" rIns="0" bIns="0" rtlCol="0" anchor="ctr"/>
          <a:lstStyle/>
          <a:p>
            <a:pPr marL="0" indent="0">
              <a:buNone/>
            </a:pPr>
            <a:r>
              <a:rPr lang="en-US" sz="900" b="1" dirty="0">
                <a:solidFill>
                  <a:srgbClr val="FFFFFF"/>
                </a:solidFill>
              </a:rPr>
              <a:t>DETECT</a:t>
            </a:r>
            <a:endParaRPr lang="en-US" sz="750" dirty="0"/>
          </a:p>
        </p:txBody>
      </p:sp>
      <p:sp>
        <p:nvSpPr>
          <p:cNvPr id="14" name="Text 11">
            <a:extLst>
              <a:ext uri="{FF2B5EF4-FFF2-40B4-BE49-F238E27FC236}">
                <a16:creationId xmlns:a16="http://schemas.microsoft.com/office/drawing/2014/main" id="{DF054BBF-A3A4-EE71-6A99-61CDA6FECCCB}"/>
              </a:ext>
            </a:extLst>
          </p:cNvPr>
          <p:cNvSpPr/>
          <p:nvPr/>
        </p:nvSpPr>
        <p:spPr>
          <a:xfrm>
            <a:off x="689603" y="1724502"/>
            <a:ext cx="1243584" cy="256032"/>
          </a:xfrm>
          <a:prstGeom prst="rect">
            <a:avLst/>
          </a:prstGeom>
          <a:noFill/>
          <a:ln/>
        </p:spPr>
        <p:txBody>
          <a:bodyPr wrap="square" lIns="0" tIns="0" rIns="0" bIns="0" rtlCol="0" anchor="ctr"/>
          <a:lstStyle/>
          <a:p>
            <a:pPr marL="0" indent="0">
              <a:buNone/>
            </a:pPr>
            <a:r>
              <a:rPr lang="en-US" sz="1000" b="1" dirty="0">
                <a:solidFill>
                  <a:srgbClr val="1F4E79"/>
                </a:solidFill>
              </a:rPr>
              <a:t>Multimodal Stress Detection</a:t>
            </a:r>
            <a:endParaRPr lang="en-US" sz="1000" dirty="0"/>
          </a:p>
        </p:txBody>
      </p:sp>
      <p:sp>
        <p:nvSpPr>
          <p:cNvPr id="15" name="Text 12">
            <a:extLst>
              <a:ext uri="{FF2B5EF4-FFF2-40B4-BE49-F238E27FC236}">
                <a16:creationId xmlns:a16="http://schemas.microsoft.com/office/drawing/2014/main" id="{F7C77C78-E704-15EB-4038-D27F615A0536}"/>
              </a:ext>
            </a:extLst>
          </p:cNvPr>
          <p:cNvSpPr/>
          <p:nvPr/>
        </p:nvSpPr>
        <p:spPr>
          <a:xfrm>
            <a:off x="689603" y="1998822"/>
            <a:ext cx="1243584" cy="1444752"/>
          </a:xfrm>
          <a:prstGeom prst="rect">
            <a:avLst/>
          </a:prstGeom>
          <a:noFill/>
          <a:ln/>
        </p:spPr>
        <p:txBody>
          <a:bodyPr wrap="square" lIns="0" tIns="0" rIns="0" bIns="0" rtlCol="0" anchor="ctr"/>
          <a:lstStyle/>
          <a:p>
            <a:pPr marL="0" indent="0">
              <a:lnSpc>
                <a:spcPct val="130000"/>
              </a:lnSpc>
              <a:buNone/>
            </a:pPr>
            <a:r>
              <a:rPr lang="en-US" sz="1000" dirty="0">
                <a:solidFill>
                  <a:srgbClr val="333333"/>
                </a:solidFill>
              </a:rPr>
              <a:t>XGBoost on EDA + Temperature + HRV</a:t>
            </a:r>
            <a:endParaRPr lang="en-US" sz="1000" dirty="0"/>
          </a:p>
          <a:p>
            <a:pPr marL="0" indent="0">
              <a:lnSpc>
                <a:spcPct val="130000"/>
              </a:lnSpc>
              <a:buNone/>
            </a:pPr>
            <a:r>
              <a:rPr lang="en-US" sz="1000" dirty="0">
                <a:solidFill>
                  <a:srgbClr val="333333"/>
                </a:solidFill>
              </a:rPr>
              <a:t>13,287 windows · 15 real nurses</a:t>
            </a:r>
            <a:endParaRPr lang="en-US" sz="1000" dirty="0"/>
          </a:p>
          <a:p>
            <a:pPr marL="0" indent="0">
              <a:lnSpc>
                <a:spcPct val="130000"/>
              </a:lnSpc>
              <a:buNone/>
            </a:pPr>
            <a:r>
              <a:rPr lang="en-US" sz="1000" dirty="0">
                <a:solidFill>
                  <a:srgbClr val="333333"/>
                </a:solidFill>
              </a:rPr>
              <a:t>Binary F1 = 0.861 under LOSO CV</a:t>
            </a:r>
            <a:endParaRPr lang="en-US" sz="1000" dirty="0"/>
          </a:p>
        </p:txBody>
      </p:sp>
      <p:sp>
        <p:nvSpPr>
          <p:cNvPr id="16" name="Shape 13">
            <a:extLst>
              <a:ext uri="{FF2B5EF4-FFF2-40B4-BE49-F238E27FC236}">
                <a16:creationId xmlns:a16="http://schemas.microsoft.com/office/drawing/2014/main" id="{4CF88070-3DF2-258E-4E7F-0A94C32F0C27}"/>
              </a:ext>
            </a:extLst>
          </p:cNvPr>
          <p:cNvSpPr/>
          <p:nvPr/>
        </p:nvSpPr>
        <p:spPr>
          <a:xfrm>
            <a:off x="2061203" y="1349598"/>
            <a:ext cx="1353312" cy="2148840"/>
          </a:xfrm>
          <a:prstGeom prst="rect">
            <a:avLst/>
          </a:prstGeom>
          <a:solidFill>
            <a:srgbClr val="F4F6F8"/>
          </a:solidFill>
          <a:ln w="10160">
            <a:solidFill>
              <a:srgbClr val="DDEAEE"/>
            </a:solidFill>
            <a:prstDash val="solid"/>
          </a:ln>
          <a:effectLst>
            <a:outerShdw blurRad="63500" dist="25400" dir="8100000" algn="bl" rotWithShape="0">
              <a:srgbClr val="000000">
                <a:alpha val="7000"/>
              </a:srgbClr>
            </a:outerShdw>
          </a:effectLst>
        </p:spPr>
        <p:txBody>
          <a:bodyPr/>
          <a:lstStyle/>
          <a:p>
            <a:endParaRPr lang="en-US"/>
          </a:p>
        </p:txBody>
      </p:sp>
      <p:sp>
        <p:nvSpPr>
          <p:cNvPr id="17" name="Shape 14">
            <a:extLst>
              <a:ext uri="{FF2B5EF4-FFF2-40B4-BE49-F238E27FC236}">
                <a16:creationId xmlns:a16="http://schemas.microsoft.com/office/drawing/2014/main" id="{3956C51D-911F-E5BA-E8F5-EC9FE131CF3F}"/>
              </a:ext>
            </a:extLst>
          </p:cNvPr>
          <p:cNvSpPr/>
          <p:nvPr/>
        </p:nvSpPr>
        <p:spPr>
          <a:xfrm>
            <a:off x="2061203" y="1349598"/>
            <a:ext cx="1353312" cy="347472"/>
          </a:xfrm>
          <a:prstGeom prst="rect">
            <a:avLst/>
          </a:prstGeom>
          <a:solidFill>
            <a:srgbClr val="0E6655"/>
          </a:solidFill>
          <a:ln w="12700">
            <a:solidFill>
              <a:srgbClr val="0E6655"/>
            </a:solidFill>
            <a:prstDash val="solid"/>
          </a:ln>
        </p:spPr>
        <p:txBody>
          <a:bodyPr/>
          <a:lstStyle/>
          <a:p>
            <a:endParaRPr lang="en-US"/>
          </a:p>
        </p:txBody>
      </p:sp>
      <p:pic>
        <p:nvPicPr>
          <p:cNvPr id="18" name="Image 1" descr="preencoded.png">
            <a:extLst>
              <a:ext uri="{FF2B5EF4-FFF2-40B4-BE49-F238E27FC236}">
                <a16:creationId xmlns:a16="http://schemas.microsoft.com/office/drawing/2014/main" id="{6F36CD6A-9DE9-3CE1-13A2-F12E3B95D6F8}"/>
              </a:ext>
            </a:extLst>
          </p:cNvPr>
          <p:cNvPicPr>
            <a:picLocks noChangeAspect="1"/>
          </p:cNvPicPr>
          <p:nvPr/>
        </p:nvPicPr>
        <p:blipFill>
          <a:blip r:embed="rId5"/>
          <a:stretch>
            <a:fillRect/>
          </a:stretch>
        </p:blipFill>
        <p:spPr>
          <a:xfrm>
            <a:off x="2125211" y="1386174"/>
            <a:ext cx="201168" cy="201168"/>
          </a:xfrm>
          <a:prstGeom prst="rect">
            <a:avLst/>
          </a:prstGeom>
        </p:spPr>
      </p:pic>
      <p:sp>
        <p:nvSpPr>
          <p:cNvPr id="19" name="Text 15">
            <a:extLst>
              <a:ext uri="{FF2B5EF4-FFF2-40B4-BE49-F238E27FC236}">
                <a16:creationId xmlns:a16="http://schemas.microsoft.com/office/drawing/2014/main" id="{26398755-C0A1-42F1-9097-D82C6FFDA6A5}"/>
              </a:ext>
            </a:extLst>
          </p:cNvPr>
          <p:cNvSpPr/>
          <p:nvPr/>
        </p:nvSpPr>
        <p:spPr>
          <a:xfrm>
            <a:off x="2353811" y="1367886"/>
            <a:ext cx="1005840" cy="256032"/>
          </a:xfrm>
          <a:prstGeom prst="rect">
            <a:avLst/>
          </a:prstGeom>
          <a:noFill/>
          <a:ln/>
        </p:spPr>
        <p:txBody>
          <a:bodyPr wrap="square" lIns="0" tIns="0" rIns="0" bIns="0" rtlCol="0" anchor="ctr"/>
          <a:lstStyle/>
          <a:p>
            <a:pPr marL="0" indent="0">
              <a:buNone/>
            </a:pPr>
            <a:r>
              <a:rPr lang="en-US" sz="900" b="1" dirty="0">
                <a:solidFill>
                  <a:srgbClr val="FFFFFF"/>
                </a:solidFill>
              </a:rPr>
              <a:t>PERSONALISE</a:t>
            </a:r>
            <a:endParaRPr lang="en-US" sz="750" dirty="0"/>
          </a:p>
        </p:txBody>
      </p:sp>
      <p:sp>
        <p:nvSpPr>
          <p:cNvPr id="20" name="Text 16">
            <a:extLst>
              <a:ext uri="{FF2B5EF4-FFF2-40B4-BE49-F238E27FC236}">
                <a16:creationId xmlns:a16="http://schemas.microsoft.com/office/drawing/2014/main" id="{9C34FDE7-2DD7-43B9-3428-48DF4406B475}"/>
              </a:ext>
            </a:extLst>
          </p:cNvPr>
          <p:cNvSpPr/>
          <p:nvPr/>
        </p:nvSpPr>
        <p:spPr>
          <a:xfrm>
            <a:off x="2116067" y="1724502"/>
            <a:ext cx="1243584" cy="256032"/>
          </a:xfrm>
          <a:prstGeom prst="rect">
            <a:avLst/>
          </a:prstGeom>
          <a:noFill/>
          <a:ln/>
        </p:spPr>
        <p:txBody>
          <a:bodyPr wrap="square" lIns="0" tIns="0" rIns="0" bIns="0" rtlCol="0" anchor="ctr"/>
          <a:lstStyle/>
          <a:p>
            <a:pPr marL="0" indent="0">
              <a:buNone/>
            </a:pPr>
            <a:r>
              <a:rPr lang="en-US" sz="1000" b="1" dirty="0">
                <a:solidFill>
                  <a:srgbClr val="1F4E79"/>
                </a:solidFill>
              </a:rPr>
              <a:t>Individual Baseline</a:t>
            </a:r>
            <a:endParaRPr lang="en-US" sz="1000" dirty="0"/>
          </a:p>
        </p:txBody>
      </p:sp>
      <p:sp>
        <p:nvSpPr>
          <p:cNvPr id="21" name="Text 17">
            <a:extLst>
              <a:ext uri="{FF2B5EF4-FFF2-40B4-BE49-F238E27FC236}">
                <a16:creationId xmlns:a16="http://schemas.microsoft.com/office/drawing/2014/main" id="{64157E9F-EBF2-05C4-42B5-93BA3776B141}"/>
              </a:ext>
            </a:extLst>
          </p:cNvPr>
          <p:cNvSpPr/>
          <p:nvPr/>
        </p:nvSpPr>
        <p:spPr>
          <a:xfrm>
            <a:off x="2116067" y="1998822"/>
            <a:ext cx="1243584" cy="1444752"/>
          </a:xfrm>
          <a:prstGeom prst="rect">
            <a:avLst/>
          </a:prstGeom>
          <a:noFill/>
          <a:ln/>
        </p:spPr>
        <p:txBody>
          <a:bodyPr wrap="square" lIns="0" tIns="0" rIns="0" bIns="0" rtlCol="0" anchor="ctr"/>
          <a:lstStyle/>
          <a:p>
            <a:pPr marL="0" indent="0">
              <a:lnSpc>
                <a:spcPct val="130000"/>
              </a:lnSpc>
              <a:buNone/>
            </a:pPr>
            <a:r>
              <a:rPr lang="en-US" sz="1000" dirty="0">
                <a:solidFill>
                  <a:srgbClr val="333333"/>
                </a:solidFill>
              </a:rPr>
              <a:t>Isolation Forest per nurse</a:t>
            </a:r>
            <a:endParaRPr lang="en-US" sz="1000" dirty="0"/>
          </a:p>
          <a:p>
            <a:pPr marL="0" indent="0">
              <a:lnSpc>
                <a:spcPct val="130000"/>
              </a:lnSpc>
              <a:buNone/>
            </a:pPr>
            <a:r>
              <a:rPr lang="en-US" sz="1000" dirty="0">
                <a:solidFill>
                  <a:srgbClr val="333333"/>
                </a:solidFill>
              </a:rPr>
              <a:t>7-day calibration · 15 models</a:t>
            </a:r>
            <a:endParaRPr lang="en-US" sz="1000" dirty="0"/>
          </a:p>
          <a:p>
            <a:pPr marL="0" indent="0">
              <a:lnSpc>
                <a:spcPct val="130000"/>
              </a:lnSpc>
              <a:buNone/>
            </a:pPr>
            <a:r>
              <a:rPr lang="en-US" sz="1000" dirty="0">
                <a:solidFill>
                  <a:srgbClr val="333333"/>
                </a:solidFill>
              </a:rPr>
              <a:t>Ablation: lowest false positive rate</a:t>
            </a:r>
            <a:endParaRPr lang="en-US" sz="1000" dirty="0"/>
          </a:p>
        </p:txBody>
      </p:sp>
      <p:sp>
        <p:nvSpPr>
          <p:cNvPr id="22" name="Shape 18">
            <a:extLst>
              <a:ext uri="{FF2B5EF4-FFF2-40B4-BE49-F238E27FC236}">
                <a16:creationId xmlns:a16="http://schemas.microsoft.com/office/drawing/2014/main" id="{A8362403-A2D0-2B66-DC3D-EA973747F682}"/>
              </a:ext>
            </a:extLst>
          </p:cNvPr>
          <p:cNvSpPr/>
          <p:nvPr/>
        </p:nvSpPr>
        <p:spPr>
          <a:xfrm>
            <a:off x="3487667" y="1349598"/>
            <a:ext cx="1353312" cy="2148840"/>
          </a:xfrm>
          <a:prstGeom prst="rect">
            <a:avLst/>
          </a:prstGeom>
          <a:solidFill>
            <a:srgbClr val="F4F6F8"/>
          </a:solidFill>
          <a:ln w="10160">
            <a:solidFill>
              <a:srgbClr val="DDEAEE"/>
            </a:solidFill>
            <a:prstDash val="solid"/>
          </a:ln>
          <a:effectLst>
            <a:outerShdw blurRad="63500" dist="25400" dir="8100000" algn="bl" rotWithShape="0">
              <a:srgbClr val="000000">
                <a:alpha val="7000"/>
              </a:srgbClr>
            </a:outerShdw>
          </a:effectLst>
        </p:spPr>
        <p:txBody>
          <a:bodyPr/>
          <a:lstStyle/>
          <a:p>
            <a:endParaRPr lang="en-US"/>
          </a:p>
        </p:txBody>
      </p:sp>
      <p:sp>
        <p:nvSpPr>
          <p:cNvPr id="23" name="Shape 19">
            <a:extLst>
              <a:ext uri="{FF2B5EF4-FFF2-40B4-BE49-F238E27FC236}">
                <a16:creationId xmlns:a16="http://schemas.microsoft.com/office/drawing/2014/main" id="{5B76428F-C05A-56AF-ED5B-D2E56FB3FDBF}"/>
              </a:ext>
            </a:extLst>
          </p:cNvPr>
          <p:cNvSpPr/>
          <p:nvPr/>
        </p:nvSpPr>
        <p:spPr>
          <a:xfrm>
            <a:off x="3487667" y="1349598"/>
            <a:ext cx="1353312" cy="347472"/>
          </a:xfrm>
          <a:prstGeom prst="rect">
            <a:avLst/>
          </a:prstGeom>
          <a:solidFill>
            <a:srgbClr val="2980B9"/>
          </a:solidFill>
          <a:ln w="12700">
            <a:solidFill>
              <a:srgbClr val="2980B9"/>
            </a:solidFill>
            <a:prstDash val="solid"/>
          </a:ln>
        </p:spPr>
        <p:txBody>
          <a:bodyPr/>
          <a:lstStyle/>
          <a:p>
            <a:endParaRPr lang="en-US"/>
          </a:p>
        </p:txBody>
      </p:sp>
      <p:pic>
        <p:nvPicPr>
          <p:cNvPr id="24" name="Image 2" descr="preencoded.png">
            <a:extLst>
              <a:ext uri="{FF2B5EF4-FFF2-40B4-BE49-F238E27FC236}">
                <a16:creationId xmlns:a16="http://schemas.microsoft.com/office/drawing/2014/main" id="{1294A1E2-E7D2-3E1B-C161-D0440B3CB066}"/>
              </a:ext>
            </a:extLst>
          </p:cNvPr>
          <p:cNvPicPr>
            <a:picLocks noChangeAspect="1"/>
          </p:cNvPicPr>
          <p:nvPr/>
        </p:nvPicPr>
        <p:blipFill>
          <a:blip r:embed="rId6"/>
          <a:stretch>
            <a:fillRect/>
          </a:stretch>
        </p:blipFill>
        <p:spPr>
          <a:xfrm>
            <a:off x="3551675" y="1386174"/>
            <a:ext cx="201168" cy="201168"/>
          </a:xfrm>
          <a:prstGeom prst="rect">
            <a:avLst/>
          </a:prstGeom>
        </p:spPr>
      </p:pic>
      <p:sp>
        <p:nvSpPr>
          <p:cNvPr id="25" name="Text 20">
            <a:extLst>
              <a:ext uri="{FF2B5EF4-FFF2-40B4-BE49-F238E27FC236}">
                <a16:creationId xmlns:a16="http://schemas.microsoft.com/office/drawing/2014/main" id="{8B3A022B-C2EB-733C-9854-8C2ACA093B64}"/>
              </a:ext>
            </a:extLst>
          </p:cNvPr>
          <p:cNvSpPr/>
          <p:nvPr/>
        </p:nvSpPr>
        <p:spPr>
          <a:xfrm>
            <a:off x="3780275" y="1367886"/>
            <a:ext cx="1005840" cy="256032"/>
          </a:xfrm>
          <a:prstGeom prst="rect">
            <a:avLst/>
          </a:prstGeom>
          <a:noFill/>
          <a:ln/>
        </p:spPr>
        <p:txBody>
          <a:bodyPr wrap="square" lIns="0" tIns="0" rIns="0" bIns="0" rtlCol="0" anchor="ctr"/>
          <a:lstStyle/>
          <a:p>
            <a:pPr marL="0" indent="0">
              <a:buNone/>
            </a:pPr>
            <a:r>
              <a:rPr lang="en-US" sz="900" b="1" dirty="0">
                <a:solidFill>
                  <a:srgbClr val="FFFFFF"/>
                </a:solidFill>
              </a:rPr>
              <a:t>PREDICT</a:t>
            </a:r>
            <a:endParaRPr lang="en-US" sz="750" dirty="0"/>
          </a:p>
        </p:txBody>
      </p:sp>
      <p:sp>
        <p:nvSpPr>
          <p:cNvPr id="26" name="Text 21">
            <a:extLst>
              <a:ext uri="{FF2B5EF4-FFF2-40B4-BE49-F238E27FC236}">
                <a16:creationId xmlns:a16="http://schemas.microsoft.com/office/drawing/2014/main" id="{526B046D-1D58-3CB1-6963-BD70D1CA6D63}"/>
              </a:ext>
            </a:extLst>
          </p:cNvPr>
          <p:cNvSpPr/>
          <p:nvPr/>
        </p:nvSpPr>
        <p:spPr>
          <a:xfrm>
            <a:off x="3542531" y="1724502"/>
            <a:ext cx="1243584" cy="256032"/>
          </a:xfrm>
          <a:prstGeom prst="rect">
            <a:avLst/>
          </a:prstGeom>
          <a:noFill/>
          <a:ln/>
        </p:spPr>
        <p:txBody>
          <a:bodyPr wrap="square" lIns="0" tIns="0" rIns="0" bIns="0" rtlCol="0" anchor="ctr"/>
          <a:lstStyle/>
          <a:p>
            <a:pPr marL="0" indent="0">
              <a:buNone/>
            </a:pPr>
            <a:r>
              <a:rPr lang="en-US" sz="1000" b="1" dirty="0">
                <a:solidFill>
                  <a:srgbClr val="1F4E79"/>
                </a:solidFill>
              </a:rPr>
              <a:t>Burnout Trajectory</a:t>
            </a:r>
            <a:endParaRPr lang="en-US" sz="1000" dirty="0"/>
          </a:p>
        </p:txBody>
      </p:sp>
      <p:sp>
        <p:nvSpPr>
          <p:cNvPr id="27" name="Text 22">
            <a:extLst>
              <a:ext uri="{FF2B5EF4-FFF2-40B4-BE49-F238E27FC236}">
                <a16:creationId xmlns:a16="http://schemas.microsoft.com/office/drawing/2014/main" id="{0A0DEB2A-ABD3-A276-B9C3-8C2DD6E3DCD8}"/>
              </a:ext>
            </a:extLst>
          </p:cNvPr>
          <p:cNvSpPr/>
          <p:nvPr/>
        </p:nvSpPr>
        <p:spPr>
          <a:xfrm>
            <a:off x="3542531" y="1998822"/>
            <a:ext cx="1243584" cy="1444752"/>
          </a:xfrm>
          <a:prstGeom prst="rect">
            <a:avLst/>
          </a:prstGeom>
          <a:noFill/>
          <a:ln/>
        </p:spPr>
        <p:txBody>
          <a:bodyPr wrap="square" lIns="0" tIns="0" rIns="0" bIns="0" rtlCol="0" anchor="ctr"/>
          <a:lstStyle/>
          <a:p>
            <a:pPr marL="0" indent="0">
              <a:lnSpc>
                <a:spcPct val="130000"/>
              </a:lnSpc>
              <a:buNone/>
            </a:pPr>
            <a:r>
              <a:rPr lang="en-US" sz="1000" dirty="0">
                <a:solidFill>
                  <a:srgbClr val="333333"/>
                </a:solidFill>
              </a:rPr>
              <a:t>Daily risk score + slope per nurse</a:t>
            </a:r>
            <a:endParaRPr lang="en-US" sz="1000" dirty="0"/>
          </a:p>
          <a:p>
            <a:pPr marL="0" indent="0">
              <a:lnSpc>
                <a:spcPct val="130000"/>
              </a:lnSpc>
              <a:buNone/>
            </a:pPr>
            <a:r>
              <a:rPr lang="en-US" sz="1000" dirty="0">
                <a:solidFill>
                  <a:srgbClr val="333333"/>
                </a:solidFill>
              </a:rPr>
              <a:t>Days-to-threshold computed</a:t>
            </a:r>
            <a:endParaRPr lang="en-US" sz="1000" dirty="0"/>
          </a:p>
          <a:p>
            <a:pPr marL="0" indent="0">
              <a:lnSpc>
                <a:spcPct val="130000"/>
              </a:lnSpc>
              <a:buNone/>
            </a:pPr>
            <a:r>
              <a:rPr lang="en-US" sz="1000" dirty="0">
                <a:solidFill>
                  <a:srgbClr val="333333"/>
                </a:solidFill>
              </a:rPr>
              <a:t>Nurse 5C: +2.73/day, already critical</a:t>
            </a:r>
            <a:endParaRPr lang="en-US" sz="1000" dirty="0"/>
          </a:p>
        </p:txBody>
      </p:sp>
      <p:sp>
        <p:nvSpPr>
          <p:cNvPr id="28" name="Shape 23">
            <a:extLst>
              <a:ext uri="{FF2B5EF4-FFF2-40B4-BE49-F238E27FC236}">
                <a16:creationId xmlns:a16="http://schemas.microsoft.com/office/drawing/2014/main" id="{AD6DF9C2-1FB8-F606-8CB4-7D95865D0F3D}"/>
              </a:ext>
            </a:extLst>
          </p:cNvPr>
          <p:cNvSpPr/>
          <p:nvPr/>
        </p:nvSpPr>
        <p:spPr>
          <a:xfrm>
            <a:off x="634739" y="3571590"/>
            <a:ext cx="4160520" cy="292608"/>
          </a:xfrm>
          <a:prstGeom prst="rect">
            <a:avLst/>
          </a:prstGeom>
          <a:solidFill>
            <a:srgbClr val="FEF9E7"/>
          </a:solidFill>
          <a:ln w="10160">
            <a:solidFill>
              <a:srgbClr val="F0A500"/>
            </a:solidFill>
            <a:prstDash val="solid"/>
          </a:ln>
        </p:spPr>
        <p:txBody>
          <a:bodyPr/>
          <a:lstStyle/>
          <a:p>
            <a:endParaRPr lang="en-US"/>
          </a:p>
        </p:txBody>
      </p:sp>
      <p:pic>
        <p:nvPicPr>
          <p:cNvPr id="29" name="Image 3" descr="preencoded.png">
            <a:extLst>
              <a:ext uri="{FF2B5EF4-FFF2-40B4-BE49-F238E27FC236}">
                <a16:creationId xmlns:a16="http://schemas.microsoft.com/office/drawing/2014/main" id="{427846E3-15C2-3616-EF36-E4C5E1251E0D}"/>
              </a:ext>
            </a:extLst>
          </p:cNvPr>
          <p:cNvPicPr>
            <a:picLocks noChangeAspect="1"/>
          </p:cNvPicPr>
          <p:nvPr/>
        </p:nvPicPr>
        <p:blipFill>
          <a:blip r:embed="rId7"/>
          <a:stretch>
            <a:fillRect/>
          </a:stretch>
        </p:blipFill>
        <p:spPr>
          <a:xfrm>
            <a:off x="707891" y="3617310"/>
            <a:ext cx="164592" cy="164592"/>
          </a:xfrm>
          <a:prstGeom prst="rect">
            <a:avLst/>
          </a:prstGeom>
        </p:spPr>
      </p:pic>
      <p:sp>
        <p:nvSpPr>
          <p:cNvPr id="30" name="Text 24">
            <a:extLst>
              <a:ext uri="{FF2B5EF4-FFF2-40B4-BE49-F238E27FC236}">
                <a16:creationId xmlns:a16="http://schemas.microsoft.com/office/drawing/2014/main" id="{C8BB30C0-B63B-24B3-2428-64551107A132}"/>
              </a:ext>
            </a:extLst>
          </p:cNvPr>
          <p:cNvSpPr/>
          <p:nvPr/>
        </p:nvSpPr>
        <p:spPr>
          <a:xfrm>
            <a:off x="909059" y="3571590"/>
            <a:ext cx="3840480" cy="292608"/>
          </a:xfrm>
          <a:prstGeom prst="rect">
            <a:avLst/>
          </a:prstGeom>
          <a:noFill/>
          <a:ln/>
        </p:spPr>
        <p:txBody>
          <a:bodyPr wrap="square" lIns="0" tIns="0" rIns="0" bIns="0" rtlCol="0" anchor="ctr"/>
          <a:lstStyle/>
          <a:p>
            <a:r>
              <a:rPr lang="en-US" sz="1050" b="1" dirty="0"/>
              <a:t>3-Class </a:t>
            </a:r>
            <a:r>
              <a:rPr lang="en-US" sz="1050" b="1" dirty="0" err="1"/>
              <a:t>XGBoost</a:t>
            </a:r>
            <a:r>
              <a:rPr lang="en-US" sz="1050" b="1" dirty="0"/>
              <a:t> (LOSO)</a:t>
            </a:r>
            <a:r>
              <a:rPr lang="en-US" sz="1050" dirty="0"/>
              <a:t> · Macro F1 = 0.305 · Accuracy = 64.1% · 15-fold · No Stress / Medium / High</a:t>
            </a:r>
          </a:p>
        </p:txBody>
      </p:sp>
      <p:sp>
        <p:nvSpPr>
          <p:cNvPr id="31" name="Shape 25">
            <a:extLst>
              <a:ext uri="{FF2B5EF4-FFF2-40B4-BE49-F238E27FC236}">
                <a16:creationId xmlns:a16="http://schemas.microsoft.com/office/drawing/2014/main" id="{63EB928D-1C2D-DDF1-6C3F-457EA5F49655}"/>
              </a:ext>
            </a:extLst>
          </p:cNvPr>
          <p:cNvSpPr/>
          <p:nvPr/>
        </p:nvSpPr>
        <p:spPr>
          <a:xfrm>
            <a:off x="5732207" y="961804"/>
            <a:ext cx="5975554" cy="354764"/>
          </a:xfrm>
          <a:prstGeom prst="rect">
            <a:avLst/>
          </a:prstGeom>
          <a:solidFill>
            <a:srgbClr val="0E6655"/>
          </a:solidFill>
          <a:ln w="12700">
            <a:solidFill>
              <a:srgbClr val="0E6655"/>
            </a:solidFill>
            <a:prstDash val="solid"/>
          </a:ln>
        </p:spPr>
        <p:txBody>
          <a:bodyPr/>
          <a:lstStyle/>
          <a:p>
            <a:endParaRPr lang="en-US" sz="2400" dirty="0"/>
          </a:p>
        </p:txBody>
      </p:sp>
      <p:sp>
        <p:nvSpPr>
          <p:cNvPr id="32" name="Text 26">
            <a:extLst>
              <a:ext uri="{FF2B5EF4-FFF2-40B4-BE49-F238E27FC236}">
                <a16:creationId xmlns:a16="http://schemas.microsoft.com/office/drawing/2014/main" id="{08B7B2AF-BC8E-2FAB-D3B4-3EC8774532C7}"/>
              </a:ext>
            </a:extLst>
          </p:cNvPr>
          <p:cNvSpPr/>
          <p:nvPr/>
        </p:nvSpPr>
        <p:spPr>
          <a:xfrm>
            <a:off x="6219293" y="961804"/>
            <a:ext cx="5488467" cy="354764"/>
          </a:xfrm>
          <a:prstGeom prst="rect">
            <a:avLst/>
          </a:prstGeom>
          <a:noFill/>
          <a:ln/>
        </p:spPr>
        <p:txBody>
          <a:bodyPr wrap="square" lIns="0" tIns="76200" rIns="0" bIns="0" rtlCol="0" anchor="ctr"/>
          <a:lstStyle/>
          <a:p>
            <a:pPr marL="0" indent="0">
              <a:buNone/>
            </a:pPr>
            <a:r>
              <a:rPr lang="en-US" sz="1050" b="1" dirty="0">
                <a:solidFill>
                  <a:srgbClr val="FFFFFF"/>
                </a:solidFill>
              </a:rPr>
              <a:t>USER REQUIREMENTS ADDRESSED BY THE SOLUTION</a:t>
            </a:r>
            <a:endParaRPr lang="en-US" sz="1050" dirty="0"/>
          </a:p>
        </p:txBody>
      </p:sp>
      <p:graphicFrame>
        <p:nvGraphicFramePr>
          <p:cNvPr id="33" name="Table 0">
            <a:extLst>
              <a:ext uri="{FF2B5EF4-FFF2-40B4-BE49-F238E27FC236}">
                <a16:creationId xmlns:a16="http://schemas.microsoft.com/office/drawing/2014/main" id="{A368A558-10C4-5906-B4E8-41F05F4EA23C}"/>
              </a:ext>
            </a:extLst>
          </p:cNvPr>
          <p:cNvGraphicFramePr>
            <a:graphicFrameLocks noGrp="1"/>
          </p:cNvGraphicFramePr>
          <p:nvPr>
            <p:extLst>
              <p:ext uri="{D42A27DB-BD31-4B8C-83A1-F6EECF244321}">
                <p14:modId xmlns:p14="http://schemas.microsoft.com/office/powerpoint/2010/main" val="2544283723"/>
              </p:ext>
            </p:extLst>
          </p:nvPr>
        </p:nvGraphicFramePr>
        <p:xfrm>
          <a:off x="5732207" y="1316568"/>
          <a:ext cx="5975553" cy="4913076"/>
        </p:xfrm>
        <a:graphic>
          <a:graphicData uri="http://schemas.openxmlformats.org/drawingml/2006/table">
            <a:tbl>
              <a:tblPr/>
              <a:tblGrid>
                <a:gridCol w="3847968">
                  <a:extLst>
                    <a:ext uri="{9D8B030D-6E8A-4147-A177-3AD203B41FA5}">
                      <a16:colId xmlns:a16="http://schemas.microsoft.com/office/drawing/2014/main" val="20000"/>
                    </a:ext>
                  </a:extLst>
                </a:gridCol>
                <a:gridCol w="1152760">
                  <a:extLst>
                    <a:ext uri="{9D8B030D-6E8A-4147-A177-3AD203B41FA5}">
                      <a16:colId xmlns:a16="http://schemas.microsoft.com/office/drawing/2014/main" val="20001"/>
                    </a:ext>
                  </a:extLst>
                </a:gridCol>
                <a:gridCol w="974825">
                  <a:extLst>
                    <a:ext uri="{9D8B030D-6E8A-4147-A177-3AD203B41FA5}">
                      <a16:colId xmlns:a16="http://schemas.microsoft.com/office/drawing/2014/main" val="20002"/>
                    </a:ext>
                  </a:extLst>
                </a:gridCol>
              </a:tblGrid>
              <a:tr h="315604">
                <a:tc>
                  <a:txBody>
                    <a:bodyPr/>
                    <a:lstStyle/>
                    <a:p>
                      <a:pPr marL="0" indent="0" algn="ctr">
                        <a:buNone/>
                      </a:pPr>
                      <a:r>
                        <a:rPr lang="en-US" sz="1050" b="1" dirty="0">
                          <a:solidFill>
                            <a:srgbClr val="FFFFFF"/>
                          </a:solidFill>
                        </a:rPr>
                        <a:t>Requirement</a:t>
                      </a:r>
                      <a:endParaRPr lang="en-US" sz="75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1F4E79"/>
                    </a:solidFill>
                  </a:tcPr>
                </a:tc>
                <a:tc>
                  <a:txBody>
                    <a:bodyPr/>
                    <a:lstStyle/>
                    <a:p>
                      <a:pPr marL="0" indent="0" algn="ctr">
                        <a:buNone/>
                      </a:pPr>
                      <a:r>
                        <a:rPr lang="en-US" sz="1050" b="1" dirty="0">
                          <a:solidFill>
                            <a:srgbClr val="FFFFFF"/>
                          </a:solidFill>
                        </a:rPr>
                        <a:t>Type</a:t>
                      </a:r>
                      <a:endParaRPr lang="en-US" sz="75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Status</a:t>
                      </a:r>
                      <a:endParaRPr lang="en-US" sz="75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15604">
                <a:tc>
                  <a:txBody>
                    <a:bodyPr/>
                    <a:lstStyle/>
                    <a:p>
                      <a:pPr marL="0" indent="0">
                        <a:buNone/>
                      </a:pPr>
                      <a:r>
                        <a:rPr lang="en-US" sz="1400" dirty="0">
                          <a:solidFill>
                            <a:srgbClr val="1A1A1A"/>
                          </a:solidFill>
                        </a:rPr>
                        <a:t>Detect stress from physiological signals</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5D6D7E"/>
                          </a:solidFill>
                        </a:rPr>
                        <a:t>Functional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8449"/>
                          </a:solidFill>
                        </a:rPr>
                        <a:t>DONE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D5F5E3"/>
                    </a:solidFill>
                  </a:tcPr>
                </a:tc>
                <a:extLst>
                  <a:ext uri="{0D108BD9-81ED-4DB2-BD59-A6C34878D82A}">
                    <a16:rowId xmlns:a16="http://schemas.microsoft.com/office/drawing/2014/main" val="10001"/>
                  </a:ext>
                </a:extLst>
              </a:tr>
              <a:tr h="315604">
                <a:tc>
                  <a:txBody>
                    <a:bodyPr/>
                    <a:lstStyle/>
                    <a:p>
                      <a:pPr marL="0" indent="0">
                        <a:buNone/>
                      </a:pPr>
                      <a:r>
                        <a:rPr lang="en-US" sz="1400" dirty="0">
                          <a:solidFill>
                            <a:srgbClr val="1A1A1A"/>
                          </a:solidFill>
                        </a:rPr>
                        <a:t>Detect stress from acoustic / voice features</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4F6F8"/>
                    </a:solidFill>
                  </a:tcPr>
                </a:tc>
                <a:tc>
                  <a:txBody>
                    <a:bodyPr/>
                    <a:lstStyle/>
                    <a:p>
                      <a:pPr marL="0" indent="0" algn="ctr">
                        <a:buNone/>
                      </a:pPr>
                      <a:r>
                        <a:rPr lang="en-US" sz="1400" i="1" dirty="0">
                          <a:solidFill>
                            <a:srgbClr val="5D6D7E"/>
                          </a:solidFill>
                        </a:rPr>
                        <a:t>Functional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4F6F8"/>
                    </a:solidFill>
                  </a:tcPr>
                </a:tc>
                <a:tc>
                  <a:txBody>
                    <a:bodyPr/>
                    <a:lstStyle/>
                    <a:p>
                      <a:pPr marL="0" indent="0" algn="ctr">
                        <a:buNone/>
                      </a:pPr>
                      <a:r>
                        <a:rPr lang="en-US" sz="1400" b="1" dirty="0">
                          <a:solidFill>
                            <a:srgbClr val="1E8449"/>
                          </a:solidFill>
                        </a:rPr>
                        <a:t>DONE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D5F5E3"/>
                    </a:solidFill>
                  </a:tcPr>
                </a:tc>
                <a:extLst>
                  <a:ext uri="{0D108BD9-81ED-4DB2-BD59-A6C34878D82A}">
                    <a16:rowId xmlns:a16="http://schemas.microsoft.com/office/drawing/2014/main" val="10002"/>
                  </a:ext>
                </a:extLst>
              </a:tr>
              <a:tr h="315604">
                <a:tc>
                  <a:txBody>
                    <a:bodyPr/>
                    <a:lstStyle/>
                    <a:p>
                      <a:pPr marL="0" indent="0">
                        <a:buNone/>
                      </a:pPr>
                      <a:r>
                        <a:rPr lang="en-US" sz="1400" dirty="0">
                          <a:solidFill>
                            <a:srgbClr val="1A1A1A"/>
                          </a:solidFill>
                        </a:rPr>
                        <a:t>Personalise alerts to individual baseline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5D6D7E"/>
                          </a:solidFill>
                        </a:rPr>
                        <a:t>Functional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8449"/>
                          </a:solidFill>
                        </a:rPr>
                        <a:t>DONE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D5F5E3"/>
                    </a:solidFill>
                  </a:tcPr>
                </a:tc>
                <a:extLst>
                  <a:ext uri="{0D108BD9-81ED-4DB2-BD59-A6C34878D82A}">
                    <a16:rowId xmlns:a16="http://schemas.microsoft.com/office/drawing/2014/main" val="10003"/>
                  </a:ext>
                </a:extLst>
              </a:tr>
              <a:tr h="315604">
                <a:tc>
                  <a:txBody>
                    <a:bodyPr/>
                    <a:lstStyle/>
                    <a:p>
                      <a:pPr marL="0" indent="0">
                        <a:buNone/>
                      </a:pPr>
                      <a:r>
                        <a:rPr lang="en-US" sz="1400" dirty="0">
                          <a:solidFill>
                            <a:srgbClr val="1A1A1A"/>
                          </a:solidFill>
                        </a:rPr>
                        <a:t>Show trajectory + forecast per nurse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4F6F8"/>
                    </a:solidFill>
                  </a:tcPr>
                </a:tc>
                <a:tc>
                  <a:txBody>
                    <a:bodyPr/>
                    <a:lstStyle/>
                    <a:p>
                      <a:pPr marL="0" indent="0" algn="ctr">
                        <a:buNone/>
                      </a:pPr>
                      <a:r>
                        <a:rPr lang="en-US" sz="1400" i="1" dirty="0">
                          <a:solidFill>
                            <a:srgbClr val="5D6D7E"/>
                          </a:solidFill>
                        </a:rPr>
                        <a:t>Functional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4F6F8"/>
                    </a:solidFill>
                  </a:tcPr>
                </a:tc>
                <a:tc>
                  <a:txBody>
                    <a:bodyPr/>
                    <a:lstStyle/>
                    <a:p>
                      <a:pPr marL="0" indent="0" algn="ctr">
                        <a:buNone/>
                      </a:pPr>
                      <a:r>
                        <a:rPr lang="en-US" sz="1400" b="1" dirty="0">
                          <a:solidFill>
                            <a:srgbClr val="1E8449"/>
                          </a:solidFill>
                        </a:rPr>
                        <a:t>DONE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D5F5E3"/>
                    </a:solidFill>
                  </a:tcPr>
                </a:tc>
                <a:extLst>
                  <a:ext uri="{0D108BD9-81ED-4DB2-BD59-A6C34878D82A}">
                    <a16:rowId xmlns:a16="http://schemas.microsoft.com/office/drawing/2014/main" val="10004"/>
                  </a:ext>
                </a:extLst>
              </a:tr>
              <a:tr h="315604">
                <a:tc>
                  <a:txBody>
                    <a:bodyPr/>
                    <a:lstStyle/>
                    <a:p>
                      <a:pPr marL="0" indent="0">
                        <a:buNone/>
                      </a:pPr>
                      <a:r>
                        <a:rPr lang="en-US" sz="1400" dirty="0">
                          <a:solidFill>
                            <a:srgbClr val="1A1A1A"/>
                          </a:solidFill>
                        </a:rPr>
                        <a:t>Explain model decisions (SHAP per nurse)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5D6D7E"/>
                          </a:solidFill>
                        </a:rPr>
                        <a:t>Functional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8449"/>
                          </a:solidFill>
                        </a:rPr>
                        <a:t>DONE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D5F5E3"/>
                    </a:solidFill>
                  </a:tcPr>
                </a:tc>
                <a:extLst>
                  <a:ext uri="{0D108BD9-81ED-4DB2-BD59-A6C34878D82A}">
                    <a16:rowId xmlns:a16="http://schemas.microsoft.com/office/drawing/2014/main" val="10005"/>
                  </a:ext>
                </a:extLst>
              </a:tr>
              <a:tr h="315604">
                <a:tc>
                  <a:txBody>
                    <a:bodyPr/>
                    <a:lstStyle/>
                    <a:p>
                      <a:pPr marL="0" indent="0">
                        <a:buNone/>
                      </a:pPr>
                      <a:r>
                        <a:rPr lang="en-US" sz="1400" dirty="0">
                          <a:solidFill>
                            <a:srgbClr val="1A1A1A"/>
                          </a:solidFill>
                        </a:rPr>
                        <a:t>Relational team network graph</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4F6F8"/>
                    </a:solidFill>
                  </a:tcPr>
                </a:tc>
                <a:tc>
                  <a:txBody>
                    <a:bodyPr/>
                    <a:lstStyle/>
                    <a:p>
                      <a:pPr marL="0" indent="0" algn="ctr">
                        <a:buNone/>
                      </a:pPr>
                      <a:r>
                        <a:rPr lang="en-US" sz="1400" i="1" dirty="0">
                          <a:solidFill>
                            <a:srgbClr val="5D6D7E"/>
                          </a:solidFill>
                        </a:rPr>
                        <a:t>Functional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4F6F8"/>
                    </a:solidFill>
                  </a:tcPr>
                </a:tc>
                <a:tc>
                  <a:txBody>
                    <a:bodyPr/>
                    <a:lstStyle/>
                    <a:p>
                      <a:pPr marL="0" indent="0" algn="ctr">
                        <a:buNone/>
                      </a:pPr>
                      <a:r>
                        <a:rPr lang="en-US" sz="1400" b="1" dirty="0">
                          <a:solidFill>
                            <a:srgbClr val="F0A500"/>
                          </a:solidFill>
                        </a:rPr>
                        <a:t>PARTIAL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EF9E7"/>
                    </a:solidFill>
                  </a:tcPr>
                </a:tc>
                <a:extLst>
                  <a:ext uri="{0D108BD9-81ED-4DB2-BD59-A6C34878D82A}">
                    <a16:rowId xmlns:a16="http://schemas.microsoft.com/office/drawing/2014/main" val="10006"/>
                  </a:ext>
                </a:extLst>
              </a:tr>
              <a:tr h="315604">
                <a:tc>
                  <a:txBody>
                    <a:bodyPr/>
                    <a:lstStyle/>
                    <a:p>
                      <a:pPr marL="0" indent="0">
                        <a:buNone/>
                      </a:pPr>
                      <a:r>
                        <a:rPr lang="en-US" sz="1400" dirty="0">
                          <a:solidFill>
                            <a:srgbClr val="1A1A1A"/>
                          </a:solidFill>
                        </a:rPr>
                        <a:t>Workload redistribution suggestions</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5D6D7E"/>
                          </a:solidFill>
                        </a:rPr>
                        <a:t>Functional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980B9"/>
                          </a:solidFill>
                        </a:rPr>
                        <a:t>PROTO</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D6EAF8"/>
                    </a:solidFill>
                  </a:tcPr>
                </a:tc>
                <a:extLst>
                  <a:ext uri="{0D108BD9-81ED-4DB2-BD59-A6C34878D82A}">
                    <a16:rowId xmlns:a16="http://schemas.microsoft.com/office/drawing/2014/main" val="10007"/>
                  </a:ext>
                </a:extLst>
              </a:tr>
              <a:tr h="315604">
                <a:tc>
                  <a:txBody>
                    <a:bodyPr/>
                    <a:lstStyle/>
                    <a:p>
                      <a:pPr marL="0" indent="0">
                        <a:buNone/>
                      </a:pPr>
                      <a:r>
                        <a:rPr lang="en-US" sz="1400" dirty="0">
                          <a:solidFill>
                            <a:srgbClr val="1A1A1A"/>
                          </a:solidFill>
                        </a:rPr>
                        <a:t>Real-time inference backend (FastAPI)</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4F6F8"/>
                    </a:solidFill>
                  </a:tcPr>
                </a:tc>
                <a:tc>
                  <a:txBody>
                    <a:bodyPr/>
                    <a:lstStyle/>
                    <a:p>
                      <a:pPr marL="0" indent="0" algn="ctr">
                        <a:buNone/>
                      </a:pPr>
                      <a:r>
                        <a:rPr lang="en-US" sz="1400" i="1" dirty="0">
                          <a:solidFill>
                            <a:srgbClr val="5D6D7E"/>
                          </a:solidFill>
                        </a:rPr>
                        <a:t>Functional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4F6F8"/>
                    </a:solidFill>
                  </a:tcPr>
                </a:tc>
                <a:tc>
                  <a:txBody>
                    <a:bodyPr/>
                    <a:lstStyle/>
                    <a:p>
                      <a:pPr marL="0" indent="0" algn="ctr">
                        <a:buNone/>
                      </a:pPr>
                      <a:r>
                        <a:rPr lang="en-US" sz="1400" b="1" dirty="0">
                          <a:solidFill>
                            <a:srgbClr val="5D6D7E"/>
                          </a:solidFill>
                        </a:rPr>
                        <a:t>PP2</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r h="501416">
                <a:tc>
                  <a:txBody>
                    <a:bodyPr/>
                    <a:lstStyle/>
                    <a:p>
                      <a:pPr marL="0" indent="0">
                        <a:buNone/>
                      </a:pPr>
                      <a:r>
                        <a:rPr lang="en-US" sz="1400" dirty="0">
                          <a:solidFill>
                            <a:srgbClr val="1A1A1A"/>
                          </a:solidFill>
                        </a:rPr>
                        <a:t>Accuracy above majority-class baseline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5D6D7E"/>
                          </a:solidFill>
                        </a:rPr>
                        <a:t>Non-Functional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8449"/>
                          </a:solidFill>
                        </a:rPr>
                        <a:t>DONE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D5F5E3"/>
                    </a:solidFill>
                  </a:tcPr>
                </a:tc>
                <a:extLst>
                  <a:ext uri="{0D108BD9-81ED-4DB2-BD59-A6C34878D82A}">
                    <a16:rowId xmlns:a16="http://schemas.microsoft.com/office/drawing/2014/main" val="10009"/>
                  </a:ext>
                </a:extLst>
              </a:tr>
              <a:tr h="501416">
                <a:tc>
                  <a:txBody>
                    <a:bodyPr/>
                    <a:lstStyle/>
                    <a:p>
                      <a:pPr marL="0" indent="0">
                        <a:buNone/>
                      </a:pPr>
                      <a:r>
                        <a:rPr lang="en-US" sz="1400" dirty="0">
                          <a:solidFill>
                            <a:srgbClr val="1A1A1A"/>
                          </a:solidFill>
                        </a:rPr>
                        <a:t>Per-individual SHAP explainability</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4F6F8"/>
                    </a:solidFill>
                  </a:tcPr>
                </a:tc>
                <a:tc>
                  <a:txBody>
                    <a:bodyPr/>
                    <a:lstStyle/>
                    <a:p>
                      <a:pPr marL="0" indent="0" algn="ctr">
                        <a:buNone/>
                      </a:pPr>
                      <a:r>
                        <a:rPr lang="en-US" sz="1400" i="1" dirty="0">
                          <a:solidFill>
                            <a:srgbClr val="5D6D7E"/>
                          </a:solidFill>
                        </a:rPr>
                        <a:t>Non-Functional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4F6F8"/>
                    </a:solidFill>
                  </a:tcPr>
                </a:tc>
                <a:tc>
                  <a:txBody>
                    <a:bodyPr/>
                    <a:lstStyle/>
                    <a:p>
                      <a:pPr marL="0" indent="0" algn="ctr">
                        <a:buNone/>
                      </a:pPr>
                      <a:r>
                        <a:rPr lang="en-US" sz="1400" b="1" dirty="0">
                          <a:solidFill>
                            <a:srgbClr val="1E8449"/>
                          </a:solidFill>
                        </a:rPr>
                        <a:t>DONE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D5F5E3"/>
                    </a:solidFill>
                  </a:tcPr>
                </a:tc>
                <a:extLst>
                  <a:ext uri="{0D108BD9-81ED-4DB2-BD59-A6C34878D82A}">
                    <a16:rowId xmlns:a16="http://schemas.microsoft.com/office/drawing/2014/main" val="10010"/>
                  </a:ext>
                </a:extLst>
              </a:tr>
              <a:tr h="501416">
                <a:tc>
                  <a:txBody>
                    <a:bodyPr/>
                    <a:lstStyle/>
                    <a:p>
                      <a:pPr marL="0" indent="0">
                        <a:buNone/>
                      </a:pPr>
                      <a:r>
                        <a:rPr lang="en-US" sz="1400" dirty="0">
                          <a:solidFill>
                            <a:srgbClr val="1A1A1A"/>
                          </a:solidFill>
                        </a:rPr>
                        <a:t>Reduced false positive rate (Isolation Forest)</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5D6D7E"/>
                          </a:solidFill>
                        </a:rPr>
                        <a:t>Non-Functional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8449"/>
                          </a:solidFill>
                        </a:rPr>
                        <a:t>DONE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D5F5E3"/>
                    </a:solidFill>
                  </a:tcPr>
                </a:tc>
                <a:extLst>
                  <a:ext uri="{0D108BD9-81ED-4DB2-BD59-A6C34878D82A}">
                    <a16:rowId xmlns:a16="http://schemas.microsoft.com/office/drawing/2014/main" val="10011"/>
                  </a:ext>
                </a:extLst>
              </a:tr>
              <a:tr h="501416">
                <a:tc>
                  <a:txBody>
                    <a:bodyPr/>
                    <a:lstStyle/>
                    <a:p>
                      <a:pPr marL="0" indent="0">
                        <a:buNone/>
                      </a:pPr>
                      <a:r>
                        <a:rPr lang="en-US" sz="1400" dirty="0">
                          <a:solidFill>
                            <a:srgbClr val="1A1A1A"/>
                          </a:solidFill>
                        </a:rPr>
                        <a:t>Privacy — de-identified · PhysioNet license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4F6F8"/>
                    </a:solidFill>
                  </a:tcPr>
                </a:tc>
                <a:tc>
                  <a:txBody>
                    <a:bodyPr/>
                    <a:lstStyle/>
                    <a:p>
                      <a:pPr marL="0" indent="0" algn="ctr">
                        <a:buNone/>
                      </a:pPr>
                      <a:r>
                        <a:rPr lang="en-US" sz="1400" i="1" dirty="0">
                          <a:solidFill>
                            <a:srgbClr val="5D6D7E"/>
                          </a:solidFill>
                        </a:rPr>
                        <a:t>Non-Functional</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F4F6F8"/>
                    </a:solidFill>
                  </a:tcPr>
                </a:tc>
                <a:tc>
                  <a:txBody>
                    <a:bodyPr/>
                    <a:lstStyle/>
                    <a:p>
                      <a:pPr marL="0" indent="0" algn="ctr">
                        <a:buNone/>
                      </a:pPr>
                      <a:r>
                        <a:rPr lang="en-US" sz="1400" b="1" dirty="0">
                          <a:solidFill>
                            <a:srgbClr val="1E8449"/>
                          </a:solidFill>
                        </a:rPr>
                        <a:t>DONE</a:t>
                      </a:r>
                      <a:endParaRPr lang="en-US" sz="1400" dirty="0"/>
                    </a:p>
                  </a:txBody>
                  <a:tcPr>
                    <a:lnL w="6350" cap="flat" cmpd="sng" algn="ctr">
                      <a:solidFill>
                        <a:srgbClr val="DDEAEE"/>
                      </a:solidFill>
                      <a:prstDash val="solid"/>
                      <a:round/>
                      <a:headEnd type="none" w="med" len="med"/>
                      <a:tailEnd type="none" w="med" len="med"/>
                    </a:lnL>
                    <a:lnR w="6350" cap="flat" cmpd="sng" algn="ctr">
                      <a:solidFill>
                        <a:srgbClr val="DDEAEE"/>
                      </a:solidFill>
                      <a:prstDash val="solid"/>
                      <a:round/>
                      <a:headEnd type="none" w="med" len="med"/>
                      <a:tailEnd type="none" w="med" len="med"/>
                    </a:lnR>
                    <a:lnT w="6350" cap="flat" cmpd="sng" algn="ctr">
                      <a:solidFill>
                        <a:srgbClr val="DDEAEE"/>
                      </a:solidFill>
                      <a:prstDash val="solid"/>
                      <a:round/>
                      <a:headEnd type="none" w="med" len="med"/>
                      <a:tailEnd type="none" w="med" len="med"/>
                    </a:lnT>
                    <a:lnB w="6350" cap="flat" cmpd="sng" algn="ctr">
                      <a:solidFill>
                        <a:srgbClr val="DDEAEE"/>
                      </a:solidFill>
                      <a:prstDash val="solid"/>
                      <a:round/>
                      <a:headEnd type="none" w="med" len="med"/>
                      <a:tailEnd type="none" w="med" len="med"/>
                    </a:lnB>
                    <a:solidFill>
                      <a:srgbClr val="D5F5E3"/>
                    </a:solidFill>
                  </a:tcPr>
                </a:tc>
                <a:extLst>
                  <a:ext uri="{0D108BD9-81ED-4DB2-BD59-A6C34878D82A}">
                    <a16:rowId xmlns:a16="http://schemas.microsoft.com/office/drawing/2014/main" val="10012"/>
                  </a:ext>
                </a:extLst>
              </a:tr>
            </a:tbl>
          </a:graphicData>
        </a:graphic>
      </p:graphicFrame>
      <p:sp>
        <p:nvSpPr>
          <p:cNvPr id="34" name="Shape 23">
            <a:extLst>
              <a:ext uri="{FF2B5EF4-FFF2-40B4-BE49-F238E27FC236}">
                <a16:creationId xmlns:a16="http://schemas.microsoft.com/office/drawing/2014/main" id="{90595357-B7EF-0230-2FB3-45CBBCDAA15B}"/>
              </a:ext>
            </a:extLst>
          </p:cNvPr>
          <p:cNvSpPr/>
          <p:nvPr/>
        </p:nvSpPr>
        <p:spPr>
          <a:xfrm>
            <a:off x="634739" y="4031973"/>
            <a:ext cx="4160520" cy="292608"/>
          </a:xfrm>
          <a:prstGeom prst="rect">
            <a:avLst/>
          </a:prstGeom>
          <a:solidFill>
            <a:srgbClr val="FEF9E7"/>
          </a:solidFill>
          <a:ln w="10160">
            <a:solidFill>
              <a:srgbClr val="F0A500"/>
            </a:solidFill>
            <a:prstDash val="solid"/>
          </a:ln>
        </p:spPr>
        <p:txBody>
          <a:bodyPr/>
          <a:lstStyle/>
          <a:p>
            <a:endParaRPr lang="en-US"/>
          </a:p>
        </p:txBody>
      </p:sp>
      <p:pic>
        <p:nvPicPr>
          <p:cNvPr id="35" name="Image 3" descr="preencoded.png">
            <a:extLst>
              <a:ext uri="{FF2B5EF4-FFF2-40B4-BE49-F238E27FC236}">
                <a16:creationId xmlns:a16="http://schemas.microsoft.com/office/drawing/2014/main" id="{D7BC3193-A889-63E6-343D-44DAE98E0795}"/>
              </a:ext>
            </a:extLst>
          </p:cNvPr>
          <p:cNvPicPr>
            <a:picLocks noChangeAspect="1"/>
          </p:cNvPicPr>
          <p:nvPr/>
        </p:nvPicPr>
        <p:blipFill>
          <a:blip r:embed="rId7"/>
          <a:stretch>
            <a:fillRect/>
          </a:stretch>
        </p:blipFill>
        <p:spPr>
          <a:xfrm>
            <a:off x="707891" y="4077693"/>
            <a:ext cx="164592" cy="164592"/>
          </a:xfrm>
          <a:prstGeom prst="rect">
            <a:avLst/>
          </a:prstGeom>
        </p:spPr>
      </p:pic>
      <p:sp>
        <p:nvSpPr>
          <p:cNvPr id="36" name="Text 24">
            <a:extLst>
              <a:ext uri="{FF2B5EF4-FFF2-40B4-BE49-F238E27FC236}">
                <a16:creationId xmlns:a16="http://schemas.microsoft.com/office/drawing/2014/main" id="{2398E636-A224-67C2-ECF4-208664CAA110}"/>
              </a:ext>
            </a:extLst>
          </p:cNvPr>
          <p:cNvSpPr/>
          <p:nvPr/>
        </p:nvSpPr>
        <p:spPr>
          <a:xfrm>
            <a:off x="909059" y="4031973"/>
            <a:ext cx="3840480" cy="292608"/>
          </a:xfrm>
          <a:prstGeom prst="rect">
            <a:avLst/>
          </a:prstGeom>
          <a:noFill/>
          <a:ln/>
        </p:spPr>
        <p:txBody>
          <a:bodyPr wrap="square" lIns="0" tIns="0" rIns="0" bIns="0" rtlCol="0" anchor="ctr"/>
          <a:lstStyle/>
          <a:p>
            <a:r>
              <a:rPr lang="en-US" sz="1050" b="1" dirty="0"/>
              <a:t>Binary </a:t>
            </a:r>
            <a:r>
              <a:rPr lang="en-US" sz="1050" b="1" dirty="0" err="1"/>
              <a:t>XGBoost</a:t>
            </a:r>
            <a:r>
              <a:rPr lang="en-US" sz="1050" b="1" dirty="0"/>
              <a:t> (LOSO)</a:t>
            </a:r>
            <a:r>
              <a:rPr lang="en-US" sz="1050" dirty="0"/>
              <a:t> · Binary F1 = 0.816 · Accuracy = 74.7% · RF best at 0.822 → </a:t>
            </a:r>
            <a:r>
              <a:rPr lang="en-US" sz="1050" dirty="0" err="1"/>
              <a:t>XGBoost</a:t>
            </a:r>
            <a:r>
              <a:rPr lang="en-US" sz="1050" dirty="0"/>
              <a:t> selected for exact SHAP</a:t>
            </a:r>
          </a:p>
        </p:txBody>
      </p:sp>
      <p:sp>
        <p:nvSpPr>
          <p:cNvPr id="37" name="Shape 23">
            <a:extLst>
              <a:ext uri="{FF2B5EF4-FFF2-40B4-BE49-F238E27FC236}">
                <a16:creationId xmlns:a16="http://schemas.microsoft.com/office/drawing/2014/main" id="{F539F721-9DE1-1A5B-F78D-C8A912CD0D45}"/>
              </a:ext>
            </a:extLst>
          </p:cNvPr>
          <p:cNvSpPr/>
          <p:nvPr/>
        </p:nvSpPr>
        <p:spPr>
          <a:xfrm>
            <a:off x="634739" y="4609107"/>
            <a:ext cx="4160520" cy="292608"/>
          </a:xfrm>
          <a:prstGeom prst="rect">
            <a:avLst/>
          </a:prstGeom>
          <a:solidFill>
            <a:srgbClr val="FEF9E7"/>
          </a:solidFill>
          <a:ln w="10160">
            <a:solidFill>
              <a:srgbClr val="F0A500"/>
            </a:solidFill>
            <a:prstDash val="solid"/>
          </a:ln>
        </p:spPr>
        <p:txBody>
          <a:bodyPr/>
          <a:lstStyle/>
          <a:p>
            <a:endParaRPr lang="en-US"/>
          </a:p>
        </p:txBody>
      </p:sp>
      <p:pic>
        <p:nvPicPr>
          <p:cNvPr id="38" name="Image 3" descr="preencoded.png">
            <a:extLst>
              <a:ext uri="{FF2B5EF4-FFF2-40B4-BE49-F238E27FC236}">
                <a16:creationId xmlns:a16="http://schemas.microsoft.com/office/drawing/2014/main" id="{E33E897B-B990-6C85-4823-5F847CF4D822}"/>
              </a:ext>
            </a:extLst>
          </p:cNvPr>
          <p:cNvPicPr>
            <a:picLocks noChangeAspect="1"/>
          </p:cNvPicPr>
          <p:nvPr/>
        </p:nvPicPr>
        <p:blipFill>
          <a:blip r:embed="rId7"/>
          <a:stretch>
            <a:fillRect/>
          </a:stretch>
        </p:blipFill>
        <p:spPr>
          <a:xfrm>
            <a:off x="707891" y="4654827"/>
            <a:ext cx="164592" cy="164592"/>
          </a:xfrm>
          <a:prstGeom prst="rect">
            <a:avLst/>
          </a:prstGeom>
        </p:spPr>
      </p:pic>
      <p:sp>
        <p:nvSpPr>
          <p:cNvPr id="39" name="Text 24">
            <a:extLst>
              <a:ext uri="{FF2B5EF4-FFF2-40B4-BE49-F238E27FC236}">
                <a16:creationId xmlns:a16="http://schemas.microsoft.com/office/drawing/2014/main" id="{381FC97B-E2A2-3277-2558-BF6D756BC8B6}"/>
              </a:ext>
            </a:extLst>
          </p:cNvPr>
          <p:cNvSpPr/>
          <p:nvPr/>
        </p:nvSpPr>
        <p:spPr>
          <a:xfrm>
            <a:off x="909059" y="4609107"/>
            <a:ext cx="3840480" cy="292608"/>
          </a:xfrm>
          <a:prstGeom prst="rect">
            <a:avLst/>
          </a:prstGeom>
          <a:noFill/>
          <a:ln/>
        </p:spPr>
        <p:txBody>
          <a:bodyPr wrap="square" lIns="0" tIns="0" rIns="0" bIns="0" rtlCol="0" anchor="ctr"/>
          <a:lstStyle/>
          <a:p>
            <a:r>
              <a:rPr lang="en-US" sz="1050" b="1" dirty="0"/>
              <a:t>Audio Classical (RAVDESS)</a:t>
            </a:r>
            <a:r>
              <a:rPr lang="en-US" sz="1050" dirty="0"/>
              <a:t> · LR best · F1 = 0.780 · AUC = 0.826 · 34 acoustic features · 5-fold actor-independent</a:t>
            </a:r>
          </a:p>
        </p:txBody>
      </p:sp>
      <p:sp>
        <p:nvSpPr>
          <p:cNvPr id="40" name="Shape 23">
            <a:extLst>
              <a:ext uri="{FF2B5EF4-FFF2-40B4-BE49-F238E27FC236}">
                <a16:creationId xmlns:a16="http://schemas.microsoft.com/office/drawing/2014/main" id="{CF468473-663D-6538-227A-F2551AD97923}"/>
              </a:ext>
            </a:extLst>
          </p:cNvPr>
          <p:cNvSpPr/>
          <p:nvPr/>
        </p:nvSpPr>
        <p:spPr>
          <a:xfrm>
            <a:off x="634739" y="5215794"/>
            <a:ext cx="4160520" cy="292608"/>
          </a:xfrm>
          <a:prstGeom prst="rect">
            <a:avLst/>
          </a:prstGeom>
          <a:solidFill>
            <a:srgbClr val="FEF9E7"/>
          </a:solidFill>
          <a:ln w="10160">
            <a:solidFill>
              <a:srgbClr val="F0A500"/>
            </a:solidFill>
            <a:prstDash val="solid"/>
          </a:ln>
        </p:spPr>
        <p:txBody>
          <a:bodyPr/>
          <a:lstStyle/>
          <a:p>
            <a:endParaRPr lang="en-US"/>
          </a:p>
        </p:txBody>
      </p:sp>
      <p:pic>
        <p:nvPicPr>
          <p:cNvPr id="41" name="Image 3" descr="preencoded.png">
            <a:extLst>
              <a:ext uri="{FF2B5EF4-FFF2-40B4-BE49-F238E27FC236}">
                <a16:creationId xmlns:a16="http://schemas.microsoft.com/office/drawing/2014/main" id="{D358422E-CCA6-BCE4-0CCD-D42AC0D6F5DC}"/>
              </a:ext>
            </a:extLst>
          </p:cNvPr>
          <p:cNvPicPr>
            <a:picLocks noChangeAspect="1"/>
          </p:cNvPicPr>
          <p:nvPr/>
        </p:nvPicPr>
        <p:blipFill>
          <a:blip r:embed="rId7"/>
          <a:stretch>
            <a:fillRect/>
          </a:stretch>
        </p:blipFill>
        <p:spPr>
          <a:xfrm>
            <a:off x="707891" y="5261514"/>
            <a:ext cx="164592" cy="164592"/>
          </a:xfrm>
          <a:prstGeom prst="rect">
            <a:avLst/>
          </a:prstGeom>
        </p:spPr>
      </p:pic>
      <p:sp>
        <p:nvSpPr>
          <p:cNvPr id="42" name="Text 24">
            <a:extLst>
              <a:ext uri="{FF2B5EF4-FFF2-40B4-BE49-F238E27FC236}">
                <a16:creationId xmlns:a16="http://schemas.microsoft.com/office/drawing/2014/main" id="{10752003-8EC3-F86A-5BD3-4DEC76FA1914}"/>
              </a:ext>
            </a:extLst>
          </p:cNvPr>
          <p:cNvSpPr/>
          <p:nvPr/>
        </p:nvSpPr>
        <p:spPr>
          <a:xfrm>
            <a:off x="909059" y="5215794"/>
            <a:ext cx="3840480" cy="292608"/>
          </a:xfrm>
          <a:prstGeom prst="rect">
            <a:avLst/>
          </a:prstGeom>
          <a:noFill/>
          <a:ln/>
        </p:spPr>
        <p:txBody>
          <a:bodyPr wrap="square" lIns="0" tIns="0" rIns="0" bIns="0" rtlCol="0" anchor="ctr"/>
          <a:lstStyle/>
          <a:p>
            <a:r>
              <a:rPr lang="en-US" sz="1050" b="1" dirty="0"/>
              <a:t>Audio 1D CNN (RAVDESS)</a:t>
            </a:r>
            <a:r>
              <a:rPr lang="en-US" sz="1050" dirty="0"/>
              <a:t> · F1 = 0.804 · AUC = 0.889 · 130×13 MFCC matrix · selected — best all metrics</a:t>
            </a:r>
          </a:p>
        </p:txBody>
      </p:sp>
      <p:sp>
        <p:nvSpPr>
          <p:cNvPr id="45" name="Shape 23">
            <a:extLst>
              <a:ext uri="{FF2B5EF4-FFF2-40B4-BE49-F238E27FC236}">
                <a16:creationId xmlns:a16="http://schemas.microsoft.com/office/drawing/2014/main" id="{0B9C6F20-32FE-1857-38DC-F54204432E4E}"/>
              </a:ext>
            </a:extLst>
          </p:cNvPr>
          <p:cNvSpPr/>
          <p:nvPr/>
        </p:nvSpPr>
        <p:spPr>
          <a:xfrm>
            <a:off x="625563" y="5886544"/>
            <a:ext cx="4160520" cy="292608"/>
          </a:xfrm>
          <a:prstGeom prst="rect">
            <a:avLst/>
          </a:prstGeom>
          <a:solidFill>
            <a:srgbClr val="FEF9E7"/>
          </a:solidFill>
          <a:ln w="10160">
            <a:solidFill>
              <a:srgbClr val="F0A500"/>
            </a:solidFill>
            <a:prstDash val="solid"/>
          </a:ln>
        </p:spPr>
        <p:txBody>
          <a:bodyPr/>
          <a:lstStyle/>
          <a:p>
            <a:endParaRPr lang="en-US"/>
          </a:p>
        </p:txBody>
      </p:sp>
      <p:pic>
        <p:nvPicPr>
          <p:cNvPr id="46" name="Image 3" descr="preencoded.png">
            <a:extLst>
              <a:ext uri="{FF2B5EF4-FFF2-40B4-BE49-F238E27FC236}">
                <a16:creationId xmlns:a16="http://schemas.microsoft.com/office/drawing/2014/main" id="{6B27CAC2-A403-6A31-D66F-BABD6EF94D17}"/>
              </a:ext>
            </a:extLst>
          </p:cNvPr>
          <p:cNvPicPr>
            <a:picLocks noChangeAspect="1"/>
          </p:cNvPicPr>
          <p:nvPr/>
        </p:nvPicPr>
        <p:blipFill>
          <a:blip r:embed="rId7"/>
          <a:stretch>
            <a:fillRect/>
          </a:stretch>
        </p:blipFill>
        <p:spPr>
          <a:xfrm>
            <a:off x="698715" y="5932264"/>
            <a:ext cx="164592" cy="164592"/>
          </a:xfrm>
          <a:prstGeom prst="rect">
            <a:avLst/>
          </a:prstGeom>
        </p:spPr>
      </p:pic>
      <p:sp>
        <p:nvSpPr>
          <p:cNvPr id="47" name="Text 24">
            <a:extLst>
              <a:ext uri="{FF2B5EF4-FFF2-40B4-BE49-F238E27FC236}">
                <a16:creationId xmlns:a16="http://schemas.microsoft.com/office/drawing/2014/main" id="{C081008B-850E-4A9C-BC4C-785670C8E0A5}"/>
              </a:ext>
            </a:extLst>
          </p:cNvPr>
          <p:cNvSpPr/>
          <p:nvPr/>
        </p:nvSpPr>
        <p:spPr>
          <a:xfrm>
            <a:off x="899883" y="5886544"/>
            <a:ext cx="3840480" cy="292608"/>
          </a:xfrm>
          <a:prstGeom prst="rect">
            <a:avLst/>
          </a:prstGeom>
          <a:noFill/>
          <a:ln/>
        </p:spPr>
        <p:txBody>
          <a:bodyPr wrap="square" lIns="0" tIns="0" rIns="0" bIns="0" rtlCol="0" anchor="ctr"/>
          <a:lstStyle/>
          <a:p>
            <a:r>
              <a:rPr lang="en-US" sz="1050" b="1" dirty="0"/>
              <a:t>Late Fusion</a:t>
            </a:r>
            <a:r>
              <a:rPr lang="en-US" sz="1050" dirty="0"/>
              <a:t> · Physio 51.7% + Audio 48.3% · weights derived from validated F1 scores</a:t>
            </a:r>
          </a:p>
        </p:txBody>
      </p:sp>
    </p:spTree>
    <p:extLst>
      <p:ext uri="{BB962C8B-B14F-4D97-AF65-F5344CB8AC3E}">
        <p14:creationId xmlns:p14="http://schemas.microsoft.com/office/powerpoint/2010/main" val="265893581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500"/>
                                        <p:tgtEl>
                                          <p:spTgt spid="3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00"/>
                                        <p:tgtEl>
                                          <p:spTgt spid="31"/>
                                        </p:tgtEl>
                                      </p:cBhvr>
                                    </p:animEffect>
                                  </p:childTnLst>
                                </p:cTn>
                              </p:par>
                              <p:par>
                                <p:cTn id="64" presetID="10" presetClass="entr" presetSubtype="0" fill="hold"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500"/>
                                        <p:tgtEl>
                                          <p:spTgt spid="33"/>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500"/>
                                        <p:tgtEl>
                                          <p:spTgt spid="28"/>
                                        </p:tgtEl>
                                      </p:cBhvr>
                                    </p:animEffect>
                                  </p:childTnLst>
                                </p:cTn>
                              </p:par>
                              <p:par>
                                <p:cTn id="72" presetID="10" presetClass="entr" presetSubtype="0" fill="hold"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500"/>
                                        <p:tgtEl>
                                          <p:spTgt spid="2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5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500"/>
                                        <p:tgtEl>
                                          <p:spTgt spid="34"/>
                                        </p:tgtEl>
                                      </p:cBhvr>
                                    </p:animEffect>
                                  </p:childTnLst>
                                </p:cTn>
                              </p:par>
                              <p:par>
                                <p:cTn id="81" presetID="10" presetClass="entr" presetSubtype="0" fill="hold"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500"/>
                                        <p:tgtEl>
                                          <p:spTgt spid="3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500"/>
                                        <p:tgtEl>
                                          <p:spTgt spid="3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7"/>
                                        </p:tgtEl>
                                        <p:attrNameLst>
                                          <p:attrName>style.visibility</p:attrName>
                                        </p:attrNameLst>
                                      </p:cBhvr>
                                      <p:to>
                                        <p:strVal val="visible"/>
                                      </p:to>
                                    </p:set>
                                    <p:animEffect transition="in" filter="fade">
                                      <p:cBhvr>
                                        <p:cTn id="89" dur="500"/>
                                        <p:tgtEl>
                                          <p:spTgt spid="37"/>
                                        </p:tgtEl>
                                      </p:cBhvr>
                                    </p:animEffect>
                                  </p:childTnLst>
                                </p:cTn>
                              </p:par>
                              <p:par>
                                <p:cTn id="90" presetID="10" presetClass="entr" presetSubtype="0" fill="hold" nodeType="withEffect">
                                  <p:stCondLst>
                                    <p:cond delay="0"/>
                                  </p:stCondLst>
                                  <p:childTnLst>
                                    <p:set>
                                      <p:cBhvr>
                                        <p:cTn id="91" dur="1" fill="hold">
                                          <p:stCondLst>
                                            <p:cond delay="0"/>
                                          </p:stCondLst>
                                        </p:cTn>
                                        <p:tgtEl>
                                          <p:spTgt spid="38"/>
                                        </p:tgtEl>
                                        <p:attrNameLst>
                                          <p:attrName>style.visibility</p:attrName>
                                        </p:attrNameLst>
                                      </p:cBhvr>
                                      <p:to>
                                        <p:strVal val="visible"/>
                                      </p:to>
                                    </p:set>
                                    <p:animEffect transition="in" filter="fade">
                                      <p:cBhvr>
                                        <p:cTn id="92" dur="500"/>
                                        <p:tgtEl>
                                          <p:spTgt spid="3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9"/>
                                        </p:tgtEl>
                                        <p:attrNameLst>
                                          <p:attrName>style.visibility</p:attrName>
                                        </p:attrNameLst>
                                      </p:cBhvr>
                                      <p:to>
                                        <p:strVal val="visible"/>
                                      </p:to>
                                    </p:set>
                                    <p:animEffect transition="in" filter="fade">
                                      <p:cBhvr>
                                        <p:cTn id="95" dur="500"/>
                                        <p:tgtEl>
                                          <p:spTgt spid="3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fade">
                                      <p:cBhvr>
                                        <p:cTn id="98" dur="500"/>
                                        <p:tgtEl>
                                          <p:spTgt spid="40"/>
                                        </p:tgtEl>
                                      </p:cBhvr>
                                    </p:animEffect>
                                  </p:childTnLst>
                                </p:cTn>
                              </p:par>
                              <p:par>
                                <p:cTn id="99" presetID="10" presetClass="entr" presetSubtype="0" fill="hold" nodeType="with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fade">
                                      <p:cBhvr>
                                        <p:cTn id="101" dur="500"/>
                                        <p:tgtEl>
                                          <p:spTgt spid="4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2"/>
                                        </p:tgtEl>
                                        <p:attrNameLst>
                                          <p:attrName>style.visibility</p:attrName>
                                        </p:attrNameLst>
                                      </p:cBhvr>
                                      <p:to>
                                        <p:strVal val="visible"/>
                                      </p:to>
                                    </p:set>
                                    <p:animEffect transition="in" filter="fade">
                                      <p:cBhvr>
                                        <p:cTn id="104" dur="500"/>
                                        <p:tgtEl>
                                          <p:spTgt spid="4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fade">
                                      <p:cBhvr>
                                        <p:cTn id="107" dur="500"/>
                                        <p:tgtEl>
                                          <p:spTgt spid="45"/>
                                        </p:tgtEl>
                                      </p:cBhvr>
                                    </p:animEffect>
                                  </p:childTnLst>
                                </p:cTn>
                              </p:par>
                              <p:par>
                                <p:cTn id="108" presetID="10" presetClass="entr" presetSubtype="0" fill="hold" nodeType="withEffect">
                                  <p:stCondLst>
                                    <p:cond delay="0"/>
                                  </p:stCondLst>
                                  <p:childTnLst>
                                    <p:set>
                                      <p:cBhvr>
                                        <p:cTn id="109" dur="1" fill="hold">
                                          <p:stCondLst>
                                            <p:cond delay="0"/>
                                          </p:stCondLst>
                                        </p:cTn>
                                        <p:tgtEl>
                                          <p:spTgt spid="46"/>
                                        </p:tgtEl>
                                        <p:attrNameLst>
                                          <p:attrName>style.visibility</p:attrName>
                                        </p:attrNameLst>
                                      </p:cBhvr>
                                      <p:to>
                                        <p:strVal val="visible"/>
                                      </p:to>
                                    </p:set>
                                    <p:animEffect transition="in" filter="fade">
                                      <p:cBhvr>
                                        <p:cTn id="110" dur="500"/>
                                        <p:tgtEl>
                                          <p:spTgt spid="46"/>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7"/>
                                        </p:tgtEl>
                                        <p:attrNameLst>
                                          <p:attrName>style.visibility</p:attrName>
                                        </p:attrNameLst>
                                      </p:cBhvr>
                                      <p:to>
                                        <p:strVal val="visible"/>
                                      </p:to>
                                    </p:set>
                                    <p:animEffect transition="in" filter="fade">
                                      <p:cBhvr>
                                        <p:cTn id="11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8" grpId="0" animBg="1"/>
      <p:bldP spid="13" grpId="0" animBg="1"/>
      <p:bldP spid="14" grpId="0" animBg="1"/>
      <p:bldP spid="15" grpId="0" animBg="1"/>
      <p:bldP spid="17" grpId="0" animBg="1"/>
      <p:bldP spid="19" grpId="0" animBg="1"/>
      <p:bldP spid="20" grpId="0" animBg="1"/>
      <p:bldP spid="21" grpId="0" animBg="1"/>
      <p:bldP spid="23" grpId="0" animBg="1"/>
      <p:bldP spid="25" grpId="0" animBg="1"/>
      <p:bldP spid="26" grpId="0" animBg="1"/>
      <p:bldP spid="27" grpId="0" animBg="1"/>
      <p:bldP spid="28" grpId="0" animBg="1"/>
      <p:bldP spid="30" grpId="0" animBg="1"/>
      <p:bldP spid="31" grpId="0" animBg="1"/>
      <p:bldP spid="32" grpId="0" animBg="1"/>
      <p:bldP spid="34" grpId="0" animBg="1"/>
      <p:bldP spid="36" grpId="0" animBg="1"/>
      <p:bldP spid="37" grpId="0" animBg="1"/>
      <p:bldP spid="39" grpId="0" animBg="1"/>
      <p:bldP spid="40" grpId="0" animBg="1"/>
      <p:bldP spid="42" grpId="0" animBg="1"/>
      <p:bldP spid="45" grpId="0" animBg="1"/>
      <p:bldP spid="4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45691-387D-04F3-0900-CC0498990FE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BA08A5D-2AE3-E541-3AE8-19681778D887}"/>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Text 0">
            <a:extLst>
              <a:ext uri="{FF2B5EF4-FFF2-40B4-BE49-F238E27FC236}">
                <a16:creationId xmlns:a16="http://schemas.microsoft.com/office/drawing/2014/main" id="{0B5C2D01-3EB2-57B4-5971-ED114C4904C8}"/>
              </a:ext>
            </a:extLst>
          </p:cNvPr>
          <p:cNvSpPr/>
          <p:nvPr/>
        </p:nvSpPr>
        <p:spPr>
          <a:xfrm>
            <a:off x="38100" y="493443"/>
            <a:ext cx="12115800" cy="347472"/>
          </a:xfrm>
          <a:prstGeom prst="rect">
            <a:avLst/>
          </a:prstGeom>
          <a:noFill/>
          <a:ln/>
        </p:spPr>
        <p:txBody>
          <a:bodyPr wrap="square" lIns="0" tIns="0" rIns="0" bIns="0" rtlCol="0" anchor="ctr"/>
          <a:lstStyle/>
          <a:p>
            <a:pPr algn="ctr"/>
            <a:r>
              <a:rPr lang="en-US" sz="2000" b="1" dirty="0"/>
              <a:t>AI-Assisted Caregiver Workforce Deterioration Detection and Adaptive Workload Redistribution</a:t>
            </a:r>
            <a:endParaRPr lang="en-US" sz="2000" b="1" dirty="0">
              <a:solidFill>
                <a:srgbClr val="0F2742"/>
              </a:solidFill>
              <a:latin typeface="+mj-lt"/>
            </a:endParaRPr>
          </a:p>
        </p:txBody>
      </p:sp>
      <p:sp>
        <p:nvSpPr>
          <p:cNvPr id="12" name="Rectangle 11">
            <a:extLst>
              <a:ext uri="{FF2B5EF4-FFF2-40B4-BE49-F238E27FC236}">
                <a16:creationId xmlns:a16="http://schemas.microsoft.com/office/drawing/2014/main" id="{7E8DF6CD-40DE-275B-FFD9-2BA04F3AD81E}"/>
              </a:ext>
            </a:extLst>
          </p:cNvPr>
          <p:cNvSpPr/>
          <p:nvPr/>
        </p:nvSpPr>
        <p:spPr>
          <a:xfrm>
            <a:off x="2907736" y="6455133"/>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IT22178640 |   DAYANA PRIYADHARSHANI KUMAR |   R26-DS-010</a:t>
            </a:r>
          </a:p>
        </p:txBody>
      </p:sp>
      <p:sp>
        <p:nvSpPr>
          <p:cNvPr id="4" name="Date Placeholder 3">
            <a:extLst>
              <a:ext uri="{FF2B5EF4-FFF2-40B4-BE49-F238E27FC236}">
                <a16:creationId xmlns:a16="http://schemas.microsoft.com/office/drawing/2014/main" id="{4E639959-0A03-DC89-545C-49C846B2F652}"/>
              </a:ext>
            </a:extLst>
          </p:cNvPr>
          <p:cNvSpPr>
            <a:spLocks noGrp="1"/>
          </p:cNvSpPr>
          <p:nvPr>
            <p:ph type="dt" sz="half" idx="10"/>
          </p:nvPr>
        </p:nvSpPr>
        <p:spPr>
          <a:xfrm>
            <a:off x="9982200" y="6261448"/>
            <a:ext cx="2743200" cy="365125"/>
          </a:xfrm>
        </p:spPr>
        <p:txBody>
          <a:bodyPr/>
          <a:lstStyle/>
          <a:p>
            <a:fld id="{4C13C7AB-C68C-4F5B-9F28-29441B570993}" type="datetime1">
              <a:rPr lang="en-US" b="1" smtClean="0">
                <a:solidFill>
                  <a:schemeClr val="tx1"/>
                </a:solidFill>
              </a:rPr>
              <a:t>5/12/2026</a:t>
            </a:fld>
            <a:endParaRPr lang="en-US" b="1" dirty="0">
              <a:solidFill>
                <a:schemeClr val="tx1"/>
              </a:solidFill>
            </a:endParaRPr>
          </a:p>
        </p:txBody>
      </p:sp>
      <p:sp>
        <p:nvSpPr>
          <p:cNvPr id="7" name="Slide Number Placeholder 6">
            <a:extLst>
              <a:ext uri="{FF2B5EF4-FFF2-40B4-BE49-F238E27FC236}">
                <a16:creationId xmlns:a16="http://schemas.microsoft.com/office/drawing/2014/main" id="{D8D02B76-93F0-09A3-08C2-E6B0A5ABE514}"/>
              </a:ext>
            </a:extLst>
          </p:cNvPr>
          <p:cNvSpPr>
            <a:spLocks noGrp="1"/>
          </p:cNvSpPr>
          <p:nvPr>
            <p:ph type="sldNum" sz="quarter" idx="12"/>
          </p:nvPr>
        </p:nvSpPr>
        <p:spPr/>
        <p:txBody>
          <a:bodyPr/>
          <a:lstStyle/>
          <a:p>
            <a:fld id="{47D73ED1-4BC5-4C68-A93F-B56D3DD7872F}" type="slidenum">
              <a:rPr lang="en-US" smtClean="0"/>
              <a:t>6</a:t>
            </a:fld>
            <a:endParaRPr lang="en-US" dirty="0"/>
          </a:p>
        </p:txBody>
      </p:sp>
      <p:pic>
        <p:nvPicPr>
          <p:cNvPr id="2" name="Picture 1">
            <a:extLst>
              <a:ext uri="{FF2B5EF4-FFF2-40B4-BE49-F238E27FC236}">
                <a16:creationId xmlns:a16="http://schemas.microsoft.com/office/drawing/2014/main" id="{1208E821-C757-02D0-582A-18E8EE91B52F}"/>
              </a:ext>
            </a:extLst>
          </p:cNvPr>
          <p:cNvPicPr>
            <a:picLocks noChangeAspect="1"/>
          </p:cNvPicPr>
          <p:nvPr/>
        </p:nvPicPr>
        <p:blipFill>
          <a:blip r:embed="rId3"/>
          <a:stretch>
            <a:fillRect/>
          </a:stretch>
        </p:blipFill>
        <p:spPr>
          <a:xfrm>
            <a:off x="38100" y="6261448"/>
            <a:ext cx="2676899" cy="533474"/>
          </a:xfrm>
          <a:prstGeom prst="rect">
            <a:avLst/>
          </a:prstGeom>
        </p:spPr>
      </p:pic>
      <p:pic>
        <p:nvPicPr>
          <p:cNvPr id="32" name="Picture 31">
            <a:extLst>
              <a:ext uri="{FF2B5EF4-FFF2-40B4-BE49-F238E27FC236}">
                <a16:creationId xmlns:a16="http://schemas.microsoft.com/office/drawing/2014/main" id="{31ECA1BD-85DF-45AA-D54E-0F50C0A3CE47}"/>
              </a:ext>
            </a:extLst>
          </p:cNvPr>
          <p:cNvPicPr>
            <a:picLocks noChangeAspect="1"/>
          </p:cNvPicPr>
          <p:nvPr/>
        </p:nvPicPr>
        <p:blipFill>
          <a:blip r:embed="rId4"/>
          <a:stretch>
            <a:fillRect/>
          </a:stretch>
        </p:blipFill>
        <p:spPr>
          <a:xfrm>
            <a:off x="235065" y="1029558"/>
            <a:ext cx="6116574" cy="5195078"/>
          </a:xfrm>
          <a:prstGeom prst="rect">
            <a:avLst/>
          </a:prstGeom>
        </p:spPr>
      </p:pic>
      <p:pic>
        <p:nvPicPr>
          <p:cNvPr id="34" name="Picture 33">
            <a:extLst>
              <a:ext uri="{FF2B5EF4-FFF2-40B4-BE49-F238E27FC236}">
                <a16:creationId xmlns:a16="http://schemas.microsoft.com/office/drawing/2014/main" id="{C7565FFA-D002-B3D8-A49F-D60D859C1745}"/>
              </a:ext>
            </a:extLst>
          </p:cNvPr>
          <p:cNvPicPr>
            <a:picLocks noChangeAspect="1"/>
          </p:cNvPicPr>
          <p:nvPr/>
        </p:nvPicPr>
        <p:blipFill>
          <a:blip r:embed="rId5"/>
          <a:srcRect b="17859"/>
          <a:stretch>
            <a:fillRect/>
          </a:stretch>
        </p:blipFill>
        <p:spPr>
          <a:xfrm>
            <a:off x="6672541" y="1029558"/>
            <a:ext cx="5165498" cy="4820444"/>
          </a:xfrm>
          <a:prstGeom prst="rect">
            <a:avLst/>
          </a:prstGeom>
        </p:spPr>
      </p:pic>
    </p:spTree>
    <p:extLst>
      <p:ext uri="{BB962C8B-B14F-4D97-AF65-F5344CB8AC3E}">
        <p14:creationId xmlns:p14="http://schemas.microsoft.com/office/powerpoint/2010/main" val="100282632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3EF07-93A4-A487-C7C3-017FE993E34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1FAAE39-B561-6618-2291-39278F38E97E}"/>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Text 0">
            <a:extLst>
              <a:ext uri="{FF2B5EF4-FFF2-40B4-BE49-F238E27FC236}">
                <a16:creationId xmlns:a16="http://schemas.microsoft.com/office/drawing/2014/main" id="{8DC79487-5540-49EB-C670-1B8BFF0C0007}"/>
              </a:ext>
            </a:extLst>
          </p:cNvPr>
          <p:cNvSpPr/>
          <p:nvPr/>
        </p:nvSpPr>
        <p:spPr>
          <a:xfrm>
            <a:off x="38100" y="493443"/>
            <a:ext cx="12115800" cy="347472"/>
          </a:xfrm>
          <a:prstGeom prst="rect">
            <a:avLst/>
          </a:prstGeom>
          <a:noFill/>
          <a:ln/>
        </p:spPr>
        <p:txBody>
          <a:bodyPr wrap="square" lIns="0" tIns="0" rIns="0" bIns="0" rtlCol="0" anchor="ctr"/>
          <a:lstStyle/>
          <a:p>
            <a:pPr algn="ctr"/>
            <a:r>
              <a:rPr lang="en-US" sz="2000" b="1" dirty="0"/>
              <a:t>AI-Assisted Caregiver Workforce Deterioration Detection and Adaptive Workload Redistribution</a:t>
            </a:r>
            <a:endParaRPr lang="en-US" sz="2000" b="1" dirty="0">
              <a:solidFill>
                <a:srgbClr val="0F2742"/>
              </a:solidFill>
              <a:latin typeface="+mj-lt"/>
            </a:endParaRPr>
          </a:p>
        </p:txBody>
      </p:sp>
      <p:sp>
        <p:nvSpPr>
          <p:cNvPr id="12" name="Rectangle 11">
            <a:extLst>
              <a:ext uri="{FF2B5EF4-FFF2-40B4-BE49-F238E27FC236}">
                <a16:creationId xmlns:a16="http://schemas.microsoft.com/office/drawing/2014/main" id="{EE98F4C8-60C8-264D-C595-C2649A49D14B}"/>
              </a:ext>
            </a:extLst>
          </p:cNvPr>
          <p:cNvSpPr/>
          <p:nvPr/>
        </p:nvSpPr>
        <p:spPr>
          <a:xfrm>
            <a:off x="2907736" y="6455133"/>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IT22178640 |   DAYANA PRIYADHARSHANI KUMAR |   R26-DS-010</a:t>
            </a:r>
          </a:p>
        </p:txBody>
      </p:sp>
      <p:sp>
        <p:nvSpPr>
          <p:cNvPr id="4" name="Date Placeholder 3">
            <a:extLst>
              <a:ext uri="{FF2B5EF4-FFF2-40B4-BE49-F238E27FC236}">
                <a16:creationId xmlns:a16="http://schemas.microsoft.com/office/drawing/2014/main" id="{C4445C00-3BAE-4CE3-21F5-DEC4914970B4}"/>
              </a:ext>
            </a:extLst>
          </p:cNvPr>
          <p:cNvSpPr>
            <a:spLocks noGrp="1"/>
          </p:cNvSpPr>
          <p:nvPr>
            <p:ph type="dt" sz="half" idx="10"/>
          </p:nvPr>
        </p:nvSpPr>
        <p:spPr>
          <a:xfrm>
            <a:off x="9982200" y="6261448"/>
            <a:ext cx="2743200" cy="365125"/>
          </a:xfrm>
        </p:spPr>
        <p:txBody>
          <a:bodyPr/>
          <a:lstStyle/>
          <a:p>
            <a:fld id="{4C13C7AB-C68C-4F5B-9F28-29441B570993}" type="datetime1">
              <a:rPr lang="en-US" b="1" smtClean="0">
                <a:solidFill>
                  <a:schemeClr val="tx1"/>
                </a:solidFill>
              </a:rPr>
              <a:t>5/12/2026</a:t>
            </a:fld>
            <a:endParaRPr lang="en-US" b="1" dirty="0">
              <a:solidFill>
                <a:schemeClr val="tx1"/>
              </a:solidFill>
            </a:endParaRPr>
          </a:p>
        </p:txBody>
      </p:sp>
      <p:sp>
        <p:nvSpPr>
          <p:cNvPr id="7" name="Slide Number Placeholder 6">
            <a:extLst>
              <a:ext uri="{FF2B5EF4-FFF2-40B4-BE49-F238E27FC236}">
                <a16:creationId xmlns:a16="http://schemas.microsoft.com/office/drawing/2014/main" id="{4A8D036F-E4FB-4B67-4648-463C69976140}"/>
              </a:ext>
            </a:extLst>
          </p:cNvPr>
          <p:cNvSpPr>
            <a:spLocks noGrp="1"/>
          </p:cNvSpPr>
          <p:nvPr>
            <p:ph type="sldNum" sz="quarter" idx="12"/>
          </p:nvPr>
        </p:nvSpPr>
        <p:spPr/>
        <p:txBody>
          <a:bodyPr/>
          <a:lstStyle/>
          <a:p>
            <a:fld id="{47D73ED1-4BC5-4C68-A93F-B56D3DD7872F}" type="slidenum">
              <a:rPr lang="en-US" smtClean="0"/>
              <a:t>7</a:t>
            </a:fld>
            <a:endParaRPr lang="en-US" dirty="0"/>
          </a:p>
        </p:txBody>
      </p:sp>
      <p:pic>
        <p:nvPicPr>
          <p:cNvPr id="2" name="Picture 1">
            <a:extLst>
              <a:ext uri="{FF2B5EF4-FFF2-40B4-BE49-F238E27FC236}">
                <a16:creationId xmlns:a16="http://schemas.microsoft.com/office/drawing/2014/main" id="{86551D41-88F1-88A4-74BC-DF1705177CD5}"/>
              </a:ext>
            </a:extLst>
          </p:cNvPr>
          <p:cNvPicPr>
            <a:picLocks noChangeAspect="1"/>
          </p:cNvPicPr>
          <p:nvPr/>
        </p:nvPicPr>
        <p:blipFill>
          <a:blip r:embed="rId3"/>
          <a:stretch>
            <a:fillRect/>
          </a:stretch>
        </p:blipFill>
        <p:spPr>
          <a:xfrm>
            <a:off x="38100" y="6261448"/>
            <a:ext cx="2676899" cy="533474"/>
          </a:xfrm>
          <a:prstGeom prst="rect">
            <a:avLst/>
          </a:prstGeom>
        </p:spPr>
      </p:pic>
      <p:sp>
        <p:nvSpPr>
          <p:cNvPr id="3" name="TextBox 2">
            <a:extLst>
              <a:ext uri="{FF2B5EF4-FFF2-40B4-BE49-F238E27FC236}">
                <a16:creationId xmlns:a16="http://schemas.microsoft.com/office/drawing/2014/main" id="{FAEEC9A4-C418-20E3-A0AA-35548EF27866}"/>
              </a:ext>
            </a:extLst>
          </p:cNvPr>
          <p:cNvSpPr txBox="1"/>
          <p:nvPr/>
        </p:nvSpPr>
        <p:spPr>
          <a:xfrm>
            <a:off x="701286" y="951724"/>
            <a:ext cx="6528618" cy="400110"/>
          </a:xfrm>
          <a:prstGeom prst="rect">
            <a:avLst/>
          </a:prstGeom>
          <a:noFill/>
        </p:spPr>
        <p:txBody>
          <a:bodyPr wrap="square">
            <a:spAutoFit/>
          </a:bodyPr>
          <a:lstStyle/>
          <a:p>
            <a:pPr>
              <a:spcAft>
                <a:spcPts val="3000"/>
              </a:spcAft>
            </a:pPr>
            <a:r>
              <a:rPr lang="en-US" sz="2000" b="1" i="0" dirty="0">
                <a:solidFill>
                  <a:schemeClr val="accent1">
                    <a:lumMod val="50000"/>
                  </a:schemeClr>
                </a:solidFill>
                <a:effectLst/>
                <a:latin typeface="Poppins" panose="00000500000000000000" pitchFamily="2" charset="0"/>
              </a:rPr>
              <a:t>| </a:t>
            </a:r>
            <a:r>
              <a:rPr lang="en-US" sz="2000" b="1" dirty="0">
                <a:solidFill>
                  <a:schemeClr val="accent1">
                    <a:lumMod val="50000"/>
                  </a:schemeClr>
                </a:solidFill>
                <a:effectLst/>
              </a:rPr>
              <a:t>Panel Comment Received at Proposal</a:t>
            </a:r>
          </a:p>
        </p:txBody>
      </p:sp>
      <p:sp>
        <p:nvSpPr>
          <p:cNvPr id="5" name="Rectangle: Rounded Corners 4">
            <a:extLst>
              <a:ext uri="{FF2B5EF4-FFF2-40B4-BE49-F238E27FC236}">
                <a16:creationId xmlns:a16="http://schemas.microsoft.com/office/drawing/2014/main" id="{CFB4E959-28D9-86A3-5452-498F59999B3B}"/>
              </a:ext>
            </a:extLst>
          </p:cNvPr>
          <p:cNvSpPr/>
          <p:nvPr/>
        </p:nvSpPr>
        <p:spPr>
          <a:xfrm>
            <a:off x="2349908" y="1469674"/>
            <a:ext cx="7718540" cy="699082"/>
          </a:xfrm>
          <a:prstGeom prst="roundRect">
            <a:avLst/>
          </a:prstGeom>
          <a:solidFill>
            <a:srgbClr val="FEDADD"/>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lumMod val="50000"/>
                  </a:schemeClr>
                </a:solidFill>
              </a:rPr>
              <a:t>“Identify how do you going to identify individual </a:t>
            </a:r>
            <a:r>
              <a:rPr lang="en-US" b="1" dirty="0" err="1">
                <a:solidFill>
                  <a:schemeClr val="accent1">
                    <a:lumMod val="50000"/>
                  </a:schemeClr>
                </a:solidFill>
              </a:rPr>
              <a:t>behavioural</a:t>
            </a:r>
            <a:r>
              <a:rPr lang="en-US" b="1" dirty="0">
                <a:solidFill>
                  <a:schemeClr val="accent1">
                    <a:lumMod val="50000"/>
                  </a:schemeClr>
                </a:solidFill>
              </a:rPr>
              <a:t> patterns”</a:t>
            </a:r>
            <a:endParaRPr lang="en-US" sz="2400" b="1" dirty="0">
              <a:solidFill>
                <a:schemeClr val="accent1">
                  <a:lumMod val="50000"/>
                </a:schemeClr>
              </a:solidFill>
              <a:effectLst/>
              <a:latin typeface="Arial" panose="020B0604020202020204" pitchFamily="34" charset="0"/>
              <a:ea typeface="Arial" panose="020B0604020202020204" pitchFamily="34" charset="0"/>
            </a:endParaRPr>
          </a:p>
        </p:txBody>
      </p:sp>
      <p:sp>
        <p:nvSpPr>
          <p:cNvPr id="9" name="TextBox 8">
            <a:extLst>
              <a:ext uri="{FF2B5EF4-FFF2-40B4-BE49-F238E27FC236}">
                <a16:creationId xmlns:a16="http://schemas.microsoft.com/office/drawing/2014/main" id="{EEB2E495-C12D-8AF8-7531-79A586A005A8}"/>
              </a:ext>
            </a:extLst>
          </p:cNvPr>
          <p:cNvSpPr txBox="1"/>
          <p:nvPr/>
        </p:nvSpPr>
        <p:spPr>
          <a:xfrm>
            <a:off x="770112" y="2499970"/>
            <a:ext cx="6528618" cy="400110"/>
          </a:xfrm>
          <a:prstGeom prst="rect">
            <a:avLst/>
          </a:prstGeom>
          <a:noFill/>
        </p:spPr>
        <p:txBody>
          <a:bodyPr wrap="square">
            <a:spAutoFit/>
          </a:bodyPr>
          <a:lstStyle/>
          <a:p>
            <a:r>
              <a:rPr lang="en-US" sz="2000" b="1" i="0" dirty="0">
                <a:solidFill>
                  <a:schemeClr val="accent1">
                    <a:lumMod val="50000"/>
                  </a:schemeClr>
                </a:solidFill>
                <a:effectLst/>
                <a:latin typeface="Poppins" panose="00000500000000000000" pitchFamily="2" charset="0"/>
              </a:rPr>
              <a:t>| </a:t>
            </a:r>
            <a:r>
              <a:rPr lang="en-US" sz="2000" b="1" dirty="0">
                <a:solidFill>
                  <a:schemeClr val="accent1">
                    <a:lumMod val="50000"/>
                  </a:schemeClr>
                </a:solidFill>
              </a:rPr>
              <a:t>How </a:t>
            </a:r>
            <a:r>
              <a:rPr lang="en-US" sz="2000" b="1" dirty="0" err="1">
                <a:solidFill>
                  <a:schemeClr val="accent1">
                    <a:lumMod val="50000"/>
                  </a:schemeClr>
                </a:solidFill>
              </a:rPr>
              <a:t>CareSense</a:t>
            </a:r>
            <a:r>
              <a:rPr lang="en-US" sz="2000" b="1" dirty="0">
                <a:solidFill>
                  <a:schemeClr val="accent1">
                    <a:lumMod val="50000"/>
                  </a:schemeClr>
                </a:solidFill>
              </a:rPr>
              <a:t> Addresses This </a:t>
            </a:r>
          </a:p>
        </p:txBody>
      </p:sp>
      <p:sp>
        <p:nvSpPr>
          <p:cNvPr id="14" name="TextBox 13">
            <a:extLst>
              <a:ext uri="{FF2B5EF4-FFF2-40B4-BE49-F238E27FC236}">
                <a16:creationId xmlns:a16="http://schemas.microsoft.com/office/drawing/2014/main" id="{C0A667D8-E065-B0FD-CC01-A02BC58CA3FF}"/>
              </a:ext>
            </a:extLst>
          </p:cNvPr>
          <p:cNvSpPr txBox="1"/>
          <p:nvPr/>
        </p:nvSpPr>
        <p:spPr>
          <a:xfrm>
            <a:off x="770113" y="2922733"/>
            <a:ext cx="10313220" cy="3139321"/>
          </a:xfrm>
          <a:prstGeom prst="rect">
            <a:avLst/>
          </a:prstGeom>
          <a:noFill/>
        </p:spPr>
        <p:txBody>
          <a:bodyPr wrap="square">
            <a:spAutoFit/>
          </a:bodyPr>
          <a:lstStyle/>
          <a:p>
            <a:pPr marL="285750" indent="-285750" algn="just">
              <a:buFont typeface="Arial" panose="020B0604020202020204" pitchFamily="34" charset="0"/>
              <a:buChar char="•"/>
            </a:pPr>
            <a:r>
              <a:rPr lang="en-US" b="1" dirty="0"/>
              <a:t>Layer 1 – Personal Baseline Modeling: </a:t>
            </a:r>
            <a:r>
              <a:rPr lang="en-US" dirty="0"/>
              <a:t>Isolation Forest is trained on each nurse’s initial 7-day physiological data to establish an individualized “normal” behavioral and stress baseline.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Early Detection of Personal Deviations: </a:t>
            </a:r>
            <a:r>
              <a:rPr lang="en-US" dirty="0"/>
              <a:t>Instead of comparing against population averages, the system identifies abnormal patterns unique to each individual nurse.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Layer 2 – Explainable Risk Attribution: </a:t>
            </a:r>
            <a:r>
              <a:rPr lang="en-US" dirty="0" err="1"/>
              <a:t>XGBoost</a:t>
            </a:r>
            <a:r>
              <a:rPr lang="en-US" dirty="0"/>
              <a:t> combined with SHAP analysis highlights the specific physiological features contributing most to stress risk for each nurse.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Personalized Stress Signatures: </a:t>
            </a:r>
            <a:r>
              <a:rPr lang="en-US" dirty="0"/>
              <a:t>Different nurses exhibit different dominant stress indicators (e.g., EDA peaks, temperature variation), enabling tailored interpretation of risk. </a:t>
            </a:r>
          </a:p>
        </p:txBody>
      </p:sp>
    </p:spTree>
    <p:extLst>
      <p:ext uri="{BB962C8B-B14F-4D97-AF65-F5344CB8AC3E}">
        <p14:creationId xmlns:p14="http://schemas.microsoft.com/office/powerpoint/2010/main" val="37734713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9"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82EE-3F11-AC8E-8301-8D4999FB1EC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3A44D8C-5E62-A017-1784-56836B0248ED}"/>
              </a:ext>
            </a:extLst>
          </p:cNvPr>
          <p:cNvSpPr>
            <a:spLocks noGrp="1"/>
          </p:cNvSpPr>
          <p:nvPr>
            <p:ph type="title"/>
          </p:nvPr>
        </p:nvSpPr>
        <p:spPr>
          <a:xfrm>
            <a:off x="309880" y="1400585"/>
            <a:ext cx="10363200" cy="755426"/>
          </a:xfrm>
        </p:spPr>
        <p:txBody>
          <a:bodyPr>
            <a:normAutofit/>
          </a:bodyPr>
          <a:lstStyle/>
          <a:p>
            <a:r>
              <a:rPr lang="en-US" sz="3600" dirty="0"/>
              <a:t>IT22057488 | HARISHALINEE ELANGOVAN</a:t>
            </a:r>
          </a:p>
        </p:txBody>
      </p:sp>
      <p:sp>
        <p:nvSpPr>
          <p:cNvPr id="6" name="Text Placeholder 5">
            <a:extLst>
              <a:ext uri="{FF2B5EF4-FFF2-40B4-BE49-F238E27FC236}">
                <a16:creationId xmlns:a16="http://schemas.microsoft.com/office/drawing/2014/main" id="{7CE5C942-447E-0197-F5ED-2A658AB48B8A}"/>
              </a:ext>
            </a:extLst>
          </p:cNvPr>
          <p:cNvSpPr>
            <a:spLocks noGrp="1"/>
          </p:cNvSpPr>
          <p:nvPr>
            <p:ph type="body" idx="1"/>
          </p:nvPr>
        </p:nvSpPr>
        <p:spPr>
          <a:xfrm>
            <a:off x="353769" y="2897924"/>
            <a:ext cx="10363200" cy="2308448"/>
          </a:xfrm>
        </p:spPr>
        <p:txBody>
          <a:bodyPr>
            <a:normAutofit/>
          </a:bodyPr>
          <a:lstStyle/>
          <a:p>
            <a:endParaRPr lang="en-US" sz="3200" dirty="0">
              <a:solidFill>
                <a:schemeClr val="tx1"/>
              </a:solidFill>
              <a:ea typeface="+mn-lt"/>
              <a:cs typeface="+mn-lt"/>
            </a:endParaRPr>
          </a:p>
          <a:p>
            <a:r>
              <a:rPr lang="en-US" sz="2800" b="1" dirty="0">
                <a:solidFill>
                  <a:schemeClr val="tx1"/>
                </a:solidFill>
                <a:ea typeface="+mn-lt"/>
                <a:cs typeface="+mn-lt"/>
              </a:rPr>
              <a:t>Component 02: Edge-Enabled Skeletal Movement Analysis System for Real-Time Patient Observable Fall Risk Detection and Prediction</a:t>
            </a:r>
            <a:endParaRPr lang="en-US" dirty="0">
              <a:solidFill>
                <a:srgbClr val="898989"/>
              </a:solidFill>
              <a:ea typeface="Cambria"/>
            </a:endParaRPr>
          </a:p>
        </p:txBody>
      </p:sp>
      <p:sp>
        <p:nvSpPr>
          <p:cNvPr id="2" name="Rectangle 1">
            <a:extLst>
              <a:ext uri="{FF2B5EF4-FFF2-40B4-BE49-F238E27FC236}">
                <a16:creationId xmlns:a16="http://schemas.microsoft.com/office/drawing/2014/main" id="{A67753BF-233F-4C8E-12B1-6CBC12EC973F}"/>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6563C37B-385F-4A48-0AEF-0F6440BB9321}"/>
              </a:ext>
            </a:extLst>
          </p:cNvPr>
          <p:cNvPicPr>
            <a:picLocks noChangeAspect="1"/>
          </p:cNvPicPr>
          <p:nvPr/>
        </p:nvPicPr>
        <p:blipFill>
          <a:blip r:embed="rId2" cstate="print">
            <a:extLst>
              <a:ext uri="{28A0092B-C50C-407E-A947-70E740481C1C}">
                <a14:useLocalDpi xmlns:a14="http://schemas.microsoft.com/office/drawing/2010/main" val="0"/>
              </a:ext>
            </a:extLst>
          </a:blip>
          <a:srcRect b="31438"/>
          <a:stretch>
            <a:fillRect/>
          </a:stretch>
        </p:blipFill>
        <p:spPr>
          <a:xfrm>
            <a:off x="9521339" y="611925"/>
            <a:ext cx="2391261" cy="2193928"/>
          </a:xfrm>
          <a:prstGeom prst="rect">
            <a:avLst/>
          </a:prstGeom>
        </p:spPr>
      </p:pic>
      <p:sp>
        <p:nvSpPr>
          <p:cNvPr id="14" name="Rectangle 13">
            <a:extLst>
              <a:ext uri="{FF2B5EF4-FFF2-40B4-BE49-F238E27FC236}">
                <a16:creationId xmlns:a16="http://schemas.microsoft.com/office/drawing/2014/main" id="{E2CFFE1F-E6E8-FD8D-0C0C-5350F77E57C8}"/>
              </a:ext>
            </a:extLst>
          </p:cNvPr>
          <p:cNvSpPr/>
          <p:nvPr/>
        </p:nvSpPr>
        <p:spPr>
          <a:xfrm>
            <a:off x="2895600" y="6492875"/>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dirty="0">
                <a:solidFill>
                  <a:schemeClr val="tx1"/>
                </a:solidFill>
              </a:rPr>
              <a:t>IT22057488 </a:t>
            </a:r>
            <a:r>
              <a:rPr lang="en-US" sz="1800" b="1" dirty="0">
                <a:solidFill>
                  <a:schemeClr val="tx1"/>
                </a:solidFill>
              </a:rPr>
              <a:t>| </a:t>
            </a:r>
            <a:r>
              <a:rPr lang="en-US" b="1" dirty="0">
                <a:solidFill>
                  <a:schemeClr val="tx1"/>
                </a:solidFill>
              </a:rPr>
              <a:t>HARISHALINEE ELANGOVAN </a:t>
            </a:r>
            <a:r>
              <a:rPr lang="en-US" sz="1800" b="1" dirty="0">
                <a:solidFill>
                  <a:schemeClr val="tx1"/>
                </a:solidFill>
              </a:rPr>
              <a:t>|   </a:t>
            </a:r>
            <a:r>
              <a:rPr lang="en-US" b="1" dirty="0">
                <a:solidFill>
                  <a:schemeClr val="tx1"/>
                </a:solidFill>
              </a:rPr>
              <a:t>R26-DS-010</a:t>
            </a:r>
          </a:p>
        </p:txBody>
      </p:sp>
      <p:sp>
        <p:nvSpPr>
          <p:cNvPr id="7" name="Date Placeholder 6">
            <a:extLst>
              <a:ext uri="{FF2B5EF4-FFF2-40B4-BE49-F238E27FC236}">
                <a16:creationId xmlns:a16="http://schemas.microsoft.com/office/drawing/2014/main" id="{8E309583-3395-CB59-26B5-1200502B2B59}"/>
              </a:ext>
            </a:extLst>
          </p:cNvPr>
          <p:cNvSpPr>
            <a:spLocks noGrp="1"/>
          </p:cNvSpPr>
          <p:nvPr>
            <p:ph type="dt" sz="half" idx="10"/>
          </p:nvPr>
        </p:nvSpPr>
        <p:spPr>
          <a:xfrm>
            <a:off x="9998468" y="6424612"/>
            <a:ext cx="2743200" cy="365125"/>
          </a:xfrm>
        </p:spPr>
        <p:txBody>
          <a:bodyPr/>
          <a:lstStyle/>
          <a:p>
            <a:fld id="{B8CAB22F-C3BA-471B-B1D0-8607ABB56DB0}" type="datetime1">
              <a:rPr lang="en-US" b="1" smtClean="0">
                <a:solidFill>
                  <a:schemeClr val="tx1"/>
                </a:solidFill>
              </a:rPr>
              <a:t>5/12/2026</a:t>
            </a:fld>
            <a:endParaRPr lang="en-US" b="1" dirty="0">
              <a:solidFill>
                <a:schemeClr val="tx1"/>
              </a:solidFill>
            </a:endParaRPr>
          </a:p>
        </p:txBody>
      </p:sp>
      <p:sp>
        <p:nvSpPr>
          <p:cNvPr id="9" name="Slide Number Placeholder 8">
            <a:extLst>
              <a:ext uri="{FF2B5EF4-FFF2-40B4-BE49-F238E27FC236}">
                <a16:creationId xmlns:a16="http://schemas.microsoft.com/office/drawing/2014/main" id="{AC8F3180-9928-74E7-0AD5-15105E70632B}"/>
              </a:ext>
            </a:extLst>
          </p:cNvPr>
          <p:cNvSpPr>
            <a:spLocks noGrp="1"/>
          </p:cNvSpPr>
          <p:nvPr>
            <p:ph type="sldNum" sz="quarter" idx="12"/>
          </p:nvPr>
        </p:nvSpPr>
        <p:spPr/>
        <p:txBody>
          <a:bodyPr/>
          <a:lstStyle/>
          <a:p>
            <a:fld id="{47D73ED1-4BC5-4C68-A93F-B56D3DD7872F}" type="slidenum">
              <a:rPr lang="en-US" smtClean="0"/>
              <a:t>8</a:t>
            </a:fld>
            <a:endParaRPr lang="en-US" dirty="0"/>
          </a:p>
        </p:txBody>
      </p:sp>
      <p:pic>
        <p:nvPicPr>
          <p:cNvPr id="10" name="Picture 9">
            <a:extLst>
              <a:ext uri="{FF2B5EF4-FFF2-40B4-BE49-F238E27FC236}">
                <a16:creationId xmlns:a16="http://schemas.microsoft.com/office/drawing/2014/main" id="{2FEB8A9A-0E17-CFA4-9765-FDEFE89AAE87}"/>
              </a:ext>
            </a:extLst>
          </p:cNvPr>
          <p:cNvPicPr>
            <a:picLocks noChangeAspect="1"/>
          </p:cNvPicPr>
          <p:nvPr/>
        </p:nvPicPr>
        <p:blipFill>
          <a:blip r:embed="rId3"/>
          <a:stretch>
            <a:fillRect/>
          </a:stretch>
        </p:blipFill>
        <p:spPr>
          <a:xfrm>
            <a:off x="0" y="6188001"/>
            <a:ext cx="2676899" cy="533474"/>
          </a:xfrm>
          <a:prstGeom prst="rect">
            <a:avLst/>
          </a:prstGeom>
        </p:spPr>
      </p:pic>
      <p:sp>
        <p:nvSpPr>
          <p:cNvPr id="3" name="TextBox 2">
            <a:extLst>
              <a:ext uri="{FF2B5EF4-FFF2-40B4-BE49-F238E27FC236}">
                <a16:creationId xmlns:a16="http://schemas.microsoft.com/office/drawing/2014/main" id="{0A6BDC14-C518-D282-5187-4C68A9A93EB3}"/>
              </a:ext>
            </a:extLst>
          </p:cNvPr>
          <p:cNvSpPr txBox="1"/>
          <p:nvPr/>
        </p:nvSpPr>
        <p:spPr>
          <a:xfrm>
            <a:off x="353769" y="4837040"/>
            <a:ext cx="3557954" cy="369332"/>
          </a:xfrm>
          <a:prstGeom prst="rect">
            <a:avLst/>
          </a:prstGeom>
          <a:noFill/>
        </p:spPr>
        <p:txBody>
          <a:bodyPr wrap="square" rtlCol="0">
            <a:spAutoFit/>
          </a:bodyPr>
          <a:lstStyle/>
          <a:p>
            <a:r>
              <a:rPr lang="en-US" b="1" dirty="0"/>
              <a:t>Specialization :  Data Science</a:t>
            </a:r>
          </a:p>
        </p:txBody>
      </p:sp>
    </p:spTree>
    <p:extLst>
      <p:ext uri="{BB962C8B-B14F-4D97-AF65-F5344CB8AC3E}">
        <p14:creationId xmlns:p14="http://schemas.microsoft.com/office/powerpoint/2010/main" val="184892254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D0665-45EA-7AEC-DDFA-16EA0A1B8E3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B1C7DBB-2E61-324E-1A8D-EA8D6891D6CC}"/>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Text 0">
            <a:extLst>
              <a:ext uri="{FF2B5EF4-FFF2-40B4-BE49-F238E27FC236}">
                <a16:creationId xmlns:a16="http://schemas.microsoft.com/office/drawing/2014/main" id="{22F0D979-FA30-E257-182C-753B4829E62B}"/>
              </a:ext>
            </a:extLst>
          </p:cNvPr>
          <p:cNvSpPr/>
          <p:nvPr/>
        </p:nvSpPr>
        <p:spPr>
          <a:xfrm>
            <a:off x="38100" y="493443"/>
            <a:ext cx="12115800" cy="347472"/>
          </a:xfrm>
          <a:prstGeom prst="rect">
            <a:avLst/>
          </a:prstGeom>
          <a:noFill/>
          <a:ln/>
        </p:spPr>
        <p:txBody>
          <a:bodyPr wrap="square" lIns="0" tIns="0" rIns="0" bIns="0" rtlCol="0" anchor="ctr"/>
          <a:lstStyle/>
          <a:p>
            <a:pPr algn="ctr"/>
            <a:r>
              <a:rPr lang="en-US" sz="2000" b="1" dirty="0">
                <a:ea typeface="+mn-lt"/>
                <a:cs typeface="+mn-lt"/>
              </a:rPr>
              <a:t>Edge-Enabled Skeletal Movement Analysis System for Real-Time Patient Observable Fall Risk Detection and Prediction</a:t>
            </a:r>
            <a:endParaRPr lang="en-US" sz="2000" b="1" dirty="0">
              <a:solidFill>
                <a:srgbClr val="0F2742"/>
              </a:solidFill>
              <a:latin typeface="+mj-lt"/>
            </a:endParaRPr>
          </a:p>
        </p:txBody>
      </p:sp>
      <p:sp>
        <p:nvSpPr>
          <p:cNvPr id="12" name="Rectangle 11">
            <a:extLst>
              <a:ext uri="{FF2B5EF4-FFF2-40B4-BE49-F238E27FC236}">
                <a16:creationId xmlns:a16="http://schemas.microsoft.com/office/drawing/2014/main" id="{1F465B7D-4BE7-45D3-C42A-AAC67353F192}"/>
              </a:ext>
            </a:extLst>
          </p:cNvPr>
          <p:cNvSpPr/>
          <p:nvPr/>
        </p:nvSpPr>
        <p:spPr>
          <a:xfrm>
            <a:off x="2907736" y="6455133"/>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IT22057488 | HARISHALINEE ELANGOVAN |   R26-DS-010</a:t>
            </a:r>
          </a:p>
        </p:txBody>
      </p:sp>
      <p:sp>
        <p:nvSpPr>
          <p:cNvPr id="4" name="Date Placeholder 3">
            <a:extLst>
              <a:ext uri="{FF2B5EF4-FFF2-40B4-BE49-F238E27FC236}">
                <a16:creationId xmlns:a16="http://schemas.microsoft.com/office/drawing/2014/main" id="{288C0FB1-197A-5ACE-B635-F945C937FECD}"/>
              </a:ext>
            </a:extLst>
          </p:cNvPr>
          <p:cNvSpPr>
            <a:spLocks noGrp="1"/>
          </p:cNvSpPr>
          <p:nvPr>
            <p:ph type="dt" sz="half" idx="10"/>
          </p:nvPr>
        </p:nvSpPr>
        <p:spPr>
          <a:xfrm>
            <a:off x="9982200" y="6261448"/>
            <a:ext cx="2743200" cy="365125"/>
          </a:xfrm>
        </p:spPr>
        <p:txBody>
          <a:bodyPr/>
          <a:lstStyle/>
          <a:p>
            <a:fld id="{4C13C7AB-C68C-4F5B-9F28-29441B570993}" type="datetime1">
              <a:rPr lang="en-US" b="1" smtClean="0">
                <a:solidFill>
                  <a:schemeClr val="tx1"/>
                </a:solidFill>
              </a:rPr>
              <a:t>5/12/2026</a:t>
            </a:fld>
            <a:endParaRPr lang="en-US" b="1" dirty="0">
              <a:solidFill>
                <a:schemeClr val="tx1"/>
              </a:solidFill>
            </a:endParaRPr>
          </a:p>
        </p:txBody>
      </p:sp>
      <p:sp>
        <p:nvSpPr>
          <p:cNvPr id="7" name="Slide Number Placeholder 6">
            <a:extLst>
              <a:ext uri="{FF2B5EF4-FFF2-40B4-BE49-F238E27FC236}">
                <a16:creationId xmlns:a16="http://schemas.microsoft.com/office/drawing/2014/main" id="{B98F03E6-46C2-51FB-62AD-174A746CAE32}"/>
              </a:ext>
            </a:extLst>
          </p:cNvPr>
          <p:cNvSpPr>
            <a:spLocks noGrp="1"/>
          </p:cNvSpPr>
          <p:nvPr>
            <p:ph type="sldNum" sz="quarter" idx="12"/>
          </p:nvPr>
        </p:nvSpPr>
        <p:spPr/>
        <p:txBody>
          <a:bodyPr/>
          <a:lstStyle/>
          <a:p>
            <a:fld id="{47D73ED1-4BC5-4C68-A93F-B56D3DD7872F}" type="slidenum">
              <a:rPr lang="en-US" smtClean="0"/>
              <a:t>9</a:t>
            </a:fld>
            <a:endParaRPr lang="en-US" dirty="0"/>
          </a:p>
        </p:txBody>
      </p:sp>
      <p:pic>
        <p:nvPicPr>
          <p:cNvPr id="2" name="Picture 1">
            <a:extLst>
              <a:ext uri="{FF2B5EF4-FFF2-40B4-BE49-F238E27FC236}">
                <a16:creationId xmlns:a16="http://schemas.microsoft.com/office/drawing/2014/main" id="{46A720E0-37F7-DD2F-B24C-BCF995704A56}"/>
              </a:ext>
            </a:extLst>
          </p:cNvPr>
          <p:cNvPicPr>
            <a:picLocks noChangeAspect="1"/>
          </p:cNvPicPr>
          <p:nvPr/>
        </p:nvPicPr>
        <p:blipFill>
          <a:blip r:embed="rId2"/>
          <a:stretch>
            <a:fillRect/>
          </a:stretch>
        </p:blipFill>
        <p:spPr>
          <a:xfrm>
            <a:off x="38100" y="6261448"/>
            <a:ext cx="2676899" cy="533474"/>
          </a:xfrm>
          <a:prstGeom prst="rect">
            <a:avLst/>
          </a:prstGeom>
        </p:spPr>
      </p:pic>
      <p:sp>
        <p:nvSpPr>
          <p:cNvPr id="3" name="Text 1">
            <a:extLst>
              <a:ext uri="{FF2B5EF4-FFF2-40B4-BE49-F238E27FC236}">
                <a16:creationId xmlns:a16="http://schemas.microsoft.com/office/drawing/2014/main" id="{2D90B890-4D60-6B8E-6F7E-89E825D056A2}"/>
              </a:ext>
            </a:extLst>
          </p:cNvPr>
          <p:cNvSpPr/>
          <p:nvPr/>
        </p:nvSpPr>
        <p:spPr>
          <a:xfrm>
            <a:off x="457200" y="292608"/>
            <a:ext cx="11247120" cy="777240"/>
          </a:xfrm>
          <a:prstGeom prst="rect">
            <a:avLst/>
          </a:prstGeom>
          <a:noFill/>
          <a:ln/>
        </p:spPr>
        <p:txBody>
          <a:bodyPr wrap="square" lIns="0" tIns="0" rIns="0" bIns="0" rtlCol="0" anchor="ctr"/>
          <a:lstStyle/>
          <a:p>
            <a:pPr marL="0" indent="0" algn="ctr">
              <a:buNone/>
            </a:pPr>
            <a:endParaRPr lang="en-US" sz="1800" dirty="0"/>
          </a:p>
        </p:txBody>
      </p:sp>
      <p:sp>
        <p:nvSpPr>
          <p:cNvPr id="9" name="Shape 2">
            <a:extLst>
              <a:ext uri="{FF2B5EF4-FFF2-40B4-BE49-F238E27FC236}">
                <a16:creationId xmlns:a16="http://schemas.microsoft.com/office/drawing/2014/main" id="{C93251E5-87FD-FDE5-B98D-786C867FE6A3}"/>
              </a:ext>
            </a:extLst>
          </p:cNvPr>
          <p:cNvSpPr/>
          <p:nvPr/>
        </p:nvSpPr>
        <p:spPr>
          <a:xfrm>
            <a:off x="457200" y="1143000"/>
            <a:ext cx="11247120" cy="640080"/>
          </a:xfrm>
          <a:prstGeom prst="rect">
            <a:avLst/>
          </a:prstGeom>
          <a:solidFill>
            <a:srgbClr val="FEF3E2"/>
          </a:solidFill>
          <a:ln w="9525">
            <a:solidFill>
              <a:srgbClr val="F1D9A8"/>
            </a:solidFill>
            <a:prstDash val="solid"/>
          </a:ln>
        </p:spPr>
        <p:txBody>
          <a:bodyPr/>
          <a:lstStyle/>
          <a:p>
            <a:endParaRPr lang="en-SG" dirty="0"/>
          </a:p>
        </p:txBody>
      </p:sp>
      <p:sp>
        <p:nvSpPr>
          <p:cNvPr id="13" name="Shape 3">
            <a:extLst>
              <a:ext uri="{FF2B5EF4-FFF2-40B4-BE49-F238E27FC236}">
                <a16:creationId xmlns:a16="http://schemas.microsoft.com/office/drawing/2014/main" id="{C0BFD5E4-84FC-C5B2-CD00-873B1BB594A9}"/>
              </a:ext>
            </a:extLst>
          </p:cNvPr>
          <p:cNvSpPr/>
          <p:nvPr/>
        </p:nvSpPr>
        <p:spPr>
          <a:xfrm>
            <a:off x="457200" y="1143000"/>
            <a:ext cx="91440" cy="640080"/>
          </a:xfrm>
          <a:prstGeom prst="rect">
            <a:avLst/>
          </a:prstGeom>
          <a:solidFill>
            <a:srgbClr val="D9A441"/>
          </a:solidFill>
          <a:ln w="12700">
            <a:solidFill>
              <a:srgbClr val="D9A441"/>
            </a:solidFill>
            <a:prstDash val="solid"/>
          </a:ln>
        </p:spPr>
        <p:txBody>
          <a:bodyPr/>
          <a:lstStyle/>
          <a:p>
            <a:endParaRPr lang="en-SG" dirty="0"/>
          </a:p>
        </p:txBody>
      </p:sp>
      <p:sp>
        <p:nvSpPr>
          <p:cNvPr id="14" name="Text 4">
            <a:extLst>
              <a:ext uri="{FF2B5EF4-FFF2-40B4-BE49-F238E27FC236}">
                <a16:creationId xmlns:a16="http://schemas.microsoft.com/office/drawing/2014/main" id="{9F0639B0-F8B9-6DC0-6A3E-FC1F95CE5B63}"/>
              </a:ext>
            </a:extLst>
          </p:cNvPr>
          <p:cNvSpPr/>
          <p:nvPr/>
        </p:nvSpPr>
        <p:spPr>
          <a:xfrm>
            <a:off x="685800" y="1143000"/>
            <a:ext cx="10972800" cy="566928"/>
          </a:xfrm>
          <a:prstGeom prst="rect">
            <a:avLst/>
          </a:prstGeom>
          <a:noFill/>
          <a:ln/>
        </p:spPr>
        <p:txBody>
          <a:bodyPr wrap="square" lIns="0" tIns="0" rIns="0" bIns="0" rtlCol="0" anchor="ctr"/>
          <a:lstStyle/>
          <a:p>
            <a:pPr marL="0" indent="0">
              <a:buNone/>
            </a:pPr>
            <a:r>
              <a:rPr lang="en-US" sz="1000" b="1" kern="0" spc="200" dirty="0">
                <a:solidFill>
                  <a:srgbClr val="D9A441"/>
                </a:solidFill>
                <a:latin typeface="Calibri" pitchFamily="34" charset="0"/>
                <a:ea typeface="Calibri" pitchFamily="34" charset="-122"/>
                <a:cs typeface="Calibri" pitchFamily="34" charset="-120"/>
              </a:rPr>
              <a:t>SUB-PROBLEM   </a:t>
            </a:r>
            <a:r>
              <a:rPr lang="en-US" sz="1250" dirty="0">
                <a:solidFill>
                  <a:srgbClr val="1F2937"/>
                </a:solidFill>
                <a:latin typeface="Calibri" pitchFamily="34" charset="0"/>
                <a:ea typeface="Calibri" pitchFamily="34" charset="-122"/>
                <a:cs typeface="Calibri" pitchFamily="34" charset="-120"/>
              </a:rPr>
              <a:t>Existing fall detectors are </a:t>
            </a:r>
            <a:r>
              <a:rPr lang="en-US" sz="1250" b="1" dirty="0">
                <a:solidFill>
                  <a:srgbClr val="1F2937"/>
                </a:solidFill>
                <a:latin typeface="Calibri" pitchFamily="34" charset="0"/>
                <a:ea typeface="Calibri" pitchFamily="34" charset="-122"/>
                <a:cs typeface="Calibri" pitchFamily="34" charset="-120"/>
              </a:rPr>
              <a:t>binary</a:t>
            </a:r>
            <a:r>
              <a:rPr lang="en-US" sz="1250" dirty="0">
                <a:solidFill>
                  <a:srgbClr val="1F2937"/>
                </a:solidFill>
                <a:latin typeface="Calibri" pitchFamily="34" charset="0"/>
                <a:ea typeface="Calibri" pitchFamily="34" charset="-122"/>
                <a:cs typeface="Calibri" pitchFamily="34" charset="-120"/>
              </a:rPr>
              <a:t> (fall / didn't fall) and trigger </a:t>
            </a:r>
            <a:r>
              <a:rPr lang="en-US" sz="1250" i="1" dirty="0">
                <a:solidFill>
                  <a:srgbClr val="1F2937"/>
                </a:solidFill>
                <a:latin typeface="Calibri" pitchFamily="34" charset="0"/>
                <a:ea typeface="Calibri" pitchFamily="34" charset="-122"/>
                <a:cs typeface="Calibri" pitchFamily="34" charset="-120"/>
              </a:rPr>
              <a:t>after the incident</a:t>
            </a:r>
            <a:r>
              <a:rPr lang="en-US" sz="1250" dirty="0">
                <a:solidFill>
                  <a:srgbClr val="1F2937"/>
                </a:solidFill>
                <a:latin typeface="Calibri" pitchFamily="34" charset="0"/>
                <a:ea typeface="Calibri" pitchFamily="34" charset="-122"/>
                <a:cs typeface="Calibri" pitchFamily="34" charset="-120"/>
              </a:rPr>
              <a:t> — missing the build-up to instability and producing high false-alarm rates.</a:t>
            </a:r>
            <a:endParaRPr lang="en-US" sz="1250" dirty="0"/>
          </a:p>
        </p:txBody>
      </p:sp>
      <p:sp>
        <p:nvSpPr>
          <p:cNvPr id="15" name="Shape 5">
            <a:extLst>
              <a:ext uri="{FF2B5EF4-FFF2-40B4-BE49-F238E27FC236}">
                <a16:creationId xmlns:a16="http://schemas.microsoft.com/office/drawing/2014/main" id="{4C39E0B0-783D-F4A7-AAE7-FCEEBC03553D}"/>
              </a:ext>
            </a:extLst>
          </p:cNvPr>
          <p:cNvSpPr/>
          <p:nvPr/>
        </p:nvSpPr>
        <p:spPr>
          <a:xfrm>
            <a:off x="457200" y="1965960"/>
            <a:ext cx="384048" cy="384048"/>
          </a:xfrm>
          <a:prstGeom prst="ellipse">
            <a:avLst/>
          </a:prstGeom>
          <a:solidFill>
            <a:srgbClr val="1E2761"/>
          </a:solidFill>
          <a:ln w="12700">
            <a:solidFill>
              <a:srgbClr val="1E2761"/>
            </a:solidFill>
            <a:prstDash val="solid"/>
          </a:ln>
        </p:spPr>
        <p:txBody>
          <a:bodyPr/>
          <a:lstStyle/>
          <a:p>
            <a:endParaRPr lang="en-SG" dirty="0"/>
          </a:p>
        </p:txBody>
      </p:sp>
      <p:sp>
        <p:nvSpPr>
          <p:cNvPr id="16" name="Text 6">
            <a:extLst>
              <a:ext uri="{FF2B5EF4-FFF2-40B4-BE49-F238E27FC236}">
                <a16:creationId xmlns:a16="http://schemas.microsoft.com/office/drawing/2014/main" id="{AEA1F5F3-EA25-0BB1-6903-347C63F1FA93}"/>
              </a:ext>
            </a:extLst>
          </p:cNvPr>
          <p:cNvSpPr/>
          <p:nvPr/>
        </p:nvSpPr>
        <p:spPr>
          <a:xfrm>
            <a:off x="457200" y="19659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7" name="Text 7">
            <a:extLst>
              <a:ext uri="{FF2B5EF4-FFF2-40B4-BE49-F238E27FC236}">
                <a16:creationId xmlns:a16="http://schemas.microsoft.com/office/drawing/2014/main" id="{FEB9535B-4300-3456-5AAD-6060D516DD20}"/>
              </a:ext>
            </a:extLst>
          </p:cNvPr>
          <p:cNvSpPr/>
          <p:nvPr/>
        </p:nvSpPr>
        <p:spPr>
          <a:xfrm>
            <a:off x="960120" y="1965960"/>
            <a:ext cx="5120640" cy="384048"/>
          </a:xfrm>
          <a:prstGeom prst="rect">
            <a:avLst/>
          </a:prstGeom>
          <a:noFill/>
          <a:ln/>
        </p:spPr>
        <p:txBody>
          <a:bodyPr wrap="square" lIns="0" tIns="0" rIns="0" bIns="0" rtlCol="0" anchor="ctr"/>
          <a:lstStyle/>
          <a:p>
            <a:pPr marL="0" indent="0" algn="l">
              <a:buNone/>
            </a:pPr>
            <a:r>
              <a:rPr lang="en-US" sz="1600" b="1" dirty="0">
                <a:solidFill>
                  <a:srgbClr val="1E2761"/>
                </a:solidFill>
                <a:latin typeface="Georgia" pitchFamily="34" charset="0"/>
                <a:ea typeface="Georgia" pitchFamily="34" charset="-122"/>
                <a:cs typeface="Georgia" pitchFamily="34" charset="-120"/>
              </a:rPr>
              <a:t>My Solution</a:t>
            </a:r>
            <a:endParaRPr lang="en-US" sz="1600" dirty="0"/>
          </a:p>
        </p:txBody>
      </p:sp>
      <p:sp>
        <p:nvSpPr>
          <p:cNvPr id="18" name="Text 8">
            <a:extLst>
              <a:ext uri="{FF2B5EF4-FFF2-40B4-BE49-F238E27FC236}">
                <a16:creationId xmlns:a16="http://schemas.microsoft.com/office/drawing/2014/main" id="{E1C29D02-66E9-B1C5-2594-4BF73FD31B32}"/>
              </a:ext>
            </a:extLst>
          </p:cNvPr>
          <p:cNvSpPr/>
          <p:nvPr/>
        </p:nvSpPr>
        <p:spPr>
          <a:xfrm>
            <a:off x="457200" y="2423160"/>
            <a:ext cx="5623560" cy="4206240"/>
          </a:xfrm>
          <a:prstGeom prst="rect">
            <a:avLst/>
          </a:prstGeom>
          <a:noFill/>
          <a:ln/>
        </p:spPr>
        <p:txBody>
          <a:bodyPr wrap="square" lIns="0" tIns="0" rIns="0" bIns="0" rtlCol="0" anchor="t"/>
          <a:lstStyle/>
          <a:p>
            <a:pPr marL="0" indent="0">
              <a:spcAft>
                <a:spcPts val="500"/>
              </a:spcAft>
              <a:buNone/>
            </a:pPr>
            <a:r>
              <a:rPr lang="en-US" sz="1150" b="1" dirty="0">
                <a:solidFill>
                  <a:srgbClr val="1F2937"/>
                </a:solidFill>
                <a:latin typeface="Calibri" pitchFamily="34" charset="0"/>
                <a:ea typeface="Calibri" pitchFamily="34" charset="-122"/>
                <a:cs typeface="Calibri" pitchFamily="34" charset="-120"/>
              </a:rPr>
              <a:t>▪  Continuous risk scoring</a:t>
            </a:r>
            <a:r>
              <a:rPr lang="en-US" sz="1150" dirty="0">
                <a:solidFill>
                  <a:srgbClr val="475569"/>
                </a:solidFill>
                <a:latin typeface="Calibri" pitchFamily="34" charset="0"/>
                <a:ea typeface="Calibri" pitchFamily="34" charset="-122"/>
                <a:cs typeface="Calibri" pitchFamily="34" charset="-120"/>
              </a:rPr>
              <a:t> — Low / Moderate / High instead of binary detection</a:t>
            </a:r>
            <a:endParaRPr lang="en-US" sz="1150" dirty="0"/>
          </a:p>
          <a:p>
            <a:pPr marL="0" indent="0">
              <a:spcAft>
                <a:spcPts val="500"/>
              </a:spcAft>
              <a:buNone/>
            </a:pPr>
            <a:r>
              <a:rPr lang="en-US" sz="1150" b="1" dirty="0">
                <a:solidFill>
                  <a:srgbClr val="1F2937"/>
                </a:solidFill>
                <a:latin typeface="Calibri" pitchFamily="34" charset="0"/>
                <a:ea typeface="Calibri" pitchFamily="34" charset="-122"/>
                <a:cs typeface="Calibri" pitchFamily="34" charset="-120"/>
              </a:rPr>
              <a:t>▪  Pipeline:</a:t>
            </a:r>
            <a:r>
              <a:rPr lang="en-US" sz="1150" dirty="0">
                <a:solidFill>
                  <a:srgbClr val="475569"/>
                </a:solidFill>
                <a:latin typeface="Calibri" pitchFamily="34" charset="0"/>
                <a:ea typeface="Calibri" pitchFamily="34" charset="-122"/>
                <a:cs typeface="Calibri" pitchFamily="34" charset="-120"/>
              </a:rPr>
              <a:t> RGB camera → MediaPipe pose → </a:t>
            </a:r>
            <a:r>
              <a:rPr lang="en-US" sz="1150" b="1" dirty="0">
                <a:solidFill>
                  <a:srgbClr val="1F2937"/>
                </a:solidFill>
                <a:latin typeface="Calibri" pitchFamily="34" charset="0"/>
                <a:ea typeface="Calibri" pitchFamily="34" charset="-122"/>
                <a:cs typeface="Calibri" pitchFamily="34" charset="-120"/>
              </a:rPr>
              <a:t>14-joint skeleton</a:t>
            </a:r>
            <a:r>
              <a:rPr lang="en-US" sz="1150" dirty="0">
                <a:solidFill>
                  <a:srgbClr val="475569"/>
                </a:solidFill>
                <a:latin typeface="Calibri" pitchFamily="34" charset="0"/>
                <a:ea typeface="Calibri" pitchFamily="34" charset="-122"/>
                <a:cs typeface="Calibri" pitchFamily="34" charset="-120"/>
              </a:rPr>
              <a:t> → 4 trained models → real-time verdict on edge device (no cloud)</a:t>
            </a:r>
            <a:endParaRPr lang="en-US" sz="1150" dirty="0"/>
          </a:p>
          <a:p>
            <a:pPr marL="0" indent="0">
              <a:spcAft>
                <a:spcPts val="500"/>
              </a:spcAft>
              <a:buNone/>
            </a:pPr>
            <a:r>
              <a:rPr lang="en-US" sz="1150" b="1" dirty="0">
                <a:solidFill>
                  <a:srgbClr val="1F2937"/>
                </a:solidFill>
                <a:latin typeface="Calibri" pitchFamily="34" charset="0"/>
                <a:ea typeface="Calibri" pitchFamily="34" charset="-122"/>
                <a:cs typeface="Calibri" pitchFamily="34" charset="-120"/>
              </a:rPr>
              <a:t>▪  Four-model ensemble:</a:t>
            </a:r>
            <a:endParaRPr lang="en-US" sz="1150" dirty="0"/>
          </a:p>
          <a:p>
            <a:pPr marL="0" indent="0">
              <a:spcAft>
                <a:spcPts val="500"/>
              </a:spcAft>
              <a:buNone/>
            </a:pPr>
            <a:r>
              <a:rPr lang="en-US" sz="1150" dirty="0">
                <a:solidFill>
                  <a:srgbClr val="475569"/>
                </a:solidFill>
                <a:latin typeface="Calibri" pitchFamily="34" charset="0"/>
                <a:ea typeface="Calibri" pitchFamily="34" charset="-122"/>
                <a:cs typeface="Calibri" pitchFamily="34" charset="-120"/>
              </a:rPr>
              <a:t>        •  Random Forest baseline (18 hand-crafted motion features)</a:t>
            </a:r>
            <a:endParaRPr lang="en-US" sz="1150" dirty="0"/>
          </a:p>
          <a:p>
            <a:pPr marL="0" indent="0">
              <a:spcAft>
                <a:spcPts val="500"/>
              </a:spcAft>
              <a:buNone/>
            </a:pPr>
            <a:r>
              <a:rPr lang="en-US" sz="1150" dirty="0">
                <a:solidFill>
                  <a:srgbClr val="475569"/>
                </a:solidFill>
                <a:latin typeface="Calibri" pitchFamily="34" charset="0"/>
                <a:ea typeface="Calibri" pitchFamily="34" charset="-122"/>
                <a:cs typeface="Calibri" pitchFamily="34" charset="-120"/>
              </a:rPr>
              <a:t>        •  4-class Posture classifier (Lying / Sitting / Standing / Walking)</a:t>
            </a:r>
            <a:endParaRPr lang="en-US" sz="1150" dirty="0"/>
          </a:p>
          <a:p>
            <a:pPr marL="0" indent="0">
              <a:spcAft>
                <a:spcPts val="500"/>
              </a:spcAft>
              <a:buNone/>
            </a:pPr>
            <a:r>
              <a:rPr lang="en-US" sz="1150" dirty="0">
                <a:solidFill>
                  <a:srgbClr val="475569"/>
                </a:solidFill>
                <a:latin typeface="Calibri" pitchFamily="34" charset="0"/>
                <a:ea typeface="Calibri" pitchFamily="34" charset="-122"/>
                <a:cs typeface="Calibri" pitchFamily="34" charset="-120"/>
              </a:rPr>
              <a:t>        •  Spatio-Temporal Graph CNN (ST-GCN, 14-joint motion)</a:t>
            </a:r>
            <a:endParaRPr lang="en-US" sz="1150" dirty="0"/>
          </a:p>
          <a:p>
            <a:pPr marL="0" indent="0">
              <a:spcAft>
                <a:spcPts val="500"/>
              </a:spcAft>
              <a:buNone/>
            </a:pPr>
            <a:r>
              <a:rPr lang="en-US" sz="1150" dirty="0">
                <a:solidFill>
                  <a:srgbClr val="475569"/>
                </a:solidFill>
                <a:latin typeface="Calibri" pitchFamily="34" charset="0"/>
                <a:ea typeface="Calibri" pitchFamily="34" charset="-122"/>
                <a:cs typeface="Calibri" pitchFamily="34" charset="-120"/>
              </a:rPr>
              <a:t>        •  Late-Fusion MLP combining all three</a:t>
            </a:r>
            <a:endParaRPr lang="en-US" sz="1150" dirty="0"/>
          </a:p>
          <a:p>
            <a:pPr marL="0" indent="0">
              <a:spcAft>
                <a:spcPts val="500"/>
              </a:spcAft>
              <a:buNone/>
            </a:pPr>
            <a:r>
              <a:rPr lang="en-US" sz="1150" b="1" dirty="0">
                <a:solidFill>
                  <a:srgbClr val="1F2937"/>
                </a:solidFill>
                <a:latin typeface="Calibri" pitchFamily="34" charset="0"/>
                <a:ea typeface="Calibri" pitchFamily="34" charset="-122"/>
                <a:cs typeface="Calibri" pitchFamily="34" charset="-120"/>
              </a:rPr>
              <a:t>▪  RGB discarded</a:t>
            </a:r>
            <a:r>
              <a:rPr lang="en-US" sz="1150" dirty="0">
                <a:solidFill>
                  <a:srgbClr val="475569"/>
                </a:solidFill>
                <a:latin typeface="Calibri" pitchFamily="34" charset="0"/>
                <a:ea typeface="Calibri" pitchFamily="34" charset="-122"/>
                <a:cs typeface="Calibri" pitchFamily="34" charset="-120"/>
              </a:rPr>
              <a:t> at pose extraction — only skeleton processed (privacy-first)</a:t>
            </a:r>
            <a:endParaRPr lang="en-US" sz="1150" dirty="0"/>
          </a:p>
          <a:p>
            <a:pPr marL="0" indent="0">
              <a:spcAft>
                <a:spcPts val="500"/>
              </a:spcAft>
              <a:buNone/>
            </a:pPr>
            <a:r>
              <a:rPr lang="en-US" sz="1150" b="1" dirty="0">
                <a:solidFill>
                  <a:srgbClr val="1F2937"/>
                </a:solidFill>
                <a:latin typeface="Calibri" pitchFamily="34" charset="0"/>
                <a:ea typeface="Calibri" pitchFamily="34" charset="-122"/>
                <a:cs typeface="Calibri" pitchFamily="34" charset="-120"/>
              </a:rPr>
              <a:t>▪  Backend ↔ Frontend:</a:t>
            </a:r>
            <a:r>
              <a:rPr lang="en-US" sz="1150" dirty="0">
                <a:solidFill>
                  <a:srgbClr val="475569"/>
                </a:solidFill>
                <a:latin typeface="Calibri" pitchFamily="34" charset="0"/>
                <a:ea typeface="Calibri" pitchFamily="34" charset="-122"/>
                <a:cs typeface="Calibri" pitchFamily="34" charset="-120"/>
              </a:rPr>
              <a:t> Python pipeline writes JSON manifest → React dashboard reads real model output for every patient card</a:t>
            </a:r>
            <a:endParaRPr lang="en-US" sz="1150" dirty="0"/>
          </a:p>
        </p:txBody>
      </p:sp>
      <p:sp>
        <p:nvSpPr>
          <p:cNvPr id="19" name="Shape 9">
            <a:extLst>
              <a:ext uri="{FF2B5EF4-FFF2-40B4-BE49-F238E27FC236}">
                <a16:creationId xmlns:a16="http://schemas.microsoft.com/office/drawing/2014/main" id="{A3B33020-DB35-F48D-D7CD-27CDFBBC9700}"/>
              </a:ext>
            </a:extLst>
          </p:cNvPr>
          <p:cNvSpPr/>
          <p:nvPr/>
        </p:nvSpPr>
        <p:spPr>
          <a:xfrm>
            <a:off x="6400800" y="1965960"/>
            <a:ext cx="384048" cy="384048"/>
          </a:xfrm>
          <a:prstGeom prst="ellipse">
            <a:avLst/>
          </a:prstGeom>
          <a:solidFill>
            <a:srgbClr val="0E7C7B"/>
          </a:solidFill>
          <a:ln w="12700">
            <a:solidFill>
              <a:srgbClr val="0E7C7B"/>
            </a:solidFill>
            <a:prstDash val="solid"/>
          </a:ln>
        </p:spPr>
        <p:txBody>
          <a:bodyPr/>
          <a:lstStyle/>
          <a:p>
            <a:endParaRPr lang="en-SG" dirty="0"/>
          </a:p>
        </p:txBody>
      </p:sp>
      <p:sp>
        <p:nvSpPr>
          <p:cNvPr id="20" name="Text 10">
            <a:extLst>
              <a:ext uri="{FF2B5EF4-FFF2-40B4-BE49-F238E27FC236}">
                <a16:creationId xmlns:a16="http://schemas.microsoft.com/office/drawing/2014/main" id="{B18F6BAE-777F-A379-88A6-F865DBF4371E}"/>
              </a:ext>
            </a:extLst>
          </p:cNvPr>
          <p:cNvSpPr/>
          <p:nvPr/>
        </p:nvSpPr>
        <p:spPr>
          <a:xfrm>
            <a:off x="6400800" y="19659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11">
            <a:extLst>
              <a:ext uri="{FF2B5EF4-FFF2-40B4-BE49-F238E27FC236}">
                <a16:creationId xmlns:a16="http://schemas.microsoft.com/office/drawing/2014/main" id="{9E78D7A8-1942-D8E1-45FA-B0DEDFA3B22A}"/>
              </a:ext>
            </a:extLst>
          </p:cNvPr>
          <p:cNvSpPr/>
          <p:nvPr/>
        </p:nvSpPr>
        <p:spPr>
          <a:xfrm>
            <a:off x="6903720" y="1965960"/>
            <a:ext cx="4754880" cy="384048"/>
          </a:xfrm>
          <a:prstGeom prst="rect">
            <a:avLst/>
          </a:prstGeom>
          <a:noFill/>
          <a:ln/>
        </p:spPr>
        <p:txBody>
          <a:bodyPr wrap="square" lIns="0" tIns="0" rIns="0" bIns="0" rtlCol="0" anchor="ctr"/>
          <a:lstStyle/>
          <a:p>
            <a:pPr marL="0" indent="0" algn="l">
              <a:buNone/>
            </a:pPr>
            <a:r>
              <a:rPr lang="en-US" sz="1600" b="1" dirty="0">
                <a:solidFill>
                  <a:srgbClr val="1E2761"/>
                </a:solidFill>
                <a:latin typeface="Georgia" pitchFamily="34" charset="0"/>
                <a:ea typeface="Georgia" pitchFamily="34" charset="-122"/>
                <a:cs typeface="Georgia" pitchFamily="34" charset="-120"/>
              </a:rPr>
              <a:t>User Requirements Addressed</a:t>
            </a:r>
            <a:endParaRPr lang="en-US" sz="1600" dirty="0"/>
          </a:p>
        </p:txBody>
      </p:sp>
      <p:graphicFrame>
        <p:nvGraphicFramePr>
          <p:cNvPr id="23" name="Table 0">
            <a:extLst>
              <a:ext uri="{FF2B5EF4-FFF2-40B4-BE49-F238E27FC236}">
                <a16:creationId xmlns:a16="http://schemas.microsoft.com/office/drawing/2014/main" id="{220F31C4-2924-52CA-9616-5CB76ABD216E}"/>
              </a:ext>
            </a:extLst>
          </p:cNvPr>
          <p:cNvGraphicFramePr>
            <a:graphicFrameLocks noGrp="1"/>
          </p:cNvGraphicFramePr>
          <p:nvPr>
            <p:extLst>
              <p:ext uri="{D42A27DB-BD31-4B8C-83A1-F6EECF244321}">
                <p14:modId xmlns:p14="http://schemas.microsoft.com/office/powerpoint/2010/main" val="4027685276"/>
              </p:ext>
            </p:extLst>
          </p:nvPr>
        </p:nvGraphicFramePr>
        <p:xfrm>
          <a:off x="6400800" y="2423160"/>
          <a:ext cx="5303520" cy="3520440"/>
        </p:xfrm>
        <a:graphic>
          <a:graphicData uri="http://schemas.openxmlformats.org/drawingml/2006/table">
            <a:tbl>
              <a:tblPr/>
              <a:tblGrid>
                <a:gridCol w="18288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50292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Requirement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How I address it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02920">
                <a:tc>
                  <a:txBody>
                    <a:bodyPr/>
                    <a:lstStyle/>
                    <a:p>
                      <a:pPr marL="0" indent="0" algn="l">
                        <a:buNone/>
                      </a:pPr>
                      <a:r>
                        <a:rPr lang="en-US" sz="1050" b="1" dirty="0">
                          <a:solidFill>
                            <a:srgbClr val="1E2761"/>
                          </a:solidFill>
                          <a:latin typeface="Calibri" pitchFamily="34" charset="0"/>
                          <a:ea typeface="Calibri" pitchFamily="34" charset="-122"/>
                          <a:cs typeface="Calibri" pitchFamily="34" charset="-120"/>
                        </a:rPr>
                        <a:t>Privacy preservation</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50" dirty="0">
                          <a:solidFill>
                            <a:srgbClr val="1F2937"/>
                          </a:solidFill>
                          <a:latin typeface="Calibri" pitchFamily="34" charset="0"/>
                          <a:ea typeface="Calibri" pitchFamily="34" charset="-122"/>
                          <a:cs typeface="Calibri" pitchFamily="34" charset="-120"/>
                        </a:rPr>
                        <a:t>Skeleton-only data flow; </a:t>
                      </a:r>
                      <a:r>
                        <a:rPr lang="en-US" sz="1050" b="1" dirty="0">
                          <a:solidFill>
                            <a:srgbClr val="1F2937"/>
                          </a:solidFill>
                          <a:latin typeface="Calibri" pitchFamily="34" charset="0"/>
                          <a:ea typeface="Calibri" pitchFamily="34" charset="-122"/>
                          <a:cs typeface="Calibri" pitchFamily="34" charset="-120"/>
                        </a:rPr>
                        <a:t>RGB discarded immediately</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050" b="1" dirty="0">
                          <a:solidFill>
                            <a:srgbClr val="1E2761"/>
                          </a:solidFill>
                          <a:latin typeface="Calibri" pitchFamily="34" charset="0"/>
                          <a:ea typeface="Calibri" pitchFamily="34" charset="-122"/>
                          <a:cs typeface="Calibri" pitchFamily="34" charset="-120"/>
                        </a:rPr>
                        <a:t>Real-time on consumer laptop</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50" dirty="0">
                          <a:solidFill>
                            <a:srgbClr val="1F2937"/>
                          </a:solidFill>
                          <a:latin typeface="Calibri" pitchFamily="34" charset="0"/>
                          <a:ea typeface="Calibri" pitchFamily="34" charset="-122"/>
                          <a:cs typeface="Calibri" pitchFamily="34" charset="-120"/>
                        </a:rPr>
                        <a:t>All processing </a:t>
                      </a:r>
                      <a:r>
                        <a:rPr lang="en-US" sz="1050" b="1" dirty="0">
                          <a:solidFill>
                            <a:srgbClr val="1F2937"/>
                          </a:solidFill>
                          <a:latin typeface="Calibri" pitchFamily="34" charset="0"/>
                          <a:ea typeface="Calibri" pitchFamily="34" charset="-122"/>
                          <a:cs typeface="Calibri" pitchFamily="34" charset="-120"/>
                        </a:rPr>
                        <a:t>offline on edge device</a:t>
                      </a:r>
                      <a:r>
                        <a:rPr lang="en-US" sz="1050" dirty="0">
                          <a:solidFill>
                            <a:srgbClr val="1F2937"/>
                          </a:solidFill>
                          <a:latin typeface="Calibri" pitchFamily="34" charset="0"/>
                          <a:ea typeface="Calibri" pitchFamily="34" charset="-122"/>
                          <a:cs typeface="Calibri" pitchFamily="34" charset="-120"/>
                        </a:rPr>
                        <a:t> — no internet needed</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050" b="1" dirty="0">
                          <a:solidFill>
                            <a:srgbClr val="1E2761"/>
                          </a:solidFill>
                          <a:latin typeface="Calibri" pitchFamily="34" charset="0"/>
                          <a:ea typeface="Calibri" pitchFamily="34" charset="-122"/>
                          <a:cs typeface="Calibri" pitchFamily="34" charset="-120"/>
                        </a:rPr>
                        <a:t>Early warning, not post-fall</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50" dirty="0">
                          <a:solidFill>
                            <a:srgbClr val="1F2937"/>
                          </a:solidFill>
                          <a:latin typeface="Calibri" pitchFamily="34" charset="0"/>
                          <a:ea typeface="Calibri" pitchFamily="34" charset="-122"/>
                          <a:cs typeface="Calibri" pitchFamily="34" charset="-120"/>
                        </a:rPr>
                        <a:t>Moderate Risk class </a:t>
                      </a:r>
                      <a:r>
                        <a:rPr lang="en-US" sz="1050" b="1" dirty="0">
                          <a:solidFill>
                            <a:srgbClr val="1F2937"/>
                          </a:solidFill>
                          <a:latin typeface="Calibri" pitchFamily="34" charset="0"/>
                          <a:ea typeface="Calibri" pitchFamily="34" charset="-122"/>
                          <a:cs typeface="Calibri" pitchFamily="34" charset="-120"/>
                        </a:rPr>
                        <a:t>fires before fall escalates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050" b="1" dirty="0">
                          <a:solidFill>
                            <a:srgbClr val="1E2761"/>
                          </a:solidFill>
                          <a:latin typeface="Calibri" pitchFamily="34" charset="0"/>
                          <a:ea typeface="Calibri" pitchFamily="34" charset="-122"/>
                          <a:cs typeface="Calibri" pitchFamily="34" charset="-120"/>
                        </a:rPr>
                        <a:t>Verifiable, defensible accuracy</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50" b="1" dirty="0">
                          <a:solidFill>
                            <a:srgbClr val="1F2937"/>
                          </a:solidFill>
                          <a:latin typeface="Calibri" pitchFamily="34" charset="0"/>
                          <a:ea typeface="Calibri" pitchFamily="34" charset="-122"/>
                          <a:cs typeface="Calibri" pitchFamily="34" charset="-120"/>
                        </a:rPr>
                        <a:t>94.24% Fusion test accuracy </a:t>
                      </a:r>
                      <a:r>
                        <a:rPr lang="en-US" sz="1050" dirty="0">
                          <a:solidFill>
                            <a:srgbClr val="1F2937"/>
                          </a:solidFill>
                          <a:latin typeface="Calibri" pitchFamily="34" charset="0"/>
                          <a:ea typeface="Calibri" pitchFamily="34" charset="-122"/>
                          <a:cs typeface="Calibri" pitchFamily="34" charset="-120"/>
                        </a:rPr>
                        <a:t>on 799 held-out subject-disjoint sequences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l">
                        <a:buNone/>
                      </a:pPr>
                      <a:r>
                        <a:rPr lang="en-US" sz="1050" b="1" dirty="0">
                          <a:solidFill>
                            <a:srgbClr val="1E2761"/>
                          </a:solidFill>
                          <a:latin typeface="Calibri" pitchFamily="34" charset="0"/>
                          <a:ea typeface="Calibri" pitchFamily="34" charset="-122"/>
                          <a:cs typeface="Calibri" pitchFamily="34" charset="-120"/>
                        </a:rPr>
                        <a:t>Explainable predictions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50" b="1" dirty="0">
                          <a:solidFill>
                            <a:srgbClr val="1F2937"/>
                          </a:solidFill>
                          <a:latin typeface="Calibri" pitchFamily="34" charset="0"/>
                          <a:ea typeface="Calibri" pitchFamily="34" charset="-122"/>
                          <a:cs typeface="Calibri" pitchFamily="34" charset="-120"/>
                        </a:rPr>
                        <a:t>Per-patient "Why?" panel </a:t>
                      </a:r>
                      <a:r>
                        <a:rPr lang="en-US" sz="1050" dirty="0">
                          <a:solidFill>
                            <a:srgbClr val="1F2937"/>
                          </a:solidFill>
                          <a:latin typeface="Calibri" pitchFamily="34" charset="0"/>
                          <a:ea typeface="Calibri" pitchFamily="34" charset="-122"/>
                          <a:cs typeface="Calibri" pitchFamily="34" charset="-120"/>
                        </a:rPr>
                        <a:t>showing dataset action + 8 motion features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050" b="1" dirty="0">
                          <a:solidFill>
                            <a:srgbClr val="1E2761"/>
                          </a:solidFill>
                          <a:latin typeface="Calibri" pitchFamily="34" charset="0"/>
                          <a:ea typeface="Calibri" pitchFamily="34" charset="-122"/>
                          <a:cs typeface="Calibri" pitchFamily="34" charset="-120"/>
                        </a:rPr>
                        <a:t>Evaluation</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50" b="1" dirty="0">
                          <a:solidFill>
                            <a:srgbClr val="1F2937"/>
                          </a:solidFill>
                          <a:latin typeface="Calibri" pitchFamily="34" charset="0"/>
                          <a:ea typeface="Calibri" pitchFamily="34" charset="-122"/>
                          <a:cs typeface="Calibri" pitchFamily="34" charset="-120"/>
                        </a:rPr>
                        <a:t>3 protocols </a:t>
                      </a:r>
                      <a:r>
                        <a:rPr lang="en-US" sz="1050" dirty="0">
                          <a:solidFill>
                            <a:srgbClr val="1F2937"/>
                          </a:solidFill>
                          <a:latin typeface="Calibri" pitchFamily="34" charset="0"/>
                          <a:ea typeface="Calibri" pitchFamily="34" charset="-122"/>
                          <a:cs typeface="Calibri" pitchFamily="34" charset="-120"/>
                        </a:rPr>
                        <a:t>— Cross-Subject, Cross-View, Cross-Dataset — to expose generalisation gaps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6" name="Text 14">
            <a:extLst>
              <a:ext uri="{FF2B5EF4-FFF2-40B4-BE49-F238E27FC236}">
                <a16:creationId xmlns:a16="http://schemas.microsoft.com/office/drawing/2014/main" id="{F1F61AB5-3997-1A6D-ACE0-0B243A48166F}"/>
              </a:ext>
            </a:extLst>
          </p:cNvPr>
          <p:cNvSpPr/>
          <p:nvPr/>
        </p:nvSpPr>
        <p:spPr>
          <a:xfrm>
            <a:off x="8686800" y="6446520"/>
            <a:ext cx="3017520" cy="320040"/>
          </a:xfrm>
          <a:prstGeom prst="rect">
            <a:avLst/>
          </a:prstGeom>
          <a:noFill/>
          <a:ln/>
        </p:spPr>
        <p:txBody>
          <a:bodyPr wrap="square" lIns="0" tIns="0" rIns="0" bIns="0" rtlCol="0" anchor="ctr"/>
          <a:lstStyle/>
          <a:p>
            <a:pPr marL="0" indent="0" algn="r">
              <a:buNone/>
            </a:pPr>
            <a:endParaRPr lang="en-US" sz="1000" dirty="0"/>
          </a:p>
        </p:txBody>
      </p:sp>
      <p:pic>
        <p:nvPicPr>
          <p:cNvPr id="29" name="Picture 28">
            <a:extLst>
              <a:ext uri="{FF2B5EF4-FFF2-40B4-BE49-F238E27FC236}">
                <a16:creationId xmlns:a16="http://schemas.microsoft.com/office/drawing/2014/main" id="{837E4466-8F7F-E684-33A5-887ADF0BBC2F}"/>
              </a:ext>
            </a:extLst>
          </p:cNvPr>
          <p:cNvPicPr>
            <a:picLocks noChangeAspect="1"/>
          </p:cNvPicPr>
          <p:nvPr/>
        </p:nvPicPr>
        <p:blipFill>
          <a:blip r:embed="rId3"/>
          <a:srcRect t="31911" b="13664"/>
          <a:stretch>
            <a:fillRect/>
          </a:stretch>
        </p:blipFill>
        <p:spPr>
          <a:xfrm>
            <a:off x="278745" y="5009666"/>
            <a:ext cx="5771535" cy="1396075"/>
          </a:xfrm>
          <a:prstGeom prst="rect">
            <a:avLst/>
          </a:prstGeom>
        </p:spPr>
      </p:pic>
    </p:spTree>
    <p:extLst>
      <p:ext uri="{BB962C8B-B14F-4D97-AF65-F5344CB8AC3E}">
        <p14:creationId xmlns:p14="http://schemas.microsoft.com/office/powerpoint/2010/main" val="40277645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500"/>
                                        <p:tgtEl>
                                          <p:spTgt spid="22"/>
                                        </p:tgtEl>
                                      </p:cBhvr>
                                    </p:animEffect>
                                  </p:childTnLst>
                                </p:cTn>
                              </p:par>
                              <p:par>
                                <p:cTn id="39" presetID="10"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4" grpId="0" animBg="1"/>
      <p:bldP spid="16" grpId="0" animBg="1"/>
      <p:bldP spid="17" grpId="0" animBg="1"/>
      <p:bldP spid="18" grpId="0" animBg="1"/>
      <p:bldP spid="19" grpId="0" animBg="1"/>
      <p:bldP spid="20"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CB696-3D8B-2769-69FE-A8822CE0618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C6D5E11-C322-7047-546C-47BC77DEAE21}"/>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Text 0">
            <a:extLst>
              <a:ext uri="{FF2B5EF4-FFF2-40B4-BE49-F238E27FC236}">
                <a16:creationId xmlns:a16="http://schemas.microsoft.com/office/drawing/2014/main" id="{B8DB7974-F149-37F3-E880-B754F9F70778}"/>
              </a:ext>
            </a:extLst>
          </p:cNvPr>
          <p:cNvSpPr/>
          <p:nvPr/>
        </p:nvSpPr>
        <p:spPr>
          <a:xfrm>
            <a:off x="38100" y="493443"/>
            <a:ext cx="12115800" cy="347472"/>
          </a:xfrm>
          <a:prstGeom prst="rect">
            <a:avLst/>
          </a:prstGeom>
          <a:noFill/>
          <a:ln/>
        </p:spPr>
        <p:txBody>
          <a:bodyPr wrap="square" lIns="0" tIns="0" rIns="0" bIns="0" rtlCol="0" anchor="ctr"/>
          <a:lstStyle/>
          <a:p>
            <a:pPr algn="ctr"/>
            <a:r>
              <a:rPr lang="en-US" sz="2000" b="1" dirty="0">
                <a:ea typeface="+mn-lt"/>
                <a:cs typeface="+mn-lt"/>
              </a:rPr>
              <a:t>Edge-Enabled Skeletal Movement Analysis System for Real-Time Patient Observable Fall Risk Detection and Prediction</a:t>
            </a:r>
            <a:endParaRPr lang="en-US" sz="2000" b="1" dirty="0">
              <a:solidFill>
                <a:srgbClr val="0F2742"/>
              </a:solidFill>
              <a:latin typeface="+mj-lt"/>
            </a:endParaRPr>
          </a:p>
        </p:txBody>
      </p:sp>
      <p:sp>
        <p:nvSpPr>
          <p:cNvPr id="12" name="Rectangle 11">
            <a:extLst>
              <a:ext uri="{FF2B5EF4-FFF2-40B4-BE49-F238E27FC236}">
                <a16:creationId xmlns:a16="http://schemas.microsoft.com/office/drawing/2014/main" id="{72813B17-0E55-84B2-B4C2-7E990486AD80}"/>
              </a:ext>
            </a:extLst>
          </p:cNvPr>
          <p:cNvSpPr/>
          <p:nvPr/>
        </p:nvSpPr>
        <p:spPr>
          <a:xfrm>
            <a:off x="2642265" y="6465796"/>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IT22057488 | HARISHALINEE ELANGOVAN |   R26-DS-010</a:t>
            </a:r>
          </a:p>
        </p:txBody>
      </p:sp>
      <p:sp>
        <p:nvSpPr>
          <p:cNvPr id="4" name="Date Placeholder 3">
            <a:extLst>
              <a:ext uri="{FF2B5EF4-FFF2-40B4-BE49-F238E27FC236}">
                <a16:creationId xmlns:a16="http://schemas.microsoft.com/office/drawing/2014/main" id="{A439E7DD-2A27-B580-4E87-E545E68EA37F}"/>
              </a:ext>
            </a:extLst>
          </p:cNvPr>
          <p:cNvSpPr>
            <a:spLocks noGrp="1"/>
          </p:cNvSpPr>
          <p:nvPr>
            <p:ph type="dt" sz="half" idx="10"/>
          </p:nvPr>
        </p:nvSpPr>
        <p:spPr>
          <a:xfrm>
            <a:off x="9982200" y="6261448"/>
            <a:ext cx="2743200" cy="365125"/>
          </a:xfrm>
        </p:spPr>
        <p:txBody>
          <a:bodyPr/>
          <a:lstStyle/>
          <a:p>
            <a:fld id="{4C13C7AB-C68C-4F5B-9F28-29441B570993}" type="datetime1">
              <a:rPr lang="en-US" b="1" smtClean="0">
                <a:solidFill>
                  <a:schemeClr val="tx1"/>
                </a:solidFill>
              </a:rPr>
              <a:t>5/12/2026</a:t>
            </a:fld>
            <a:endParaRPr lang="en-US" b="1" dirty="0">
              <a:solidFill>
                <a:schemeClr val="tx1"/>
              </a:solidFill>
            </a:endParaRPr>
          </a:p>
        </p:txBody>
      </p:sp>
      <p:sp>
        <p:nvSpPr>
          <p:cNvPr id="7" name="Slide Number Placeholder 6">
            <a:extLst>
              <a:ext uri="{FF2B5EF4-FFF2-40B4-BE49-F238E27FC236}">
                <a16:creationId xmlns:a16="http://schemas.microsoft.com/office/drawing/2014/main" id="{2E376AE6-6FEA-714D-7B4F-72FB7163CFC3}"/>
              </a:ext>
            </a:extLst>
          </p:cNvPr>
          <p:cNvSpPr>
            <a:spLocks noGrp="1"/>
          </p:cNvSpPr>
          <p:nvPr>
            <p:ph type="sldNum" sz="quarter" idx="12"/>
          </p:nvPr>
        </p:nvSpPr>
        <p:spPr/>
        <p:txBody>
          <a:bodyPr/>
          <a:lstStyle/>
          <a:p>
            <a:fld id="{47D73ED1-4BC5-4C68-A93F-B56D3DD7872F}" type="slidenum">
              <a:rPr lang="en-US" smtClean="0"/>
              <a:t>10</a:t>
            </a:fld>
            <a:endParaRPr lang="en-US" dirty="0"/>
          </a:p>
        </p:txBody>
      </p:sp>
      <p:pic>
        <p:nvPicPr>
          <p:cNvPr id="2" name="Picture 1">
            <a:extLst>
              <a:ext uri="{FF2B5EF4-FFF2-40B4-BE49-F238E27FC236}">
                <a16:creationId xmlns:a16="http://schemas.microsoft.com/office/drawing/2014/main" id="{F04844DB-F2C4-6C27-85C9-7AA95814DEE6}"/>
              </a:ext>
            </a:extLst>
          </p:cNvPr>
          <p:cNvPicPr>
            <a:picLocks noChangeAspect="1"/>
          </p:cNvPicPr>
          <p:nvPr/>
        </p:nvPicPr>
        <p:blipFill>
          <a:blip r:embed="rId2"/>
          <a:stretch>
            <a:fillRect/>
          </a:stretch>
        </p:blipFill>
        <p:spPr>
          <a:xfrm>
            <a:off x="38100" y="6261448"/>
            <a:ext cx="2676899" cy="533474"/>
          </a:xfrm>
          <a:prstGeom prst="rect">
            <a:avLst/>
          </a:prstGeom>
        </p:spPr>
      </p:pic>
      <p:sp>
        <p:nvSpPr>
          <p:cNvPr id="3" name="Shape 3">
            <a:extLst>
              <a:ext uri="{FF2B5EF4-FFF2-40B4-BE49-F238E27FC236}">
                <a16:creationId xmlns:a16="http://schemas.microsoft.com/office/drawing/2014/main" id="{0A4038E1-CD4D-BBB4-7882-0597424DF392}"/>
              </a:ext>
            </a:extLst>
          </p:cNvPr>
          <p:cNvSpPr/>
          <p:nvPr/>
        </p:nvSpPr>
        <p:spPr>
          <a:xfrm>
            <a:off x="457200" y="1325880"/>
            <a:ext cx="11247120" cy="502920"/>
          </a:xfrm>
          <a:prstGeom prst="rect">
            <a:avLst/>
          </a:prstGeom>
          <a:solidFill>
            <a:srgbClr val="FEF3E2"/>
          </a:solidFill>
          <a:ln w="9525">
            <a:solidFill>
              <a:srgbClr val="F1D9A8"/>
            </a:solidFill>
            <a:prstDash val="solid"/>
          </a:ln>
        </p:spPr>
        <p:txBody>
          <a:bodyPr/>
          <a:lstStyle/>
          <a:p>
            <a:endParaRPr lang="en-SG" dirty="0"/>
          </a:p>
        </p:txBody>
      </p:sp>
      <p:sp>
        <p:nvSpPr>
          <p:cNvPr id="5" name="Shape 4">
            <a:extLst>
              <a:ext uri="{FF2B5EF4-FFF2-40B4-BE49-F238E27FC236}">
                <a16:creationId xmlns:a16="http://schemas.microsoft.com/office/drawing/2014/main" id="{8A7823FF-90F0-3411-FA6A-F2DE01179A36}"/>
              </a:ext>
            </a:extLst>
          </p:cNvPr>
          <p:cNvSpPr/>
          <p:nvPr/>
        </p:nvSpPr>
        <p:spPr>
          <a:xfrm>
            <a:off x="457200" y="1325880"/>
            <a:ext cx="91440" cy="502920"/>
          </a:xfrm>
          <a:prstGeom prst="rect">
            <a:avLst/>
          </a:prstGeom>
          <a:solidFill>
            <a:srgbClr val="D9A441"/>
          </a:solidFill>
          <a:ln w="12700">
            <a:solidFill>
              <a:srgbClr val="D9A441"/>
            </a:solidFill>
            <a:prstDash val="solid"/>
          </a:ln>
        </p:spPr>
        <p:txBody>
          <a:bodyPr/>
          <a:lstStyle/>
          <a:p>
            <a:endParaRPr lang="en-SG" dirty="0"/>
          </a:p>
        </p:txBody>
      </p:sp>
      <p:sp>
        <p:nvSpPr>
          <p:cNvPr id="6" name="Text 5">
            <a:extLst>
              <a:ext uri="{FF2B5EF4-FFF2-40B4-BE49-F238E27FC236}">
                <a16:creationId xmlns:a16="http://schemas.microsoft.com/office/drawing/2014/main" id="{DBBD14E4-A0A5-6845-BDD6-C04D335E91A2}"/>
              </a:ext>
            </a:extLst>
          </p:cNvPr>
          <p:cNvSpPr/>
          <p:nvPr/>
        </p:nvSpPr>
        <p:spPr>
          <a:xfrm>
            <a:off x="685800" y="1325880"/>
            <a:ext cx="10972800" cy="502920"/>
          </a:xfrm>
          <a:prstGeom prst="rect">
            <a:avLst/>
          </a:prstGeom>
          <a:noFill/>
          <a:ln/>
        </p:spPr>
        <p:txBody>
          <a:bodyPr wrap="square" lIns="0" tIns="0" rIns="0" bIns="0" rtlCol="0" anchor="ctr"/>
          <a:lstStyle/>
          <a:p>
            <a:pPr marL="0" indent="0">
              <a:buNone/>
            </a:pPr>
            <a:r>
              <a:rPr lang="en-US" sz="1000" b="1" kern="0" spc="200" dirty="0">
                <a:solidFill>
                  <a:srgbClr val="D9A441"/>
                </a:solidFill>
                <a:latin typeface="Calibri" pitchFamily="34" charset="0"/>
                <a:ea typeface="Calibri" pitchFamily="34" charset="-122"/>
                <a:cs typeface="Calibri" pitchFamily="34" charset="-120"/>
              </a:rPr>
              <a:t>KEY CONTRIBUTION   </a:t>
            </a:r>
            <a:r>
              <a:rPr lang="en-US" sz="1250" dirty="0">
                <a:solidFill>
                  <a:srgbClr val="1F2937"/>
                </a:solidFill>
                <a:latin typeface="Calibri" pitchFamily="34" charset="0"/>
                <a:ea typeface="Calibri" pitchFamily="34" charset="-122"/>
                <a:cs typeface="Calibri" pitchFamily="34" charset="-120"/>
              </a:rPr>
              <a:t>Late-fusion model combining 4 architectures — </a:t>
            </a:r>
            <a:r>
              <a:rPr lang="en-US" sz="1250" b="1" dirty="0">
                <a:solidFill>
                  <a:srgbClr val="1E2761"/>
                </a:solidFill>
                <a:latin typeface="Calibri" pitchFamily="34" charset="0"/>
                <a:ea typeface="Calibri" pitchFamily="34" charset="-122"/>
                <a:cs typeface="Calibri" pitchFamily="34" charset="-120"/>
              </a:rPr>
              <a:t>94.24% test accuracy</a:t>
            </a:r>
            <a:r>
              <a:rPr lang="en-US" sz="1250" dirty="0">
                <a:solidFill>
                  <a:srgbClr val="1F2937"/>
                </a:solidFill>
                <a:latin typeface="Calibri" pitchFamily="34" charset="0"/>
                <a:ea typeface="Calibri" pitchFamily="34" charset="-122"/>
                <a:cs typeface="Calibri" pitchFamily="34" charset="-120"/>
              </a:rPr>
              <a:t> on 799 held-out subject-disjoint sequences (+6.8% over RF baseline)</a:t>
            </a:r>
            <a:endParaRPr lang="en-US" sz="1250" dirty="0"/>
          </a:p>
        </p:txBody>
      </p:sp>
      <p:sp>
        <p:nvSpPr>
          <p:cNvPr id="8" name="Shape 6">
            <a:extLst>
              <a:ext uri="{FF2B5EF4-FFF2-40B4-BE49-F238E27FC236}">
                <a16:creationId xmlns:a16="http://schemas.microsoft.com/office/drawing/2014/main" id="{4F6738D1-288C-A157-DE6A-9BBB1F8B9A79}"/>
              </a:ext>
            </a:extLst>
          </p:cNvPr>
          <p:cNvSpPr/>
          <p:nvPr/>
        </p:nvSpPr>
        <p:spPr>
          <a:xfrm>
            <a:off x="457200" y="2011680"/>
            <a:ext cx="384048" cy="384048"/>
          </a:xfrm>
          <a:prstGeom prst="ellipse">
            <a:avLst/>
          </a:prstGeom>
          <a:solidFill>
            <a:srgbClr val="1E2761"/>
          </a:solidFill>
          <a:ln w="12700">
            <a:solidFill>
              <a:srgbClr val="1E2761"/>
            </a:solidFill>
            <a:prstDash val="solid"/>
          </a:ln>
        </p:spPr>
        <p:txBody>
          <a:bodyPr/>
          <a:lstStyle/>
          <a:p>
            <a:endParaRPr lang="en-SG" dirty="0"/>
          </a:p>
        </p:txBody>
      </p:sp>
      <p:sp>
        <p:nvSpPr>
          <p:cNvPr id="9" name="Text 7">
            <a:extLst>
              <a:ext uri="{FF2B5EF4-FFF2-40B4-BE49-F238E27FC236}">
                <a16:creationId xmlns:a16="http://schemas.microsoft.com/office/drawing/2014/main" id="{C04EC727-D1FF-86EE-DA9D-165FEC00BC74}"/>
              </a:ext>
            </a:extLst>
          </p:cNvPr>
          <p:cNvSpPr/>
          <p:nvPr/>
        </p:nvSpPr>
        <p:spPr>
          <a:xfrm>
            <a:off x="457200" y="201168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3" name="Text 8">
            <a:extLst>
              <a:ext uri="{FF2B5EF4-FFF2-40B4-BE49-F238E27FC236}">
                <a16:creationId xmlns:a16="http://schemas.microsoft.com/office/drawing/2014/main" id="{46AE6832-0429-8BDE-D7E6-5318130F3320}"/>
              </a:ext>
            </a:extLst>
          </p:cNvPr>
          <p:cNvSpPr/>
          <p:nvPr/>
        </p:nvSpPr>
        <p:spPr>
          <a:xfrm>
            <a:off x="960120" y="2011680"/>
            <a:ext cx="5120640" cy="384048"/>
          </a:xfrm>
          <a:prstGeom prst="rect">
            <a:avLst/>
          </a:prstGeom>
          <a:noFill/>
          <a:ln/>
        </p:spPr>
        <p:txBody>
          <a:bodyPr wrap="square" lIns="0" tIns="0" rIns="0" bIns="0" rtlCol="0" anchor="ctr"/>
          <a:lstStyle/>
          <a:p>
            <a:pPr marL="0" indent="0" algn="l">
              <a:buNone/>
            </a:pPr>
            <a:r>
              <a:rPr lang="en-US" sz="1600" b="1" dirty="0">
                <a:solidFill>
                  <a:srgbClr val="1E2761"/>
                </a:solidFill>
                <a:latin typeface="Georgia" pitchFamily="34" charset="0"/>
                <a:ea typeface="Georgia" pitchFamily="34" charset="-122"/>
                <a:cs typeface="Georgia" pitchFamily="34" charset="-120"/>
              </a:rPr>
              <a:t>Design Excellence / Contribution</a:t>
            </a:r>
            <a:endParaRPr lang="en-US" sz="1600" dirty="0"/>
          </a:p>
        </p:txBody>
      </p:sp>
      <p:sp>
        <p:nvSpPr>
          <p:cNvPr id="14" name="Shape 10">
            <a:extLst>
              <a:ext uri="{FF2B5EF4-FFF2-40B4-BE49-F238E27FC236}">
                <a16:creationId xmlns:a16="http://schemas.microsoft.com/office/drawing/2014/main" id="{7592EAB1-FDED-E97E-C1C2-F538809E22D4}"/>
              </a:ext>
            </a:extLst>
          </p:cNvPr>
          <p:cNvSpPr/>
          <p:nvPr/>
        </p:nvSpPr>
        <p:spPr>
          <a:xfrm>
            <a:off x="6400800" y="2011680"/>
            <a:ext cx="384048" cy="384048"/>
          </a:xfrm>
          <a:prstGeom prst="ellipse">
            <a:avLst/>
          </a:prstGeom>
          <a:solidFill>
            <a:srgbClr val="0E7C7B"/>
          </a:solidFill>
          <a:ln w="12700">
            <a:solidFill>
              <a:srgbClr val="0E7C7B"/>
            </a:solidFill>
            <a:prstDash val="solid"/>
          </a:ln>
        </p:spPr>
        <p:txBody>
          <a:bodyPr/>
          <a:lstStyle/>
          <a:p>
            <a:endParaRPr lang="en-SG" dirty="0"/>
          </a:p>
        </p:txBody>
      </p:sp>
      <p:sp>
        <p:nvSpPr>
          <p:cNvPr id="15" name="Text 11">
            <a:extLst>
              <a:ext uri="{FF2B5EF4-FFF2-40B4-BE49-F238E27FC236}">
                <a16:creationId xmlns:a16="http://schemas.microsoft.com/office/drawing/2014/main" id="{FEF54517-EA15-A7E6-A6B1-64F1F0A33E92}"/>
              </a:ext>
            </a:extLst>
          </p:cNvPr>
          <p:cNvSpPr/>
          <p:nvPr/>
        </p:nvSpPr>
        <p:spPr>
          <a:xfrm>
            <a:off x="6400800" y="201168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2">
            <a:extLst>
              <a:ext uri="{FF2B5EF4-FFF2-40B4-BE49-F238E27FC236}">
                <a16:creationId xmlns:a16="http://schemas.microsoft.com/office/drawing/2014/main" id="{4F1AD4C5-C9FB-2C5E-BF49-7CE45DADACF1}"/>
              </a:ext>
            </a:extLst>
          </p:cNvPr>
          <p:cNvSpPr/>
          <p:nvPr/>
        </p:nvSpPr>
        <p:spPr>
          <a:xfrm>
            <a:off x="6903720" y="2011680"/>
            <a:ext cx="4754880" cy="384048"/>
          </a:xfrm>
          <a:prstGeom prst="rect">
            <a:avLst/>
          </a:prstGeom>
          <a:noFill/>
          <a:ln/>
        </p:spPr>
        <p:txBody>
          <a:bodyPr wrap="square" lIns="0" tIns="0" rIns="0" bIns="0" rtlCol="0" anchor="ctr"/>
          <a:lstStyle/>
          <a:p>
            <a:pPr marL="0" indent="0" algn="l">
              <a:buNone/>
            </a:pPr>
            <a:r>
              <a:rPr lang="en-US" sz="1600" b="1" dirty="0">
                <a:solidFill>
                  <a:srgbClr val="1E2761"/>
                </a:solidFill>
                <a:latin typeface="Georgia" pitchFamily="34" charset="0"/>
                <a:ea typeface="Georgia" pitchFamily="34" charset="-122"/>
                <a:cs typeface="Georgia" pitchFamily="34" charset="-120"/>
              </a:rPr>
              <a:t>User Feedback on Prototype</a:t>
            </a:r>
            <a:endParaRPr lang="en-US" sz="1600" dirty="0"/>
          </a:p>
        </p:txBody>
      </p:sp>
      <p:sp>
        <p:nvSpPr>
          <p:cNvPr id="17" name="Text 13">
            <a:extLst>
              <a:ext uri="{FF2B5EF4-FFF2-40B4-BE49-F238E27FC236}">
                <a16:creationId xmlns:a16="http://schemas.microsoft.com/office/drawing/2014/main" id="{C8316C27-186F-1A1E-8D7C-B8AB6ADB1D2C}"/>
              </a:ext>
            </a:extLst>
          </p:cNvPr>
          <p:cNvSpPr/>
          <p:nvPr/>
        </p:nvSpPr>
        <p:spPr>
          <a:xfrm>
            <a:off x="6903720" y="2395728"/>
            <a:ext cx="4754880" cy="274320"/>
          </a:xfrm>
          <a:prstGeom prst="rect">
            <a:avLst/>
          </a:prstGeom>
          <a:noFill/>
          <a:ln/>
        </p:spPr>
        <p:txBody>
          <a:bodyPr wrap="square" lIns="0" tIns="0" rIns="0" bIns="0" rtlCol="0" anchor="ctr"/>
          <a:lstStyle/>
          <a:p>
            <a:pPr marL="0" indent="0" algn="l">
              <a:buNone/>
            </a:pPr>
            <a:r>
              <a:rPr lang="en-US" sz="1050" b="1" dirty="0">
                <a:solidFill>
                  <a:srgbClr val="0E7C7B"/>
                </a:solidFill>
                <a:latin typeface="Calibri" pitchFamily="34" charset="0"/>
                <a:ea typeface="Calibri" pitchFamily="34" charset="-122"/>
                <a:cs typeface="Calibri" pitchFamily="34" charset="-120"/>
              </a:rPr>
              <a:t>3 stakeholders engaged</a:t>
            </a:r>
            <a:r>
              <a:rPr lang="en-US" sz="1050" dirty="0">
                <a:solidFill>
                  <a:srgbClr val="475569"/>
                </a:solidFill>
                <a:latin typeface="Calibri" pitchFamily="34" charset="0"/>
                <a:ea typeface="Calibri" pitchFamily="34" charset="-122"/>
                <a:cs typeface="Calibri" pitchFamily="34" charset="-120"/>
              </a:rPr>
              <a:t>   ·   </a:t>
            </a:r>
            <a:r>
              <a:rPr lang="en-US" sz="1050" b="1" dirty="0">
                <a:solidFill>
                  <a:srgbClr val="0E7C7B"/>
                </a:solidFill>
                <a:latin typeface="Calibri" pitchFamily="34" charset="0"/>
                <a:ea typeface="Calibri" pitchFamily="34" charset="-122"/>
                <a:cs typeface="Calibri" pitchFamily="34" charset="-120"/>
              </a:rPr>
              <a:t>4 changes applied</a:t>
            </a:r>
            <a:endParaRPr lang="en-US" sz="1050" dirty="0"/>
          </a:p>
        </p:txBody>
      </p:sp>
      <p:graphicFrame>
        <p:nvGraphicFramePr>
          <p:cNvPr id="18" name="Table 0">
            <a:extLst>
              <a:ext uri="{FF2B5EF4-FFF2-40B4-BE49-F238E27FC236}">
                <a16:creationId xmlns:a16="http://schemas.microsoft.com/office/drawing/2014/main" id="{0740F71C-E5E4-ADE5-2447-602FFB9C02C0}"/>
              </a:ext>
            </a:extLst>
          </p:cNvPr>
          <p:cNvGraphicFramePr>
            <a:graphicFrameLocks noGrp="1"/>
          </p:cNvGraphicFramePr>
          <p:nvPr>
            <p:extLst>
              <p:ext uri="{D42A27DB-BD31-4B8C-83A1-F6EECF244321}">
                <p14:modId xmlns:p14="http://schemas.microsoft.com/office/powerpoint/2010/main" val="3369989079"/>
              </p:ext>
            </p:extLst>
          </p:nvPr>
        </p:nvGraphicFramePr>
        <p:xfrm>
          <a:off x="6400800" y="2788920"/>
          <a:ext cx="5303520" cy="2895600"/>
        </p:xfrm>
        <a:graphic>
          <a:graphicData uri="http://schemas.openxmlformats.org/drawingml/2006/table">
            <a:tbl>
              <a:tblPr/>
              <a:tblGrid>
                <a:gridCol w="10058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54864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Who</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they said</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I changed</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48640">
                <a:tc>
                  <a:txBody>
                    <a:bodyPr/>
                    <a:lstStyle/>
                    <a:p>
                      <a:pPr marL="0" indent="0" algn="l">
                        <a:buNone/>
                      </a:pPr>
                      <a:r>
                        <a:rPr lang="en-US" sz="1050" b="1" dirty="0">
                          <a:solidFill>
                            <a:srgbClr val="1E2761"/>
                          </a:solidFill>
                          <a:latin typeface="Calibri" pitchFamily="34" charset="0"/>
                          <a:ea typeface="Calibri" pitchFamily="34" charset="-122"/>
                          <a:cs typeface="Calibri" pitchFamily="34" charset="-120"/>
                        </a:rPr>
                        <a:t>Ward Staff</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00" i="1" dirty="0">
                          <a:solidFill>
                            <a:srgbClr val="1F2937"/>
                          </a:solidFill>
                          <a:latin typeface="Calibri" pitchFamily="34" charset="0"/>
                          <a:ea typeface="Calibri" pitchFamily="34" charset="-122"/>
                          <a:cs typeface="Calibri" pitchFamily="34" charset="-120"/>
                        </a:rPr>
                        <a:t>"No faces leave the room"</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Privacy stance </a:t>
                      </a:r>
                      <a:r>
                        <a:rPr lang="en-US" sz="1000" b="1" dirty="0">
                          <a:solidFill>
                            <a:srgbClr val="1F2937"/>
                          </a:solidFill>
                          <a:latin typeface="Calibri" pitchFamily="34" charset="0"/>
                          <a:ea typeface="Calibri" pitchFamily="34" charset="-122"/>
                          <a:cs typeface="Calibri" pitchFamily="34" charset="-120"/>
                        </a:rPr>
                        <a:t>validated</a:t>
                      </a:r>
                      <a:r>
                        <a:rPr lang="en-US" sz="1000" dirty="0">
                          <a:solidFill>
                            <a:srgbClr val="1F2937"/>
                          </a:solidFill>
                          <a:latin typeface="Calibri" pitchFamily="34" charset="0"/>
                          <a:ea typeface="Calibri" pitchFamily="34" charset="-122"/>
                          <a:cs typeface="Calibri" pitchFamily="34" charset="-120"/>
                        </a:rPr>
                        <a:t> — no design change needed</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050" b="1" dirty="0">
                          <a:solidFill>
                            <a:srgbClr val="1E2761"/>
                          </a:solidFill>
                          <a:latin typeface="Calibri" pitchFamily="34" charset="0"/>
                          <a:ea typeface="Calibri" pitchFamily="34" charset="-122"/>
                          <a:cs typeface="Calibri" pitchFamily="34" charset="-120"/>
                        </a:rPr>
                        <a:t>Reviewers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00" i="1" dirty="0">
                          <a:solidFill>
                            <a:srgbClr val="1F2937"/>
                          </a:solidFill>
                          <a:latin typeface="Calibri" pitchFamily="34" charset="0"/>
                          <a:ea typeface="Calibri" pitchFamily="34" charset="-122"/>
                          <a:cs typeface="Calibri" pitchFamily="34" charset="-120"/>
                        </a:rPr>
                        <a:t>"Show which  feature drove a high score"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Added </a:t>
                      </a:r>
                      <a:r>
                        <a:rPr lang="en-US" sz="1000" b="1" dirty="0">
                          <a:solidFill>
                            <a:srgbClr val="1F2937"/>
                          </a:solidFill>
                          <a:latin typeface="Calibri" pitchFamily="34" charset="0"/>
                          <a:ea typeface="Calibri" pitchFamily="34" charset="-122"/>
                          <a:cs typeface="Calibri" pitchFamily="34" charset="-120"/>
                        </a:rPr>
                        <a:t>explainability layer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050" b="1" dirty="0">
                          <a:solidFill>
                            <a:srgbClr val="1E2761"/>
                          </a:solidFill>
                          <a:latin typeface="Calibri" pitchFamily="34" charset="0"/>
                          <a:ea typeface="Calibri" pitchFamily="34" charset="-122"/>
                          <a:cs typeface="Calibri" pitchFamily="34" charset="-120"/>
                        </a:rPr>
                        <a:t>Caregivers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00" i="1" dirty="0">
                          <a:solidFill>
                            <a:srgbClr val="1F2937"/>
                          </a:solidFill>
                          <a:latin typeface="Calibri" pitchFamily="34" charset="0"/>
                          <a:ea typeface="Calibri" pitchFamily="34" charset="-122"/>
                          <a:cs typeface="Calibri" pitchFamily="34" charset="-120"/>
                        </a:rPr>
                        <a:t>"</a:t>
                      </a:r>
                      <a:r>
                        <a:rPr lang="en-US" sz="1000" b="0" i="1" kern="1200" dirty="0">
                          <a:solidFill>
                            <a:schemeClr val="tx1"/>
                          </a:solidFill>
                          <a:effectLst/>
                          <a:latin typeface="+mn-lt"/>
                          <a:ea typeface="+mn-ea"/>
                          <a:cs typeface="+mn-cs"/>
                        </a:rPr>
                        <a:t>Don't alarm us for every brief wobble only sustained instability</a:t>
                      </a:r>
                      <a:r>
                        <a:rPr lang="en-US" sz="1000" i="1" dirty="0">
                          <a:solidFill>
                            <a:srgbClr val="1F2937"/>
                          </a:solidFill>
                          <a:latin typeface="+mn-lt"/>
                          <a:ea typeface="Calibri" pitchFamily="34" charset="-122"/>
                          <a:cs typeface="Calibri" pitchFamily="34" charset="-120"/>
                        </a:rPr>
                        <a:t>"</a:t>
                      </a:r>
                      <a:endParaRPr lang="en-US" sz="1000" dirty="0">
                        <a:latin typeface="+mn-lt"/>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b="0" i="0" kern="1200" dirty="0">
                          <a:solidFill>
                            <a:schemeClr val="tx1"/>
                          </a:solidFill>
                          <a:effectLst/>
                          <a:latin typeface="+mn-lt"/>
                          <a:ea typeface="+mn-ea"/>
                          <a:cs typeface="+mn-cs"/>
                        </a:rPr>
                        <a:t>Added </a:t>
                      </a:r>
                      <a:r>
                        <a:rPr lang="en-US" sz="1000" b="1" i="0" kern="1200" dirty="0">
                          <a:solidFill>
                            <a:schemeClr val="tx1"/>
                          </a:solidFill>
                          <a:effectLst/>
                          <a:latin typeface="+mn-lt"/>
                          <a:ea typeface="+mn-ea"/>
                          <a:cs typeface="+mn-cs"/>
                        </a:rPr>
                        <a:t>sustained-warning logic</a:t>
                      </a:r>
                      <a:r>
                        <a:rPr lang="en-US" sz="1000" b="0" i="0" kern="1200" dirty="0">
                          <a:solidFill>
                            <a:schemeClr val="tx1"/>
                          </a:solidFill>
                          <a:effectLst/>
                          <a:latin typeface="+mn-lt"/>
                          <a:ea typeface="+mn-ea"/>
                          <a:cs typeface="+mn-cs"/>
                        </a:rPr>
                        <a:t> </a:t>
                      </a:r>
                    </a:p>
                    <a:p>
                      <a:pPr marL="0" indent="0" algn="l">
                        <a:buNone/>
                      </a:pPr>
                      <a:r>
                        <a:rPr lang="en-US" sz="1000" b="0" i="0" kern="1200" dirty="0">
                          <a:solidFill>
                            <a:schemeClr val="tx1"/>
                          </a:solidFill>
                          <a:effectLst/>
                          <a:latin typeface="+mn-lt"/>
                          <a:ea typeface="+mn-ea"/>
                          <a:cs typeface="+mn-cs"/>
                        </a:rPr>
                        <a:t>Moderate Risk fires only after risk stays in band for </a:t>
                      </a:r>
                      <a:r>
                        <a:rPr lang="en-US" sz="1000" b="1" i="0" kern="1200" dirty="0">
                          <a:solidFill>
                            <a:schemeClr val="tx1"/>
                          </a:solidFill>
                          <a:effectLst/>
                          <a:latin typeface="+mn-lt"/>
                          <a:ea typeface="+mn-ea"/>
                          <a:cs typeface="+mn-cs"/>
                        </a:rPr>
                        <a:t>12 seconds</a:t>
                      </a:r>
                      <a:r>
                        <a:rPr lang="en-US" sz="1000" b="0" i="0" kern="1200" dirty="0">
                          <a:solidFill>
                            <a:schemeClr val="tx1"/>
                          </a:solidFill>
                          <a:effectLst/>
                          <a:latin typeface="+mn-lt"/>
                          <a:ea typeface="+mn-ea"/>
                          <a:cs typeface="+mn-cs"/>
                        </a:rPr>
                        <a:t> (5 ticks); High Risk fires immediately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050" b="1" dirty="0">
                          <a:solidFill>
                            <a:srgbClr val="1E2761"/>
                          </a:solidFill>
                          <a:latin typeface="Calibri" pitchFamily="34" charset="0"/>
                          <a:ea typeface="Calibri" pitchFamily="34" charset="-122"/>
                          <a:cs typeface="Calibri" pitchFamily="34" charset="-120"/>
                        </a:rPr>
                        <a:t>Advisor</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00" i="1" dirty="0">
                          <a:solidFill>
                            <a:srgbClr val="1F2937"/>
                          </a:solidFill>
                          <a:latin typeface="Calibri" pitchFamily="34" charset="0"/>
                          <a:ea typeface="Calibri" pitchFamily="34" charset="-122"/>
                          <a:cs typeface="Calibri" pitchFamily="34" charset="-120"/>
                        </a:rPr>
                        <a:t>"Widen the model — sit-to-stand &amp; bed-edge"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7"/>
                          </a:solidFill>
                          <a:latin typeface="Calibri" pitchFamily="34" charset="0"/>
                          <a:ea typeface="Calibri" pitchFamily="34" charset="-122"/>
                          <a:cs typeface="Calibri" pitchFamily="34" charset="-120"/>
                        </a:rPr>
                        <a:t>Added </a:t>
                      </a:r>
                      <a:r>
                        <a:rPr lang="en-US" sz="1000" b="1" dirty="0">
                          <a:solidFill>
                            <a:srgbClr val="1F2937"/>
                          </a:solidFill>
                          <a:latin typeface="Calibri" pitchFamily="34" charset="0"/>
                          <a:ea typeface="Calibri" pitchFamily="34" charset="-122"/>
                          <a:cs typeface="Calibri" pitchFamily="34" charset="-120"/>
                        </a:rPr>
                        <a:t>pre-fall behaviors</a:t>
                      </a:r>
                      <a:r>
                        <a:rPr lang="en-US" sz="1000" dirty="0">
                          <a:solidFill>
                            <a:srgbClr val="1F2937"/>
                          </a:solidFill>
                          <a:latin typeface="Calibri" pitchFamily="34" charset="0"/>
                          <a:ea typeface="Calibri" pitchFamily="34" charset="-122"/>
                          <a:cs typeface="Calibri" pitchFamily="34" charset="-120"/>
                        </a:rPr>
                        <a:t> to feature set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1" name="Text 9">
            <a:extLst>
              <a:ext uri="{FF2B5EF4-FFF2-40B4-BE49-F238E27FC236}">
                <a16:creationId xmlns:a16="http://schemas.microsoft.com/office/drawing/2014/main" id="{2442CBFE-0556-A54F-B492-FD558178BDBF}"/>
              </a:ext>
            </a:extLst>
          </p:cNvPr>
          <p:cNvSpPr/>
          <p:nvPr/>
        </p:nvSpPr>
        <p:spPr>
          <a:xfrm>
            <a:off x="457200" y="2468880"/>
            <a:ext cx="5623560" cy="4389120"/>
          </a:xfrm>
          <a:prstGeom prst="rect">
            <a:avLst/>
          </a:prstGeom>
          <a:noFill/>
          <a:ln/>
        </p:spPr>
        <p:txBody>
          <a:bodyPr wrap="square" lIns="0" tIns="0" rIns="0" bIns="0" rtlCol="0" anchor="t"/>
          <a:lstStyle/>
          <a:p>
            <a:pPr marL="0" indent="0">
              <a:spcAft>
                <a:spcPts val="500"/>
              </a:spcAft>
              <a:buNone/>
            </a:pPr>
            <a:r>
              <a:rPr lang="en-US" sz="1150" b="1" dirty="0">
                <a:solidFill>
                  <a:srgbClr val="1F2937"/>
                </a:solidFill>
                <a:latin typeface="Calibri" pitchFamily="34" charset="0"/>
                <a:ea typeface="Calibri" pitchFamily="34" charset="-122"/>
                <a:cs typeface="Calibri" pitchFamily="34" charset="-120"/>
              </a:rPr>
              <a:t>▪  4 models combined:</a:t>
            </a:r>
            <a:r>
              <a:rPr lang="en-US" sz="1150" dirty="0">
                <a:solidFill>
                  <a:srgbClr val="475569"/>
                </a:solidFill>
                <a:latin typeface="Calibri" pitchFamily="34" charset="0"/>
                <a:ea typeface="Calibri" pitchFamily="34" charset="-122"/>
                <a:cs typeface="Calibri" pitchFamily="34" charset="-120"/>
              </a:rPr>
              <a:t> RF · Posture · ST-GCN · Late-Fusion MLP</a:t>
            </a:r>
            <a:endParaRPr lang="en-US" sz="1150" dirty="0"/>
          </a:p>
          <a:p>
            <a:pPr marL="0" indent="0">
              <a:spcAft>
                <a:spcPts val="500"/>
              </a:spcAft>
              <a:buNone/>
            </a:pPr>
            <a:r>
              <a:rPr lang="en-US" sz="1150" b="1" dirty="0">
                <a:solidFill>
                  <a:srgbClr val="1F2937"/>
                </a:solidFill>
                <a:latin typeface="Calibri" pitchFamily="34" charset="0"/>
                <a:ea typeface="Calibri" pitchFamily="34" charset="-122"/>
                <a:cs typeface="Calibri" pitchFamily="34" charset="-120"/>
              </a:rPr>
              <a:t>▪  Edge-first architecture</a:t>
            </a:r>
            <a:r>
              <a:rPr lang="en-US" sz="1150" dirty="0">
                <a:solidFill>
                  <a:srgbClr val="475569"/>
                </a:solidFill>
                <a:latin typeface="Calibri" pitchFamily="34" charset="0"/>
                <a:ea typeface="Calibri" pitchFamily="34" charset="-122"/>
                <a:cs typeface="Calibri" pitchFamily="34" charset="-120"/>
              </a:rPr>
              <a:t> — inference on Jetson / Coral; only anonymous skeletal vectors leave the camera node</a:t>
            </a:r>
            <a:endParaRPr lang="en-US" sz="1150" dirty="0"/>
          </a:p>
          <a:p>
            <a:pPr marL="0" indent="0">
              <a:spcAft>
                <a:spcPts val="500"/>
              </a:spcAft>
              <a:buNone/>
            </a:pPr>
            <a:r>
              <a:rPr lang="en-US" sz="1150" b="1" dirty="0">
                <a:solidFill>
                  <a:srgbClr val="1F2937"/>
                </a:solidFill>
                <a:latin typeface="Calibri" pitchFamily="34" charset="0"/>
                <a:ea typeface="Calibri" pitchFamily="34" charset="-122"/>
                <a:cs typeface="Calibri" pitchFamily="34" charset="-120"/>
              </a:rPr>
              <a:t>▪  Privacy by design</a:t>
            </a:r>
            <a:r>
              <a:rPr lang="en-US" sz="1150" dirty="0">
                <a:solidFill>
                  <a:srgbClr val="475569"/>
                </a:solidFill>
                <a:latin typeface="Calibri" pitchFamily="34" charset="0"/>
                <a:ea typeface="Calibri" pitchFamily="34" charset="-122"/>
                <a:cs typeface="Calibri" pitchFamily="34" charset="-120"/>
              </a:rPr>
              <a:t> — system never stores or transmits identifiable video</a:t>
            </a:r>
            <a:endParaRPr lang="en-US" sz="1150" dirty="0"/>
          </a:p>
          <a:p>
            <a:pPr marL="0" indent="0">
              <a:spcAft>
                <a:spcPts val="500"/>
              </a:spcAft>
              <a:buNone/>
            </a:pPr>
            <a:r>
              <a:rPr lang="en-US" sz="1150" b="1" dirty="0">
                <a:solidFill>
                  <a:srgbClr val="1F2937"/>
                </a:solidFill>
                <a:latin typeface="Calibri" pitchFamily="34" charset="0"/>
                <a:ea typeface="Calibri" pitchFamily="34" charset="-122"/>
                <a:cs typeface="Calibri" pitchFamily="34" charset="-120"/>
              </a:rPr>
              <a:t>▪  Real-time performance</a:t>
            </a:r>
            <a:r>
              <a:rPr lang="en-US" sz="1150" dirty="0">
                <a:solidFill>
                  <a:srgbClr val="475569"/>
                </a:solidFill>
                <a:latin typeface="Calibri" pitchFamily="34" charset="0"/>
                <a:ea typeface="Calibri" pitchFamily="34" charset="-122"/>
                <a:cs typeface="Calibri" pitchFamily="34" charset="-120"/>
              </a:rPr>
              <a:t> — sub-second end-to-end latency on ward devices</a:t>
            </a:r>
            <a:endParaRPr lang="en-US" sz="1150" dirty="0"/>
          </a:p>
          <a:p>
            <a:pPr marL="0" indent="0">
              <a:spcAft>
                <a:spcPts val="500"/>
              </a:spcAft>
              <a:buNone/>
            </a:pPr>
            <a:r>
              <a:rPr lang="en-US" sz="1150" b="1" dirty="0">
                <a:solidFill>
                  <a:srgbClr val="1F2937"/>
                </a:solidFill>
                <a:latin typeface="Calibri" pitchFamily="34" charset="0"/>
                <a:ea typeface="Calibri" pitchFamily="34" charset="-122"/>
                <a:cs typeface="Calibri" pitchFamily="34" charset="-120"/>
              </a:rPr>
              <a:t>▪  Multi-patient tracking</a:t>
            </a:r>
            <a:r>
              <a:rPr lang="en-US" sz="1150" dirty="0">
                <a:solidFill>
                  <a:srgbClr val="475569"/>
                </a:solidFill>
                <a:latin typeface="Calibri" pitchFamily="34" charset="0"/>
                <a:ea typeface="Calibri" pitchFamily="34" charset="-122"/>
                <a:cs typeface="Calibri" pitchFamily="34" charset="-120"/>
              </a:rPr>
              <a:t> — pose-based identity association handles overlapping subjects in one frame</a:t>
            </a:r>
            <a:endParaRPr lang="en-US" sz="1150" dirty="0"/>
          </a:p>
          <a:p>
            <a:pPr marL="0" indent="0">
              <a:spcAft>
                <a:spcPts val="500"/>
              </a:spcAft>
              <a:buNone/>
            </a:pPr>
            <a:r>
              <a:rPr lang="en-US" sz="1150" b="1" dirty="0">
                <a:solidFill>
                  <a:srgbClr val="1F2937"/>
                </a:solidFill>
                <a:latin typeface="Calibri" pitchFamily="34" charset="0"/>
                <a:ea typeface="Calibri" pitchFamily="34" charset="-122"/>
                <a:cs typeface="Calibri" pitchFamily="34" charset="-120"/>
              </a:rPr>
              <a:t>▪  Modular deployment</a:t>
            </a:r>
            <a:r>
              <a:rPr lang="en-US" sz="1150" dirty="0">
                <a:solidFill>
                  <a:srgbClr val="475569"/>
                </a:solidFill>
                <a:latin typeface="Calibri" pitchFamily="34" charset="0"/>
                <a:ea typeface="Calibri" pitchFamily="34" charset="-122"/>
                <a:cs typeface="Calibri" pitchFamily="34" charset="-120"/>
              </a:rPr>
              <a:t> — swap models (MediaPipe ↔ MoveNet, LSTM ↔ Transformer) without rewriting the system</a:t>
            </a:r>
            <a:endParaRPr lang="en-US" sz="1150" dirty="0"/>
          </a:p>
          <a:p>
            <a:pPr marL="0" indent="0">
              <a:spcAft>
                <a:spcPts val="500"/>
              </a:spcAft>
              <a:buNone/>
            </a:pPr>
            <a:r>
              <a:rPr lang="en-US" sz="1150" b="1" dirty="0">
                <a:solidFill>
                  <a:srgbClr val="1F2937"/>
                </a:solidFill>
                <a:latin typeface="Calibri" pitchFamily="34" charset="0"/>
                <a:ea typeface="Calibri" pitchFamily="34" charset="-122"/>
                <a:cs typeface="Calibri" pitchFamily="34" charset="-120"/>
              </a:rPr>
              <a:t>▪  Explainable &amp; integrated</a:t>
            </a:r>
            <a:r>
              <a:rPr lang="en-US" sz="1150" dirty="0">
                <a:solidFill>
                  <a:srgbClr val="475569"/>
                </a:solidFill>
                <a:latin typeface="Calibri" pitchFamily="34" charset="0"/>
                <a:ea typeface="Calibri" pitchFamily="34" charset="-122"/>
                <a:cs typeface="Calibri" pitchFamily="34" charset="-120"/>
              </a:rPr>
              <a:t> — every prediction shows motion features; backend output drives every dashboard card</a:t>
            </a:r>
            <a:endParaRPr lang="en-US" sz="1150" dirty="0"/>
          </a:p>
        </p:txBody>
      </p:sp>
    </p:spTree>
    <p:extLst>
      <p:ext uri="{BB962C8B-B14F-4D97-AF65-F5344CB8AC3E}">
        <p14:creationId xmlns:p14="http://schemas.microsoft.com/office/powerpoint/2010/main" val="37371004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3" grpId="0" animBg="1"/>
      <p:bldP spid="14" grpId="0" animBg="1"/>
      <p:bldP spid="15" grpId="0" animBg="1"/>
      <p:bldP spid="16" grpId="0" animBg="1"/>
      <p:bldP spid="17"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3FF9-E042-020B-9145-9D9321E7AC2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EF450D6-FA0F-9F1A-DF6A-E7CF80484DAF}"/>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Text 0">
            <a:extLst>
              <a:ext uri="{FF2B5EF4-FFF2-40B4-BE49-F238E27FC236}">
                <a16:creationId xmlns:a16="http://schemas.microsoft.com/office/drawing/2014/main" id="{595BD28E-9A99-5535-EA86-998538062B1E}"/>
              </a:ext>
            </a:extLst>
          </p:cNvPr>
          <p:cNvSpPr/>
          <p:nvPr/>
        </p:nvSpPr>
        <p:spPr>
          <a:xfrm>
            <a:off x="38100" y="493443"/>
            <a:ext cx="12115800" cy="347472"/>
          </a:xfrm>
          <a:prstGeom prst="rect">
            <a:avLst/>
          </a:prstGeom>
          <a:noFill/>
          <a:ln/>
        </p:spPr>
        <p:txBody>
          <a:bodyPr wrap="square" lIns="0" tIns="0" rIns="0" bIns="0" rtlCol="0" anchor="ctr"/>
          <a:lstStyle/>
          <a:p>
            <a:pPr algn="ctr"/>
            <a:r>
              <a:rPr lang="en-US" sz="2000" b="1" dirty="0"/>
              <a:t>AI-Assisted Caregiver Workforce Deterioration Detection and Adaptive Workload Redistribution</a:t>
            </a:r>
            <a:endParaRPr lang="en-US" sz="2000" b="1" dirty="0">
              <a:solidFill>
                <a:srgbClr val="0F2742"/>
              </a:solidFill>
              <a:latin typeface="+mj-lt"/>
            </a:endParaRPr>
          </a:p>
        </p:txBody>
      </p:sp>
      <p:sp>
        <p:nvSpPr>
          <p:cNvPr id="12" name="Rectangle 11">
            <a:extLst>
              <a:ext uri="{FF2B5EF4-FFF2-40B4-BE49-F238E27FC236}">
                <a16:creationId xmlns:a16="http://schemas.microsoft.com/office/drawing/2014/main" id="{6A9076B6-E94F-F7F5-4170-93F9D741C4B6}"/>
              </a:ext>
            </a:extLst>
          </p:cNvPr>
          <p:cNvSpPr/>
          <p:nvPr/>
        </p:nvSpPr>
        <p:spPr>
          <a:xfrm>
            <a:off x="2907736" y="6455133"/>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IT22178640 |   DAYANA PRIYADHARSHANI KUMAR |   R26-DS-010</a:t>
            </a:r>
          </a:p>
        </p:txBody>
      </p:sp>
      <p:sp>
        <p:nvSpPr>
          <p:cNvPr id="4" name="Date Placeholder 3">
            <a:extLst>
              <a:ext uri="{FF2B5EF4-FFF2-40B4-BE49-F238E27FC236}">
                <a16:creationId xmlns:a16="http://schemas.microsoft.com/office/drawing/2014/main" id="{CEAF714C-F3C0-21E9-8B20-51AEAB248E04}"/>
              </a:ext>
            </a:extLst>
          </p:cNvPr>
          <p:cNvSpPr>
            <a:spLocks noGrp="1"/>
          </p:cNvSpPr>
          <p:nvPr>
            <p:ph type="dt" sz="half" idx="10"/>
          </p:nvPr>
        </p:nvSpPr>
        <p:spPr>
          <a:xfrm>
            <a:off x="9982200" y="6261448"/>
            <a:ext cx="2743200" cy="365125"/>
          </a:xfrm>
        </p:spPr>
        <p:txBody>
          <a:bodyPr/>
          <a:lstStyle/>
          <a:p>
            <a:fld id="{4C13C7AB-C68C-4F5B-9F28-29441B570993}" type="datetime1">
              <a:rPr lang="en-US" b="1" smtClean="0">
                <a:solidFill>
                  <a:schemeClr val="tx1"/>
                </a:solidFill>
              </a:rPr>
              <a:t>5/12/2026</a:t>
            </a:fld>
            <a:endParaRPr lang="en-US" b="1" dirty="0">
              <a:solidFill>
                <a:schemeClr val="tx1"/>
              </a:solidFill>
            </a:endParaRPr>
          </a:p>
        </p:txBody>
      </p:sp>
      <p:sp>
        <p:nvSpPr>
          <p:cNvPr id="7" name="Slide Number Placeholder 6">
            <a:extLst>
              <a:ext uri="{FF2B5EF4-FFF2-40B4-BE49-F238E27FC236}">
                <a16:creationId xmlns:a16="http://schemas.microsoft.com/office/drawing/2014/main" id="{E5D9BA42-6CB4-B6F4-4FAC-3342A87F034A}"/>
              </a:ext>
            </a:extLst>
          </p:cNvPr>
          <p:cNvSpPr>
            <a:spLocks noGrp="1"/>
          </p:cNvSpPr>
          <p:nvPr>
            <p:ph type="sldNum" sz="quarter" idx="12"/>
          </p:nvPr>
        </p:nvSpPr>
        <p:spPr/>
        <p:txBody>
          <a:bodyPr/>
          <a:lstStyle/>
          <a:p>
            <a:fld id="{47D73ED1-4BC5-4C68-A93F-B56D3DD7872F}" type="slidenum">
              <a:rPr lang="en-US" smtClean="0"/>
              <a:t>11</a:t>
            </a:fld>
            <a:endParaRPr lang="en-US" dirty="0"/>
          </a:p>
        </p:txBody>
      </p:sp>
      <p:pic>
        <p:nvPicPr>
          <p:cNvPr id="2" name="Picture 1">
            <a:extLst>
              <a:ext uri="{FF2B5EF4-FFF2-40B4-BE49-F238E27FC236}">
                <a16:creationId xmlns:a16="http://schemas.microsoft.com/office/drawing/2014/main" id="{8799B00A-23C6-0D11-5135-E45A017D059D}"/>
              </a:ext>
            </a:extLst>
          </p:cNvPr>
          <p:cNvPicPr>
            <a:picLocks noChangeAspect="1"/>
          </p:cNvPicPr>
          <p:nvPr/>
        </p:nvPicPr>
        <p:blipFill>
          <a:blip r:embed="rId2"/>
          <a:stretch>
            <a:fillRect/>
          </a:stretch>
        </p:blipFill>
        <p:spPr>
          <a:xfrm>
            <a:off x="38100" y="6261448"/>
            <a:ext cx="2676899" cy="533474"/>
          </a:xfrm>
          <a:prstGeom prst="rect">
            <a:avLst/>
          </a:prstGeom>
        </p:spPr>
      </p:pic>
      <p:sp>
        <p:nvSpPr>
          <p:cNvPr id="3" name="TextBox 2">
            <a:extLst>
              <a:ext uri="{FF2B5EF4-FFF2-40B4-BE49-F238E27FC236}">
                <a16:creationId xmlns:a16="http://schemas.microsoft.com/office/drawing/2014/main" id="{6E0786A2-DA89-BBC8-7A09-82A89E7CB17E}"/>
              </a:ext>
            </a:extLst>
          </p:cNvPr>
          <p:cNvSpPr txBox="1"/>
          <p:nvPr/>
        </p:nvSpPr>
        <p:spPr>
          <a:xfrm>
            <a:off x="701286" y="951724"/>
            <a:ext cx="6528618" cy="400110"/>
          </a:xfrm>
          <a:prstGeom prst="rect">
            <a:avLst/>
          </a:prstGeom>
          <a:noFill/>
        </p:spPr>
        <p:txBody>
          <a:bodyPr wrap="square">
            <a:spAutoFit/>
          </a:bodyPr>
          <a:lstStyle/>
          <a:p>
            <a:pPr>
              <a:spcAft>
                <a:spcPts val="3000"/>
              </a:spcAft>
            </a:pPr>
            <a:r>
              <a:rPr lang="en-US" sz="2000" b="1" i="0" dirty="0">
                <a:solidFill>
                  <a:schemeClr val="accent1">
                    <a:lumMod val="50000"/>
                  </a:schemeClr>
                </a:solidFill>
                <a:effectLst/>
                <a:latin typeface="Poppins" panose="00000500000000000000" pitchFamily="2" charset="0"/>
              </a:rPr>
              <a:t>| </a:t>
            </a:r>
            <a:r>
              <a:rPr lang="en-US" sz="2000" b="1" dirty="0">
                <a:solidFill>
                  <a:schemeClr val="accent1">
                    <a:lumMod val="50000"/>
                  </a:schemeClr>
                </a:solidFill>
                <a:effectLst/>
              </a:rPr>
              <a:t>Panel Comment Received at Proposal</a:t>
            </a:r>
          </a:p>
        </p:txBody>
      </p:sp>
      <p:sp>
        <p:nvSpPr>
          <p:cNvPr id="5" name="Rectangle: Rounded Corners 4">
            <a:extLst>
              <a:ext uri="{FF2B5EF4-FFF2-40B4-BE49-F238E27FC236}">
                <a16:creationId xmlns:a16="http://schemas.microsoft.com/office/drawing/2014/main" id="{8321197F-C5F3-558E-93DC-58D90C3AA5B2}"/>
              </a:ext>
            </a:extLst>
          </p:cNvPr>
          <p:cNvSpPr/>
          <p:nvPr/>
        </p:nvSpPr>
        <p:spPr>
          <a:xfrm>
            <a:off x="2349908" y="1469674"/>
            <a:ext cx="7632292" cy="699082"/>
          </a:xfrm>
          <a:prstGeom prst="roundRect">
            <a:avLst/>
          </a:prstGeom>
          <a:solidFill>
            <a:srgbClr val="FEDADD"/>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“When it comes to reasoning, skeletal movement might not be enough”</a:t>
            </a:r>
            <a:endParaRPr lang="en-US" sz="2400" b="1" dirty="0">
              <a:solidFill>
                <a:schemeClr val="tx1"/>
              </a:solidFill>
              <a:effectLst/>
              <a:latin typeface="Arial" panose="020B0604020202020204" pitchFamily="34" charset="0"/>
              <a:ea typeface="Arial" panose="020B0604020202020204" pitchFamily="34" charset="0"/>
            </a:endParaRPr>
          </a:p>
        </p:txBody>
      </p:sp>
      <p:sp>
        <p:nvSpPr>
          <p:cNvPr id="9" name="TextBox 8">
            <a:extLst>
              <a:ext uri="{FF2B5EF4-FFF2-40B4-BE49-F238E27FC236}">
                <a16:creationId xmlns:a16="http://schemas.microsoft.com/office/drawing/2014/main" id="{062F0FF5-0B98-0E55-6467-D576418F1569}"/>
              </a:ext>
            </a:extLst>
          </p:cNvPr>
          <p:cNvSpPr txBox="1"/>
          <p:nvPr/>
        </p:nvSpPr>
        <p:spPr>
          <a:xfrm>
            <a:off x="770112" y="2499970"/>
            <a:ext cx="6528618" cy="400110"/>
          </a:xfrm>
          <a:prstGeom prst="rect">
            <a:avLst/>
          </a:prstGeom>
          <a:noFill/>
        </p:spPr>
        <p:txBody>
          <a:bodyPr wrap="square">
            <a:spAutoFit/>
          </a:bodyPr>
          <a:lstStyle/>
          <a:p>
            <a:r>
              <a:rPr lang="en-US" sz="2000" b="1" i="0" dirty="0">
                <a:solidFill>
                  <a:schemeClr val="accent1">
                    <a:lumMod val="50000"/>
                  </a:schemeClr>
                </a:solidFill>
                <a:effectLst/>
                <a:latin typeface="Poppins" panose="00000500000000000000" pitchFamily="2" charset="0"/>
              </a:rPr>
              <a:t>| </a:t>
            </a:r>
            <a:r>
              <a:rPr lang="en-US" sz="2000" b="1" dirty="0">
                <a:solidFill>
                  <a:schemeClr val="accent1">
                    <a:lumMod val="50000"/>
                  </a:schemeClr>
                </a:solidFill>
              </a:rPr>
              <a:t>How </a:t>
            </a:r>
            <a:r>
              <a:rPr lang="en-US" sz="2000" b="1" dirty="0" err="1">
                <a:solidFill>
                  <a:schemeClr val="accent1">
                    <a:lumMod val="50000"/>
                  </a:schemeClr>
                </a:solidFill>
              </a:rPr>
              <a:t>CareSense</a:t>
            </a:r>
            <a:r>
              <a:rPr lang="en-US" sz="2000" b="1" dirty="0">
                <a:solidFill>
                  <a:schemeClr val="accent1">
                    <a:lumMod val="50000"/>
                  </a:schemeClr>
                </a:solidFill>
              </a:rPr>
              <a:t> Addresses This</a:t>
            </a:r>
          </a:p>
        </p:txBody>
      </p:sp>
      <p:sp>
        <p:nvSpPr>
          <p:cNvPr id="6" name="TextBox 5">
            <a:extLst>
              <a:ext uri="{FF2B5EF4-FFF2-40B4-BE49-F238E27FC236}">
                <a16:creationId xmlns:a16="http://schemas.microsoft.com/office/drawing/2014/main" id="{BD170A42-010C-D8EC-0B5E-5FCCF810F127}"/>
              </a:ext>
            </a:extLst>
          </p:cNvPr>
          <p:cNvSpPr txBox="1"/>
          <p:nvPr/>
        </p:nvSpPr>
        <p:spPr>
          <a:xfrm>
            <a:off x="701285" y="2841247"/>
            <a:ext cx="10900779" cy="3416320"/>
          </a:xfrm>
          <a:prstGeom prst="rect">
            <a:avLst/>
          </a:prstGeom>
          <a:noFill/>
        </p:spPr>
        <p:txBody>
          <a:bodyPr wrap="square">
            <a:spAutoFit/>
          </a:bodyPr>
          <a:lstStyle/>
          <a:p>
            <a:pPr marL="285750" indent="-285750" algn="just">
              <a:buFont typeface="Arial" panose="020B0604020202020204" pitchFamily="34" charset="0"/>
              <a:buChar char="•"/>
            </a:pPr>
            <a:r>
              <a:rPr lang="en-US" b="1" dirty="0"/>
              <a:t>The system combines deep learning with motion-based reasoning: </a:t>
            </a:r>
            <a:r>
              <a:rPr lang="en-US" dirty="0"/>
              <a:t>A </a:t>
            </a:r>
            <a:r>
              <a:rPr lang="en-US" dirty="0" err="1"/>
              <a:t>spatio</a:t>
            </a:r>
            <a:r>
              <a:rPr lang="en-US" dirty="0"/>
              <a:t>-temporal ST-GCN model captures body movement patterns, while 18 handcrafted motion features provide additional information about human movement and instability.</a:t>
            </a:r>
          </a:p>
          <a:p>
            <a:pPr marL="285750" indent="-285750" algn="just">
              <a:buFont typeface="Arial" panose="020B0604020202020204" pitchFamily="34" charset="0"/>
              <a:buChar char="•"/>
            </a:pPr>
            <a:r>
              <a:rPr lang="en-US" b="1" dirty="0"/>
              <a:t>Six reasoning layers improve activity and risk understanding: </a:t>
            </a:r>
            <a:r>
              <a:rPr lang="en-US" dirty="0"/>
              <a:t>The framework analyzes movement over time, detects subtle instability, understands posture states such as sitting or standing, and identifies risky transitions like sit-to-stand or sudden drops</a:t>
            </a:r>
          </a:p>
          <a:p>
            <a:pPr marL="285750" indent="-285750" algn="just">
              <a:buFont typeface="Arial" panose="020B0604020202020204" pitchFamily="34" charset="0"/>
              <a:buChar char="•"/>
            </a:pPr>
            <a:r>
              <a:rPr lang="en-US" b="1" dirty="0"/>
              <a:t>Context and pose-quality checks increase reliability: </a:t>
            </a:r>
            <a:r>
              <a:rPr lang="en-US" dirty="0"/>
              <a:t>Spatial context helps interpret movements differently based on location, while the pose-quality gate checks for occlusion or unreliable skeleton detection to reduce false alarms</a:t>
            </a:r>
          </a:p>
          <a:p>
            <a:pPr marL="285750" indent="-285750" algn="just">
              <a:buFont typeface="Arial" panose="020B0604020202020204" pitchFamily="34" charset="0"/>
              <a:buChar char="•"/>
            </a:pPr>
            <a:r>
              <a:rPr lang="en-US" b="1" dirty="0"/>
              <a:t>All information is fused into a single final risk score</a:t>
            </a:r>
            <a:r>
              <a:rPr lang="en-US" dirty="0"/>
              <a:t>: The deep learning pose stream and motion features are combined using a Late-Fusion MLP to generate a clear low, moderate, or high risk prediction with better reasoning capability.</a:t>
            </a:r>
          </a:p>
        </p:txBody>
      </p:sp>
    </p:spTree>
    <p:extLst>
      <p:ext uri="{BB962C8B-B14F-4D97-AF65-F5344CB8AC3E}">
        <p14:creationId xmlns:p14="http://schemas.microsoft.com/office/powerpoint/2010/main" val="103668204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9"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1FBF7-07C6-AE9D-48FA-7573211A95B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5DD661F-385F-7A00-FC17-DE2B8046CCAB}"/>
              </a:ext>
            </a:extLst>
          </p:cNvPr>
          <p:cNvSpPr>
            <a:spLocks noGrp="1"/>
          </p:cNvSpPr>
          <p:nvPr>
            <p:ph type="title"/>
          </p:nvPr>
        </p:nvSpPr>
        <p:spPr>
          <a:xfrm>
            <a:off x="457200" y="1386513"/>
            <a:ext cx="10363200" cy="755426"/>
          </a:xfrm>
        </p:spPr>
        <p:txBody>
          <a:bodyPr vert="horz" lIns="91440" tIns="45720" rIns="91440" bIns="45720" rtlCol="0" anchor="t">
            <a:normAutofit/>
          </a:bodyPr>
          <a:lstStyle/>
          <a:p>
            <a:r>
              <a:rPr lang="en-US" sz="3600" dirty="0"/>
              <a:t>IT22294098 | VIDURSHA PRABAGARAN</a:t>
            </a:r>
          </a:p>
        </p:txBody>
      </p:sp>
      <p:sp>
        <p:nvSpPr>
          <p:cNvPr id="6" name="Text Placeholder 5">
            <a:extLst>
              <a:ext uri="{FF2B5EF4-FFF2-40B4-BE49-F238E27FC236}">
                <a16:creationId xmlns:a16="http://schemas.microsoft.com/office/drawing/2014/main" id="{02CE2BD2-E342-38AA-598C-798299FC1365}"/>
              </a:ext>
            </a:extLst>
          </p:cNvPr>
          <p:cNvSpPr>
            <a:spLocks noGrp="1"/>
          </p:cNvSpPr>
          <p:nvPr>
            <p:ph type="body" idx="1"/>
          </p:nvPr>
        </p:nvSpPr>
        <p:spPr>
          <a:xfrm>
            <a:off x="381000" y="3091816"/>
            <a:ext cx="10972800" cy="2854787"/>
          </a:xfrm>
        </p:spPr>
        <p:txBody>
          <a:bodyPr>
            <a:normAutofit/>
          </a:bodyPr>
          <a:lstStyle/>
          <a:p>
            <a:r>
              <a:rPr lang="en-US" sz="2800" b="1" dirty="0">
                <a:solidFill>
                  <a:schemeClr val="tx1"/>
                </a:solidFill>
                <a:ea typeface="+mn-lt"/>
                <a:cs typeface="+mn-lt"/>
              </a:rPr>
              <a:t>Component 03: Context-Aware Intelligent System for Automated ADL Extraction and Real-Time Documentation from Caregiver Voice Logs</a:t>
            </a:r>
            <a:endParaRPr lang="en-US" sz="2800" b="1" dirty="0">
              <a:solidFill>
                <a:schemeClr val="tx1"/>
              </a:solidFill>
              <a:ea typeface="Cambria"/>
            </a:endParaRPr>
          </a:p>
          <a:p>
            <a:endParaRPr lang="en-US" sz="2800" b="1" dirty="0">
              <a:solidFill>
                <a:schemeClr val="tx1"/>
              </a:solidFill>
              <a:ea typeface="+mn-lt"/>
              <a:cs typeface="+mn-lt"/>
            </a:endParaRPr>
          </a:p>
          <a:p>
            <a:endParaRPr lang="en-US" sz="2800" dirty="0">
              <a:solidFill>
                <a:schemeClr val="tx1"/>
              </a:solidFill>
              <a:ea typeface="Cambria"/>
            </a:endParaRPr>
          </a:p>
          <a:p>
            <a:endParaRPr lang="en-US" dirty="0"/>
          </a:p>
        </p:txBody>
      </p:sp>
      <p:sp>
        <p:nvSpPr>
          <p:cNvPr id="4" name="Rectangle 3">
            <a:extLst>
              <a:ext uri="{FF2B5EF4-FFF2-40B4-BE49-F238E27FC236}">
                <a16:creationId xmlns:a16="http://schemas.microsoft.com/office/drawing/2014/main" id="{BB157372-A975-E1BD-A54F-DF64B1D6F309}"/>
              </a:ext>
            </a:extLst>
          </p:cNvPr>
          <p:cNvSpPr/>
          <p:nvPr/>
        </p:nvSpPr>
        <p:spPr>
          <a:xfrm>
            <a:off x="2794886" y="6492875"/>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dirty="0">
                <a:solidFill>
                  <a:schemeClr val="tx1"/>
                </a:solidFill>
              </a:rPr>
              <a:t>            IT22294098</a:t>
            </a:r>
            <a:r>
              <a:rPr lang="en-US" sz="1800" dirty="0">
                <a:solidFill>
                  <a:schemeClr val="tx1"/>
                </a:solidFill>
              </a:rPr>
              <a:t>   | </a:t>
            </a:r>
            <a:r>
              <a:rPr lang="en-US" b="1" dirty="0">
                <a:solidFill>
                  <a:schemeClr val="tx1"/>
                </a:solidFill>
              </a:rPr>
              <a:t>VIDURSHA PRABAGARAN </a:t>
            </a:r>
            <a:r>
              <a:rPr lang="en-US" sz="1800" b="1" dirty="0">
                <a:solidFill>
                  <a:schemeClr val="tx1"/>
                </a:solidFill>
              </a:rPr>
              <a:t>  </a:t>
            </a:r>
            <a:r>
              <a:rPr lang="en-US" sz="1800" dirty="0">
                <a:solidFill>
                  <a:schemeClr val="tx1"/>
                </a:solidFill>
              </a:rPr>
              <a:t>| </a:t>
            </a:r>
            <a:r>
              <a:rPr lang="en-US" dirty="0">
                <a:solidFill>
                  <a:schemeClr val="tx1"/>
                </a:solidFill>
              </a:rPr>
              <a:t>R26-DS-010 </a:t>
            </a:r>
            <a:r>
              <a:rPr lang="en-US" sz="1800" dirty="0">
                <a:solidFill>
                  <a:schemeClr val="tx1"/>
                </a:solidFill>
              </a:rPr>
              <a:t> </a:t>
            </a:r>
            <a:endParaRPr lang="en-US" sz="1800" b="0" dirty="0">
              <a:solidFill>
                <a:schemeClr val="tx1"/>
              </a:solidFill>
            </a:endParaRPr>
          </a:p>
        </p:txBody>
      </p:sp>
      <p:sp>
        <p:nvSpPr>
          <p:cNvPr id="2" name="Rectangle 1">
            <a:extLst>
              <a:ext uri="{FF2B5EF4-FFF2-40B4-BE49-F238E27FC236}">
                <a16:creationId xmlns:a16="http://schemas.microsoft.com/office/drawing/2014/main" id="{31FF8D48-F113-A9FB-449D-9DA38F969437}"/>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24036164-0A0C-CB26-37AE-34F6B878AAA0}"/>
              </a:ext>
            </a:extLst>
          </p:cNvPr>
          <p:cNvPicPr>
            <a:picLocks noChangeAspect="1"/>
          </p:cNvPicPr>
          <p:nvPr/>
        </p:nvPicPr>
        <p:blipFill>
          <a:blip r:embed="rId2" cstate="print">
            <a:extLst>
              <a:ext uri="{28A0092B-C50C-407E-A947-70E740481C1C}">
                <a14:useLocalDpi xmlns:a14="http://schemas.microsoft.com/office/drawing/2010/main" val="0"/>
              </a:ext>
            </a:extLst>
          </a:blip>
          <a:srcRect b="22222"/>
          <a:stretch>
            <a:fillRect/>
          </a:stretch>
        </p:blipFill>
        <p:spPr>
          <a:xfrm>
            <a:off x="9697655" y="531356"/>
            <a:ext cx="2245490" cy="2121010"/>
          </a:xfrm>
          <a:prstGeom prst="rect">
            <a:avLst/>
          </a:prstGeom>
        </p:spPr>
      </p:pic>
      <p:sp>
        <p:nvSpPr>
          <p:cNvPr id="8" name="Date Placeholder 7">
            <a:extLst>
              <a:ext uri="{FF2B5EF4-FFF2-40B4-BE49-F238E27FC236}">
                <a16:creationId xmlns:a16="http://schemas.microsoft.com/office/drawing/2014/main" id="{4EA2BA83-0100-3221-F237-92AD9A032B57}"/>
              </a:ext>
            </a:extLst>
          </p:cNvPr>
          <p:cNvSpPr>
            <a:spLocks noGrp="1"/>
          </p:cNvSpPr>
          <p:nvPr>
            <p:ph type="dt" sz="half" idx="10"/>
          </p:nvPr>
        </p:nvSpPr>
        <p:spPr>
          <a:xfrm>
            <a:off x="10068809" y="6356350"/>
            <a:ext cx="2743200" cy="365125"/>
          </a:xfrm>
        </p:spPr>
        <p:txBody>
          <a:bodyPr/>
          <a:lstStyle/>
          <a:p>
            <a:fld id="{36E8DC92-B177-4524-9EFF-6A38AA23ED25}" type="datetime1">
              <a:rPr lang="en-US" b="1" smtClean="0">
                <a:solidFill>
                  <a:schemeClr val="tx1"/>
                </a:solidFill>
              </a:rPr>
              <a:t>5/12/2026</a:t>
            </a:fld>
            <a:endParaRPr lang="en-US" b="1" dirty="0">
              <a:solidFill>
                <a:schemeClr val="tx1"/>
              </a:solidFill>
            </a:endParaRPr>
          </a:p>
        </p:txBody>
      </p:sp>
      <p:sp>
        <p:nvSpPr>
          <p:cNvPr id="11" name="Slide Number Placeholder 10">
            <a:extLst>
              <a:ext uri="{FF2B5EF4-FFF2-40B4-BE49-F238E27FC236}">
                <a16:creationId xmlns:a16="http://schemas.microsoft.com/office/drawing/2014/main" id="{61C44E91-BADA-6BD7-5693-80B317A24F84}"/>
              </a:ext>
            </a:extLst>
          </p:cNvPr>
          <p:cNvSpPr>
            <a:spLocks noGrp="1"/>
          </p:cNvSpPr>
          <p:nvPr>
            <p:ph type="sldNum" sz="quarter" idx="12"/>
          </p:nvPr>
        </p:nvSpPr>
        <p:spPr/>
        <p:txBody>
          <a:bodyPr/>
          <a:lstStyle/>
          <a:p>
            <a:fld id="{47D73ED1-4BC5-4C68-A93F-B56D3DD7872F}" type="slidenum">
              <a:rPr lang="en-US" smtClean="0"/>
              <a:t>12</a:t>
            </a:fld>
            <a:endParaRPr lang="en-US" dirty="0"/>
          </a:p>
        </p:txBody>
      </p:sp>
      <p:pic>
        <p:nvPicPr>
          <p:cNvPr id="12" name="Picture 11">
            <a:extLst>
              <a:ext uri="{FF2B5EF4-FFF2-40B4-BE49-F238E27FC236}">
                <a16:creationId xmlns:a16="http://schemas.microsoft.com/office/drawing/2014/main" id="{F92236C7-0B3F-11DA-B3FB-B2D2808F37F9}"/>
              </a:ext>
            </a:extLst>
          </p:cNvPr>
          <p:cNvPicPr>
            <a:picLocks noChangeAspect="1"/>
          </p:cNvPicPr>
          <p:nvPr/>
        </p:nvPicPr>
        <p:blipFill>
          <a:blip r:embed="rId3"/>
          <a:stretch>
            <a:fillRect/>
          </a:stretch>
        </p:blipFill>
        <p:spPr>
          <a:xfrm>
            <a:off x="117987" y="6272175"/>
            <a:ext cx="2676899" cy="533474"/>
          </a:xfrm>
          <a:prstGeom prst="rect">
            <a:avLst/>
          </a:prstGeom>
        </p:spPr>
      </p:pic>
      <p:sp>
        <p:nvSpPr>
          <p:cNvPr id="3" name="TextBox 2">
            <a:extLst>
              <a:ext uri="{FF2B5EF4-FFF2-40B4-BE49-F238E27FC236}">
                <a16:creationId xmlns:a16="http://schemas.microsoft.com/office/drawing/2014/main" id="{B132C0EE-1602-71D0-93E9-D0A8E79AE9DA}"/>
              </a:ext>
            </a:extLst>
          </p:cNvPr>
          <p:cNvSpPr txBox="1"/>
          <p:nvPr/>
        </p:nvSpPr>
        <p:spPr>
          <a:xfrm>
            <a:off x="381000" y="4519210"/>
            <a:ext cx="3557954" cy="369332"/>
          </a:xfrm>
          <a:prstGeom prst="rect">
            <a:avLst/>
          </a:prstGeom>
          <a:noFill/>
        </p:spPr>
        <p:txBody>
          <a:bodyPr wrap="square" rtlCol="0">
            <a:spAutoFit/>
          </a:bodyPr>
          <a:lstStyle/>
          <a:p>
            <a:r>
              <a:rPr lang="en-US" b="1" dirty="0"/>
              <a:t>Specialization :  Data Science</a:t>
            </a:r>
          </a:p>
        </p:txBody>
      </p:sp>
    </p:spTree>
    <p:extLst>
      <p:ext uri="{BB962C8B-B14F-4D97-AF65-F5344CB8AC3E}">
        <p14:creationId xmlns:p14="http://schemas.microsoft.com/office/powerpoint/2010/main" val="402734584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C2638-8AF7-24A8-D18E-2D3A1EB8171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4936155-C09E-6051-8C88-D086FB8EECB6}"/>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Text 0">
            <a:extLst>
              <a:ext uri="{FF2B5EF4-FFF2-40B4-BE49-F238E27FC236}">
                <a16:creationId xmlns:a16="http://schemas.microsoft.com/office/drawing/2014/main" id="{42619CD3-E23A-747E-FB44-34DA5D19DB65}"/>
              </a:ext>
            </a:extLst>
          </p:cNvPr>
          <p:cNvSpPr/>
          <p:nvPr/>
        </p:nvSpPr>
        <p:spPr>
          <a:xfrm>
            <a:off x="38100" y="513203"/>
            <a:ext cx="12115800" cy="347472"/>
          </a:xfrm>
          <a:prstGeom prst="rect">
            <a:avLst/>
          </a:prstGeom>
          <a:noFill/>
          <a:ln/>
        </p:spPr>
        <p:txBody>
          <a:bodyPr wrap="square" lIns="0" tIns="0" rIns="0" bIns="0" rtlCol="0" anchor="ctr"/>
          <a:lstStyle/>
          <a:p>
            <a:pPr algn="ctr"/>
            <a:r>
              <a:rPr lang="en-US" sz="2000" b="1" dirty="0">
                <a:ea typeface="+mn-lt"/>
                <a:cs typeface="+mn-lt"/>
              </a:rPr>
              <a:t>Context-Aware Intelligent System for Automated ADL Extraction and Real-Time Documentation from Caregiver Voice Logs</a:t>
            </a:r>
            <a:endParaRPr lang="en-US" sz="2000" b="1" dirty="0">
              <a:solidFill>
                <a:srgbClr val="0F2742"/>
              </a:solidFill>
              <a:latin typeface="+mj-lt"/>
            </a:endParaRPr>
          </a:p>
        </p:txBody>
      </p:sp>
      <p:sp>
        <p:nvSpPr>
          <p:cNvPr id="12" name="Rectangle 11">
            <a:extLst>
              <a:ext uri="{FF2B5EF4-FFF2-40B4-BE49-F238E27FC236}">
                <a16:creationId xmlns:a16="http://schemas.microsoft.com/office/drawing/2014/main" id="{1C612336-DCFB-14BD-7345-D3A99A6EE55F}"/>
              </a:ext>
            </a:extLst>
          </p:cNvPr>
          <p:cNvSpPr/>
          <p:nvPr/>
        </p:nvSpPr>
        <p:spPr>
          <a:xfrm>
            <a:off x="2937238" y="6492874"/>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            IT22294098</a:t>
            </a:r>
            <a:r>
              <a:rPr lang="en-US" dirty="0">
                <a:solidFill>
                  <a:schemeClr val="tx1"/>
                </a:solidFill>
              </a:rPr>
              <a:t>   | </a:t>
            </a:r>
            <a:r>
              <a:rPr lang="en-US" b="1" dirty="0">
                <a:solidFill>
                  <a:schemeClr val="tx1"/>
                </a:solidFill>
              </a:rPr>
              <a:t>VIDURSHA PRABAGARAN   </a:t>
            </a:r>
            <a:r>
              <a:rPr lang="en-US" dirty="0">
                <a:solidFill>
                  <a:schemeClr val="tx1"/>
                </a:solidFill>
              </a:rPr>
              <a:t>| R26-DS-010  </a:t>
            </a:r>
          </a:p>
        </p:txBody>
      </p:sp>
      <p:sp>
        <p:nvSpPr>
          <p:cNvPr id="4" name="Date Placeholder 3">
            <a:extLst>
              <a:ext uri="{FF2B5EF4-FFF2-40B4-BE49-F238E27FC236}">
                <a16:creationId xmlns:a16="http://schemas.microsoft.com/office/drawing/2014/main" id="{BADB1FF8-3378-AB29-2AE2-D47B89E43953}"/>
              </a:ext>
            </a:extLst>
          </p:cNvPr>
          <p:cNvSpPr>
            <a:spLocks noGrp="1"/>
          </p:cNvSpPr>
          <p:nvPr>
            <p:ph type="dt" sz="half" idx="10"/>
          </p:nvPr>
        </p:nvSpPr>
        <p:spPr>
          <a:xfrm>
            <a:off x="10210803" y="6370894"/>
            <a:ext cx="2743200" cy="365125"/>
          </a:xfrm>
        </p:spPr>
        <p:txBody>
          <a:bodyPr/>
          <a:lstStyle/>
          <a:p>
            <a:fld id="{E5F1F772-9057-426D-B3AC-E75943B69A01}" type="datetime1">
              <a:rPr lang="en-US" b="1" smtClean="0">
                <a:solidFill>
                  <a:schemeClr val="tx1"/>
                </a:solidFill>
              </a:rPr>
              <a:t>5/12/2026</a:t>
            </a:fld>
            <a:endParaRPr lang="en-US" b="1" dirty="0">
              <a:solidFill>
                <a:schemeClr val="tx1"/>
              </a:solidFill>
            </a:endParaRPr>
          </a:p>
        </p:txBody>
      </p:sp>
      <p:sp>
        <p:nvSpPr>
          <p:cNvPr id="6" name="Slide Number Placeholder 5">
            <a:extLst>
              <a:ext uri="{FF2B5EF4-FFF2-40B4-BE49-F238E27FC236}">
                <a16:creationId xmlns:a16="http://schemas.microsoft.com/office/drawing/2014/main" id="{C2151190-BA54-025A-3487-AA3B0828CEC2}"/>
              </a:ext>
            </a:extLst>
          </p:cNvPr>
          <p:cNvSpPr>
            <a:spLocks noGrp="1"/>
          </p:cNvSpPr>
          <p:nvPr>
            <p:ph type="sldNum" sz="quarter" idx="12"/>
          </p:nvPr>
        </p:nvSpPr>
        <p:spPr/>
        <p:txBody>
          <a:bodyPr/>
          <a:lstStyle/>
          <a:p>
            <a:fld id="{47D73ED1-4BC5-4C68-A93F-B56D3DD7872F}" type="slidenum">
              <a:rPr lang="en-US" smtClean="0"/>
              <a:t>13</a:t>
            </a:fld>
            <a:endParaRPr lang="en-US" dirty="0"/>
          </a:p>
        </p:txBody>
      </p:sp>
      <p:pic>
        <p:nvPicPr>
          <p:cNvPr id="2" name="Picture 1">
            <a:extLst>
              <a:ext uri="{FF2B5EF4-FFF2-40B4-BE49-F238E27FC236}">
                <a16:creationId xmlns:a16="http://schemas.microsoft.com/office/drawing/2014/main" id="{11AF98B6-5C57-AD23-1DDB-E7B5C48E0876}"/>
              </a:ext>
            </a:extLst>
          </p:cNvPr>
          <p:cNvPicPr>
            <a:picLocks noChangeAspect="1"/>
          </p:cNvPicPr>
          <p:nvPr/>
        </p:nvPicPr>
        <p:blipFill>
          <a:blip r:embed="rId2"/>
          <a:stretch>
            <a:fillRect/>
          </a:stretch>
        </p:blipFill>
        <p:spPr>
          <a:xfrm>
            <a:off x="117987" y="6272175"/>
            <a:ext cx="2676899" cy="533474"/>
          </a:xfrm>
          <a:prstGeom prst="rect">
            <a:avLst/>
          </a:prstGeom>
        </p:spPr>
      </p:pic>
      <p:graphicFrame>
        <p:nvGraphicFramePr>
          <p:cNvPr id="7" name="Table 6">
            <a:extLst>
              <a:ext uri="{FF2B5EF4-FFF2-40B4-BE49-F238E27FC236}">
                <a16:creationId xmlns:a16="http://schemas.microsoft.com/office/drawing/2014/main" id="{38F44A0F-7E2F-EEB6-72CC-9D3233D0ACDF}"/>
              </a:ext>
            </a:extLst>
          </p:cNvPr>
          <p:cNvGraphicFramePr>
            <a:graphicFrameLocks noGrp="1"/>
          </p:cNvGraphicFramePr>
          <p:nvPr>
            <p:extLst>
              <p:ext uri="{D42A27DB-BD31-4B8C-83A1-F6EECF244321}">
                <p14:modId xmlns:p14="http://schemas.microsoft.com/office/powerpoint/2010/main" val="144689142"/>
              </p:ext>
            </p:extLst>
          </p:nvPr>
        </p:nvGraphicFramePr>
        <p:xfrm>
          <a:off x="374705" y="1943793"/>
          <a:ext cx="5125065" cy="3909060"/>
        </p:xfrm>
        <a:graphic>
          <a:graphicData uri="http://schemas.openxmlformats.org/drawingml/2006/table">
            <a:tbl>
              <a:tblPr firstRow="1" firstCol="1" bandRow="1">
                <a:tableStyleId>{5C22544A-7EE6-4342-B048-85BDC9FD1C3A}</a:tableStyleId>
              </a:tblPr>
              <a:tblGrid>
                <a:gridCol w="1533139">
                  <a:extLst>
                    <a:ext uri="{9D8B030D-6E8A-4147-A177-3AD203B41FA5}">
                      <a16:colId xmlns:a16="http://schemas.microsoft.com/office/drawing/2014/main" val="2697370845"/>
                    </a:ext>
                  </a:extLst>
                </a:gridCol>
                <a:gridCol w="438040">
                  <a:extLst>
                    <a:ext uri="{9D8B030D-6E8A-4147-A177-3AD203B41FA5}">
                      <a16:colId xmlns:a16="http://schemas.microsoft.com/office/drawing/2014/main" val="4285406498"/>
                    </a:ext>
                  </a:extLst>
                </a:gridCol>
                <a:gridCol w="1916424">
                  <a:extLst>
                    <a:ext uri="{9D8B030D-6E8A-4147-A177-3AD203B41FA5}">
                      <a16:colId xmlns:a16="http://schemas.microsoft.com/office/drawing/2014/main" val="1582418583"/>
                    </a:ext>
                  </a:extLst>
                </a:gridCol>
                <a:gridCol w="1237462">
                  <a:extLst>
                    <a:ext uri="{9D8B030D-6E8A-4147-A177-3AD203B41FA5}">
                      <a16:colId xmlns:a16="http://schemas.microsoft.com/office/drawing/2014/main" val="4043826514"/>
                    </a:ext>
                  </a:extLst>
                </a:gridCol>
              </a:tblGrid>
              <a:tr h="232152">
                <a:tc>
                  <a:txBody>
                    <a:bodyPr/>
                    <a:lstStyle/>
                    <a:p>
                      <a:pPr>
                        <a:buNone/>
                      </a:pPr>
                      <a:r>
                        <a:rPr lang="en-SG" sz="950" dirty="0">
                          <a:effectLst/>
                        </a:rPr>
                        <a:t>Sub-Problem</a:t>
                      </a:r>
                      <a:endParaRPr lang="en-SG" sz="1000" dirty="0">
                        <a:effectLst/>
                        <a:latin typeface="Arial" panose="020B0604020202020204" pitchFamily="34" charset="0"/>
                        <a:ea typeface="Arial" panose="020B0604020202020204" pitchFamily="34" charset="0"/>
                      </a:endParaRPr>
                    </a:p>
                  </a:txBody>
                  <a:tcPr marL="82550" marR="82550" marT="50800" marB="50800">
                    <a:solidFill>
                      <a:srgbClr val="002060"/>
                    </a:solidFill>
                  </a:tcPr>
                </a:tc>
                <a:tc>
                  <a:txBody>
                    <a:bodyPr/>
                    <a:lstStyle/>
                    <a:p>
                      <a:pPr>
                        <a:buNone/>
                      </a:pPr>
                      <a:r>
                        <a:rPr lang="en-SG" sz="950">
                          <a:effectLst/>
                        </a:rPr>
                        <a:t>Stage</a:t>
                      </a:r>
                      <a:endParaRPr lang="en-SG" sz="1000">
                        <a:effectLst/>
                        <a:latin typeface="Arial" panose="020B0604020202020204" pitchFamily="34" charset="0"/>
                        <a:ea typeface="Arial" panose="020B0604020202020204" pitchFamily="34" charset="0"/>
                      </a:endParaRPr>
                    </a:p>
                  </a:txBody>
                  <a:tcPr marL="82550" marR="82550" marT="50800" marB="50800">
                    <a:solidFill>
                      <a:srgbClr val="002060"/>
                    </a:solidFill>
                  </a:tcPr>
                </a:tc>
                <a:tc>
                  <a:txBody>
                    <a:bodyPr/>
                    <a:lstStyle/>
                    <a:p>
                      <a:pPr>
                        <a:buNone/>
                      </a:pPr>
                      <a:r>
                        <a:rPr lang="en-SG" sz="950">
                          <a:effectLst/>
                        </a:rPr>
                        <a:t>Solution</a:t>
                      </a:r>
                      <a:endParaRPr lang="en-SG" sz="1000">
                        <a:effectLst/>
                        <a:latin typeface="Arial" panose="020B0604020202020204" pitchFamily="34" charset="0"/>
                        <a:ea typeface="Arial" panose="020B0604020202020204" pitchFamily="34" charset="0"/>
                      </a:endParaRPr>
                    </a:p>
                  </a:txBody>
                  <a:tcPr marL="82550" marR="82550" marT="50800" marB="50800">
                    <a:solidFill>
                      <a:srgbClr val="002060"/>
                    </a:solidFill>
                  </a:tcPr>
                </a:tc>
                <a:tc>
                  <a:txBody>
                    <a:bodyPr/>
                    <a:lstStyle/>
                    <a:p>
                      <a:pPr>
                        <a:buNone/>
                      </a:pPr>
                      <a:r>
                        <a:rPr lang="en-SG" sz="950" dirty="0">
                          <a:effectLst/>
                        </a:rPr>
                        <a:t>Result</a:t>
                      </a:r>
                      <a:endParaRPr lang="en-SG" sz="1000" dirty="0">
                        <a:effectLst/>
                        <a:latin typeface="Arial" panose="020B0604020202020204" pitchFamily="34" charset="0"/>
                        <a:ea typeface="Arial" panose="020B0604020202020204" pitchFamily="34" charset="0"/>
                      </a:endParaRPr>
                    </a:p>
                  </a:txBody>
                  <a:tcPr marL="82550" marR="82550" marT="50800" marB="50800">
                    <a:solidFill>
                      <a:srgbClr val="002060"/>
                    </a:solidFill>
                  </a:tcPr>
                </a:tc>
                <a:extLst>
                  <a:ext uri="{0D108BD9-81ED-4DB2-BD59-A6C34878D82A}">
                    <a16:rowId xmlns:a16="http://schemas.microsoft.com/office/drawing/2014/main" val="3962526731"/>
                  </a:ext>
                </a:extLst>
              </a:tr>
              <a:tr h="493024">
                <a:tc>
                  <a:txBody>
                    <a:bodyPr/>
                    <a:lstStyle/>
                    <a:p>
                      <a:pPr>
                        <a:buNone/>
                      </a:pPr>
                      <a:r>
                        <a:rPr lang="en-SG" sz="950">
                          <a:effectLst/>
                        </a:rPr>
                        <a:t>Background noise degrades ASR accuracy in care home recordings</a:t>
                      </a:r>
                      <a:endParaRPr lang="en-SG" sz="100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a:effectLst/>
                        </a:rPr>
                        <a:t>Stage 1</a:t>
                      </a:r>
                      <a:endParaRPr lang="en-SG" sz="100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dirty="0" err="1">
                          <a:effectLst/>
                        </a:rPr>
                        <a:t>noisereduce</a:t>
                      </a:r>
                      <a:r>
                        <a:rPr lang="en-SG" sz="950" dirty="0">
                          <a:effectLst/>
                        </a:rPr>
                        <a:t> spectral subtraction 200MB RAM, no GPU required</a:t>
                      </a:r>
                      <a:endParaRPr lang="en-SG" sz="1000" dirty="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a:effectLst/>
                        </a:rPr>
                        <a:t>54.6% RMS reduction</a:t>
                      </a:r>
                      <a:endParaRPr lang="en-SG" sz="100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4041207944"/>
                  </a:ext>
                </a:extLst>
              </a:tr>
              <a:tr h="356604">
                <a:tc>
                  <a:txBody>
                    <a:bodyPr/>
                    <a:lstStyle/>
                    <a:p>
                      <a:pPr>
                        <a:buNone/>
                      </a:pPr>
                      <a:r>
                        <a:rPr lang="en-SG" sz="950" dirty="0">
                          <a:effectLst/>
                        </a:rPr>
                        <a:t>ASR not optimised for Sri Lankan caregiver speech</a:t>
                      </a:r>
                      <a:endParaRPr lang="en-SG" sz="1000" dirty="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a:effectLst/>
                        </a:rPr>
                        <a:t>Stage 2</a:t>
                      </a:r>
                      <a:endParaRPr lang="en-SG" sz="100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a:effectLst/>
                        </a:rPr>
                        <a:t>Whisper-small compared across 3 sizes on 23 test recordings</a:t>
                      </a:r>
                      <a:endParaRPr lang="en-SG" sz="100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a:effectLst/>
                        </a:rPr>
                        <a:t>WER 27.22%</a:t>
                      </a:r>
                      <a:endParaRPr lang="en-SG" sz="100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515657000"/>
                  </a:ext>
                </a:extLst>
              </a:tr>
              <a:tr h="299291">
                <a:tc>
                  <a:txBody>
                    <a:bodyPr/>
                    <a:lstStyle/>
                    <a:p>
                      <a:pPr>
                        <a:buNone/>
                      </a:pPr>
                      <a:r>
                        <a:rPr lang="en-SG" sz="950">
                          <a:effectLst/>
                        </a:rPr>
                        <a:t>Fillers and self-corrections corrupt downstream NLP processing</a:t>
                      </a:r>
                      <a:endParaRPr lang="en-SG" sz="100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dirty="0">
                          <a:effectLst/>
                        </a:rPr>
                        <a:t>Stage 3</a:t>
                      </a:r>
                      <a:endParaRPr lang="en-SG" sz="1000" dirty="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dirty="0">
                          <a:effectLst/>
                        </a:rPr>
                        <a:t>BART  fine-tuned</a:t>
                      </a:r>
                      <a:endParaRPr lang="en-SG" sz="1000" dirty="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a:effectLst/>
                        </a:rPr>
                        <a:t>BLEU 0.8525</a:t>
                      </a:r>
                      <a:endParaRPr lang="en-SG" sz="100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815767381"/>
                  </a:ext>
                </a:extLst>
              </a:tr>
              <a:tr h="356604">
                <a:tc>
                  <a:txBody>
                    <a:bodyPr/>
                    <a:lstStyle/>
                    <a:p>
                      <a:pPr>
                        <a:buNone/>
                      </a:pPr>
                      <a:r>
                        <a:rPr lang="en-SG" sz="950">
                          <a:effectLst/>
                        </a:rPr>
                        <a:t>Informal spoken grammar not corrected in ASR output</a:t>
                      </a:r>
                      <a:endParaRPr lang="en-SG" sz="100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a:effectLst/>
                        </a:rPr>
                        <a:t>Stage 4</a:t>
                      </a:r>
                      <a:endParaRPr lang="en-SG" sz="100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dirty="0">
                          <a:effectLst/>
                        </a:rPr>
                        <a:t>Same BART v2 handles grammar jointly</a:t>
                      </a:r>
                      <a:endParaRPr lang="en-SG" sz="1000" dirty="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a:effectLst/>
                        </a:rPr>
                        <a:t>ROUGE-L 0.9400</a:t>
                      </a:r>
                      <a:endParaRPr lang="en-SG" sz="100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3058914421"/>
                  </a:ext>
                </a:extLst>
              </a:tr>
              <a:tr h="493024">
                <a:tc>
                  <a:txBody>
                    <a:bodyPr/>
                    <a:lstStyle/>
                    <a:p>
                      <a:pPr>
                        <a:buNone/>
                      </a:pPr>
                      <a:r>
                        <a:rPr lang="en-SG" sz="950" dirty="0">
                          <a:effectLst/>
                        </a:rPr>
                        <a:t>No structured clinical data extracted from voice logs automatically</a:t>
                      </a:r>
                      <a:endParaRPr lang="en-SG" sz="1000" dirty="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a:effectLst/>
                        </a:rPr>
                        <a:t>Stage 5</a:t>
                      </a:r>
                      <a:endParaRPr lang="en-SG" sz="100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dirty="0">
                          <a:effectLst/>
                        </a:rPr>
                        <a:t>BERT-NER rule-based extraction  domain-specific keyword patterns</a:t>
                      </a:r>
                      <a:endParaRPr lang="en-SG" sz="1000" dirty="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a:effectLst/>
                        </a:rPr>
                        <a:t>F1 91.27%</a:t>
                      </a:r>
                      <a:endParaRPr lang="en-SG" sz="100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1809829485"/>
                  </a:ext>
                </a:extLst>
              </a:tr>
              <a:tr h="356604">
                <a:tc>
                  <a:txBody>
                    <a:bodyPr/>
                    <a:lstStyle/>
                    <a:p>
                      <a:pPr>
                        <a:buNone/>
                      </a:pPr>
                      <a:r>
                        <a:rPr lang="en-SG" sz="950">
                          <a:effectLst/>
                        </a:rPr>
                        <a:t>Patient safety alerts not generated automatically</a:t>
                      </a:r>
                      <a:endParaRPr lang="en-SG" sz="100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a:effectLst/>
                        </a:rPr>
                        <a:t>Stage 6</a:t>
                      </a:r>
                      <a:endParaRPr lang="en-SG" sz="100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dirty="0" err="1">
                          <a:effectLst/>
                        </a:rPr>
                        <a:t>ClinicalBERT</a:t>
                      </a:r>
                      <a:r>
                        <a:rPr lang="en-SG" sz="950" dirty="0">
                          <a:effectLst/>
                        </a:rPr>
                        <a:t> planned</a:t>
                      </a:r>
                      <a:endParaRPr lang="en-SG" sz="1000" dirty="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dirty="0">
                          <a:effectLst/>
                          <a:latin typeface="Arial" panose="020B0604020202020204" pitchFamily="34" charset="0"/>
                          <a:ea typeface="Arial" panose="020B0604020202020204" pitchFamily="34" charset="0"/>
                        </a:rPr>
                        <a:t>-</a:t>
                      </a:r>
                      <a:endParaRPr lang="en-SG" sz="1000" dirty="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3445795612"/>
                  </a:ext>
                </a:extLst>
              </a:tr>
              <a:tr h="493024">
                <a:tc>
                  <a:txBody>
                    <a:bodyPr/>
                    <a:lstStyle/>
                    <a:p>
                      <a:pPr>
                        <a:buNone/>
                      </a:pPr>
                      <a:r>
                        <a:rPr lang="en-SG" sz="950" dirty="0">
                          <a:effectLst/>
                        </a:rPr>
                        <a:t>Incoming caregivers rely on manual written handover reports</a:t>
                      </a:r>
                      <a:endParaRPr lang="en-SG" sz="1000" dirty="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a:effectLst/>
                        </a:rPr>
                        <a:t>Stage 7</a:t>
                      </a:r>
                      <a:endParaRPr lang="en-SG" sz="100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dirty="0" err="1">
                          <a:effectLst/>
                        </a:rPr>
                        <a:t>gTTS</a:t>
                      </a:r>
                      <a:r>
                        <a:rPr lang="en-SG" sz="950" dirty="0">
                          <a:effectLst/>
                        </a:rPr>
                        <a:t> spoken handover summary from ADL JSON - planned PP2. </a:t>
                      </a:r>
                      <a:endParaRPr lang="en-SG" sz="1000" dirty="0">
                        <a:effectLst/>
                        <a:latin typeface="Arial" panose="020B0604020202020204" pitchFamily="34" charset="0"/>
                        <a:ea typeface="Arial" panose="020B0604020202020204" pitchFamily="34" charset="0"/>
                      </a:endParaRPr>
                    </a:p>
                  </a:txBody>
                  <a:tcPr marL="82550" marR="82550" marT="44450" marB="44450"/>
                </a:tc>
                <a:tc>
                  <a:txBody>
                    <a:bodyPr/>
                    <a:lstStyle/>
                    <a:p>
                      <a:pPr>
                        <a:buNone/>
                      </a:pPr>
                      <a:r>
                        <a:rPr lang="en-SG" sz="950" dirty="0">
                          <a:effectLst/>
                        </a:rPr>
                        <a:t>Structured report hint in full dataset</a:t>
                      </a:r>
                      <a:endParaRPr lang="en-SG" sz="1000" dirty="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1086203546"/>
                  </a:ext>
                </a:extLst>
              </a:tr>
            </a:tbl>
          </a:graphicData>
        </a:graphic>
      </p:graphicFrame>
      <p:sp>
        <p:nvSpPr>
          <p:cNvPr id="9" name="Rectangle 2">
            <a:extLst>
              <a:ext uri="{FF2B5EF4-FFF2-40B4-BE49-F238E27FC236}">
                <a16:creationId xmlns:a16="http://schemas.microsoft.com/office/drawing/2014/main" id="{BFB0284E-BB15-EB93-E1EF-43C7710D43FF}"/>
              </a:ext>
            </a:extLst>
          </p:cNvPr>
          <p:cNvSpPr>
            <a:spLocks noChangeArrowheads="1"/>
          </p:cNvSpPr>
          <p:nvPr/>
        </p:nvSpPr>
        <p:spPr bwMode="auto">
          <a:xfrm>
            <a:off x="3178175" y="1825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SG"/>
          </a:p>
        </p:txBody>
      </p:sp>
      <p:graphicFrame>
        <p:nvGraphicFramePr>
          <p:cNvPr id="13" name="Table 12">
            <a:extLst>
              <a:ext uri="{FF2B5EF4-FFF2-40B4-BE49-F238E27FC236}">
                <a16:creationId xmlns:a16="http://schemas.microsoft.com/office/drawing/2014/main" id="{E04AEB34-35F5-CF4E-6E0C-CAA2A4AAF64A}"/>
              </a:ext>
            </a:extLst>
          </p:cNvPr>
          <p:cNvGraphicFramePr>
            <a:graphicFrameLocks noGrp="1"/>
          </p:cNvGraphicFramePr>
          <p:nvPr>
            <p:extLst>
              <p:ext uri="{D42A27DB-BD31-4B8C-83A1-F6EECF244321}">
                <p14:modId xmlns:p14="http://schemas.microsoft.com/office/powerpoint/2010/main" val="3691371639"/>
              </p:ext>
            </p:extLst>
          </p:nvPr>
        </p:nvGraphicFramePr>
        <p:xfrm>
          <a:off x="5932752" y="1888919"/>
          <a:ext cx="5511483" cy="4018808"/>
        </p:xfrm>
        <a:graphic>
          <a:graphicData uri="http://schemas.openxmlformats.org/drawingml/2006/table">
            <a:tbl>
              <a:tblPr firstRow="1" firstCol="1" bandRow="1">
                <a:tableStyleId>{5C22544A-7EE6-4342-B048-85BDC9FD1C3A}</a:tableStyleId>
              </a:tblPr>
              <a:tblGrid>
                <a:gridCol w="2180825">
                  <a:extLst>
                    <a:ext uri="{9D8B030D-6E8A-4147-A177-3AD203B41FA5}">
                      <a16:colId xmlns:a16="http://schemas.microsoft.com/office/drawing/2014/main" val="536249045"/>
                    </a:ext>
                  </a:extLst>
                </a:gridCol>
                <a:gridCol w="3330658">
                  <a:extLst>
                    <a:ext uri="{9D8B030D-6E8A-4147-A177-3AD203B41FA5}">
                      <a16:colId xmlns:a16="http://schemas.microsoft.com/office/drawing/2014/main" val="3985049727"/>
                    </a:ext>
                  </a:extLst>
                </a:gridCol>
              </a:tblGrid>
              <a:tr h="302424">
                <a:tc>
                  <a:txBody>
                    <a:bodyPr/>
                    <a:lstStyle/>
                    <a:p>
                      <a:pPr>
                        <a:buNone/>
                      </a:pPr>
                      <a:r>
                        <a:rPr lang="en-SG" sz="950">
                          <a:effectLst/>
                        </a:rPr>
                        <a:t>Requirement</a:t>
                      </a:r>
                      <a:endParaRPr lang="en-SG" sz="1000">
                        <a:effectLst/>
                        <a:latin typeface="Arial" panose="020B0604020202020204" pitchFamily="34" charset="0"/>
                        <a:ea typeface="Arial" panose="020B0604020202020204" pitchFamily="34" charset="0"/>
                      </a:endParaRPr>
                    </a:p>
                  </a:txBody>
                  <a:tcPr marL="82550" marR="82550" marT="50800" marB="50800">
                    <a:solidFill>
                      <a:srgbClr val="002060"/>
                    </a:solidFill>
                  </a:tcPr>
                </a:tc>
                <a:tc>
                  <a:txBody>
                    <a:bodyPr/>
                    <a:lstStyle/>
                    <a:p>
                      <a:pPr>
                        <a:buNone/>
                      </a:pPr>
                      <a:r>
                        <a:rPr lang="en-SG" sz="950" dirty="0">
                          <a:effectLst/>
                        </a:rPr>
                        <a:t>How Addressed</a:t>
                      </a:r>
                      <a:endParaRPr lang="en-SG" sz="1000" dirty="0">
                        <a:effectLst/>
                        <a:latin typeface="Arial" panose="020B0604020202020204" pitchFamily="34" charset="0"/>
                        <a:ea typeface="Arial" panose="020B0604020202020204" pitchFamily="34" charset="0"/>
                      </a:endParaRPr>
                    </a:p>
                  </a:txBody>
                  <a:tcPr marL="82550" marR="82550" marT="50800" marB="50800">
                    <a:solidFill>
                      <a:srgbClr val="002060"/>
                    </a:solidFill>
                  </a:tcPr>
                </a:tc>
                <a:extLst>
                  <a:ext uri="{0D108BD9-81ED-4DB2-BD59-A6C34878D82A}">
                    <a16:rowId xmlns:a16="http://schemas.microsoft.com/office/drawing/2014/main" val="943000359"/>
                  </a:ext>
                </a:extLst>
              </a:tr>
              <a:tr h="464548">
                <a:tc>
                  <a:txBody>
                    <a:bodyPr/>
                    <a:lstStyle/>
                    <a:p>
                      <a:pPr>
                        <a:buNone/>
                      </a:pPr>
                      <a:r>
                        <a:rPr lang="en-SG" sz="950">
                          <a:effectLst/>
                        </a:rPr>
                        <a:t>Caregiver must speak naturally without learning new words</a:t>
                      </a:r>
                      <a:endParaRPr lang="en-SG" sz="100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dirty="0">
                          <a:effectLst/>
                        </a:rPr>
                        <a:t>BART  handles fillers, self-corrections, repetitions in natural Sri Lankan English - no constraints on speaking style</a:t>
                      </a:r>
                      <a:endParaRPr lang="en-SG" sz="1000" dirty="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4083550433"/>
                  </a:ext>
                </a:extLst>
              </a:tr>
              <a:tr h="464548">
                <a:tc>
                  <a:txBody>
                    <a:bodyPr/>
                    <a:lstStyle/>
                    <a:p>
                      <a:pPr>
                        <a:buNone/>
                      </a:pPr>
                      <a:r>
                        <a:rPr lang="en-SG" sz="950">
                          <a:effectLst/>
                        </a:rPr>
                        <a:t>System must work in noisy care home rooms</a:t>
                      </a:r>
                      <a:endParaRPr lang="en-SG" sz="100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dirty="0" err="1">
                          <a:effectLst/>
                        </a:rPr>
                        <a:t>noisereduce</a:t>
                      </a:r>
                      <a:r>
                        <a:rPr lang="en-SG" sz="950" dirty="0">
                          <a:effectLst/>
                        </a:rPr>
                        <a:t> removes fan, AC, and TV noise — 54.6% RMS reduction tested on real care home recordings</a:t>
                      </a:r>
                      <a:endParaRPr lang="en-SG" sz="1000" dirty="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4118745277"/>
                  </a:ext>
                </a:extLst>
              </a:tr>
              <a:tr h="464548">
                <a:tc>
                  <a:txBody>
                    <a:bodyPr/>
                    <a:lstStyle/>
                    <a:p>
                      <a:pPr>
                        <a:buNone/>
                      </a:pPr>
                      <a:r>
                        <a:rPr lang="en-SG" sz="950">
                          <a:effectLst/>
                        </a:rPr>
                        <a:t>Patient hygiene must be captured automatically</a:t>
                      </a:r>
                      <a:endParaRPr lang="en-SG" sz="100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dirty="0">
                          <a:effectLst/>
                        </a:rPr>
                        <a:t>BERT-NER extracts hygiene field -partial body wash, full body bath, sponge bath - Precision 100%</a:t>
                      </a:r>
                      <a:endParaRPr lang="en-SG" sz="1000" dirty="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3795630758"/>
                  </a:ext>
                </a:extLst>
              </a:tr>
              <a:tr h="464548">
                <a:tc>
                  <a:txBody>
                    <a:bodyPr/>
                    <a:lstStyle/>
                    <a:p>
                      <a:pPr>
                        <a:buNone/>
                      </a:pPr>
                      <a:r>
                        <a:rPr lang="en-SG" sz="950">
                          <a:effectLst/>
                        </a:rPr>
                        <a:t>Medication timing and dose must be recorded accurately</a:t>
                      </a:r>
                      <a:endParaRPr lang="en-SG" sz="100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dirty="0">
                          <a:effectLst/>
                        </a:rPr>
                        <a:t>BERT-NER extracts </a:t>
                      </a:r>
                      <a:r>
                        <a:rPr lang="en-SG" sz="950" dirty="0" err="1">
                          <a:effectLst/>
                        </a:rPr>
                        <a:t>after_breakfast</a:t>
                      </a:r>
                      <a:r>
                        <a:rPr lang="en-SG" sz="950" dirty="0">
                          <a:effectLst/>
                        </a:rPr>
                        <a:t>, </a:t>
                      </a:r>
                      <a:r>
                        <a:rPr lang="en-SG" sz="950" dirty="0" err="1">
                          <a:effectLst/>
                        </a:rPr>
                        <a:t>after_lunch</a:t>
                      </a:r>
                      <a:r>
                        <a:rPr lang="en-SG" sz="950" dirty="0">
                          <a:effectLst/>
                        </a:rPr>
                        <a:t>, </a:t>
                      </a:r>
                      <a:r>
                        <a:rPr lang="en-SG" sz="950" dirty="0" err="1">
                          <a:effectLst/>
                        </a:rPr>
                        <a:t>after_dinner</a:t>
                      </a:r>
                      <a:r>
                        <a:rPr lang="en-SG" sz="950" dirty="0">
                          <a:effectLst/>
                        </a:rPr>
                        <a:t> status and tablet dose for all</a:t>
                      </a:r>
                      <a:endParaRPr lang="en-SG" sz="1000" dirty="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786326228"/>
                  </a:ext>
                </a:extLst>
              </a:tr>
              <a:tr h="464548">
                <a:tc>
                  <a:txBody>
                    <a:bodyPr/>
                    <a:lstStyle/>
                    <a:p>
                      <a:pPr>
                        <a:buNone/>
                      </a:pPr>
                      <a:r>
                        <a:rPr lang="en-SG" sz="950">
                          <a:effectLst/>
                        </a:rPr>
                        <a:t>Fluid intake must be tracked especially for kidney patients</a:t>
                      </a:r>
                      <a:endParaRPr lang="en-SG" sz="100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dirty="0">
                          <a:effectLst/>
                        </a:rPr>
                        <a:t>Fluid extraction accuracy 100% on test rows</a:t>
                      </a:r>
                      <a:endParaRPr lang="en-SG" sz="1000" dirty="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3482383574"/>
                  </a:ext>
                </a:extLst>
              </a:tr>
              <a:tr h="464548">
                <a:tc>
                  <a:txBody>
                    <a:bodyPr/>
                    <a:lstStyle/>
                    <a:p>
                      <a:pPr>
                        <a:buNone/>
                      </a:pPr>
                      <a:r>
                        <a:rPr lang="en-SG" sz="950">
                          <a:effectLst/>
                        </a:rPr>
                        <a:t>Supervisor alerted immediately when medication refused</a:t>
                      </a:r>
                      <a:endParaRPr lang="en-SG" sz="100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dirty="0">
                          <a:effectLst/>
                        </a:rPr>
                        <a:t>Alert triggered when medicine refused is detected - Alert Recall 86.05% on test rows</a:t>
                      </a:r>
                      <a:endParaRPr lang="en-SG" sz="1000" dirty="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552387596"/>
                  </a:ext>
                </a:extLst>
              </a:tr>
              <a:tr h="464548">
                <a:tc>
                  <a:txBody>
                    <a:bodyPr/>
                    <a:lstStyle/>
                    <a:p>
                      <a:pPr>
                        <a:buNone/>
                      </a:pPr>
                      <a:r>
                        <a:rPr lang="en-SG" sz="950">
                          <a:effectLst/>
                        </a:rPr>
                        <a:t>Supervisor alerted when abnormal symptoms are observed</a:t>
                      </a:r>
                      <a:endParaRPr lang="en-SG" sz="100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a:effectLst/>
                        </a:rPr>
                        <a:t>Body pain, fever, vomiting, loose motion, crying detected automatically from cleaned text</a:t>
                      </a:r>
                      <a:endParaRPr lang="en-SG" sz="100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3795287489"/>
                  </a:ext>
                </a:extLst>
              </a:tr>
              <a:tr h="464548">
                <a:tc>
                  <a:txBody>
                    <a:bodyPr/>
                    <a:lstStyle/>
                    <a:p>
                      <a:pPr>
                        <a:buNone/>
                      </a:pPr>
                      <a:r>
                        <a:rPr lang="en-SG" sz="950" dirty="0">
                          <a:effectLst/>
                        </a:rPr>
                        <a:t>System must run on standard care home hardware without GPU</a:t>
                      </a:r>
                      <a:endParaRPr lang="en-SG" sz="1000" dirty="0">
                        <a:effectLst/>
                        <a:latin typeface="Arial" panose="020B0604020202020204" pitchFamily="34" charset="0"/>
                        <a:ea typeface="Arial" panose="020B0604020202020204" pitchFamily="34" charset="0"/>
                      </a:endParaRPr>
                    </a:p>
                  </a:txBody>
                  <a:tcPr marL="82550" marR="82550" marT="44450" marB="44450">
                    <a:solidFill>
                      <a:srgbClr val="002060"/>
                    </a:solidFill>
                  </a:tcPr>
                </a:tc>
                <a:tc>
                  <a:txBody>
                    <a:bodyPr/>
                    <a:lstStyle/>
                    <a:p>
                      <a:pPr>
                        <a:buNone/>
                      </a:pPr>
                      <a:r>
                        <a:rPr lang="en-SG" sz="950" dirty="0" err="1">
                          <a:effectLst/>
                        </a:rPr>
                        <a:t>noisereduce</a:t>
                      </a:r>
                      <a:r>
                        <a:rPr lang="en-SG" sz="950" dirty="0">
                          <a:effectLst/>
                        </a:rPr>
                        <a:t> 200MB no GPU + BERT-NER ~0MB no GPU - full pipeline CPU-ready for care home deployment</a:t>
                      </a:r>
                      <a:endParaRPr lang="en-SG" sz="1000" dirty="0">
                        <a:effectLst/>
                        <a:latin typeface="Arial" panose="020B0604020202020204" pitchFamily="34" charset="0"/>
                        <a:ea typeface="Arial" panose="020B0604020202020204" pitchFamily="34" charset="0"/>
                      </a:endParaRPr>
                    </a:p>
                  </a:txBody>
                  <a:tcPr marL="82550" marR="82550" marT="44450" marB="44450"/>
                </a:tc>
                <a:extLst>
                  <a:ext uri="{0D108BD9-81ED-4DB2-BD59-A6C34878D82A}">
                    <a16:rowId xmlns:a16="http://schemas.microsoft.com/office/drawing/2014/main" val="1456640516"/>
                  </a:ext>
                </a:extLst>
              </a:tr>
            </a:tbl>
          </a:graphicData>
        </a:graphic>
      </p:graphicFrame>
      <p:sp>
        <p:nvSpPr>
          <p:cNvPr id="17" name="TextBox 16">
            <a:extLst>
              <a:ext uri="{FF2B5EF4-FFF2-40B4-BE49-F238E27FC236}">
                <a16:creationId xmlns:a16="http://schemas.microsoft.com/office/drawing/2014/main" id="{35374442-C74C-E733-3250-6599C6602196}"/>
              </a:ext>
            </a:extLst>
          </p:cNvPr>
          <p:cNvSpPr txBox="1"/>
          <p:nvPr/>
        </p:nvSpPr>
        <p:spPr>
          <a:xfrm>
            <a:off x="642689" y="1407894"/>
            <a:ext cx="6260528" cy="646331"/>
          </a:xfrm>
          <a:prstGeom prst="rect">
            <a:avLst/>
          </a:prstGeom>
          <a:noFill/>
        </p:spPr>
        <p:txBody>
          <a:bodyPr wrap="square">
            <a:spAutoFit/>
          </a:bodyPr>
          <a:lstStyle/>
          <a:p>
            <a:r>
              <a:rPr lang="en-SG" b="1" dirty="0">
                <a:solidFill>
                  <a:schemeClr val="accent2">
                    <a:lumMod val="75000"/>
                  </a:schemeClr>
                </a:solidFill>
                <a:latin typeface="Arial" panose="020B0604020202020204" pitchFamily="34" charset="0"/>
                <a:ea typeface="Arial" panose="020B0604020202020204" pitchFamily="34" charset="0"/>
              </a:rPr>
              <a:t>How the Solution Addresses the Sub-Problem</a:t>
            </a:r>
            <a:endParaRPr lang="en-SG" dirty="0">
              <a:solidFill>
                <a:schemeClr val="accent2">
                  <a:lumMod val="75000"/>
                </a:schemeClr>
              </a:solidFill>
            </a:endParaRPr>
          </a:p>
          <a:p>
            <a:pPr marL="0" indent="0" algn="l">
              <a:buNone/>
            </a:pPr>
            <a:endParaRPr lang="en-US" sz="1800" dirty="0"/>
          </a:p>
        </p:txBody>
      </p:sp>
      <p:sp>
        <p:nvSpPr>
          <p:cNvPr id="18" name="TextBox 17">
            <a:extLst>
              <a:ext uri="{FF2B5EF4-FFF2-40B4-BE49-F238E27FC236}">
                <a16:creationId xmlns:a16="http://schemas.microsoft.com/office/drawing/2014/main" id="{A85E7803-B501-0854-DD06-AA3C0DF25F19}"/>
              </a:ext>
            </a:extLst>
          </p:cNvPr>
          <p:cNvSpPr txBox="1"/>
          <p:nvPr/>
        </p:nvSpPr>
        <p:spPr>
          <a:xfrm>
            <a:off x="6540544" y="1408561"/>
            <a:ext cx="6707274" cy="369332"/>
          </a:xfrm>
          <a:prstGeom prst="rect">
            <a:avLst/>
          </a:prstGeom>
          <a:noFill/>
        </p:spPr>
        <p:txBody>
          <a:bodyPr wrap="square">
            <a:spAutoFit/>
          </a:bodyPr>
          <a:lstStyle/>
          <a:p>
            <a:r>
              <a:rPr lang="en-SG" b="1" dirty="0">
                <a:solidFill>
                  <a:schemeClr val="accent2">
                    <a:lumMod val="75000"/>
                  </a:schemeClr>
                </a:solidFill>
              </a:rPr>
              <a:t>User Requirements Addressed by the Solution</a:t>
            </a:r>
            <a:endParaRPr lang="en-US" sz="1800" dirty="0">
              <a:solidFill>
                <a:schemeClr val="accent2">
                  <a:lumMod val="75000"/>
                </a:schemeClr>
              </a:solidFill>
            </a:endParaRPr>
          </a:p>
        </p:txBody>
      </p:sp>
      <p:sp>
        <p:nvSpPr>
          <p:cNvPr id="20" name="Shape 5">
            <a:extLst>
              <a:ext uri="{FF2B5EF4-FFF2-40B4-BE49-F238E27FC236}">
                <a16:creationId xmlns:a16="http://schemas.microsoft.com/office/drawing/2014/main" id="{0B0DF5C1-E01D-BFFD-CA03-35FCF15DB22A}"/>
              </a:ext>
            </a:extLst>
          </p:cNvPr>
          <p:cNvSpPr/>
          <p:nvPr/>
        </p:nvSpPr>
        <p:spPr>
          <a:xfrm>
            <a:off x="182681" y="1387918"/>
            <a:ext cx="384048" cy="384048"/>
          </a:xfrm>
          <a:prstGeom prst="ellipse">
            <a:avLst/>
          </a:prstGeom>
          <a:solidFill>
            <a:srgbClr val="1E2761"/>
          </a:solidFill>
          <a:ln w="12700">
            <a:solidFill>
              <a:srgbClr val="1E2761"/>
            </a:solidFill>
            <a:prstDash val="solid"/>
          </a:ln>
        </p:spPr>
        <p:txBody>
          <a:bodyPr/>
          <a:lstStyle/>
          <a:p>
            <a:r>
              <a:rPr lang="en-SG" dirty="0">
                <a:solidFill>
                  <a:schemeClr val="bg1"/>
                </a:solidFill>
              </a:rPr>
              <a:t>1</a:t>
            </a:r>
          </a:p>
        </p:txBody>
      </p:sp>
      <p:sp>
        <p:nvSpPr>
          <p:cNvPr id="21" name="Shape 5">
            <a:extLst>
              <a:ext uri="{FF2B5EF4-FFF2-40B4-BE49-F238E27FC236}">
                <a16:creationId xmlns:a16="http://schemas.microsoft.com/office/drawing/2014/main" id="{6F58DF47-10B9-B2DA-7CC8-6AE6ED25E05A}"/>
              </a:ext>
            </a:extLst>
          </p:cNvPr>
          <p:cNvSpPr/>
          <p:nvPr/>
        </p:nvSpPr>
        <p:spPr>
          <a:xfrm>
            <a:off x="6028070" y="1380341"/>
            <a:ext cx="384048" cy="384048"/>
          </a:xfrm>
          <a:prstGeom prst="ellipse">
            <a:avLst/>
          </a:prstGeom>
          <a:solidFill>
            <a:srgbClr val="1E2761"/>
          </a:solidFill>
          <a:ln w="12700">
            <a:solidFill>
              <a:srgbClr val="1E2761"/>
            </a:solidFill>
            <a:prstDash val="solid"/>
          </a:ln>
        </p:spPr>
        <p:txBody>
          <a:bodyPr/>
          <a:lstStyle/>
          <a:p>
            <a:r>
              <a:rPr lang="en-SG" dirty="0">
                <a:solidFill>
                  <a:schemeClr val="bg1"/>
                </a:solidFill>
              </a:rPr>
              <a:t>2</a:t>
            </a:r>
          </a:p>
        </p:txBody>
      </p:sp>
    </p:spTree>
    <p:extLst>
      <p:ext uri="{BB962C8B-B14F-4D97-AF65-F5344CB8AC3E}">
        <p14:creationId xmlns:p14="http://schemas.microsoft.com/office/powerpoint/2010/main" val="34677833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0"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4C0CB-AB79-0089-81D2-77E078326B7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DCF435D-46C6-4738-E198-44693A7A8DAF}"/>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Text 0">
            <a:extLst>
              <a:ext uri="{FF2B5EF4-FFF2-40B4-BE49-F238E27FC236}">
                <a16:creationId xmlns:a16="http://schemas.microsoft.com/office/drawing/2014/main" id="{FF603C78-91DE-9CC3-39C7-B442DE25EA57}"/>
              </a:ext>
            </a:extLst>
          </p:cNvPr>
          <p:cNvSpPr/>
          <p:nvPr/>
        </p:nvSpPr>
        <p:spPr>
          <a:xfrm>
            <a:off x="38100" y="513203"/>
            <a:ext cx="12115800" cy="347472"/>
          </a:xfrm>
          <a:prstGeom prst="rect">
            <a:avLst/>
          </a:prstGeom>
          <a:noFill/>
          <a:ln/>
        </p:spPr>
        <p:txBody>
          <a:bodyPr wrap="square" lIns="0" tIns="0" rIns="0" bIns="0" rtlCol="0" anchor="ctr"/>
          <a:lstStyle/>
          <a:p>
            <a:pPr algn="ctr"/>
            <a:r>
              <a:rPr lang="en-US" sz="2000" b="1" dirty="0">
                <a:ea typeface="+mn-lt"/>
                <a:cs typeface="+mn-lt"/>
              </a:rPr>
              <a:t>Context-Aware Intelligent System for Automated ADL Extraction and Real-Time Documentation from Caregiver Voice Logs</a:t>
            </a:r>
            <a:endParaRPr lang="en-US" sz="2000" b="1" dirty="0">
              <a:solidFill>
                <a:srgbClr val="0F2742"/>
              </a:solidFill>
              <a:latin typeface="+mj-lt"/>
            </a:endParaRPr>
          </a:p>
        </p:txBody>
      </p:sp>
      <p:sp>
        <p:nvSpPr>
          <p:cNvPr id="12" name="Rectangle 11">
            <a:extLst>
              <a:ext uri="{FF2B5EF4-FFF2-40B4-BE49-F238E27FC236}">
                <a16:creationId xmlns:a16="http://schemas.microsoft.com/office/drawing/2014/main" id="{D939728D-ECD7-695E-550C-9B0B559F670F}"/>
              </a:ext>
            </a:extLst>
          </p:cNvPr>
          <p:cNvSpPr/>
          <p:nvPr/>
        </p:nvSpPr>
        <p:spPr>
          <a:xfrm>
            <a:off x="2937238" y="6492874"/>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            IT22294098</a:t>
            </a:r>
            <a:r>
              <a:rPr lang="en-US" dirty="0">
                <a:solidFill>
                  <a:schemeClr val="tx1"/>
                </a:solidFill>
              </a:rPr>
              <a:t>   | </a:t>
            </a:r>
            <a:r>
              <a:rPr lang="en-US" b="1" dirty="0">
                <a:solidFill>
                  <a:schemeClr val="tx1"/>
                </a:solidFill>
              </a:rPr>
              <a:t>VIDURSHA PRABAGARAN   </a:t>
            </a:r>
            <a:r>
              <a:rPr lang="en-US" dirty="0">
                <a:solidFill>
                  <a:schemeClr val="tx1"/>
                </a:solidFill>
              </a:rPr>
              <a:t>| R26-DS-010  </a:t>
            </a:r>
          </a:p>
        </p:txBody>
      </p:sp>
      <p:sp>
        <p:nvSpPr>
          <p:cNvPr id="4" name="Date Placeholder 3">
            <a:extLst>
              <a:ext uri="{FF2B5EF4-FFF2-40B4-BE49-F238E27FC236}">
                <a16:creationId xmlns:a16="http://schemas.microsoft.com/office/drawing/2014/main" id="{040BC242-EEF2-C051-4456-C48028AAAB46}"/>
              </a:ext>
            </a:extLst>
          </p:cNvPr>
          <p:cNvSpPr>
            <a:spLocks noGrp="1"/>
          </p:cNvSpPr>
          <p:nvPr>
            <p:ph type="dt" sz="half" idx="10"/>
          </p:nvPr>
        </p:nvSpPr>
        <p:spPr>
          <a:xfrm>
            <a:off x="10210803" y="6370894"/>
            <a:ext cx="2743200" cy="365125"/>
          </a:xfrm>
        </p:spPr>
        <p:txBody>
          <a:bodyPr/>
          <a:lstStyle/>
          <a:p>
            <a:fld id="{E5F1F772-9057-426D-B3AC-E75943B69A01}" type="datetime1">
              <a:rPr lang="en-US" b="1" smtClean="0">
                <a:solidFill>
                  <a:schemeClr val="tx1"/>
                </a:solidFill>
              </a:rPr>
              <a:t>5/12/2026</a:t>
            </a:fld>
            <a:endParaRPr lang="en-US" b="1" dirty="0">
              <a:solidFill>
                <a:schemeClr val="tx1"/>
              </a:solidFill>
            </a:endParaRPr>
          </a:p>
        </p:txBody>
      </p:sp>
      <p:sp>
        <p:nvSpPr>
          <p:cNvPr id="6" name="Slide Number Placeholder 5">
            <a:extLst>
              <a:ext uri="{FF2B5EF4-FFF2-40B4-BE49-F238E27FC236}">
                <a16:creationId xmlns:a16="http://schemas.microsoft.com/office/drawing/2014/main" id="{14550E34-A27A-2C0C-C718-CDA37099A6D3}"/>
              </a:ext>
            </a:extLst>
          </p:cNvPr>
          <p:cNvSpPr>
            <a:spLocks noGrp="1"/>
          </p:cNvSpPr>
          <p:nvPr>
            <p:ph type="sldNum" sz="quarter" idx="12"/>
          </p:nvPr>
        </p:nvSpPr>
        <p:spPr/>
        <p:txBody>
          <a:bodyPr/>
          <a:lstStyle/>
          <a:p>
            <a:fld id="{47D73ED1-4BC5-4C68-A93F-B56D3DD7872F}" type="slidenum">
              <a:rPr lang="en-US" smtClean="0"/>
              <a:t>14</a:t>
            </a:fld>
            <a:endParaRPr lang="en-US" dirty="0"/>
          </a:p>
        </p:txBody>
      </p:sp>
      <p:pic>
        <p:nvPicPr>
          <p:cNvPr id="2" name="Picture 1">
            <a:extLst>
              <a:ext uri="{FF2B5EF4-FFF2-40B4-BE49-F238E27FC236}">
                <a16:creationId xmlns:a16="http://schemas.microsoft.com/office/drawing/2014/main" id="{AAD3C5DE-931D-34FC-FC6C-960E4BDCD293}"/>
              </a:ext>
            </a:extLst>
          </p:cNvPr>
          <p:cNvPicPr>
            <a:picLocks noChangeAspect="1"/>
          </p:cNvPicPr>
          <p:nvPr/>
        </p:nvPicPr>
        <p:blipFill>
          <a:blip r:embed="rId2"/>
          <a:stretch>
            <a:fillRect/>
          </a:stretch>
        </p:blipFill>
        <p:spPr>
          <a:xfrm>
            <a:off x="117987" y="6272175"/>
            <a:ext cx="2676899" cy="533474"/>
          </a:xfrm>
          <a:prstGeom prst="rect">
            <a:avLst/>
          </a:prstGeom>
        </p:spPr>
      </p:pic>
      <p:sp>
        <p:nvSpPr>
          <p:cNvPr id="5" name="TextBox 4">
            <a:extLst>
              <a:ext uri="{FF2B5EF4-FFF2-40B4-BE49-F238E27FC236}">
                <a16:creationId xmlns:a16="http://schemas.microsoft.com/office/drawing/2014/main" id="{AE98A1A7-5510-B035-EEED-A52CF0DB19DA}"/>
              </a:ext>
            </a:extLst>
          </p:cNvPr>
          <p:cNvSpPr txBox="1"/>
          <p:nvPr/>
        </p:nvSpPr>
        <p:spPr>
          <a:xfrm>
            <a:off x="180382" y="1993968"/>
            <a:ext cx="6126724" cy="3539430"/>
          </a:xfrm>
          <a:prstGeom prst="rect">
            <a:avLst/>
          </a:prstGeom>
          <a:noFill/>
        </p:spPr>
        <p:txBody>
          <a:bodyPr wrap="square">
            <a:spAutoFit/>
          </a:bodyPr>
          <a:lstStyle/>
          <a:p>
            <a:pPr algn="just">
              <a:buNone/>
            </a:pPr>
            <a:r>
              <a:rPr lang="en-SG" sz="1400" b="1" dirty="0"/>
              <a:t>1</a:t>
            </a:r>
            <a:r>
              <a:rPr lang="en-SG" sz="1400" b="1" dirty="0">
                <a:solidFill>
                  <a:srgbClr val="002060"/>
                </a:solidFill>
              </a:rPr>
              <a:t>.First Sri Lankan elder care speech dataset</a:t>
            </a:r>
            <a:r>
              <a:rPr lang="en-SG" sz="1400" dirty="0">
                <a:solidFill>
                  <a:srgbClr val="002060"/>
                </a:solidFill>
              </a:rPr>
              <a:t> </a:t>
            </a:r>
            <a:r>
              <a:rPr lang="en-SG" sz="1400" dirty="0"/>
              <a:t>:from 39 patients at Love &amp; Elder Care</a:t>
            </a:r>
          </a:p>
          <a:p>
            <a:pPr algn="just">
              <a:buNone/>
            </a:pPr>
            <a:r>
              <a:rPr lang="en-SG" sz="1400" b="1" dirty="0">
                <a:solidFill>
                  <a:srgbClr val="002060"/>
                </a:solidFill>
              </a:rPr>
              <a:t>2. Deployment-aware model selection </a:t>
            </a:r>
            <a:r>
              <a:rPr lang="en-SG" sz="1400" dirty="0"/>
              <a:t>:Every model chosen for care home hardware - </a:t>
            </a:r>
            <a:r>
              <a:rPr lang="en-SG" sz="1400" dirty="0" err="1"/>
              <a:t>noisereduce</a:t>
            </a:r>
            <a:r>
              <a:rPr lang="en-SG" sz="1400" dirty="0"/>
              <a:t> (200MB, no GPU) selected over Facebook Denoiser (4GB, GPU required).</a:t>
            </a:r>
          </a:p>
          <a:p>
            <a:pPr algn="just">
              <a:buNone/>
            </a:pPr>
            <a:r>
              <a:rPr lang="en-SG" sz="1400" b="1" dirty="0">
                <a:solidFill>
                  <a:srgbClr val="002060"/>
                </a:solidFill>
              </a:rPr>
              <a:t>3. Self-correction and repetition resolution and grammar correction </a:t>
            </a:r>
            <a:r>
              <a:rPr lang="en-SG" sz="1400" dirty="0"/>
              <a:t>Resolves "two tablets no sorry three tablets" → "three tablets" automatically  BART </a:t>
            </a:r>
          </a:p>
          <a:p>
            <a:pPr algn="just">
              <a:buNone/>
            </a:pPr>
            <a:r>
              <a:rPr lang="en-SG" sz="1400" b="1" dirty="0"/>
              <a:t>4</a:t>
            </a:r>
            <a:r>
              <a:rPr lang="en-SG" sz="1400" b="1" dirty="0">
                <a:solidFill>
                  <a:srgbClr val="002060"/>
                </a:solidFill>
              </a:rPr>
              <a:t>. Rule-based beats neural -novel finding</a:t>
            </a:r>
            <a:r>
              <a:rPr lang="en-SG" sz="1400" dirty="0">
                <a:solidFill>
                  <a:srgbClr val="002060"/>
                </a:solidFill>
              </a:rPr>
              <a:t> </a:t>
            </a:r>
            <a:r>
              <a:rPr lang="en-SG" sz="1400" dirty="0"/>
              <a:t>BERT-NER F1 91.27% vs FLAN-T5 F1 47.57% - domain-specific rules outperform general neural models by 43.7%.</a:t>
            </a:r>
          </a:p>
          <a:p>
            <a:pPr algn="just">
              <a:buNone/>
            </a:pPr>
            <a:r>
              <a:rPr lang="en-SG" sz="1400" b="1" dirty="0">
                <a:solidFill>
                  <a:srgbClr val="002060"/>
                </a:solidFill>
              </a:rPr>
              <a:t>5. Kidney patient special handling</a:t>
            </a:r>
            <a:r>
              <a:rPr lang="en-SG" sz="1400" dirty="0">
                <a:solidFill>
                  <a:srgbClr val="002060"/>
                </a:solidFill>
              </a:rPr>
              <a:t> </a:t>
            </a:r>
            <a:r>
              <a:rPr lang="en-SG" sz="1400" dirty="0" err="1"/>
              <a:t>fluid_limit_ml</a:t>
            </a:r>
            <a:r>
              <a:rPr lang="en-SG" sz="1400" dirty="0"/>
              <a:t> tracking and </a:t>
            </a:r>
            <a:r>
              <a:rPr lang="en-SG" sz="1400" dirty="0" err="1"/>
              <a:t>dialysis_status</a:t>
            </a:r>
            <a:r>
              <a:rPr lang="en-SG" sz="1400" dirty="0"/>
              <a:t> extraction . </a:t>
            </a:r>
          </a:p>
          <a:p>
            <a:pPr algn="just">
              <a:buNone/>
            </a:pPr>
            <a:r>
              <a:rPr lang="en-SG" sz="1400" b="1" dirty="0">
                <a:solidFill>
                  <a:srgbClr val="002060"/>
                </a:solidFill>
              </a:rPr>
              <a:t>6. Automatic SNR measurement</a:t>
            </a:r>
            <a:r>
              <a:rPr lang="en-SG" sz="1400" dirty="0">
                <a:solidFill>
                  <a:srgbClr val="002060"/>
                </a:solidFill>
              </a:rPr>
              <a:t> </a:t>
            </a:r>
            <a:r>
              <a:rPr lang="en-SG" sz="1400" dirty="0"/>
              <a:t>Replaced manual noise labels with objective SNR measured from audio - reproducible evaluation independent of human annotation.</a:t>
            </a:r>
          </a:p>
        </p:txBody>
      </p:sp>
      <p:pic>
        <p:nvPicPr>
          <p:cNvPr id="8" name="Picture 7">
            <a:extLst>
              <a:ext uri="{FF2B5EF4-FFF2-40B4-BE49-F238E27FC236}">
                <a16:creationId xmlns:a16="http://schemas.microsoft.com/office/drawing/2014/main" id="{F8E66D2F-3160-6195-CB1B-08F83DC08258}"/>
              </a:ext>
            </a:extLst>
          </p:cNvPr>
          <p:cNvPicPr>
            <a:picLocks noChangeAspect="1"/>
          </p:cNvPicPr>
          <p:nvPr/>
        </p:nvPicPr>
        <p:blipFill>
          <a:blip r:embed="rId3"/>
          <a:stretch>
            <a:fillRect/>
          </a:stretch>
        </p:blipFill>
        <p:spPr>
          <a:xfrm>
            <a:off x="6505194" y="1981113"/>
            <a:ext cx="5373256" cy="2630067"/>
          </a:xfrm>
          <a:prstGeom prst="rect">
            <a:avLst/>
          </a:prstGeom>
        </p:spPr>
      </p:pic>
      <p:sp>
        <p:nvSpPr>
          <p:cNvPr id="9" name="TextBox 8">
            <a:extLst>
              <a:ext uri="{FF2B5EF4-FFF2-40B4-BE49-F238E27FC236}">
                <a16:creationId xmlns:a16="http://schemas.microsoft.com/office/drawing/2014/main" id="{B529F601-9A48-F512-66D1-FBB027E4F3A7}"/>
              </a:ext>
            </a:extLst>
          </p:cNvPr>
          <p:cNvSpPr txBox="1"/>
          <p:nvPr/>
        </p:nvSpPr>
        <p:spPr>
          <a:xfrm>
            <a:off x="564430" y="1324602"/>
            <a:ext cx="6707274" cy="369332"/>
          </a:xfrm>
          <a:prstGeom prst="rect">
            <a:avLst/>
          </a:prstGeom>
          <a:noFill/>
        </p:spPr>
        <p:txBody>
          <a:bodyPr wrap="square">
            <a:spAutoFit/>
          </a:bodyPr>
          <a:lstStyle/>
          <a:p>
            <a:r>
              <a:rPr lang="en-SG" b="1" dirty="0">
                <a:solidFill>
                  <a:schemeClr val="accent2">
                    <a:lumMod val="75000"/>
                  </a:schemeClr>
                </a:solidFill>
              </a:rPr>
              <a:t>Design Excellence and Contributions</a:t>
            </a:r>
            <a:endParaRPr lang="en-US" sz="1800" dirty="0">
              <a:solidFill>
                <a:schemeClr val="accent2">
                  <a:lumMod val="75000"/>
                </a:schemeClr>
              </a:solidFill>
            </a:endParaRPr>
          </a:p>
        </p:txBody>
      </p:sp>
      <p:sp>
        <p:nvSpPr>
          <p:cNvPr id="13" name="TextBox 12">
            <a:extLst>
              <a:ext uri="{FF2B5EF4-FFF2-40B4-BE49-F238E27FC236}">
                <a16:creationId xmlns:a16="http://schemas.microsoft.com/office/drawing/2014/main" id="{E737B090-1D2E-D06B-F01A-0F68B254C297}"/>
              </a:ext>
            </a:extLst>
          </p:cNvPr>
          <p:cNvSpPr txBox="1"/>
          <p:nvPr/>
        </p:nvSpPr>
        <p:spPr>
          <a:xfrm>
            <a:off x="6857166" y="1375304"/>
            <a:ext cx="6707274" cy="369332"/>
          </a:xfrm>
          <a:prstGeom prst="rect">
            <a:avLst/>
          </a:prstGeom>
          <a:noFill/>
        </p:spPr>
        <p:txBody>
          <a:bodyPr wrap="square">
            <a:spAutoFit/>
          </a:bodyPr>
          <a:lstStyle/>
          <a:p>
            <a:r>
              <a:rPr lang="en-SG" b="1" dirty="0">
                <a:solidFill>
                  <a:schemeClr val="accent2">
                    <a:lumMod val="75000"/>
                  </a:schemeClr>
                </a:solidFill>
              </a:rPr>
              <a:t>User Feedback on the Prototype</a:t>
            </a:r>
            <a:endParaRPr lang="en-US" sz="1800" dirty="0">
              <a:solidFill>
                <a:schemeClr val="accent2">
                  <a:lumMod val="75000"/>
                </a:schemeClr>
              </a:solidFill>
            </a:endParaRPr>
          </a:p>
        </p:txBody>
      </p:sp>
      <p:sp>
        <p:nvSpPr>
          <p:cNvPr id="14" name="Shape 5">
            <a:extLst>
              <a:ext uri="{FF2B5EF4-FFF2-40B4-BE49-F238E27FC236}">
                <a16:creationId xmlns:a16="http://schemas.microsoft.com/office/drawing/2014/main" id="{F6790B41-EE7E-B80F-99A4-174C79CC5D83}"/>
              </a:ext>
            </a:extLst>
          </p:cNvPr>
          <p:cNvSpPr/>
          <p:nvPr/>
        </p:nvSpPr>
        <p:spPr>
          <a:xfrm>
            <a:off x="180382" y="1301567"/>
            <a:ext cx="384048" cy="384048"/>
          </a:xfrm>
          <a:prstGeom prst="ellipse">
            <a:avLst/>
          </a:prstGeom>
          <a:solidFill>
            <a:srgbClr val="1E2761"/>
          </a:solidFill>
          <a:ln w="12700">
            <a:solidFill>
              <a:srgbClr val="1E2761"/>
            </a:solidFill>
            <a:prstDash val="solid"/>
          </a:ln>
        </p:spPr>
        <p:txBody>
          <a:bodyPr/>
          <a:lstStyle/>
          <a:p>
            <a:r>
              <a:rPr lang="en-SG" dirty="0">
                <a:solidFill>
                  <a:schemeClr val="bg1"/>
                </a:solidFill>
              </a:rPr>
              <a:t>3</a:t>
            </a:r>
          </a:p>
        </p:txBody>
      </p:sp>
      <p:sp>
        <p:nvSpPr>
          <p:cNvPr id="15" name="Shape 5">
            <a:extLst>
              <a:ext uri="{FF2B5EF4-FFF2-40B4-BE49-F238E27FC236}">
                <a16:creationId xmlns:a16="http://schemas.microsoft.com/office/drawing/2014/main" id="{8F8EA524-3CFE-1857-CEFB-5C57677EF49A}"/>
              </a:ext>
            </a:extLst>
          </p:cNvPr>
          <p:cNvSpPr/>
          <p:nvPr/>
        </p:nvSpPr>
        <p:spPr>
          <a:xfrm>
            <a:off x="6381996" y="1314422"/>
            <a:ext cx="384048" cy="384048"/>
          </a:xfrm>
          <a:prstGeom prst="ellipse">
            <a:avLst/>
          </a:prstGeom>
          <a:solidFill>
            <a:srgbClr val="1E2761"/>
          </a:solidFill>
          <a:ln w="12700">
            <a:solidFill>
              <a:srgbClr val="1E2761"/>
            </a:solidFill>
            <a:prstDash val="solid"/>
          </a:ln>
        </p:spPr>
        <p:txBody>
          <a:bodyPr/>
          <a:lstStyle/>
          <a:p>
            <a:r>
              <a:rPr lang="en-SG" dirty="0">
                <a:solidFill>
                  <a:schemeClr val="bg1"/>
                </a:solidFill>
              </a:rPr>
              <a:t>4</a:t>
            </a:r>
          </a:p>
        </p:txBody>
      </p:sp>
    </p:spTree>
    <p:extLst>
      <p:ext uri="{BB962C8B-B14F-4D97-AF65-F5344CB8AC3E}">
        <p14:creationId xmlns:p14="http://schemas.microsoft.com/office/powerpoint/2010/main" val="254643952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3" grpId="0"/>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65EEF-156B-7345-4755-E2AB0E80138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E736D0D-5F80-530E-472B-4F378E5A0931}"/>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Text 0">
            <a:extLst>
              <a:ext uri="{FF2B5EF4-FFF2-40B4-BE49-F238E27FC236}">
                <a16:creationId xmlns:a16="http://schemas.microsoft.com/office/drawing/2014/main" id="{AD737E1B-1413-1420-C739-3E03F403F6F2}"/>
              </a:ext>
            </a:extLst>
          </p:cNvPr>
          <p:cNvSpPr/>
          <p:nvPr/>
        </p:nvSpPr>
        <p:spPr>
          <a:xfrm>
            <a:off x="38100" y="493443"/>
            <a:ext cx="12115800" cy="347472"/>
          </a:xfrm>
          <a:prstGeom prst="rect">
            <a:avLst/>
          </a:prstGeom>
          <a:noFill/>
          <a:ln/>
        </p:spPr>
        <p:txBody>
          <a:bodyPr wrap="square" lIns="0" tIns="0" rIns="0" bIns="0" rtlCol="0" anchor="ctr"/>
          <a:lstStyle/>
          <a:p>
            <a:pPr algn="ctr"/>
            <a:r>
              <a:rPr lang="en-US" sz="2000" b="1" dirty="0"/>
              <a:t>AI-Assisted Caregiver Workforce Deterioration Detection and Adaptive Workload Redistribution</a:t>
            </a:r>
            <a:endParaRPr lang="en-US" sz="2000" b="1" dirty="0">
              <a:solidFill>
                <a:srgbClr val="0F2742"/>
              </a:solidFill>
              <a:latin typeface="+mj-lt"/>
            </a:endParaRPr>
          </a:p>
        </p:txBody>
      </p:sp>
      <p:sp>
        <p:nvSpPr>
          <p:cNvPr id="12" name="Rectangle 11">
            <a:extLst>
              <a:ext uri="{FF2B5EF4-FFF2-40B4-BE49-F238E27FC236}">
                <a16:creationId xmlns:a16="http://schemas.microsoft.com/office/drawing/2014/main" id="{F7116FA1-73F6-9C40-2F3B-606A4ADC1967}"/>
              </a:ext>
            </a:extLst>
          </p:cNvPr>
          <p:cNvSpPr/>
          <p:nvPr/>
        </p:nvSpPr>
        <p:spPr>
          <a:xfrm>
            <a:off x="2907736" y="6455133"/>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IT22178640 |   DAYANA PRIYADHARSHANI KUMAR |   R26-DS-010</a:t>
            </a:r>
          </a:p>
        </p:txBody>
      </p:sp>
      <p:sp>
        <p:nvSpPr>
          <p:cNvPr id="4" name="Date Placeholder 3">
            <a:extLst>
              <a:ext uri="{FF2B5EF4-FFF2-40B4-BE49-F238E27FC236}">
                <a16:creationId xmlns:a16="http://schemas.microsoft.com/office/drawing/2014/main" id="{1E47AB61-85D8-96C7-5FD8-8E7D70BD1032}"/>
              </a:ext>
            </a:extLst>
          </p:cNvPr>
          <p:cNvSpPr>
            <a:spLocks noGrp="1"/>
          </p:cNvSpPr>
          <p:nvPr>
            <p:ph type="dt" sz="half" idx="10"/>
          </p:nvPr>
        </p:nvSpPr>
        <p:spPr>
          <a:xfrm>
            <a:off x="9982200" y="6261448"/>
            <a:ext cx="2743200" cy="365125"/>
          </a:xfrm>
        </p:spPr>
        <p:txBody>
          <a:bodyPr/>
          <a:lstStyle/>
          <a:p>
            <a:fld id="{4C13C7AB-C68C-4F5B-9F28-29441B570993}" type="datetime1">
              <a:rPr lang="en-US" b="1" smtClean="0">
                <a:solidFill>
                  <a:schemeClr val="tx1"/>
                </a:solidFill>
              </a:rPr>
              <a:t>5/12/2026</a:t>
            </a:fld>
            <a:endParaRPr lang="en-US" b="1" dirty="0">
              <a:solidFill>
                <a:schemeClr val="tx1"/>
              </a:solidFill>
            </a:endParaRPr>
          </a:p>
        </p:txBody>
      </p:sp>
      <p:sp>
        <p:nvSpPr>
          <p:cNvPr id="7" name="Slide Number Placeholder 6">
            <a:extLst>
              <a:ext uri="{FF2B5EF4-FFF2-40B4-BE49-F238E27FC236}">
                <a16:creationId xmlns:a16="http://schemas.microsoft.com/office/drawing/2014/main" id="{8A40A4CF-07CD-FE4F-751A-24D4A82BC1E4}"/>
              </a:ext>
            </a:extLst>
          </p:cNvPr>
          <p:cNvSpPr>
            <a:spLocks noGrp="1"/>
          </p:cNvSpPr>
          <p:nvPr>
            <p:ph type="sldNum" sz="quarter" idx="12"/>
          </p:nvPr>
        </p:nvSpPr>
        <p:spPr/>
        <p:txBody>
          <a:bodyPr/>
          <a:lstStyle/>
          <a:p>
            <a:fld id="{47D73ED1-4BC5-4C68-A93F-B56D3DD7872F}" type="slidenum">
              <a:rPr lang="en-US" smtClean="0"/>
              <a:t>15</a:t>
            </a:fld>
            <a:endParaRPr lang="en-US" dirty="0"/>
          </a:p>
        </p:txBody>
      </p:sp>
      <p:pic>
        <p:nvPicPr>
          <p:cNvPr id="2" name="Picture 1">
            <a:extLst>
              <a:ext uri="{FF2B5EF4-FFF2-40B4-BE49-F238E27FC236}">
                <a16:creationId xmlns:a16="http://schemas.microsoft.com/office/drawing/2014/main" id="{9E3AA64E-7C72-3485-F1C0-7C12085062E9}"/>
              </a:ext>
            </a:extLst>
          </p:cNvPr>
          <p:cNvPicPr>
            <a:picLocks noChangeAspect="1"/>
          </p:cNvPicPr>
          <p:nvPr/>
        </p:nvPicPr>
        <p:blipFill>
          <a:blip r:embed="rId2"/>
          <a:stretch>
            <a:fillRect/>
          </a:stretch>
        </p:blipFill>
        <p:spPr>
          <a:xfrm>
            <a:off x="38100" y="6261448"/>
            <a:ext cx="2676899" cy="533474"/>
          </a:xfrm>
          <a:prstGeom prst="rect">
            <a:avLst/>
          </a:prstGeom>
        </p:spPr>
      </p:pic>
      <p:sp>
        <p:nvSpPr>
          <p:cNvPr id="3" name="TextBox 2">
            <a:extLst>
              <a:ext uri="{FF2B5EF4-FFF2-40B4-BE49-F238E27FC236}">
                <a16:creationId xmlns:a16="http://schemas.microsoft.com/office/drawing/2014/main" id="{B551A8D5-082B-2F62-3684-4B598E375427}"/>
              </a:ext>
            </a:extLst>
          </p:cNvPr>
          <p:cNvSpPr txBox="1"/>
          <p:nvPr/>
        </p:nvSpPr>
        <p:spPr>
          <a:xfrm>
            <a:off x="701286" y="951724"/>
            <a:ext cx="6528618" cy="400110"/>
          </a:xfrm>
          <a:prstGeom prst="rect">
            <a:avLst/>
          </a:prstGeom>
          <a:noFill/>
        </p:spPr>
        <p:txBody>
          <a:bodyPr wrap="square">
            <a:spAutoFit/>
          </a:bodyPr>
          <a:lstStyle/>
          <a:p>
            <a:pPr>
              <a:spcAft>
                <a:spcPts val="3000"/>
              </a:spcAft>
            </a:pPr>
            <a:r>
              <a:rPr lang="en-US" sz="2000" b="1" i="0" dirty="0">
                <a:solidFill>
                  <a:schemeClr val="accent1">
                    <a:lumMod val="50000"/>
                  </a:schemeClr>
                </a:solidFill>
                <a:effectLst/>
                <a:latin typeface="Poppins" panose="00000500000000000000" pitchFamily="2" charset="0"/>
              </a:rPr>
              <a:t>| </a:t>
            </a:r>
            <a:r>
              <a:rPr lang="en-US" sz="2000" b="1" dirty="0">
                <a:solidFill>
                  <a:schemeClr val="accent1">
                    <a:lumMod val="50000"/>
                  </a:schemeClr>
                </a:solidFill>
                <a:effectLst/>
              </a:rPr>
              <a:t>Panel Comment Received at Proposal</a:t>
            </a:r>
          </a:p>
        </p:txBody>
      </p:sp>
      <p:sp>
        <p:nvSpPr>
          <p:cNvPr id="5" name="Rectangle: Rounded Corners 4">
            <a:extLst>
              <a:ext uri="{FF2B5EF4-FFF2-40B4-BE49-F238E27FC236}">
                <a16:creationId xmlns:a16="http://schemas.microsoft.com/office/drawing/2014/main" id="{767CC3DE-D37C-71C9-3A13-EF1EC8B87579}"/>
              </a:ext>
            </a:extLst>
          </p:cNvPr>
          <p:cNvSpPr/>
          <p:nvPr/>
        </p:nvSpPr>
        <p:spPr>
          <a:xfrm>
            <a:off x="2028646" y="1472976"/>
            <a:ext cx="8381446" cy="699082"/>
          </a:xfrm>
          <a:prstGeom prst="roundRect">
            <a:avLst/>
          </a:prstGeom>
          <a:solidFill>
            <a:srgbClr val="FEDADD"/>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r>
              <a:rPr lang="en-US" b="1" dirty="0">
                <a:solidFill>
                  <a:schemeClr val="tx1"/>
                </a:solidFill>
              </a:rPr>
              <a:t>“Highlight how the proposed methodology differs from a normal ASR model”</a:t>
            </a:r>
          </a:p>
          <a:p>
            <a:pPr algn="ctr"/>
            <a:endParaRPr lang="en-US" b="1" dirty="0">
              <a:solidFill>
                <a:schemeClr val="tx1"/>
              </a:solidFill>
            </a:endParaRPr>
          </a:p>
        </p:txBody>
      </p:sp>
      <p:sp>
        <p:nvSpPr>
          <p:cNvPr id="9" name="TextBox 8">
            <a:extLst>
              <a:ext uri="{FF2B5EF4-FFF2-40B4-BE49-F238E27FC236}">
                <a16:creationId xmlns:a16="http://schemas.microsoft.com/office/drawing/2014/main" id="{B3F6D3B8-55A1-B8B0-7151-7B630E1FCB18}"/>
              </a:ext>
            </a:extLst>
          </p:cNvPr>
          <p:cNvSpPr txBox="1"/>
          <p:nvPr/>
        </p:nvSpPr>
        <p:spPr>
          <a:xfrm>
            <a:off x="770112" y="2499970"/>
            <a:ext cx="6528618" cy="400110"/>
          </a:xfrm>
          <a:prstGeom prst="rect">
            <a:avLst/>
          </a:prstGeom>
          <a:noFill/>
        </p:spPr>
        <p:txBody>
          <a:bodyPr wrap="square">
            <a:spAutoFit/>
          </a:bodyPr>
          <a:lstStyle/>
          <a:p>
            <a:r>
              <a:rPr lang="en-US" sz="2000" b="1" i="0" dirty="0">
                <a:solidFill>
                  <a:schemeClr val="accent1">
                    <a:lumMod val="50000"/>
                  </a:schemeClr>
                </a:solidFill>
                <a:effectLst/>
                <a:latin typeface="Poppins" panose="00000500000000000000" pitchFamily="2" charset="0"/>
              </a:rPr>
              <a:t>| </a:t>
            </a:r>
            <a:r>
              <a:rPr lang="en-US" sz="2000" b="1" dirty="0">
                <a:solidFill>
                  <a:schemeClr val="accent1">
                    <a:lumMod val="50000"/>
                  </a:schemeClr>
                </a:solidFill>
              </a:rPr>
              <a:t>How </a:t>
            </a:r>
            <a:r>
              <a:rPr lang="en-US" sz="2000" b="1" dirty="0" err="1">
                <a:solidFill>
                  <a:schemeClr val="accent1">
                    <a:lumMod val="50000"/>
                  </a:schemeClr>
                </a:solidFill>
              </a:rPr>
              <a:t>CareSense</a:t>
            </a:r>
            <a:r>
              <a:rPr lang="en-US" sz="2000" b="1" dirty="0">
                <a:solidFill>
                  <a:schemeClr val="accent1">
                    <a:lumMod val="50000"/>
                  </a:schemeClr>
                </a:solidFill>
              </a:rPr>
              <a:t> Addresses This</a:t>
            </a:r>
          </a:p>
        </p:txBody>
      </p:sp>
      <p:sp>
        <p:nvSpPr>
          <p:cNvPr id="6" name="TextBox 5">
            <a:extLst>
              <a:ext uri="{FF2B5EF4-FFF2-40B4-BE49-F238E27FC236}">
                <a16:creationId xmlns:a16="http://schemas.microsoft.com/office/drawing/2014/main" id="{DCD4FC84-3299-D1A5-AF44-8AE0ED6D9003}"/>
              </a:ext>
            </a:extLst>
          </p:cNvPr>
          <p:cNvSpPr txBox="1"/>
          <p:nvPr/>
        </p:nvSpPr>
        <p:spPr>
          <a:xfrm>
            <a:off x="701285" y="2841247"/>
            <a:ext cx="10900779" cy="3416320"/>
          </a:xfrm>
          <a:prstGeom prst="rect">
            <a:avLst/>
          </a:prstGeom>
          <a:noFill/>
        </p:spPr>
        <p:txBody>
          <a:bodyPr wrap="square">
            <a:spAutoFit/>
          </a:bodyPr>
          <a:lstStyle/>
          <a:p>
            <a:pPr marL="285750" indent="-285750" algn="just">
              <a:buFont typeface="Arial" panose="020B0604020202020204" pitchFamily="34" charset="0"/>
              <a:buChar char="•"/>
            </a:pPr>
            <a:r>
              <a:rPr lang="en-US" b="1" dirty="0"/>
              <a:t>Normal ASR gives only raw text, but my system gives structured ADL records: </a:t>
            </a:r>
            <a:r>
              <a:rPr lang="en-US" dirty="0"/>
              <a:t>A normal ASR model only converts speech into a transcript, but my system extracts ADL details such as medication, food intake, fluid intake, hygiene, symptoms, mobility, and time.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Normal ASR keeps speech mistakes, but my system cleans them:</a:t>
            </a:r>
            <a:r>
              <a:rPr lang="en-US" dirty="0"/>
              <a:t> It removes fillers, repetitions, hesitations, and self-corrections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Normal ASR does not understand care context, but my system detects risks: </a:t>
            </a:r>
            <a:r>
              <a:rPr lang="en-US" dirty="0"/>
              <a:t>My system identifies missed medication, medication refusal, abnormal symptoms, and kidney patient fluid limit issues.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Normal ASR stops at transcription, but my system produces care outputs: </a:t>
            </a:r>
            <a:r>
              <a:rPr lang="en-US" dirty="0"/>
              <a:t>My system generates a structured ADL report, sends supervisor alerts, and creates a handover summary for the next caregiver.</a:t>
            </a:r>
          </a:p>
        </p:txBody>
      </p:sp>
    </p:spTree>
    <p:extLst>
      <p:ext uri="{BB962C8B-B14F-4D97-AF65-F5344CB8AC3E}">
        <p14:creationId xmlns:p14="http://schemas.microsoft.com/office/powerpoint/2010/main" val="13167690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9"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54ED0-5B19-71C5-C596-16BF52D554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F81B71-BD22-9261-C222-048FD760A0B3}"/>
              </a:ext>
            </a:extLst>
          </p:cNvPr>
          <p:cNvSpPr>
            <a:spLocks noGrp="1"/>
          </p:cNvSpPr>
          <p:nvPr>
            <p:ph type="title"/>
          </p:nvPr>
        </p:nvSpPr>
        <p:spPr>
          <a:xfrm>
            <a:off x="304800" y="1447800"/>
            <a:ext cx="11279808" cy="755426"/>
          </a:xfrm>
        </p:spPr>
        <p:txBody>
          <a:bodyPr>
            <a:normAutofit/>
          </a:bodyPr>
          <a:lstStyle/>
          <a:p>
            <a:r>
              <a:rPr lang="en-US" sz="3600" dirty="0"/>
              <a:t>IT22289384 | KAUSHALYA NAGENTHRARAJA</a:t>
            </a:r>
          </a:p>
        </p:txBody>
      </p:sp>
      <p:sp>
        <p:nvSpPr>
          <p:cNvPr id="6" name="Text Placeholder 5">
            <a:extLst>
              <a:ext uri="{FF2B5EF4-FFF2-40B4-BE49-F238E27FC236}">
                <a16:creationId xmlns:a16="http://schemas.microsoft.com/office/drawing/2014/main" id="{05F4ED6B-A7B2-359F-EDC9-AE1FAF54ADE5}"/>
              </a:ext>
            </a:extLst>
          </p:cNvPr>
          <p:cNvSpPr>
            <a:spLocks noGrp="1"/>
          </p:cNvSpPr>
          <p:nvPr>
            <p:ph type="body" idx="1"/>
          </p:nvPr>
        </p:nvSpPr>
        <p:spPr>
          <a:xfrm>
            <a:off x="296848" y="3346226"/>
            <a:ext cx="11287760" cy="1336622"/>
          </a:xfrm>
        </p:spPr>
        <p:txBody>
          <a:bodyPr>
            <a:normAutofit/>
          </a:bodyPr>
          <a:lstStyle/>
          <a:p>
            <a:r>
              <a:rPr lang="en-US" sz="2800" b="1" dirty="0">
                <a:solidFill>
                  <a:schemeClr val="tx1"/>
                </a:solidFill>
                <a:ea typeface="+mn-lt"/>
                <a:cs typeface="+mn-lt"/>
              </a:rPr>
              <a:t>Component 04: Personalized Sign Language Tutoring System for Caregivers</a:t>
            </a:r>
          </a:p>
          <a:p>
            <a:endParaRPr lang="en-US" dirty="0">
              <a:solidFill>
                <a:schemeClr val="tx1"/>
              </a:solidFill>
              <a:latin typeface="Times New Roman"/>
              <a:ea typeface="+mn-lt"/>
              <a:cs typeface="Times New Roman"/>
            </a:endParaRPr>
          </a:p>
          <a:p>
            <a:endParaRPr lang="en-US" dirty="0">
              <a:solidFill>
                <a:srgbClr val="898989"/>
              </a:solidFill>
              <a:latin typeface="Times New Roman"/>
              <a:ea typeface="Cambria"/>
              <a:cs typeface="Times New Roman"/>
            </a:endParaRPr>
          </a:p>
        </p:txBody>
      </p:sp>
      <p:sp>
        <p:nvSpPr>
          <p:cNvPr id="4" name="Rectangle 3">
            <a:extLst>
              <a:ext uri="{FF2B5EF4-FFF2-40B4-BE49-F238E27FC236}">
                <a16:creationId xmlns:a16="http://schemas.microsoft.com/office/drawing/2014/main" id="{75B464F3-63D0-044D-ECC3-549A29F2126F}"/>
              </a:ext>
            </a:extLst>
          </p:cNvPr>
          <p:cNvSpPr/>
          <p:nvPr/>
        </p:nvSpPr>
        <p:spPr>
          <a:xfrm>
            <a:off x="361795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dirty="0">
                <a:solidFill>
                  <a:schemeClr val="tx1"/>
                </a:solidFill>
                <a:latin typeface="Cambria"/>
              </a:rPr>
              <a:t>IT22289384   | KAUSHALYA NAGENTHRARAJA </a:t>
            </a:r>
            <a:r>
              <a:rPr lang="en-US" dirty="0">
                <a:solidFill>
                  <a:schemeClr val="tx1"/>
                </a:solidFill>
                <a:latin typeface="Cambria"/>
              </a:rPr>
              <a:t>| R26-DS-010</a:t>
            </a:r>
          </a:p>
        </p:txBody>
      </p:sp>
      <p:sp>
        <p:nvSpPr>
          <p:cNvPr id="2" name="Rectangle 1">
            <a:extLst>
              <a:ext uri="{FF2B5EF4-FFF2-40B4-BE49-F238E27FC236}">
                <a16:creationId xmlns:a16="http://schemas.microsoft.com/office/drawing/2014/main" id="{8551963B-C4EA-3098-389C-843E0167433F}"/>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3CAA3C82-DE8C-7F71-4E5C-E107E3E7D111}"/>
              </a:ext>
            </a:extLst>
          </p:cNvPr>
          <p:cNvPicPr>
            <a:picLocks noChangeAspect="1"/>
          </p:cNvPicPr>
          <p:nvPr/>
        </p:nvPicPr>
        <p:blipFill>
          <a:blip r:embed="rId2" cstate="print">
            <a:extLst>
              <a:ext uri="{28A0092B-C50C-407E-A947-70E740481C1C}">
                <a14:useLocalDpi xmlns:a14="http://schemas.microsoft.com/office/drawing/2010/main" val="0"/>
              </a:ext>
            </a:extLst>
          </a:blip>
          <a:srcRect l="7900" r="5741" b="16667"/>
          <a:stretch>
            <a:fillRect/>
          </a:stretch>
        </p:blipFill>
        <p:spPr>
          <a:xfrm>
            <a:off x="9372600" y="455208"/>
            <a:ext cx="2668048" cy="2501295"/>
          </a:xfrm>
          <a:prstGeom prst="rect">
            <a:avLst/>
          </a:prstGeom>
        </p:spPr>
      </p:pic>
      <p:sp>
        <p:nvSpPr>
          <p:cNvPr id="9" name="Date Placeholder 8">
            <a:extLst>
              <a:ext uri="{FF2B5EF4-FFF2-40B4-BE49-F238E27FC236}">
                <a16:creationId xmlns:a16="http://schemas.microsoft.com/office/drawing/2014/main" id="{F7E240FF-DB55-25EF-B599-45403AEBC459}"/>
              </a:ext>
            </a:extLst>
          </p:cNvPr>
          <p:cNvSpPr>
            <a:spLocks noGrp="1"/>
          </p:cNvSpPr>
          <p:nvPr>
            <p:ph type="dt" sz="half" idx="10"/>
          </p:nvPr>
        </p:nvSpPr>
        <p:spPr>
          <a:xfrm>
            <a:off x="10082683" y="6440524"/>
            <a:ext cx="2743200" cy="365125"/>
          </a:xfrm>
        </p:spPr>
        <p:txBody>
          <a:bodyPr/>
          <a:lstStyle/>
          <a:p>
            <a:fld id="{DB4F9580-90E5-4039-9B38-C4AC4D8F193B}" type="datetime1">
              <a:rPr lang="en-US" smtClean="0"/>
              <a:t>5/12/2026</a:t>
            </a:fld>
            <a:endParaRPr lang="en-US" dirty="0"/>
          </a:p>
        </p:txBody>
      </p:sp>
      <p:sp>
        <p:nvSpPr>
          <p:cNvPr id="11" name="Slide Number Placeholder 10">
            <a:extLst>
              <a:ext uri="{FF2B5EF4-FFF2-40B4-BE49-F238E27FC236}">
                <a16:creationId xmlns:a16="http://schemas.microsoft.com/office/drawing/2014/main" id="{4B91848A-FBE0-3A5E-19BE-1FEB1DE6DF74}"/>
              </a:ext>
            </a:extLst>
          </p:cNvPr>
          <p:cNvSpPr>
            <a:spLocks noGrp="1"/>
          </p:cNvSpPr>
          <p:nvPr>
            <p:ph type="sldNum" sz="quarter" idx="12"/>
          </p:nvPr>
        </p:nvSpPr>
        <p:spPr>
          <a:xfrm>
            <a:off x="8841408" y="6402792"/>
            <a:ext cx="2743200" cy="365125"/>
          </a:xfrm>
        </p:spPr>
        <p:txBody>
          <a:bodyPr/>
          <a:lstStyle/>
          <a:p>
            <a:fld id="{47D73ED1-4BC5-4C68-A93F-B56D3DD7872F}" type="slidenum">
              <a:rPr lang="en-US" smtClean="0"/>
              <a:t>16</a:t>
            </a:fld>
            <a:endParaRPr lang="en-US" dirty="0"/>
          </a:p>
        </p:txBody>
      </p:sp>
      <p:sp>
        <p:nvSpPr>
          <p:cNvPr id="3" name="TextBox 2">
            <a:extLst>
              <a:ext uri="{FF2B5EF4-FFF2-40B4-BE49-F238E27FC236}">
                <a16:creationId xmlns:a16="http://schemas.microsoft.com/office/drawing/2014/main" id="{D69DDF4D-8EAE-BC6B-30DE-89D5A54E324C}"/>
              </a:ext>
            </a:extLst>
          </p:cNvPr>
          <p:cNvSpPr txBox="1"/>
          <p:nvPr/>
        </p:nvSpPr>
        <p:spPr>
          <a:xfrm>
            <a:off x="296848" y="4313516"/>
            <a:ext cx="3557954" cy="369332"/>
          </a:xfrm>
          <a:prstGeom prst="rect">
            <a:avLst/>
          </a:prstGeom>
          <a:noFill/>
        </p:spPr>
        <p:txBody>
          <a:bodyPr wrap="square" rtlCol="0">
            <a:spAutoFit/>
          </a:bodyPr>
          <a:lstStyle/>
          <a:p>
            <a:r>
              <a:rPr lang="en-US" b="1" dirty="0"/>
              <a:t>Specialization :  Data Science</a:t>
            </a:r>
          </a:p>
        </p:txBody>
      </p:sp>
      <p:pic>
        <p:nvPicPr>
          <p:cNvPr id="12" name="Picture 11">
            <a:extLst>
              <a:ext uri="{FF2B5EF4-FFF2-40B4-BE49-F238E27FC236}">
                <a16:creationId xmlns:a16="http://schemas.microsoft.com/office/drawing/2014/main" id="{1F45185E-1D8B-E816-A800-9F3D2D80ECF3}"/>
              </a:ext>
            </a:extLst>
          </p:cNvPr>
          <p:cNvPicPr>
            <a:picLocks noChangeAspect="1"/>
          </p:cNvPicPr>
          <p:nvPr/>
        </p:nvPicPr>
        <p:blipFill>
          <a:blip r:embed="rId3"/>
          <a:stretch>
            <a:fillRect/>
          </a:stretch>
        </p:blipFill>
        <p:spPr>
          <a:xfrm>
            <a:off x="117987" y="6272175"/>
            <a:ext cx="2676899" cy="533474"/>
          </a:xfrm>
          <a:prstGeom prst="rect">
            <a:avLst/>
          </a:prstGeom>
        </p:spPr>
      </p:pic>
    </p:spTree>
    <p:extLst>
      <p:ext uri="{BB962C8B-B14F-4D97-AF65-F5344CB8AC3E}">
        <p14:creationId xmlns:p14="http://schemas.microsoft.com/office/powerpoint/2010/main" val="195747666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7322A-AF75-B1AB-E523-50D0BF15175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3EACA4F-63BB-68E8-2C2C-69F3233D0BDC}"/>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Text 0">
            <a:extLst>
              <a:ext uri="{FF2B5EF4-FFF2-40B4-BE49-F238E27FC236}">
                <a16:creationId xmlns:a16="http://schemas.microsoft.com/office/drawing/2014/main" id="{537DFBF7-B9EA-54ED-A586-7D72BD2C5BFA}"/>
              </a:ext>
            </a:extLst>
          </p:cNvPr>
          <p:cNvSpPr/>
          <p:nvPr/>
        </p:nvSpPr>
        <p:spPr>
          <a:xfrm>
            <a:off x="260482" y="346054"/>
            <a:ext cx="12115800" cy="347472"/>
          </a:xfrm>
          <a:prstGeom prst="rect">
            <a:avLst/>
          </a:prstGeom>
          <a:noFill/>
          <a:ln/>
        </p:spPr>
        <p:txBody>
          <a:bodyPr wrap="square" lIns="0" tIns="0" rIns="0" bIns="0" rtlCol="0" anchor="ctr"/>
          <a:lstStyle/>
          <a:p>
            <a:pPr algn="ctr"/>
            <a:r>
              <a:rPr lang="en-US" sz="2000" b="1" dirty="0">
                <a:latin typeface="+mj-lt"/>
                <a:ea typeface="Calibri"/>
                <a:cs typeface="Times New Roman"/>
              </a:rPr>
              <a:t>Personalized Sign Language Tutoring System for Caregivers</a:t>
            </a:r>
            <a:endParaRPr lang="en-US" sz="2000" b="1" dirty="0">
              <a:solidFill>
                <a:srgbClr val="0F2742"/>
              </a:solidFill>
              <a:latin typeface="+mj-lt"/>
            </a:endParaRPr>
          </a:p>
        </p:txBody>
      </p:sp>
      <p:sp>
        <p:nvSpPr>
          <p:cNvPr id="12" name="Rectangle 11">
            <a:extLst>
              <a:ext uri="{FF2B5EF4-FFF2-40B4-BE49-F238E27FC236}">
                <a16:creationId xmlns:a16="http://schemas.microsoft.com/office/drawing/2014/main" id="{24FE9FDE-F144-05AE-6F43-12D2756635C6}"/>
              </a:ext>
            </a:extLst>
          </p:cNvPr>
          <p:cNvSpPr/>
          <p:nvPr/>
        </p:nvSpPr>
        <p:spPr>
          <a:xfrm>
            <a:off x="2937238" y="6492874"/>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IT22289384 </a:t>
            </a:r>
            <a:r>
              <a:rPr lang="en-US" dirty="0">
                <a:solidFill>
                  <a:schemeClr val="tx1"/>
                </a:solidFill>
              </a:rPr>
              <a:t>| </a:t>
            </a:r>
            <a:r>
              <a:rPr lang="en-US" b="1" dirty="0">
                <a:solidFill>
                  <a:schemeClr val="tx1"/>
                </a:solidFill>
              </a:rPr>
              <a:t>KAUSHALYA NAGENTHRARAJA </a:t>
            </a:r>
            <a:r>
              <a:rPr lang="en-US" dirty="0">
                <a:solidFill>
                  <a:schemeClr val="tx1"/>
                </a:solidFill>
              </a:rPr>
              <a:t>|   R26-DS-010</a:t>
            </a:r>
          </a:p>
        </p:txBody>
      </p:sp>
      <p:sp>
        <p:nvSpPr>
          <p:cNvPr id="4" name="Date Placeholder 3">
            <a:extLst>
              <a:ext uri="{FF2B5EF4-FFF2-40B4-BE49-F238E27FC236}">
                <a16:creationId xmlns:a16="http://schemas.microsoft.com/office/drawing/2014/main" id="{A7989A43-AB74-2D11-BC49-B2ACF7E6D592}"/>
              </a:ext>
            </a:extLst>
          </p:cNvPr>
          <p:cNvSpPr>
            <a:spLocks noGrp="1"/>
          </p:cNvSpPr>
          <p:nvPr>
            <p:ph type="dt" sz="half" idx="10"/>
          </p:nvPr>
        </p:nvSpPr>
        <p:spPr>
          <a:xfrm>
            <a:off x="10210803" y="6370894"/>
            <a:ext cx="2743200" cy="365125"/>
          </a:xfrm>
        </p:spPr>
        <p:txBody>
          <a:bodyPr/>
          <a:lstStyle/>
          <a:p>
            <a:fld id="{E5F1F772-9057-426D-B3AC-E75943B69A01}" type="datetime1">
              <a:rPr lang="en-US" b="1" smtClean="0">
                <a:solidFill>
                  <a:schemeClr val="tx1"/>
                </a:solidFill>
              </a:rPr>
              <a:t>5/12/2026</a:t>
            </a:fld>
            <a:endParaRPr lang="en-US" b="1" dirty="0">
              <a:solidFill>
                <a:schemeClr val="tx1"/>
              </a:solidFill>
            </a:endParaRPr>
          </a:p>
        </p:txBody>
      </p:sp>
      <p:sp>
        <p:nvSpPr>
          <p:cNvPr id="6" name="Slide Number Placeholder 5">
            <a:extLst>
              <a:ext uri="{FF2B5EF4-FFF2-40B4-BE49-F238E27FC236}">
                <a16:creationId xmlns:a16="http://schemas.microsoft.com/office/drawing/2014/main" id="{1B8C879C-BC44-7499-30F6-79B68958AE1F}"/>
              </a:ext>
            </a:extLst>
          </p:cNvPr>
          <p:cNvSpPr>
            <a:spLocks noGrp="1"/>
          </p:cNvSpPr>
          <p:nvPr>
            <p:ph type="sldNum" sz="quarter" idx="12"/>
          </p:nvPr>
        </p:nvSpPr>
        <p:spPr/>
        <p:txBody>
          <a:bodyPr/>
          <a:lstStyle/>
          <a:p>
            <a:fld id="{47D73ED1-4BC5-4C68-A93F-B56D3DD7872F}" type="slidenum">
              <a:rPr lang="en-US" smtClean="0"/>
              <a:t>17</a:t>
            </a:fld>
            <a:endParaRPr lang="en-US" dirty="0"/>
          </a:p>
        </p:txBody>
      </p:sp>
      <p:pic>
        <p:nvPicPr>
          <p:cNvPr id="7" name="Picture 6">
            <a:extLst>
              <a:ext uri="{FF2B5EF4-FFF2-40B4-BE49-F238E27FC236}">
                <a16:creationId xmlns:a16="http://schemas.microsoft.com/office/drawing/2014/main" id="{7C95F62B-34E1-CA94-FE9F-FCCF01917E87}"/>
              </a:ext>
            </a:extLst>
          </p:cNvPr>
          <p:cNvPicPr>
            <a:picLocks noChangeAspect="1"/>
          </p:cNvPicPr>
          <p:nvPr/>
        </p:nvPicPr>
        <p:blipFill>
          <a:blip r:embed="rId2"/>
          <a:stretch>
            <a:fillRect/>
          </a:stretch>
        </p:blipFill>
        <p:spPr>
          <a:xfrm>
            <a:off x="117987" y="6272175"/>
            <a:ext cx="2676899" cy="533474"/>
          </a:xfrm>
          <a:prstGeom prst="rect">
            <a:avLst/>
          </a:prstGeom>
        </p:spPr>
      </p:pic>
      <p:pic>
        <p:nvPicPr>
          <p:cNvPr id="8" name="Picture 7">
            <a:extLst>
              <a:ext uri="{FF2B5EF4-FFF2-40B4-BE49-F238E27FC236}">
                <a16:creationId xmlns:a16="http://schemas.microsoft.com/office/drawing/2014/main" id="{624E89ED-5BFA-A33B-6A75-723CAA7B870E}"/>
              </a:ext>
            </a:extLst>
          </p:cNvPr>
          <p:cNvPicPr>
            <a:picLocks noChangeAspect="1"/>
          </p:cNvPicPr>
          <p:nvPr/>
        </p:nvPicPr>
        <p:blipFill>
          <a:blip r:embed="rId3"/>
          <a:stretch>
            <a:fillRect/>
          </a:stretch>
        </p:blipFill>
        <p:spPr>
          <a:xfrm>
            <a:off x="954683" y="734874"/>
            <a:ext cx="4712618" cy="5758000"/>
          </a:xfrm>
          <a:prstGeom prst="rect">
            <a:avLst/>
          </a:prstGeom>
        </p:spPr>
      </p:pic>
      <p:pic>
        <p:nvPicPr>
          <p:cNvPr id="24" name="Picture 23">
            <a:extLst>
              <a:ext uri="{FF2B5EF4-FFF2-40B4-BE49-F238E27FC236}">
                <a16:creationId xmlns:a16="http://schemas.microsoft.com/office/drawing/2014/main" id="{D2CC2D09-AA6E-4BC6-0D5B-A6FA2CABD66A}"/>
              </a:ext>
            </a:extLst>
          </p:cNvPr>
          <p:cNvPicPr>
            <a:picLocks noChangeAspect="1"/>
          </p:cNvPicPr>
          <p:nvPr/>
        </p:nvPicPr>
        <p:blipFill>
          <a:blip r:embed="rId4"/>
          <a:stretch>
            <a:fillRect/>
          </a:stretch>
        </p:blipFill>
        <p:spPr>
          <a:xfrm>
            <a:off x="5736127" y="772935"/>
            <a:ext cx="6188354" cy="4952449"/>
          </a:xfrm>
          <a:prstGeom prst="rect">
            <a:avLst/>
          </a:prstGeom>
        </p:spPr>
      </p:pic>
    </p:spTree>
    <p:extLst>
      <p:ext uri="{BB962C8B-B14F-4D97-AF65-F5344CB8AC3E}">
        <p14:creationId xmlns:p14="http://schemas.microsoft.com/office/powerpoint/2010/main" val="16992105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1C661-EE41-19B0-E8C6-BD6549D9D03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70A34F3-53BE-501A-75AC-761DD6E63CC4}"/>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Text 0">
            <a:extLst>
              <a:ext uri="{FF2B5EF4-FFF2-40B4-BE49-F238E27FC236}">
                <a16:creationId xmlns:a16="http://schemas.microsoft.com/office/drawing/2014/main" id="{C922EE3E-D0BA-3C64-237D-06026362EA51}"/>
              </a:ext>
            </a:extLst>
          </p:cNvPr>
          <p:cNvSpPr/>
          <p:nvPr/>
        </p:nvSpPr>
        <p:spPr>
          <a:xfrm>
            <a:off x="260482" y="346054"/>
            <a:ext cx="12115800" cy="347472"/>
          </a:xfrm>
          <a:prstGeom prst="rect">
            <a:avLst/>
          </a:prstGeom>
          <a:noFill/>
          <a:ln/>
        </p:spPr>
        <p:txBody>
          <a:bodyPr wrap="square" lIns="0" tIns="0" rIns="0" bIns="0" rtlCol="0" anchor="ctr"/>
          <a:lstStyle/>
          <a:p>
            <a:pPr algn="ctr"/>
            <a:r>
              <a:rPr lang="en-US" sz="2000" b="1" dirty="0">
                <a:latin typeface="+mj-lt"/>
                <a:ea typeface="Calibri"/>
                <a:cs typeface="Times New Roman"/>
              </a:rPr>
              <a:t>Personalized Sign Language Tutoring System for Caregivers</a:t>
            </a:r>
            <a:endParaRPr lang="en-US" sz="2000" b="1" dirty="0">
              <a:solidFill>
                <a:srgbClr val="0F2742"/>
              </a:solidFill>
              <a:latin typeface="+mj-lt"/>
            </a:endParaRPr>
          </a:p>
        </p:txBody>
      </p:sp>
      <p:sp>
        <p:nvSpPr>
          <p:cNvPr id="12" name="Rectangle 11">
            <a:extLst>
              <a:ext uri="{FF2B5EF4-FFF2-40B4-BE49-F238E27FC236}">
                <a16:creationId xmlns:a16="http://schemas.microsoft.com/office/drawing/2014/main" id="{9B07DD9D-3420-F40D-C801-10230E12E36A}"/>
              </a:ext>
            </a:extLst>
          </p:cNvPr>
          <p:cNvSpPr/>
          <p:nvPr/>
        </p:nvSpPr>
        <p:spPr>
          <a:xfrm>
            <a:off x="2937238" y="6492874"/>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IT22289384 </a:t>
            </a:r>
            <a:r>
              <a:rPr lang="en-US" dirty="0">
                <a:solidFill>
                  <a:schemeClr val="tx1"/>
                </a:solidFill>
              </a:rPr>
              <a:t>| </a:t>
            </a:r>
            <a:r>
              <a:rPr lang="en-US" b="1" dirty="0">
                <a:solidFill>
                  <a:schemeClr val="tx1"/>
                </a:solidFill>
              </a:rPr>
              <a:t>KAUSHALYA NAGENTHRARAJA </a:t>
            </a:r>
            <a:r>
              <a:rPr lang="en-US" dirty="0">
                <a:solidFill>
                  <a:schemeClr val="tx1"/>
                </a:solidFill>
              </a:rPr>
              <a:t>|   R26-DS-010</a:t>
            </a:r>
          </a:p>
        </p:txBody>
      </p:sp>
      <p:sp>
        <p:nvSpPr>
          <p:cNvPr id="4" name="Date Placeholder 3">
            <a:extLst>
              <a:ext uri="{FF2B5EF4-FFF2-40B4-BE49-F238E27FC236}">
                <a16:creationId xmlns:a16="http://schemas.microsoft.com/office/drawing/2014/main" id="{E1175FE3-0546-0863-5675-C5892E64E45F}"/>
              </a:ext>
            </a:extLst>
          </p:cNvPr>
          <p:cNvSpPr>
            <a:spLocks noGrp="1"/>
          </p:cNvSpPr>
          <p:nvPr>
            <p:ph type="dt" sz="half" idx="10"/>
          </p:nvPr>
        </p:nvSpPr>
        <p:spPr>
          <a:xfrm>
            <a:off x="10210803" y="6370894"/>
            <a:ext cx="2743200" cy="365125"/>
          </a:xfrm>
        </p:spPr>
        <p:txBody>
          <a:bodyPr/>
          <a:lstStyle/>
          <a:p>
            <a:fld id="{E5F1F772-9057-426D-B3AC-E75943B69A01}" type="datetime1">
              <a:rPr lang="en-US" b="1" smtClean="0">
                <a:solidFill>
                  <a:schemeClr val="tx1"/>
                </a:solidFill>
              </a:rPr>
              <a:t>5/12/2026</a:t>
            </a:fld>
            <a:endParaRPr lang="en-US" b="1" dirty="0">
              <a:solidFill>
                <a:schemeClr val="tx1"/>
              </a:solidFill>
            </a:endParaRPr>
          </a:p>
        </p:txBody>
      </p:sp>
      <p:sp>
        <p:nvSpPr>
          <p:cNvPr id="6" name="Slide Number Placeholder 5">
            <a:extLst>
              <a:ext uri="{FF2B5EF4-FFF2-40B4-BE49-F238E27FC236}">
                <a16:creationId xmlns:a16="http://schemas.microsoft.com/office/drawing/2014/main" id="{735E7260-AA36-BE34-6897-5079E09F58DC}"/>
              </a:ext>
            </a:extLst>
          </p:cNvPr>
          <p:cNvSpPr>
            <a:spLocks noGrp="1"/>
          </p:cNvSpPr>
          <p:nvPr>
            <p:ph type="sldNum" sz="quarter" idx="12"/>
          </p:nvPr>
        </p:nvSpPr>
        <p:spPr/>
        <p:txBody>
          <a:bodyPr/>
          <a:lstStyle/>
          <a:p>
            <a:fld id="{47D73ED1-4BC5-4C68-A93F-B56D3DD7872F}" type="slidenum">
              <a:rPr lang="en-US" smtClean="0"/>
              <a:t>18</a:t>
            </a:fld>
            <a:endParaRPr lang="en-US" dirty="0"/>
          </a:p>
        </p:txBody>
      </p:sp>
      <p:pic>
        <p:nvPicPr>
          <p:cNvPr id="2" name="Picture 1">
            <a:extLst>
              <a:ext uri="{FF2B5EF4-FFF2-40B4-BE49-F238E27FC236}">
                <a16:creationId xmlns:a16="http://schemas.microsoft.com/office/drawing/2014/main" id="{14D0ADB2-79B4-128C-73C5-C20F13818D43}"/>
              </a:ext>
            </a:extLst>
          </p:cNvPr>
          <p:cNvPicPr>
            <a:picLocks noChangeAspect="1"/>
          </p:cNvPicPr>
          <p:nvPr/>
        </p:nvPicPr>
        <p:blipFill>
          <a:blip r:embed="rId2"/>
          <a:stretch>
            <a:fillRect/>
          </a:stretch>
        </p:blipFill>
        <p:spPr>
          <a:xfrm>
            <a:off x="117987" y="6272175"/>
            <a:ext cx="2676899" cy="533474"/>
          </a:xfrm>
          <a:prstGeom prst="rect">
            <a:avLst/>
          </a:prstGeom>
        </p:spPr>
      </p:pic>
      <p:pic>
        <p:nvPicPr>
          <p:cNvPr id="14" name="Picture 13">
            <a:extLst>
              <a:ext uri="{FF2B5EF4-FFF2-40B4-BE49-F238E27FC236}">
                <a16:creationId xmlns:a16="http://schemas.microsoft.com/office/drawing/2014/main" id="{60203A72-88B8-D485-BD82-59275321303F}"/>
              </a:ext>
            </a:extLst>
          </p:cNvPr>
          <p:cNvPicPr>
            <a:picLocks noChangeAspect="1"/>
          </p:cNvPicPr>
          <p:nvPr/>
        </p:nvPicPr>
        <p:blipFill>
          <a:blip r:embed="rId3"/>
          <a:stretch>
            <a:fillRect/>
          </a:stretch>
        </p:blipFill>
        <p:spPr>
          <a:xfrm>
            <a:off x="2701264" y="5657777"/>
            <a:ext cx="9490736" cy="820553"/>
          </a:xfrm>
          <a:prstGeom prst="rect">
            <a:avLst/>
          </a:prstGeom>
        </p:spPr>
      </p:pic>
      <p:sp>
        <p:nvSpPr>
          <p:cNvPr id="7" name="TextBox 6">
            <a:extLst>
              <a:ext uri="{FF2B5EF4-FFF2-40B4-BE49-F238E27FC236}">
                <a16:creationId xmlns:a16="http://schemas.microsoft.com/office/drawing/2014/main" id="{6B1089C7-4917-FF2A-3335-A45B83FBCFF3}"/>
              </a:ext>
            </a:extLst>
          </p:cNvPr>
          <p:cNvSpPr txBox="1"/>
          <p:nvPr/>
        </p:nvSpPr>
        <p:spPr>
          <a:xfrm>
            <a:off x="260482" y="975293"/>
            <a:ext cx="5745116" cy="4870564"/>
          </a:xfrm>
          <a:prstGeom prst="rect">
            <a:avLst/>
          </a:prstGeom>
          <a:noFill/>
        </p:spPr>
        <p:txBody>
          <a:bodyPr wrap="square">
            <a:spAutoFit/>
          </a:bodyPr>
          <a:lstStyle/>
          <a:p>
            <a:r>
              <a:rPr lang="en-US" sz="1150" b="1" dirty="0">
                <a:solidFill>
                  <a:srgbClr val="DA8200"/>
                </a:solidFill>
                <a:latin typeface="+mj-lt"/>
              </a:rPr>
              <a:t>1. Caregiver-Focused ASL Tutoring</a:t>
            </a:r>
          </a:p>
          <a:p>
            <a:r>
              <a:rPr lang="en-US" sz="1150" dirty="0">
                <a:latin typeface="Abadi" panose="020B0604020104020204" pitchFamily="34" charset="0"/>
              </a:rPr>
              <a:t>Focused on caregiver and emergency communication needs validated through CCHS instead of general sign recognition.</a:t>
            </a:r>
          </a:p>
          <a:p>
            <a:endParaRPr lang="en-US" sz="1150" dirty="0">
              <a:latin typeface="+mj-lt"/>
            </a:endParaRPr>
          </a:p>
          <a:p>
            <a:r>
              <a:rPr lang="en-US" sz="1150" b="1" dirty="0">
                <a:solidFill>
                  <a:srgbClr val="DA8200"/>
                </a:solidFill>
                <a:latin typeface="+mj-lt"/>
              </a:rPr>
              <a:t>2. Custom Emergency Vocabulary</a:t>
            </a:r>
          </a:p>
          <a:p>
            <a:r>
              <a:rPr lang="en-US" sz="1150" dirty="0">
                <a:latin typeface="Abadi" panose="020B0604020104020204" pitchFamily="34" charset="0"/>
              </a:rPr>
              <a:t>Built a custom 66-word caregiver-focused ASL subset using WLASL and ASL-Citizen datasets.</a:t>
            </a:r>
            <a:br>
              <a:rPr lang="en-US" sz="1150" dirty="0">
                <a:latin typeface="Abadi" panose="020B0604020104020204" pitchFamily="34" charset="0"/>
              </a:rPr>
            </a:br>
            <a:endParaRPr lang="en-US" sz="1150" dirty="0">
              <a:latin typeface="Abadi" panose="020B0604020104020204" pitchFamily="34" charset="0"/>
            </a:endParaRPr>
          </a:p>
          <a:p>
            <a:r>
              <a:rPr lang="en-US" sz="1150" b="1" dirty="0">
                <a:solidFill>
                  <a:srgbClr val="DA8200"/>
                </a:solidFill>
                <a:latin typeface="+mj-lt"/>
              </a:rPr>
              <a:t>3. Landmark-Based Processing</a:t>
            </a:r>
          </a:p>
          <a:p>
            <a:r>
              <a:rPr lang="en-US" sz="1150" dirty="0">
                <a:latin typeface="Abadi" panose="020B0604020104020204" pitchFamily="34" charset="0"/>
              </a:rPr>
              <a:t>Used </a:t>
            </a:r>
            <a:r>
              <a:rPr lang="en-US" sz="1150" dirty="0" err="1">
                <a:latin typeface="Abadi" panose="020B0604020104020204" pitchFamily="34" charset="0"/>
              </a:rPr>
              <a:t>MediaPipe</a:t>
            </a:r>
            <a:r>
              <a:rPr lang="en-US" sz="1150" dirty="0">
                <a:latin typeface="Abadi" panose="020B0604020104020204" pitchFamily="34" charset="0"/>
              </a:rPr>
              <a:t> pose and hand landmarks for lightweight and privacy-preserving gesture processing.</a:t>
            </a:r>
            <a:br>
              <a:rPr lang="en-US" sz="1150" dirty="0">
                <a:latin typeface="Abadi" panose="020B0604020104020204" pitchFamily="34" charset="0"/>
              </a:rPr>
            </a:br>
            <a:endParaRPr lang="en-US" sz="1150" dirty="0">
              <a:latin typeface="Abadi" panose="020B0604020104020204" pitchFamily="34" charset="0"/>
            </a:endParaRPr>
          </a:p>
          <a:p>
            <a:r>
              <a:rPr lang="en-US" sz="1150" b="1" dirty="0">
                <a:solidFill>
                  <a:srgbClr val="DA8200"/>
                </a:solidFill>
                <a:latin typeface="+mj-lt"/>
              </a:rPr>
              <a:t>4. Robust Preprocessing Pipeline</a:t>
            </a:r>
          </a:p>
          <a:p>
            <a:r>
              <a:rPr lang="en-US" sz="1150" dirty="0">
                <a:latin typeface="Abadi" panose="020B0604020104020204" pitchFamily="34" charset="0"/>
              </a:rPr>
              <a:t>Applied normalization, temporal standardization, and corrupted-video filtering for improved model learning</a:t>
            </a:r>
            <a:r>
              <a:rPr lang="en-US" sz="1150" dirty="0">
                <a:latin typeface="+mj-lt"/>
              </a:rPr>
              <a:t>.</a:t>
            </a:r>
            <a:br>
              <a:rPr lang="en-US" sz="1150" dirty="0">
                <a:latin typeface="+mj-lt"/>
              </a:rPr>
            </a:br>
            <a:endParaRPr lang="en-US" sz="1150" dirty="0">
              <a:latin typeface="+mj-lt"/>
            </a:endParaRPr>
          </a:p>
          <a:p>
            <a:r>
              <a:rPr lang="en-US" sz="1150" b="1" dirty="0">
                <a:solidFill>
                  <a:srgbClr val="DA8200"/>
                </a:solidFill>
                <a:latin typeface="+mj-lt"/>
              </a:rPr>
              <a:t>5. Speed-Tolerant Evaluation</a:t>
            </a:r>
          </a:p>
          <a:p>
            <a:r>
              <a:rPr lang="en-US" sz="1150" dirty="0">
                <a:latin typeface="Abadi" panose="020B0604020104020204" pitchFamily="34" charset="0"/>
              </a:rPr>
              <a:t>Implemented DTW-based motion comparison to evaluate gestures independently from signing speed.</a:t>
            </a:r>
            <a:br>
              <a:rPr lang="en-US" sz="1150" dirty="0">
                <a:latin typeface="Abadi" panose="020B0604020104020204" pitchFamily="34" charset="0"/>
              </a:rPr>
            </a:br>
            <a:endParaRPr lang="en-US" sz="1150" dirty="0">
              <a:latin typeface="Abadi" panose="020B0604020104020204" pitchFamily="34" charset="0"/>
            </a:endParaRPr>
          </a:p>
          <a:p>
            <a:r>
              <a:rPr lang="en-US" sz="1150" b="1" dirty="0">
                <a:solidFill>
                  <a:srgbClr val="DA8200"/>
                </a:solidFill>
                <a:latin typeface="+mj-lt"/>
              </a:rPr>
              <a:t>6. Multi-Model Experimentation</a:t>
            </a:r>
          </a:p>
          <a:p>
            <a:r>
              <a:rPr lang="en-US" sz="1150" dirty="0">
                <a:latin typeface="Abadi" panose="020B0604020104020204" pitchFamily="34" charset="0"/>
              </a:rPr>
              <a:t>Trained and compared </a:t>
            </a:r>
            <a:r>
              <a:rPr lang="en-US" sz="1150" dirty="0" err="1">
                <a:latin typeface="Abadi" panose="020B0604020104020204" pitchFamily="34" charset="0"/>
              </a:rPr>
              <a:t>BiLSTM</a:t>
            </a:r>
            <a:r>
              <a:rPr lang="en-US" sz="1150" dirty="0">
                <a:latin typeface="Abadi" panose="020B0604020104020204" pitchFamily="34" charset="0"/>
              </a:rPr>
              <a:t>, GRU, and CNN + </a:t>
            </a:r>
            <a:r>
              <a:rPr lang="en-US" sz="1150" dirty="0" err="1">
                <a:latin typeface="Abadi" panose="020B0604020104020204" pitchFamily="34" charset="0"/>
              </a:rPr>
              <a:t>BiLSTM</a:t>
            </a:r>
            <a:r>
              <a:rPr lang="en-US" sz="1150" dirty="0">
                <a:latin typeface="Abadi" panose="020B0604020104020204" pitchFamily="34" charset="0"/>
              </a:rPr>
              <a:t> architectures for caregiver-focused ASL recognition.</a:t>
            </a:r>
            <a:br>
              <a:rPr lang="en-US" sz="1150" dirty="0">
                <a:latin typeface="Abadi" panose="020B0604020104020204" pitchFamily="34" charset="0"/>
              </a:rPr>
            </a:br>
            <a:endParaRPr lang="en-US" sz="1150" dirty="0">
              <a:latin typeface="Abadi" panose="020B0604020104020204" pitchFamily="34" charset="0"/>
            </a:endParaRPr>
          </a:p>
          <a:p>
            <a:r>
              <a:rPr lang="en-US" sz="1150" b="1" dirty="0">
                <a:solidFill>
                  <a:srgbClr val="DA8200"/>
                </a:solidFill>
                <a:latin typeface="+mj-lt"/>
              </a:rPr>
              <a:t>7. Corrective Feedback Support</a:t>
            </a:r>
          </a:p>
          <a:p>
            <a:r>
              <a:rPr lang="en-US" sz="1150" dirty="0">
                <a:latin typeface="Abadi" panose="020B0604020104020204" pitchFamily="34" charset="0"/>
              </a:rPr>
              <a:t>Supports gesture correction and self-learning through motion-aware evaluation and interpretable feedback.</a:t>
            </a:r>
          </a:p>
        </p:txBody>
      </p:sp>
      <p:sp>
        <p:nvSpPr>
          <p:cNvPr id="9" name="TextBox 8">
            <a:extLst>
              <a:ext uri="{FF2B5EF4-FFF2-40B4-BE49-F238E27FC236}">
                <a16:creationId xmlns:a16="http://schemas.microsoft.com/office/drawing/2014/main" id="{852A7A43-CCDB-6BEE-E2AD-185A8D18AC2F}"/>
              </a:ext>
            </a:extLst>
          </p:cNvPr>
          <p:cNvSpPr txBox="1"/>
          <p:nvPr/>
        </p:nvSpPr>
        <p:spPr>
          <a:xfrm>
            <a:off x="260482" y="693526"/>
            <a:ext cx="4852292" cy="369332"/>
          </a:xfrm>
          <a:prstGeom prst="rect">
            <a:avLst/>
          </a:prstGeom>
          <a:noFill/>
        </p:spPr>
        <p:txBody>
          <a:bodyPr wrap="square">
            <a:spAutoFit/>
          </a:bodyPr>
          <a:lstStyle/>
          <a:p>
            <a:r>
              <a:rPr lang="en-SG" b="1" dirty="0">
                <a:solidFill>
                  <a:srgbClr val="004E9A"/>
                </a:solidFill>
              </a:rPr>
              <a:t>Design Excellence and Contributions</a:t>
            </a:r>
            <a:endParaRPr lang="en-US" sz="1800" dirty="0">
              <a:solidFill>
                <a:srgbClr val="004E9A"/>
              </a:solidFill>
            </a:endParaRPr>
          </a:p>
        </p:txBody>
      </p:sp>
      <p:pic>
        <p:nvPicPr>
          <p:cNvPr id="21" name="Picture 20">
            <a:extLst>
              <a:ext uri="{FF2B5EF4-FFF2-40B4-BE49-F238E27FC236}">
                <a16:creationId xmlns:a16="http://schemas.microsoft.com/office/drawing/2014/main" id="{A9F8E196-F31F-A98C-2F5E-F78C77A3BEF6}"/>
              </a:ext>
            </a:extLst>
          </p:cNvPr>
          <p:cNvPicPr>
            <a:picLocks noChangeAspect="1"/>
          </p:cNvPicPr>
          <p:nvPr/>
        </p:nvPicPr>
        <p:blipFill>
          <a:blip r:embed="rId4"/>
          <a:srcRect t="7668"/>
          <a:stretch>
            <a:fillRect/>
          </a:stretch>
        </p:blipFill>
        <p:spPr>
          <a:xfrm>
            <a:off x="5885282" y="1504335"/>
            <a:ext cx="6046236" cy="3721738"/>
          </a:xfrm>
          <a:prstGeom prst="rect">
            <a:avLst/>
          </a:prstGeom>
        </p:spPr>
      </p:pic>
      <p:sp>
        <p:nvSpPr>
          <p:cNvPr id="22" name="TextBox 21">
            <a:extLst>
              <a:ext uri="{FF2B5EF4-FFF2-40B4-BE49-F238E27FC236}">
                <a16:creationId xmlns:a16="http://schemas.microsoft.com/office/drawing/2014/main" id="{2F132A73-0E94-4191-DCB3-F1FD005FF56C}"/>
              </a:ext>
            </a:extLst>
          </p:cNvPr>
          <p:cNvSpPr txBox="1"/>
          <p:nvPr/>
        </p:nvSpPr>
        <p:spPr>
          <a:xfrm>
            <a:off x="5896824" y="1135003"/>
            <a:ext cx="6479458" cy="369332"/>
          </a:xfrm>
          <a:prstGeom prst="rect">
            <a:avLst/>
          </a:prstGeom>
          <a:noFill/>
        </p:spPr>
        <p:txBody>
          <a:bodyPr wrap="square">
            <a:spAutoFit/>
          </a:bodyPr>
          <a:lstStyle/>
          <a:p>
            <a:r>
              <a:rPr lang="en-SG" b="1" dirty="0">
                <a:solidFill>
                  <a:srgbClr val="004E9A"/>
                </a:solidFill>
              </a:rPr>
              <a:t>User Feedback on Prototype</a:t>
            </a:r>
            <a:endParaRPr lang="en-US" sz="1800" dirty="0">
              <a:solidFill>
                <a:srgbClr val="004E9A"/>
              </a:solidFill>
            </a:endParaRPr>
          </a:p>
        </p:txBody>
      </p:sp>
    </p:spTree>
    <p:extLst>
      <p:ext uri="{BB962C8B-B14F-4D97-AF65-F5344CB8AC3E}">
        <p14:creationId xmlns:p14="http://schemas.microsoft.com/office/powerpoint/2010/main" val="218456331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2088C-50CE-F9EF-6F3A-F8F396FDFD2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866CA5C-32F5-52E5-4983-610F8B0837F6}"/>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Text 0">
            <a:extLst>
              <a:ext uri="{FF2B5EF4-FFF2-40B4-BE49-F238E27FC236}">
                <a16:creationId xmlns:a16="http://schemas.microsoft.com/office/drawing/2014/main" id="{9721595F-87E0-7355-AD87-9D899D877485}"/>
              </a:ext>
            </a:extLst>
          </p:cNvPr>
          <p:cNvSpPr/>
          <p:nvPr/>
        </p:nvSpPr>
        <p:spPr>
          <a:xfrm>
            <a:off x="38100" y="493443"/>
            <a:ext cx="12115800" cy="347472"/>
          </a:xfrm>
          <a:prstGeom prst="rect">
            <a:avLst/>
          </a:prstGeom>
          <a:noFill/>
          <a:ln/>
        </p:spPr>
        <p:txBody>
          <a:bodyPr wrap="square" lIns="0" tIns="0" rIns="0" bIns="0" rtlCol="0" anchor="ctr"/>
          <a:lstStyle/>
          <a:p>
            <a:pPr algn="ctr"/>
            <a:r>
              <a:rPr lang="en-US" sz="2000" b="1" dirty="0"/>
              <a:t>AI-Assisted Caregiver Workforce Deterioration Detection and Adaptive Workload Redistribution</a:t>
            </a:r>
            <a:endParaRPr lang="en-US" sz="2000" b="1" dirty="0">
              <a:solidFill>
                <a:srgbClr val="0F2742"/>
              </a:solidFill>
              <a:latin typeface="+mj-lt"/>
            </a:endParaRPr>
          </a:p>
        </p:txBody>
      </p:sp>
      <p:sp>
        <p:nvSpPr>
          <p:cNvPr id="12" name="Rectangle 11">
            <a:extLst>
              <a:ext uri="{FF2B5EF4-FFF2-40B4-BE49-F238E27FC236}">
                <a16:creationId xmlns:a16="http://schemas.microsoft.com/office/drawing/2014/main" id="{08A8AAE3-AB3F-3B08-98A8-F752F78B3325}"/>
              </a:ext>
            </a:extLst>
          </p:cNvPr>
          <p:cNvSpPr/>
          <p:nvPr/>
        </p:nvSpPr>
        <p:spPr>
          <a:xfrm>
            <a:off x="2907736" y="6455133"/>
            <a:ext cx="72735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IT22178640 |   DAYANA PRIYADHARSHANI KUMAR |   R26-DS-010</a:t>
            </a:r>
          </a:p>
        </p:txBody>
      </p:sp>
      <p:sp>
        <p:nvSpPr>
          <p:cNvPr id="4" name="Date Placeholder 3">
            <a:extLst>
              <a:ext uri="{FF2B5EF4-FFF2-40B4-BE49-F238E27FC236}">
                <a16:creationId xmlns:a16="http://schemas.microsoft.com/office/drawing/2014/main" id="{9A8F3A8C-444F-62D4-5CF7-7BF2D7283E4E}"/>
              </a:ext>
            </a:extLst>
          </p:cNvPr>
          <p:cNvSpPr>
            <a:spLocks noGrp="1"/>
          </p:cNvSpPr>
          <p:nvPr>
            <p:ph type="dt" sz="half" idx="10"/>
          </p:nvPr>
        </p:nvSpPr>
        <p:spPr>
          <a:xfrm>
            <a:off x="9982200" y="6261448"/>
            <a:ext cx="2743200" cy="365125"/>
          </a:xfrm>
        </p:spPr>
        <p:txBody>
          <a:bodyPr/>
          <a:lstStyle/>
          <a:p>
            <a:fld id="{4C13C7AB-C68C-4F5B-9F28-29441B570993}" type="datetime1">
              <a:rPr lang="en-US" b="1" smtClean="0">
                <a:solidFill>
                  <a:schemeClr val="tx1"/>
                </a:solidFill>
              </a:rPr>
              <a:t>5/12/2026</a:t>
            </a:fld>
            <a:endParaRPr lang="en-US" b="1" dirty="0">
              <a:solidFill>
                <a:schemeClr val="tx1"/>
              </a:solidFill>
            </a:endParaRPr>
          </a:p>
        </p:txBody>
      </p:sp>
      <p:sp>
        <p:nvSpPr>
          <p:cNvPr id="7" name="Slide Number Placeholder 6">
            <a:extLst>
              <a:ext uri="{FF2B5EF4-FFF2-40B4-BE49-F238E27FC236}">
                <a16:creationId xmlns:a16="http://schemas.microsoft.com/office/drawing/2014/main" id="{3BF97699-65CA-15CD-359E-F36344C5B590}"/>
              </a:ext>
            </a:extLst>
          </p:cNvPr>
          <p:cNvSpPr>
            <a:spLocks noGrp="1"/>
          </p:cNvSpPr>
          <p:nvPr>
            <p:ph type="sldNum" sz="quarter" idx="12"/>
          </p:nvPr>
        </p:nvSpPr>
        <p:spPr/>
        <p:txBody>
          <a:bodyPr/>
          <a:lstStyle/>
          <a:p>
            <a:fld id="{47D73ED1-4BC5-4C68-A93F-B56D3DD7872F}" type="slidenum">
              <a:rPr lang="en-US" smtClean="0"/>
              <a:t>19</a:t>
            </a:fld>
            <a:endParaRPr lang="en-US" dirty="0"/>
          </a:p>
        </p:txBody>
      </p:sp>
      <p:pic>
        <p:nvPicPr>
          <p:cNvPr id="2" name="Picture 1">
            <a:extLst>
              <a:ext uri="{FF2B5EF4-FFF2-40B4-BE49-F238E27FC236}">
                <a16:creationId xmlns:a16="http://schemas.microsoft.com/office/drawing/2014/main" id="{F1B067DE-0D07-D9D5-B866-E7F6112E0121}"/>
              </a:ext>
            </a:extLst>
          </p:cNvPr>
          <p:cNvPicPr>
            <a:picLocks noChangeAspect="1"/>
          </p:cNvPicPr>
          <p:nvPr/>
        </p:nvPicPr>
        <p:blipFill>
          <a:blip r:embed="rId2"/>
          <a:stretch>
            <a:fillRect/>
          </a:stretch>
        </p:blipFill>
        <p:spPr>
          <a:xfrm>
            <a:off x="38100" y="6261448"/>
            <a:ext cx="2676899" cy="533474"/>
          </a:xfrm>
          <a:prstGeom prst="rect">
            <a:avLst/>
          </a:prstGeom>
        </p:spPr>
      </p:pic>
      <p:sp>
        <p:nvSpPr>
          <p:cNvPr id="3" name="TextBox 2">
            <a:extLst>
              <a:ext uri="{FF2B5EF4-FFF2-40B4-BE49-F238E27FC236}">
                <a16:creationId xmlns:a16="http://schemas.microsoft.com/office/drawing/2014/main" id="{6518A807-4015-8162-CBD2-AC537374A6D2}"/>
              </a:ext>
            </a:extLst>
          </p:cNvPr>
          <p:cNvSpPr txBox="1"/>
          <p:nvPr/>
        </p:nvSpPr>
        <p:spPr>
          <a:xfrm>
            <a:off x="701286" y="951724"/>
            <a:ext cx="6528618" cy="400110"/>
          </a:xfrm>
          <a:prstGeom prst="rect">
            <a:avLst/>
          </a:prstGeom>
          <a:noFill/>
        </p:spPr>
        <p:txBody>
          <a:bodyPr wrap="square">
            <a:spAutoFit/>
          </a:bodyPr>
          <a:lstStyle/>
          <a:p>
            <a:pPr>
              <a:spcAft>
                <a:spcPts val="3000"/>
              </a:spcAft>
            </a:pPr>
            <a:r>
              <a:rPr lang="en-US" sz="2000" b="1" i="0" dirty="0">
                <a:solidFill>
                  <a:schemeClr val="accent1">
                    <a:lumMod val="50000"/>
                  </a:schemeClr>
                </a:solidFill>
                <a:effectLst/>
                <a:latin typeface="Poppins" panose="00000500000000000000" pitchFamily="2" charset="0"/>
              </a:rPr>
              <a:t>| </a:t>
            </a:r>
            <a:r>
              <a:rPr lang="en-US" sz="2000" b="1" dirty="0">
                <a:solidFill>
                  <a:schemeClr val="accent1">
                    <a:lumMod val="50000"/>
                  </a:schemeClr>
                </a:solidFill>
                <a:effectLst/>
              </a:rPr>
              <a:t>Panel Comment Received at Proposal</a:t>
            </a:r>
          </a:p>
        </p:txBody>
      </p:sp>
      <p:sp>
        <p:nvSpPr>
          <p:cNvPr id="5" name="Rectangle: Rounded Corners 4">
            <a:extLst>
              <a:ext uri="{FF2B5EF4-FFF2-40B4-BE49-F238E27FC236}">
                <a16:creationId xmlns:a16="http://schemas.microsoft.com/office/drawing/2014/main" id="{767EA640-4EEF-72B1-1306-B77146FE7139}"/>
              </a:ext>
            </a:extLst>
          </p:cNvPr>
          <p:cNvSpPr/>
          <p:nvPr/>
        </p:nvSpPr>
        <p:spPr>
          <a:xfrm>
            <a:off x="2028646" y="1472976"/>
            <a:ext cx="8381446" cy="699082"/>
          </a:xfrm>
          <a:prstGeom prst="roundRect">
            <a:avLst/>
          </a:prstGeom>
          <a:solidFill>
            <a:srgbClr val="FEDADD"/>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9" name="TextBox 8">
            <a:extLst>
              <a:ext uri="{FF2B5EF4-FFF2-40B4-BE49-F238E27FC236}">
                <a16:creationId xmlns:a16="http://schemas.microsoft.com/office/drawing/2014/main" id="{AD8A6EFD-94E9-B70A-8FBB-9A01247055D2}"/>
              </a:ext>
            </a:extLst>
          </p:cNvPr>
          <p:cNvSpPr txBox="1"/>
          <p:nvPr/>
        </p:nvSpPr>
        <p:spPr>
          <a:xfrm>
            <a:off x="770112" y="2499970"/>
            <a:ext cx="6528618" cy="400110"/>
          </a:xfrm>
          <a:prstGeom prst="rect">
            <a:avLst/>
          </a:prstGeom>
          <a:noFill/>
        </p:spPr>
        <p:txBody>
          <a:bodyPr wrap="square">
            <a:spAutoFit/>
          </a:bodyPr>
          <a:lstStyle/>
          <a:p>
            <a:r>
              <a:rPr lang="en-US" sz="2000" b="1" i="0" dirty="0">
                <a:solidFill>
                  <a:schemeClr val="accent1">
                    <a:lumMod val="50000"/>
                  </a:schemeClr>
                </a:solidFill>
                <a:effectLst/>
                <a:latin typeface="Poppins" panose="00000500000000000000" pitchFamily="2" charset="0"/>
              </a:rPr>
              <a:t>| </a:t>
            </a:r>
            <a:r>
              <a:rPr lang="en-US" sz="2000" b="1" dirty="0">
                <a:solidFill>
                  <a:schemeClr val="accent1">
                    <a:lumMod val="50000"/>
                  </a:schemeClr>
                </a:solidFill>
              </a:rPr>
              <a:t>How </a:t>
            </a:r>
            <a:r>
              <a:rPr lang="en-US" sz="2000" b="1" dirty="0" err="1">
                <a:solidFill>
                  <a:schemeClr val="accent1">
                    <a:lumMod val="50000"/>
                  </a:schemeClr>
                </a:solidFill>
              </a:rPr>
              <a:t>CareSense</a:t>
            </a:r>
            <a:r>
              <a:rPr lang="en-US" sz="2000" b="1" dirty="0">
                <a:solidFill>
                  <a:schemeClr val="accent1">
                    <a:lumMod val="50000"/>
                  </a:schemeClr>
                </a:solidFill>
              </a:rPr>
              <a:t> Addresses This</a:t>
            </a:r>
          </a:p>
        </p:txBody>
      </p:sp>
      <p:sp>
        <p:nvSpPr>
          <p:cNvPr id="8" name="TextBox 7">
            <a:extLst>
              <a:ext uri="{FF2B5EF4-FFF2-40B4-BE49-F238E27FC236}">
                <a16:creationId xmlns:a16="http://schemas.microsoft.com/office/drawing/2014/main" id="{C2FE6EA4-7BF2-4F5E-D35E-39D9C45BB61E}"/>
              </a:ext>
            </a:extLst>
          </p:cNvPr>
          <p:cNvSpPr txBox="1"/>
          <p:nvPr/>
        </p:nvSpPr>
        <p:spPr>
          <a:xfrm>
            <a:off x="2383411" y="1499351"/>
            <a:ext cx="7671916" cy="646331"/>
          </a:xfrm>
          <a:prstGeom prst="rect">
            <a:avLst/>
          </a:prstGeom>
          <a:noFill/>
        </p:spPr>
        <p:txBody>
          <a:bodyPr wrap="square">
            <a:spAutoFit/>
          </a:bodyPr>
          <a:lstStyle/>
          <a:p>
            <a:pPr algn="ctr"/>
            <a:r>
              <a:rPr lang="en-US" b="1" dirty="0"/>
              <a:t>“</a:t>
            </a:r>
            <a:r>
              <a:rPr lang="en-US" b="1" dirty="0" err="1"/>
              <a:t>Emphasise</a:t>
            </a:r>
            <a:r>
              <a:rPr lang="en-US" b="1" dirty="0"/>
              <a:t> how the proposed methodology differs from a normal sign language tutoring system; what is the proposed sign language type?”</a:t>
            </a:r>
          </a:p>
        </p:txBody>
      </p:sp>
      <p:sp>
        <p:nvSpPr>
          <p:cNvPr id="13" name="TextBox 12">
            <a:extLst>
              <a:ext uri="{FF2B5EF4-FFF2-40B4-BE49-F238E27FC236}">
                <a16:creationId xmlns:a16="http://schemas.microsoft.com/office/drawing/2014/main" id="{510AF800-BF6C-E443-406F-AA5D0F582B23}"/>
              </a:ext>
            </a:extLst>
          </p:cNvPr>
          <p:cNvSpPr txBox="1"/>
          <p:nvPr/>
        </p:nvSpPr>
        <p:spPr>
          <a:xfrm>
            <a:off x="701285" y="2841247"/>
            <a:ext cx="10900779" cy="3139321"/>
          </a:xfrm>
          <a:prstGeom prst="rect">
            <a:avLst/>
          </a:prstGeom>
          <a:noFill/>
        </p:spPr>
        <p:txBody>
          <a:bodyPr wrap="square">
            <a:spAutoFit/>
          </a:bodyPr>
          <a:lstStyle/>
          <a:p>
            <a:pPr marL="285750" indent="-285750" algn="just">
              <a:buFont typeface="Arial" panose="020B0604020202020204" pitchFamily="34" charset="0"/>
              <a:buChar char="•"/>
            </a:pPr>
            <a:r>
              <a:rPr lang="en-US" b="1" dirty="0"/>
              <a:t>Intelligent Evaluation: </a:t>
            </a:r>
            <a:r>
              <a:rPr lang="en-US" dirty="0"/>
              <a:t>Existing systems mainly provide correct or incorrect results with limited feedback. </a:t>
            </a:r>
            <a:r>
              <a:rPr lang="en-US" dirty="0" err="1"/>
              <a:t>CareSense</a:t>
            </a:r>
            <a:r>
              <a:rPr lang="en-US" dirty="0"/>
              <a:t> uses DTW and </a:t>
            </a:r>
            <a:r>
              <a:rPr lang="en-US" dirty="0" err="1"/>
              <a:t>MediaPipe</a:t>
            </a:r>
            <a:r>
              <a:rPr lang="en-US" dirty="0"/>
              <a:t> to support speed-tolerant gesture recognition and provide real-time corrective feedback for better learning.</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Personalized Learning: </a:t>
            </a:r>
            <a:r>
              <a:rPr lang="en-US" dirty="0"/>
              <a:t>Traditional systems follow the same learning path for all users. </a:t>
            </a:r>
            <a:r>
              <a:rPr lang="en-US" dirty="0" err="1"/>
              <a:t>CareSense</a:t>
            </a:r>
            <a:r>
              <a:rPr lang="en-US" dirty="0"/>
              <a:t> adapts lessons based on user mistakes, tracks progress, and recommends personalized practice activities to improve learning outcomes.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Proposed Sign Language Type</a:t>
            </a:r>
            <a:r>
              <a:rPr lang="en-US" dirty="0"/>
              <a:t>: The proposed system focuses on American Sign Language (ASL). The selected ASL gestures are specially designed for caregiving, healthcare, and patient communication situations</a:t>
            </a:r>
          </a:p>
        </p:txBody>
      </p:sp>
    </p:spTree>
    <p:extLst>
      <p:ext uri="{BB962C8B-B14F-4D97-AF65-F5344CB8AC3E}">
        <p14:creationId xmlns:p14="http://schemas.microsoft.com/office/powerpoint/2010/main" val="265419050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9"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9D947-6261-E29B-7BBA-38969ED63D4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AD53D09-7D0A-FECF-7BAD-76D5C68D43A4}"/>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23A43308-06E2-021E-4695-015DEB988E23}"/>
              </a:ext>
            </a:extLst>
          </p:cNvPr>
          <p:cNvSpPr>
            <a:spLocks noGrp="1"/>
          </p:cNvSpPr>
          <p:nvPr>
            <p:ph type="dt" sz="half" idx="10"/>
          </p:nvPr>
        </p:nvSpPr>
        <p:spPr>
          <a:xfrm>
            <a:off x="9982200" y="6345622"/>
            <a:ext cx="2743200" cy="365125"/>
          </a:xfrm>
        </p:spPr>
        <p:txBody>
          <a:bodyPr/>
          <a:lstStyle/>
          <a:p>
            <a:fld id="{4C13C7AB-C68C-4F5B-9F28-29441B570993}" type="datetime1">
              <a:rPr lang="en-US" b="1" smtClean="0">
                <a:solidFill>
                  <a:schemeClr val="tx1"/>
                </a:solidFill>
              </a:rPr>
              <a:t>5/12/2026</a:t>
            </a:fld>
            <a:endParaRPr lang="en-US" b="1" dirty="0">
              <a:solidFill>
                <a:schemeClr val="tx1"/>
              </a:solidFill>
            </a:endParaRPr>
          </a:p>
        </p:txBody>
      </p:sp>
      <p:sp>
        <p:nvSpPr>
          <p:cNvPr id="7" name="Slide Number Placeholder 6">
            <a:extLst>
              <a:ext uri="{FF2B5EF4-FFF2-40B4-BE49-F238E27FC236}">
                <a16:creationId xmlns:a16="http://schemas.microsoft.com/office/drawing/2014/main" id="{6432FE8F-B0E8-4216-1775-FBACFD79F3B7}"/>
              </a:ext>
            </a:extLst>
          </p:cNvPr>
          <p:cNvSpPr>
            <a:spLocks noGrp="1"/>
          </p:cNvSpPr>
          <p:nvPr>
            <p:ph type="sldNum" sz="quarter" idx="12"/>
          </p:nvPr>
        </p:nvSpPr>
        <p:spPr>
          <a:xfrm>
            <a:off x="8791471" y="6345622"/>
            <a:ext cx="2743200" cy="365125"/>
          </a:xfrm>
        </p:spPr>
        <p:txBody>
          <a:bodyPr/>
          <a:lstStyle/>
          <a:p>
            <a:fld id="{47D73ED1-4BC5-4C68-A93F-B56D3DD7872F}" type="slidenum">
              <a:rPr lang="en-US" smtClean="0"/>
              <a:t>20</a:t>
            </a:fld>
            <a:endParaRPr lang="en-US" dirty="0"/>
          </a:p>
        </p:txBody>
      </p:sp>
      <p:pic>
        <p:nvPicPr>
          <p:cNvPr id="2" name="Picture 1">
            <a:extLst>
              <a:ext uri="{FF2B5EF4-FFF2-40B4-BE49-F238E27FC236}">
                <a16:creationId xmlns:a16="http://schemas.microsoft.com/office/drawing/2014/main" id="{21765628-9B81-D9A0-F7DD-05B0A3A8E4DF}"/>
              </a:ext>
            </a:extLst>
          </p:cNvPr>
          <p:cNvPicPr>
            <a:picLocks noChangeAspect="1"/>
          </p:cNvPicPr>
          <p:nvPr/>
        </p:nvPicPr>
        <p:blipFill>
          <a:blip r:embed="rId2"/>
          <a:stretch>
            <a:fillRect/>
          </a:stretch>
        </p:blipFill>
        <p:spPr>
          <a:xfrm>
            <a:off x="38100" y="6261448"/>
            <a:ext cx="2676899" cy="533474"/>
          </a:xfrm>
          <a:prstGeom prst="rect">
            <a:avLst/>
          </a:prstGeom>
        </p:spPr>
      </p:pic>
      <p:sp>
        <p:nvSpPr>
          <p:cNvPr id="6" name="Title 1">
            <a:extLst>
              <a:ext uri="{FF2B5EF4-FFF2-40B4-BE49-F238E27FC236}">
                <a16:creationId xmlns:a16="http://schemas.microsoft.com/office/drawing/2014/main" id="{230E740C-1C94-6BAE-B37A-4128C63D73BA}"/>
              </a:ext>
            </a:extLst>
          </p:cNvPr>
          <p:cNvSpPr txBox="1">
            <a:spLocks/>
          </p:cNvSpPr>
          <p:nvPr/>
        </p:nvSpPr>
        <p:spPr>
          <a:xfrm>
            <a:off x="649224" y="152400"/>
            <a:ext cx="10363200" cy="1470025"/>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nSpc>
                <a:spcPct val="90000"/>
              </a:lnSpc>
            </a:pPr>
            <a:r>
              <a:rPr lang="en-US" sz="2400" b="1" dirty="0"/>
              <a:t>Multimodal Computational Intelligence for Enhancing Caregiver Performance and Care Delivery</a:t>
            </a:r>
            <a:endParaRPr lang="en-US" sz="2400" dirty="0"/>
          </a:p>
          <a:p>
            <a:pPr>
              <a:lnSpc>
                <a:spcPct val="90000"/>
              </a:lnSpc>
            </a:pPr>
            <a:endParaRPr lang="en-US" sz="2400" dirty="0"/>
          </a:p>
        </p:txBody>
      </p:sp>
      <p:sp>
        <p:nvSpPr>
          <p:cNvPr id="13" name="Rectangle 12">
            <a:extLst>
              <a:ext uri="{FF2B5EF4-FFF2-40B4-BE49-F238E27FC236}">
                <a16:creationId xmlns:a16="http://schemas.microsoft.com/office/drawing/2014/main" id="{2CB3BB35-DE3F-89F2-5C5F-D265EEC063D5}"/>
              </a:ext>
            </a:extLst>
          </p:cNvPr>
          <p:cNvSpPr/>
          <p:nvPr/>
        </p:nvSpPr>
        <p:spPr>
          <a:xfrm>
            <a:off x="2411604" y="1909187"/>
            <a:ext cx="6742444" cy="2954215"/>
          </a:xfrm>
          <a:prstGeom prst="rect">
            <a:avLst/>
          </a:prstGeom>
          <a:solidFill>
            <a:srgbClr val="D4ED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tx1"/>
                </a:solidFill>
                <a:effectLst>
                  <a:outerShdw blurRad="38100" dist="19050" dir="2700000" algn="tl" rotWithShape="0">
                    <a:schemeClr val="dk1">
                      <a:alpha val="40000"/>
                    </a:schemeClr>
                  </a:outerShdw>
                </a:effectLst>
              </a:rPr>
              <a:t>COMMON SLIDES FOR THE RP FOLLOWS FROM HERE </a:t>
            </a:r>
            <a:r>
              <a:rPr lang="en-US" sz="2800" b="1" dirty="0">
                <a:ln w="0"/>
                <a:solidFill>
                  <a:schemeClr val="tx1"/>
                </a:solidFill>
                <a:effectLst>
                  <a:outerShdw blurRad="38100" dist="19050" dir="2700000" algn="tl" rotWithShape="0">
                    <a:schemeClr val="dk1">
                      <a:alpha val="40000"/>
                    </a:schemeClr>
                  </a:outerShdw>
                </a:effectLst>
                <a:sym typeface="Wingdings" panose="05000000000000000000" pitchFamily="2" charset="2"/>
              </a:rPr>
              <a:t></a:t>
            </a:r>
            <a:endParaRPr lang="en-US" sz="2800" b="1"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51108900"/>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B6DC-2BD5-F2FC-A3AA-7DD6876D9AF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703A8D5-0667-9E73-4DEB-4EA76CEBF400}"/>
              </a:ext>
            </a:extLst>
          </p:cNvPr>
          <p:cNvSpPr txBox="1">
            <a:spLocks/>
          </p:cNvSpPr>
          <p:nvPr/>
        </p:nvSpPr>
        <p:spPr>
          <a:xfrm>
            <a:off x="649224" y="152400"/>
            <a:ext cx="10363200" cy="1470025"/>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nSpc>
                <a:spcPct val="90000"/>
              </a:lnSpc>
            </a:pPr>
            <a:r>
              <a:rPr lang="en-US" sz="2400" b="1" dirty="0"/>
              <a:t>Multimodal Computational Intelligence for Enhancing Caregiver Performance and Care Delivery</a:t>
            </a:r>
            <a:endParaRPr lang="en-US" sz="2400" dirty="0"/>
          </a:p>
          <a:p>
            <a:pPr>
              <a:lnSpc>
                <a:spcPct val="90000"/>
              </a:lnSpc>
            </a:pPr>
            <a:endParaRPr lang="en-US" sz="2400" dirty="0"/>
          </a:p>
        </p:txBody>
      </p:sp>
      <p:sp>
        <p:nvSpPr>
          <p:cNvPr id="5" name="Rectangle 4">
            <a:extLst>
              <a:ext uri="{FF2B5EF4-FFF2-40B4-BE49-F238E27FC236}">
                <a16:creationId xmlns:a16="http://schemas.microsoft.com/office/drawing/2014/main" id="{C06E2B82-FEA5-0EE5-E94A-7B6FE3142629}"/>
              </a:ext>
            </a:extLst>
          </p:cNvPr>
          <p:cNvSpPr/>
          <p:nvPr/>
        </p:nvSpPr>
        <p:spPr>
          <a:xfrm>
            <a:off x="0" y="-38821"/>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6" name="Date Placeholder 5">
            <a:extLst>
              <a:ext uri="{FF2B5EF4-FFF2-40B4-BE49-F238E27FC236}">
                <a16:creationId xmlns:a16="http://schemas.microsoft.com/office/drawing/2014/main" id="{04714E5D-C476-1669-8EF8-3BD862BA9AB1}"/>
              </a:ext>
            </a:extLst>
          </p:cNvPr>
          <p:cNvSpPr>
            <a:spLocks noGrp="1"/>
          </p:cNvSpPr>
          <p:nvPr>
            <p:ph type="dt" sz="half" idx="10"/>
          </p:nvPr>
        </p:nvSpPr>
        <p:spPr>
          <a:xfrm>
            <a:off x="10060858" y="6351229"/>
            <a:ext cx="2743200" cy="365125"/>
          </a:xfrm>
        </p:spPr>
        <p:txBody>
          <a:bodyPr/>
          <a:lstStyle/>
          <a:p>
            <a:fld id="{CBFAFAB9-5C37-4C8B-98EE-D045EF0D9706}" type="datetime1">
              <a:rPr lang="en-US" b="1" smtClean="0">
                <a:solidFill>
                  <a:schemeClr val="tx1"/>
                </a:solidFill>
              </a:rPr>
              <a:t>5/12/2026</a:t>
            </a:fld>
            <a:endParaRPr lang="en-US" b="1" dirty="0">
              <a:solidFill>
                <a:schemeClr val="tx1"/>
              </a:solidFill>
            </a:endParaRPr>
          </a:p>
        </p:txBody>
      </p:sp>
      <p:sp>
        <p:nvSpPr>
          <p:cNvPr id="8" name="Slide Number Placeholder 7">
            <a:extLst>
              <a:ext uri="{FF2B5EF4-FFF2-40B4-BE49-F238E27FC236}">
                <a16:creationId xmlns:a16="http://schemas.microsoft.com/office/drawing/2014/main" id="{0FB09F0D-70E6-FC38-B55F-34BD53C08C2F}"/>
              </a:ext>
            </a:extLst>
          </p:cNvPr>
          <p:cNvSpPr>
            <a:spLocks noGrp="1"/>
          </p:cNvSpPr>
          <p:nvPr>
            <p:ph type="sldNum" sz="quarter" idx="12"/>
          </p:nvPr>
        </p:nvSpPr>
        <p:spPr/>
        <p:txBody>
          <a:bodyPr/>
          <a:lstStyle/>
          <a:p>
            <a:fld id="{47D73ED1-4BC5-4C68-A93F-B56D3DD7872F}" type="slidenum">
              <a:rPr lang="en-US" smtClean="0"/>
              <a:t>21</a:t>
            </a:fld>
            <a:endParaRPr lang="en-US" dirty="0"/>
          </a:p>
        </p:txBody>
      </p:sp>
      <p:pic>
        <p:nvPicPr>
          <p:cNvPr id="37" name="Picture 36">
            <a:extLst>
              <a:ext uri="{FF2B5EF4-FFF2-40B4-BE49-F238E27FC236}">
                <a16:creationId xmlns:a16="http://schemas.microsoft.com/office/drawing/2014/main" id="{4F9B1A6B-D7BA-9989-8933-1B60461CA03C}"/>
              </a:ext>
            </a:extLst>
          </p:cNvPr>
          <p:cNvPicPr>
            <a:picLocks noChangeAspect="1"/>
          </p:cNvPicPr>
          <p:nvPr/>
        </p:nvPicPr>
        <p:blipFill>
          <a:blip r:embed="rId2"/>
          <a:stretch>
            <a:fillRect/>
          </a:stretch>
        </p:blipFill>
        <p:spPr>
          <a:xfrm>
            <a:off x="117987" y="6272175"/>
            <a:ext cx="2676899" cy="533474"/>
          </a:xfrm>
          <a:prstGeom prst="rect">
            <a:avLst/>
          </a:prstGeom>
        </p:spPr>
      </p:pic>
      <p:sp>
        <p:nvSpPr>
          <p:cNvPr id="2" name="Shape 0">
            <a:extLst>
              <a:ext uri="{FF2B5EF4-FFF2-40B4-BE49-F238E27FC236}">
                <a16:creationId xmlns:a16="http://schemas.microsoft.com/office/drawing/2014/main" id="{8411AF48-9B36-1CCD-A7EC-2053BAF70BBA}"/>
              </a:ext>
            </a:extLst>
          </p:cNvPr>
          <p:cNvSpPr/>
          <p:nvPr/>
        </p:nvSpPr>
        <p:spPr>
          <a:xfrm>
            <a:off x="0" y="0"/>
            <a:ext cx="12161520" cy="228600"/>
          </a:xfrm>
          <a:prstGeom prst="rect">
            <a:avLst/>
          </a:prstGeom>
          <a:solidFill>
            <a:srgbClr val="1E2761"/>
          </a:solidFill>
          <a:ln w="12700">
            <a:solidFill>
              <a:srgbClr val="1E2761"/>
            </a:solidFill>
            <a:prstDash val="solid"/>
          </a:ln>
        </p:spPr>
        <p:txBody>
          <a:bodyPr/>
          <a:lstStyle/>
          <a:p>
            <a:endParaRPr lang="en-SG" dirty="0"/>
          </a:p>
        </p:txBody>
      </p:sp>
      <p:sp>
        <p:nvSpPr>
          <p:cNvPr id="3" name="Text 1">
            <a:extLst>
              <a:ext uri="{FF2B5EF4-FFF2-40B4-BE49-F238E27FC236}">
                <a16:creationId xmlns:a16="http://schemas.microsoft.com/office/drawing/2014/main" id="{97DF6B4C-1E37-458A-A911-25DA22D90D44}"/>
              </a:ext>
            </a:extLst>
          </p:cNvPr>
          <p:cNvSpPr/>
          <p:nvPr/>
        </p:nvSpPr>
        <p:spPr>
          <a:xfrm>
            <a:off x="457200" y="292608"/>
            <a:ext cx="11247120" cy="777240"/>
          </a:xfrm>
          <a:prstGeom prst="rect">
            <a:avLst/>
          </a:prstGeom>
          <a:noFill/>
          <a:ln/>
        </p:spPr>
        <p:txBody>
          <a:bodyPr wrap="square" lIns="0" tIns="0" rIns="0" bIns="0" rtlCol="0" anchor="ctr"/>
          <a:lstStyle/>
          <a:p>
            <a:pPr marL="0" indent="0" algn="ctr">
              <a:buNone/>
            </a:pPr>
            <a:endParaRPr lang="en-US" sz="2000" dirty="0"/>
          </a:p>
        </p:txBody>
      </p:sp>
      <p:sp>
        <p:nvSpPr>
          <p:cNvPr id="7" name="Shape 2">
            <a:extLst>
              <a:ext uri="{FF2B5EF4-FFF2-40B4-BE49-F238E27FC236}">
                <a16:creationId xmlns:a16="http://schemas.microsoft.com/office/drawing/2014/main" id="{F208579C-5E6A-2E1E-38EF-EB871AF871BE}"/>
              </a:ext>
            </a:extLst>
          </p:cNvPr>
          <p:cNvSpPr/>
          <p:nvPr/>
        </p:nvSpPr>
        <p:spPr>
          <a:xfrm>
            <a:off x="457200" y="1143000"/>
            <a:ext cx="11247120" cy="502920"/>
          </a:xfrm>
          <a:prstGeom prst="rect">
            <a:avLst/>
          </a:prstGeom>
          <a:solidFill>
            <a:srgbClr val="FEF3E2"/>
          </a:solidFill>
          <a:ln w="9525">
            <a:solidFill>
              <a:srgbClr val="F1D9A8"/>
            </a:solidFill>
            <a:prstDash val="solid"/>
          </a:ln>
        </p:spPr>
        <p:txBody>
          <a:bodyPr/>
          <a:lstStyle/>
          <a:p>
            <a:endParaRPr lang="en-SG" dirty="0"/>
          </a:p>
        </p:txBody>
      </p:sp>
      <p:sp>
        <p:nvSpPr>
          <p:cNvPr id="9" name="Shape 3">
            <a:extLst>
              <a:ext uri="{FF2B5EF4-FFF2-40B4-BE49-F238E27FC236}">
                <a16:creationId xmlns:a16="http://schemas.microsoft.com/office/drawing/2014/main" id="{B38AF6C3-998E-CA73-07EE-3C20F39B6723}"/>
              </a:ext>
            </a:extLst>
          </p:cNvPr>
          <p:cNvSpPr/>
          <p:nvPr/>
        </p:nvSpPr>
        <p:spPr>
          <a:xfrm>
            <a:off x="457200" y="1143000"/>
            <a:ext cx="91440" cy="502920"/>
          </a:xfrm>
          <a:prstGeom prst="rect">
            <a:avLst/>
          </a:prstGeom>
          <a:solidFill>
            <a:srgbClr val="D9A441"/>
          </a:solidFill>
          <a:ln w="12700">
            <a:solidFill>
              <a:srgbClr val="D9A441"/>
            </a:solidFill>
            <a:prstDash val="solid"/>
          </a:ln>
        </p:spPr>
        <p:txBody>
          <a:bodyPr/>
          <a:lstStyle/>
          <a:p>
            <a:endParaRPr lang="en-SG" dirty="0"/>
          </a:p>
        </p:txBody>
      </p:sp>
      <p:sp>
        <p:nvSpPr>
          <p:cNvPr id="38" name="Text 4">
            <a:extLst>
              <a:ext uri="{FF2B5EF4-FFF2-40B4-BE49-F238E27FC236}">
                <a16:creationId xmlns:a16="http://schemas.microsoft.com/office/drawing/2014/main" id="{0785C16D-4AE9-2684-CCA1-9B648F271455}"/>
              </a:ext>
            </a:extLst>
          </p:cNvPr>
          <p:cNvSpPr/>
          <p:nvPr/>
        </p:nvSpPr>
        <p:spPr>
          <a:xfrm>
            <a:off x="685800" y="1143000"/>
            <a:ext cx="10972800" cy="502920"/>
          </a:xfrm>
          <a:prstGeom prst="rect">
            <a:avLst/>
          </a:prstGeom>
          <a:noFill/>
          <a:ln/>
        </p:spPr>
        <p:txBody>
          <a:bodyPr wrap="square" lIns="0" tIns="0" rIns="0" bIns="0" rtlCol="0" anchor="ctr"/>
          <a:lstStyle/>
          <a:p>
            <a:pPr marL="0" indent="0">
              <a:buNone/>
            </a:pPr>
            <a:r>
              <a:rPr lang="en-US" sz="1000" b="1" kern="0" spc="200" dirty="0">
                <a:solidFill>
                  <a:srgbClr val="D9A441"/>
                </a:solidFill>
                <a:latin typeface="Calibri" pitchFamily="34" charset="0"/>
                <a:ea typeface="Calibri" pitchFamily="34" charset="-122"/>
                <a:cs typeface="Calibri" pitchFamily="34" charset="-120"/>
              </a:rPr>
              <a:t>MARKET OPPORTUNITY   </a:t>
            </a:r>
            <a:r>
              <a:rPr lang="en-US" sz="1150" dirty="0">
                <a:solidFill>
                  <a:srgbClr val="1F2937"/>
                </a:solidFill>
                <a:latin typeface="Calibri" pitchFamily="34" charset="0"/>
                <a:ea typeface="Calibri" pitchFamily="34" charset="-122"/>
                <a:cs typeface="Calibri" pitchFamily="34" charset="-120"/>
              </a:rPr>
              <a:t>Global healthcare-AI market projected to exceed </a:t>
            </a:r>
            <a:r>
              <a:rPr lang="en-US" sz="1150" b="1" dirty="0">
                <a:solidFill>
                  <a:srgbClr val="1E2761"/>
                </a:solidFill>
                <a:latin typeface="Calibri" pitchFamily="34" charset="0"/>
                <a:ea typeface="Calibri" pitchFamily="34" charset="-122"/>
                <a:cs typeface="Calibri" pitchFamily="34" charset="-120"/>
              </a:rPr>
              <a:t>USD 180 billion by 2030</a:t>
            </a:r>
            <a:r>
              <a:rPr lang="en-US" sz="1150" dirty="0">
                <a:solidFill>
                  <a:srgbClr val="1F2937"/>
                </a:solidFill>
                <a:latin typeface="Calibri" pitchFamily="34" charset="0"/>
                <a:ea typeface="Calibri" pitchFamily="34" charset="-122"/>
                <a:cs typeface="Calibri" pitchFamily="34" charset="-120"/>
              </a:rPr>
              <a:t>;  caregiver-wellness sub-segment growing at </a:t>
            </a:r>
            <a:r>
              <a:rPr lang="en-US" sz="1150" b="1" dirty="0">
                <a:solidFill>
                  <a:srgbClr val="1E2761"/>
                </a:solidFill>
                <a:latin typeface="Calibri" pitchFamily="34" charset="0"/>
                <a:ea typeface="Calibri" pitchFamily="34" charset="-122"/>
                <a:cs typeface="Calibri" pitchFamily="34" charset="-120"/>
              </a:rPr>
              <a:t>&gt;30% CAGR</a:t>
            </a:r>
            <a:r>
              <a:rPr lang="en-US" sz="1150" dirty="0">
                <a:solidFill>
                  <a:srgbClr val="1F2937"/>
                </a:solidFill>
                <a:latin typeface="Calibri" pitchFamily="34" charset="0"/>
                <a:ea typeface="Calibri" pitchFamily="34" charset="-122"/>
                <a:cs typeface="Calibri" pitchFamily="34" charset="-120"/>
              </a:rPr>
              <a:t>  —  Sri Lanka / South Asia: rapidly ageing population + rising elderly-care demand</a:t>
            </a:r>
            <a:endParaRPr lang="en-US" sz="1150" dirty="0"/>
          </a:p>
        </p:txBody>
      </p:sp>
      <p:sp>
        <p:nvSpPr>
          <p:cNvPr id="39" name="Shape 5">
            <a:extLst>
              <a:ext uri="{FF2B5EF4-FFF2-40B4-BE49-F238E27FC236}">
                <a16:creationId xmlns:a16="http://schemas.microsoft.com/office/drawing/2014/main" id="{961EB9D3-E5EA-E84A-A705-DE28F0EC653F}"/>
              </a:ext>
            </a:extLst>
          </p:cNvPr>
          <p:cNvSpPr/>
          <p:nvPr/>
        </p:nvSpPr>
        <p:spPr>
          <a:xfrm>
            <a:off x="457200" y="1783080"/>
            <a:ext cx="347472" cy="347472"/>
          </a:xfrm>
          <a:prstGeom prst="ellipse">
            <a:avLst/>
          </a:prstGeom>
          <a:solidFill>
            <a:srgbClr val="1E2761"/>
          </a:solidFill>
          <a:ln w="12700">
            <a:solidFill>
              <a:srgbClr val="1E2761"/>
            </a:solidFill>
            <a:prstDash val="solid"/>
          </a:ln>
        </p:spPr>
        <p:txBody>
          <a:bodyPr/>
          <a:lstStyle/>
          <a:p>
            <a:endParaRPr lang="en-SG" dirty="0"/>
          </a:p>
        </p:txBody>
      </p:sp>
      <p:sp>
        <p:nvSpPr>
          <p:cNvPr id="40" name="Text 6">
            <a:extLst>
              <a:ext uri="{FF2B5EF4-FFF2-40B4-BE49-F238E27FC236}">
                <a16:creationId xmlns:a16="http://schemas.microsoft.com/office/drawing/2014/main" id="{A508D565-6355-D163-9C4D-7381A9D45BEB}"/>
              </a:ext>
            </a:extLst>
          </p:cNvPr>
          <p:cNvSpPr/>
          <p:nvPr/>
        </p:nvSpPr>
        <p:spPr>
          <a:xfrm>
            <a:off x="457200" y="178308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1" name="Text 7">
            <a:extLst>
              <a:ext uri="{FF2B5EF4-FFF2-40B4-BE49-F238E27FC236}">
                <a16:creationId xmlns:a16="http://schemas.microsoft.com/office/drawing/2014/main" id="{A9958127-C06A-F931-5385-CC1075338CD4}"/>
              </a:ext>
            </a:extLst>
          </p:cNvPr>
          <p:cNvSpPr/>
          <p:nvPr/>
        </p:nvSpPr>
        <p:spPr>
          <a:xfrm>
            <a:off x="914400" y="1783080"/>
            <a:ext cx="5120640" cy="347472"/>
          </a:xfrm>
          <a:prstGeom prst="rect">
            <a:avLst/>
          </a:prstGeom>
          <a:noFill/>
          <a:ln/>
        </p:spPr>
        <p:txBody>
          <a:bodyPr wrap="square" lIns="0" tIns="0" rIns="0" bIns="0" rtlCol="0" anchor="ctr"/>
          <a:lstStyle/>
          <a:p>
            <a:pPr marL="0" indent="0" algn="l">
              <a:buNone/>
            </a:pPr>
            <a:r>
              <a:rPr lang="en-US" sz="1400" b="1" dirty="0">
                <a:solidFill>
                  <a:srgbClr val="1E2761"/>
                </a:solidFill>
                <a:latin typeface="Georgia" pitchFamily="34" charset="0"/>
                <a:ea typeface="Georgia" pitchFamily="34" charset="-122"/>
                <a:cs typeface="Georgia" pitchFamily="34" charset="-120"/>
              </a:rPr>
              <a:t>Commercialization &amp; Sustainability</a:t>
            </a:r>
            <a:endParaRPr lang="en-US" sz="1400" dirty="0"/>
          </a:p>
        </p:txBody>
      </p:sp>
      <p:sp>
        <p:nvSpPr>
          <p:cNvPr id="42" name="Text 8">
            <a:extLst>
              <a:ext uri="{FF2B5EF4-FFF2-40B4-BE49-F238E27FC236}">
                <a16:creationId xmlns:a16="http://schemas.microsoft.com/office/drawing/2014/main" id="{99814583-172B-0D57-6C11-ABFF2626FE93}"/>
              </a:ext>
            </a:extLst>
          </p:cNvPr>
          <p:cNvSpPr/>
          <p:nvPr/>
        </p:nvSpPr>
        <p:spPr>
          <a:xfrm>
            <a:off x="457200" y="2194560"/>
            <a:ext cx="5623560" cy="1143000"/>
          </a:xfrm>
          <a:prstGeom prst="rect">
            <a:avLst/>
          </a:prstGeom>
          <a:noFill/>
          <a:ln/>
        </p:spPr>
        <p:txBody>
          <a:bodyPr wrap="square" lIns="0" tIns="0" rIns="0" bIns="0" rtlCol="0" anchor="t"/>
          <a:lstStyle/>
          <a:p>
            <a:pPr marL="0" indent="0">
              <a:spcAft>
                <a:spcPts val="500"/>
              </a:spcAft>
              <a:buNone/>
            </a:pPr>
            <a:r>
              <a:rPr lang="en-US" sz="1100" b="1" dirty="0">
                <a:solidFill>
                  <a:srgbClr val="1F2937"/>
                </a:solidFill>
                <a:latin typeface="Calibri" pitchFamily="34" charset="0"/>
                <a:ea typeface="Calibri" pitchFamily="34" charset="-122"/>
                <a:cs typeface="Calibri" pitchFamily="34" charset="-120"/>
              </a:rPr>
              <a:t>▪  SaaS subscription model</a:t>
            </a:r>
            <a:r>
              <a:rPr lang="en-US" sz="1100" dirty="0">
                <a:solidFill>
                  <a:srgbClr val="475569"/>
                </a:solidFill>
                <a:latin typeface="Calibri" pitchFamily="34" charset="0"/>
                <a:ea typeface="Calibri" pitchFamily="34" charset="-122"/>
                <a:cs typeface="Calibri" pitchFamily="34" charset="-120"/>
              </a:rPr>
              <a:t> for hospitals &amp; elder-care facilities; tiered pricing by bed count and modules enabled (stress, fall, ADL, sign-language)</a:t>
            </a:r>
            <a:endParaRPr lang="en-US" sz="1100" dirty="0"/>
          </a:p>
          <a:p>
            <a:pPr marL="0" indent="0">
              <a:spcAft>
                <a:spcPts val="500"/>
              </a:spcAft>
              <a:buNone/>
            </a:pPr>
            <a:r>
              <a:rPr lang="en-US" sz="1100" b="1" dirty="0">
                <a:solidFill>
                  <a:srgbClr val="1F2937"/>
                </a:solidFill>
                <a:latin typeface="Calibri" pitchFamily="34" charset="0"/>
                <a:ea typeface="Calibri" pitchFamily="34" charset="-122"/>
                <a:cs typeface="Calibri" pitchFamily="34" charset="-120"/>
              </a:rPr>
              <a:t>▪  Sustained through ongoing licensing, model-update services</a:t>
            </a:r>
            <a:r>
              <a:rPr lang="en-US" sz="1100" dirty="0">
                <a:solidFill>
                  <a:srgbClr val="475569"/>
                </a:solidFill>
                <a:latin typeface="Calibri" pitchFamily="34" charset="0"/>
                <a:ea typeface="Calibri" pitchFamily="34" charset="-122"/>
                <a:cs typeface="Calibri" pitchFamily="34" charset="-120"/>
              </a:rPr>
              <a:t>, and partnerships with caregiver-training institutions for the sign-language module</a:t>
            </a:r>
            <a:endParaRPr lang="en-US" sz="1100" dirty="0"/>
          </a:p>
        </p:txBody>
      </p:sp>
      <p:sp>
        <p:nvSpPr>
          <p:cNvPr id="43" name="Shape 9">
            <a:extLst>
              <a:ext uri="{FF2B5EF4-FFF2-40B4-BE49-F238E27FC236}">
                <a16:creationId xmlns:a16="http://schemas.microsoft.com/office/drawing/2014/main" id="{7425A8E7-C145-370F-9BE0-33FA8D71636D}"/>
              </a:ext>
            </a:extLst>
          </p:cNvPr>
          <p:cNvSpPr/>
          <p:nvPr/>
        </p:nvSpPr>
        <p:spPr>
          <a:xfrm>
            <a:off x="457200" y="3383280"/>
            <a:ext cx="347472" cy="347472"/>
          </a:xfrm>
          <a:prstGeom prst="ellipse">
            <a:avLst/>
          </a:prstGeom>
          <a:solidFill>
            <a:srgbClr val="0E7C7B"/>
          </a:solidFill>
          <a:ln w="12700">
            <a:solidFill>
              <a:srgbClr val="0E7C7B"/>
            </a:solidFill>
            <a:prstDash val="solid"/>
          </a:ln>
        </p:spPr>
        <p:txBody>
          <a:bodyPr/>
          <a:lstStyle/>
          <a:p>
            <a:endParaRPr lang="en-SG" dirty="0"/>
          </a:p>
        </p:txBody>
      </p:sp>
      <p:sp>
        <p:nvSpPr>
          <p:cNvPr id="44" name="Text 10">
            <a:extLst>
              <a:ext uri="{FF2B5EF4-FFF2-40B4-BE49-F238E27FC236}">
                <a16:creationId xmlns:a16="http://schemas.microsoft.com/office/drawing/2014/main" id="{75DB084A-C0D5-48DE-8A47-A4B3E8FAEF20}"/>
              </a:ext>
            </a:extLst>
          </p:cNvPr>
          <p:cNvSpPr/>
          <p:nvPr/>
        </p:nvSpPr>
        <p:spPr>
          <a:xfrm>
            <a:off x="457200" y="338328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5" name="Text 11">
            <a:extLst>
              <a:ext uri="{FF2B5EF4-FFF2-40B4-BE49-F238E27FC236}">
                <a16:creationId xmlns:a16="http://schemas.microsoft.com/office/drawing/2014/main" id="{7A437294-B8C3-C600-0C40-0E88CBBDC5BB}"/>
              </a:ext>
            </a:extLst>
          </p:cNvPr>
          <p:cNvSpPr/>
          <p:nvPr/>
        </p:nvSpPr>
        <p:spPr>
          <a:xfrm>
            <a:off x="914400" y="3383280"/>
            <a:ext cx="5120640" cy="347472"/>
          </a:xfrm>
          <a:prstGeom prst="rect">
            <a:avLst/>
          </a:prstGeom>
          <a:noFill/>
          <a:ln/>
        </p:spPr>
        <p:txBody>
          <a:bodyPr wrap="square" lIns="0" tIns="0" rIns="0" bIns="0" rtlCol="0" anchor="ctr"/>
          <a:lstStyle/>
          <a:p>
            <a:pPr marL="0" indent="0" algn="l">
              <a:buNone/>
            </a:pPr>
            <a:r>
              <a:rPr lang="en-US" sz="1400" b="1" dirty="0">
                <a:solidFill>
                  <a:srgbClr val="1E2761"/>
                </a:solidFill>
                <a:latin typeface="Georgia" pitchFamily="34" charset="0"/>
                <a:ea typeface="Georgia" pitchFamily="34" charset="-122"/>
                <a:cs typeface="Georgia" pitchFamily="34" charset="-120"/>
              </a:rPr>
              <a:t>Customer Persona</a:t>
            </a:r>
            <a:endParaRPr lang="en-US" sz="1400" dirty="0"/>
          </a:p>
        </p:txBody>
      </p:sp>
      <p:sp>
        <p:nvSpPr>
          <p:cNvPr id="46" name="Text 12">
            <a:extLst>
              <a:ext uri="{FF2B5EF4-FFF2-40B4-BE49-F238E27FC236}">
                <a16:creationId xmlns:a16="http://schemas.microsoft.com/office/drawing/2014/main" id="{2D501830-80EF-B645-5792-94D8BACD5C8D}"/>
              </a:ext>
            </a:extLst>
          </p:cNvPr>
          <p:cNvSpPr/>
          <p:nvPr/>
        </p:nvSpPr>
        <p:spPr>
          <a:xfrm>
            <a:off x="457200" y="3794760"/>
            <a:ext cx="5623560" cy="1371600"/>
          </a:xfrm>
          <a:prstGeom prst="rect">
            <a:avLst/>
          </a:prstGeom>
          <a:noFill/>
          <a:ln/>
        </p:spPr>
        <p:txBody>
          <a:bodyPr wrap="square" lIns="0" tIns="0" rIns="0" bIns="0" rtlCol="0" anchor="t"/>
          <a:lstStyle/>
          <a:p>
            <a:pPr marL="0" indent="0">
              <a:spcAft>
                <a:spcPts val="500"/>
              </a:spcAft>
              <a:buNone/>
            </a:pPr>
            <a:r>
              <a:rPr lang="en-US" sz="1100" b="1" dirty="0">
                <a:solidFill>
                  <a:srgbClr val="1F2937"/>
                </a:solidFill>
                <a:latin typeface="Calibri" pitchFamily="34" charset="0"/>
                <a:ea typeface="Calibri" pitchFamily="34" charset="-122"/>
                <a:cs typeface="Calibri" pitchFamily="34" charset="-120"/>
              </a:rPr>
              <a:t>▪  Primary buyers:</a:t>
            </a:r>
            <a:r>
              <a:rPr lang="en-US" sz="1100" dirty="0">
                <a:solidFill>
                  <a:srgbClr val="475569"/>
                </a:solidFill>
                <a:latin typeface="Calibri" pitchFamily="34" charset="0"/>
                <a:ea typeface="Calibri" pitchFamily="34" charset="-122"/>
                <a:cs typeface="Calibri" pitchFamily="34" charset="-120"/>
              </a:rPr>
              <a:t> hospital administrators and nursing supervisors managing 50–500 caregiving staff; eldercare home operators; private home-care service providers</a:t>
            </a:r>
            <a:endParaRPr lang="en-US" sz="1100" dirty="0"/>
          </a:p>
          <a:p>
            <a:pPr marL="0" indent="0">
              <a:spcAft>
                <a:spcPts val="500"/>
              </a:spcAft>
              <a:buNone/>
            </a:pPr>
            <a:r>
              <a:rPr lang="en-US" sz="1100" b="1" dirty="0">
                <a:solidFill>
                  <a:srgbClr val="1F2937"/>
                </a:solidFill>
                <a:latin typeface="Calibri" pitchFamily="34" charset="0"/>
                <a:ea typeface="Calibri" pitchFamily="34" charset="-122"/>
                <a:cs typeface="Calibri" pitchFamily="34" charset="-120"/>
              </a:rPr>
              <a:t>▪  Pain points:</a:t>
            </a:r>
            <a:r>
              <a:rPr lang="en-US" sz="1100" dirty="0">
                <a:solidFill>
                  <a:srgbClr val="475569"/>
                </a:solidFill>
                <a:latin typeface="Calibri" pitchFamily="34" charset="0"/>
                <a:ea typeface="Calibri" pitchFamily="34" charset="-122"/>
                <a:cs typeface="Calibri" pitchFamily="34" charset="-120"/>
              </a:rPr>
              <a:t> staff burnout-driven turnover, patient-fall liability, documentation overhead, and communication gaps with deaf / hard-of-hearing patients</a:t>
            </a:r>
            <a:endParaRPr lang="en-US" sz="1100" dirty="0"/>
          </a:p>
        </p:txBody>
      </p:sp>
      <p:sp>
        <p:nvSpPr>
          <p:cNvPr id="47" name="Shape 13">
            <a:extLst>
              <a:ext uri="{FF2B5EF4-FFF2-40B4-BE49-F238E27FC236}">
                <a16:creationId xmlns:a16="http://schemas.microsoft.com/office/drawing/2014/main" id="{AC0FE7C8-6AF4-F13C-FFC1-582FF98E4D3C}"/>
              </a:ext>
            </a:extLst>
          </p:cNvPr>
          <p:cNvSpPr/>
          <p:nvPr/>
        </p:nvSpPr>
        <p:spPr>
          <a:xfrm>
            <a:off x="6400800" y="1783080"/>
            <a:ext cx="347472" cy="347472"/>
          </a:xfrm>
          <a:prstGeom prst="ellipse">
            <a:avLst/>
          </a:prstGeom>
          <a:solidFill>
            <a:srgbClr val="D9A441"/>
          </a:solidFill>
          <a:ln w="12700">
            <a:solidFill>
              <a:srgbClr val="D9A441"/>
            </a:solidFill>
            <a:prstDash val="solid"/>
          </a:ln>
        </p:spPr>
        <p:txBody>
          <a:bodyPr/>
          <a:lstStyle/>
          <a:p>
            <a:endParaRPr lang="en-SG" dirty="0"/>
          </a:p>
        </p:txBody>
      </p:sp>
      <p:sp>
        <p:nvSpPr>
          <p:cNvPr id="48" name="Text 14">
            <a:extLst>
              <a:ext uri="{FF2B5EF4-FFF2-40B4-BE49-F238E27FC236}">
                <a16:creationId xmlns:a16="http://schemas.microsoft.com/office/drawing/2014/main" id="{A0655CFB-250D-2868-3B8A-717107B0F82A}"/>
              </a:ext>
            </a:extLst>
          </p:cNvPr>
          <p:cNvSpPr/>
          <p:nvPr/>
        </p:nvSpPr>
        <p:spPr>
          <a:xfrm>
            <a:off x="6400800" y="178308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9" name="Text 15">
            <a:extLst>
              <a:ext uri="{FF2B5EF4-FFF2-40B4-BE49-F238E27FC236}">
                <a16:creationId xmlns:a16="http://schemas.microsoft.com/office/drawing/2014/main" id="{17E08BE2-F7C8-1DBA-A4AF-EE7FF46DA985}"/>
              </a:ext>
            </a:extLst>
          </p:cNvPr>
          <p:cNvSpPr/>
          <p:nvPr/>
        </p:nvSpPr>
        <p:spPr>
          <a:xfrm>
            <a:off x="6858000" y="1783080"/>
            <a:ext cx="4846320" cy="347472"/>
          </a:xfrm>
          <a:prstGeom prst="rect">
            <a:avLst/>
          </a:prstGeom>
          <a:noFill/>
          <a:ln/>
        </p:spPr>
        <p:txBody>
          <a:bodyPr wrap="square" lIns="0" tIns="0" rIns="0" bIns="0" rtlCol="0" anchor="ctr"/>
          <a:lstStyle/>
          <a:p>
            <a:pPr marL="0" indent="0" algn="l">
              <a:buNone/>
            </a:pPr>
            <a:r>
              <a:rPr lang="en-US" sz="1400" b="1" dirty="0">
                <a:solidFill>
                  <a:srgbClr val="1E2761"/>
                </a:solidFill>
                <a:latin typeface="Georgia" pitchFamily="34" charset="0"/>
                <a:ea typeface="Georgia" pitchFamily="34" charset="-122"/>
                <a:cs typeface="Georgia" pitchFamily="34" charset="-120"/>
              </a:rPr>
              <a:t>What is Unique in Our Solution</a:t>
            </a:r>
            <a:endParaRPr lang="en-US" sz="1400" dirty="0"/>
          </a:p>
        </p:txBody>
      </p:sp>
      <p:sp>
        <p:nvSpPr>
          <p:cNvPr id="50" name="Text 16">
            <a:extLst>
              <a:ext uri="{FF2B5EF4-FFF2-40B4-BE49-F238E27FC236}">
                <a16:creationId xmlns:a16="http://schemas.microsoft.com/office/drawing/2014/main" id="{9620D411-586A-6CB5-B31B-D4066C92B8E8}"/>
              </a:ext>
            </a:extLst>
          </p:cNvPr>
          <p:cNvSpPr/>
          <p:nvPr/>
        </p:nvSpPr>
        <p:spPr>
          <a:xfrm>
            <a:off x="6400800" y="2194560"/>
            <a:ext cx="5623560" cy="2194560"/>
          </a:xfrm>
          <a:prstGeom prst="rect">
            <a:avLst/>
          </a:prstGeom>
          <a:noFill/>
          <a:ln/>
        </p:spPr>
        <p:txBody>
          <a:bodyPr wrap="square" lIns="0" tIns="0" rIns="0" bIns="0" rtlCol="0" anchor="t"/>
          <a:lstStyle/>
          <a:p>
            <a:pPr marL="0" indent="0">
              <a:spcAft>
                <a:spcPts val="500"/>
              </a:spcAft>
              <a:buNone/>
            </a:pPr>
            <a:r>
              <a:rPr lang="en-US" sz="1100" b="1" dirty="0">
                <a:solidFill>
                  <a:srgbClr val="1F2937"/>
                </a:solidFill>
                <a:latin typeface="Calibri" pitchFamily="34" charset="0"/>
                <a:ea typeface="Calibri" pitchFamily="34" charset="-122"/>
                <a:cs typeface="Calibri" pitchFamily="34" charset="-120"/>
              </a:rPr>
              <a:t>▪  Only integrated platform</a:t>
            </a:r>
            <a:r>
              <a:rPr lang="en-US" sz="1100" dirty="0">
                <a:solidFill>
                  <a:srgbClr val="475569"/>
                </a:solidFill>
                <a:latin typeface="Calibri" pitchFamily="34" charset="0"/>
                <a:ea typeface="Calibri" pitchFamily="34" charset="-122"/>
                <a:cs typeface="Calibri" pitchFamily="34" charset="-120"/>
              </a:rPr>
              <a:t> addressing four critical pain points — caregiver stress, patient fall risk, automated documentation, and accessibility — in one ecosystem</a:t>
            </a:r>
            <a:endParaRPr lang="en-US" sz="1100" dirty="0"/>
          </a:p>
          <a:p>
            <a:pPr marL="0" indent="0">
              <a:spcAft>
                <a:spcPts val="500"/>
              </a:spcAft>
              <a:buNone/>
            </a:pPr>
            <a:r>
              <a:rPr lang="en-US" sz="1100" b="1" dirty="0">
                <a:solidFill>
                  <a:srgbClr val="1F2937"/>
                </a:solidFill>
                <a:latin typeface="Calibri" pitchFamily="34" charset="0"/>
                <a:ea typeface="Calibri" pitchFamily="34" charset="-122"/>
                <a:cs typeface="Calibri" pitchFamily="34" charset="-120"/>
              </a:rPr>
              <a:t>▪  Personalisation per caregiver:</a:t>
            </a:r>
            <a:r>
              <a:rPr lang="en-US" sz="1100" dirty="0">
                <a:solidFill>
                  <a:srgbClr val="475569"/>
                </a:solidFill>
                <a:latin typeface="Calibri" pitchFamily="34" charset="0"/>
                <a:ea typeface="Calibri" pitchFamily="34" charset="-122"/>
                <a:cs typeface="Calibri" pitchFamily="34" charset="-120"/>
              </a:rPr>
              <a:t> Isolation Forest baselines, RL-based ASL tutoring, and explainability (SHAP) — not a one-size-fits-all black box</a:t>
            </a:r>
            <a:endParaRPr lang="en-US" sz="1100" dirty="0"/>
          </a:p>
          <a:p>
            <a:pPr marL="0" indent="0">
              <a:spcAft>
                <a:spcPts val="500"/>
              </a:spcAft>
              <a:buNone/>
            </a:pPr>
            <a:r>
              <a:rPr lang="en-US" sz="1100" b="1" dirty="0">
                <a:solidFill>
                  <a:srgbClr val="1F2937"/>
                </a:solidFill>
                <a:latin typeface="Calibri" pitchFamily="34" charset="0"/>
                <a:ea typeface="Calibri" pitchFamily="34" charset="-122"/>
                <a:cs typeface="Calibri" pitchFamily="34" charset="-120"/>
              </a:rPr>
              <a:t>▪  Edge-first, privacy-preserving design</a:t>
            </a:r>
            <a:r>
              <a:rPr lang="en-US" sz="1100" dirty="0">
                <a:solidFill>
                  <a:srgbClr val="475569"/>
                </a:solidFill>
                <a:latin typeface="Calibri" pitchFamily="34" charset="0"/>
                <a:ea typeface="Calibri" pitchFamily="34" charset="-122"/>
                <a:cs typeface="Calibri" pitchFamily="34" charset="-120"/>
              </a:rPr>
              <a:t> — raw video never leaves the device; addresses a key adoption barrier in patient-facing AI</a:t>
            </a:r>
            <a:endParaRPr lang="en-US" sz="1100" dirty="0"/>
          </a:p>
        </p:txBody>
      </p:sp>
      <p:sp>
        <p:nvSpPr>
          <p:cNvPr id="51" name="Shape 17">
            <a:extLst>
              <a:ext uri="{FF2B5EF4-FFF2-40B4-BE49-F238E27FC236}">
                <a16:creationId xmlns:a16="http://schemas.microsoft.com/office/drawing/2014/main" id="{C087CE4C-E8C5-A29F-C06B-BA9B6551BC27}"/>
              </a:ext>
            </a:extLst>
          </p:cNvPr>
          <p:cNvSpPr/>
          <p:nvPr/>
        </p:nvSpPr>
        <p:spPr>
          <a:xfrm>
            <a:off x="6400800" y="4251960"/>
            <a:ext cx="347472" cy="347472"/>
          </a:xfrm>
          <a:prstGeom prst="ellipse">
            <a:avLst/>
          </a:prstGeom>
          <a:solidFill>
            <a:srgbClr val="B85042"/>
          </a:solidFill>
          <a:ln w="12700">
            <a:solidFill>
              <a:srgbClr val="B85042"/>
            </a:solidFill>
            <a:prstDash val="solid"/>
          </a:ln>
        </p:spPr>
        <p:txBody>
          <a:bodyPr/>
          <a:lstStyle/>
          <a:p>
            <a:endParaRPr lang="en-SG" dirty="0"/>
          </a:p>
        </p:txBody>
      </p:sp>
      <p:sp>
        <p:nvSpPr>
          <p:cNvPr id="52" name="Text 18">
            <a:extLst>
              <a:ext uri="{FF2B5EF4-FFF2-40B4-BE49-F238E27FC236}">
                <a16:creationId xmlns:a16="http://schemas.microsoft.com/office/drawing/2014/main" id="{25EFA5F7-98CD-3BBA-BF42-3DE3A4CD8608}"/>
              </a:ext>
            </a:extLst>
          </p:cNvPr>
          <p:cNvSpPr/>
          <p:nvPr/>
        </p:nvSpPr>
        <p:spPr>
          <a:xfrm>
            <a:off x="6400800" y="42519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53" name="Text 19">
            <a:extLst>
              <a:ext uri="{FF2B5EF4-FFF2-40B4-BE49-F238E27FC236}">
                <a16:creationId xmlns:a16="http://schemas.microsoft.com/office/drawing/2014/main" id="{9DCE829B-EFC6-8AF7-B770-991B41B007CB}"/>
              </a:ext>
            </a:extLst>
          </p:cNvPr>
          <p:cNvSpPr/>
          <p:nvPr/>
        </p:nvSpPr>
        <p:spPr>
          <a:xfrm>
            <a:off x="6858000" y="4251960"/>
            <a:ext cx="4846320" cy="347472"/>
          </a:xfrm>
          <a:prstGeom prst="rect">
            <a:avLst/>
          </a:prstGeom>
          <a:noFill/>
          <a:ln/>
        </p:spPr>
        <p:txBody>
          <a:bodyPr wrap="square" lIns="0" tIns="0" rIns="0" bIns="0" rtlCol="0" anchor="ctr"/>
          <a:lstStyle/>
          <a:p>
            <a:pPr marL="0" indent="0" algn="l">
              <a:buNone/>
            </a:pPr>
            <a:r>
              <a:rPr lang="en-US" sz="1400" b="1" dirty="0">
                <a:solidFill>
                  <a:srgbClr val="1E2761"/>
                </a:solidFill>
                <a:latin typeface="Georgia" pitchFamily="34" charset="0"/>
                <a:ea typeface="Georgia" pitchFamily="34" charset="-122"/>
                <a:cs typeface="Georgia" pitchFamily="34" charset="-120"/>
              </a:rPr>
              <a:t>How Will the Cost Be Recovered</a:t>
            </a:r>
            <a:endParaRPr lang="en-US" sz="1400" dirty="0"/>
          </a:p>
        </p:txBody>
      </p:sp>
      <p:sp>
        <p:nvSpPr>
          <p:cNvPr id="54" name="Text 20">
            <a:extLst>
              <a:ext uri="{FF2B5EF4-FFF2-40B4-BE49-F238E27FC236}">
                <a16:creationId xmlns:a16="http://schemas.microsoft.com/office/drawing/2014/main" id="{AA730451-91C8-82C9-EFFA-C6E39BC70959}"/>
              </a:ext>
            </a:extLst>
          </p:cNvPr>
          <p:cNvSpPr/>
          <p:nvPr/>
        </p:nvSpPr>
        <p:spPr>
          <a:xfrm>
            <a:off x="6400800" y="4663440"/>
            <a:ext cx="5623560" cy="1828800"/>
          </a:xfrm>
          <a:prstGeom prst="rect">
            <a:avLst/>
          </a:prstGeom>
          <a:noFill/>
          <a:ln/>
        </p:spPr>
        <p:txBody>
          <a:bodyPr wrap="square" lIns="0" tIns="0" rIns="0" bIns="0" rtlCol="0" anchor="t"/>
          <a:lstStyle/>
          <a:p>
            <a:pPr marL="0" indent="0">
              <a:spcAft>
                <a:spcPts val="500"/>
              </a:spcAft>
              <a:buNone/>
            </a:pPr>
            <a:r>
              <a:rPr lang="en-US" sz="1100" b="1" dirty="0">
                <a:solidFill>
                  <a:srgbClr val="1F2937"/>
                </a:solidFill>
                <a:latin typeface="Calibri" pitchFamily="34" charset="0"/>
                <a:ea typeface="Calibri" pitchFamily="34" charset="-122"/>
                <a:cs typeface="Calibri" pitchFamily="34" charset="-120"/>
              </a:rPr>
              <a:t>▪  Recurring SaaS fees</a:t>
            </a:r>
            <a:r>
              <a:rPr lang="en-US" sz="1100" dirty="0">
                <a:solidFill>
                  <a:srgbClr val="475569"/>
                </a:solidFill>
                <a:latin typeface="Calibri" pitchFamily="34" charset="0"/>
                <a:ea typeface="Calibri" pitchFamily="34" charset="-122"/>
                <a:cs typeface="Calibri" pitchFamily="34" charset="-120"/>
              </a:rPr>
              <a:t> (monthly / annual per facility) cover model updates and ongoing support</a:t>
            </a:r>
            <a:endParaRPr lang="en-US" sz="1100" dirty="0"/>
          </a:p>
          <a:p>
            <a:pPr marL="0" indent="0">
              <a:spcAft>
                <a:spcPts val="500"/>
              </a:spcAft>
              <a:buNone/>
            </a:pPr>
            <a:r>
              <a:rPr lang="en-US" sz="1100" b="1" dirty="0">
                <a:solidFill>
                  <a:srgbClr val="1F2937"/>
                </a:solidFill>
                <a:latin typeface="Calibri" pitchFamily="34" charset="0"/>
                <a:ea typeface="Calibri" pitchFamily="34" charset="-122"/>
                <a:cs typeface="Calibri" pitchFamily="34" charset="-120"/>
              </a:rPr>
              <a:t>▪  Modular per-component licensing</a:t>
            </a:r>
            <a:r>
              <a:rPr lang="en-US" sz="1100" dirty="0">
                <a:solidFill>
                  <a:srgbClr val="475569"/>
                </a:solidFill>
                <a:latin typeface="Calibri" pitchFamily="34" charset="0"/>
                <a:ea typeface="Calibri" pitchFamily="34" charset="-122"/>
                <a:cs typeface="Calibri" pitchFamily="34" charset="-120"/>
              </a:rPr>
              <a:t> — facilities pay only for modules they enable, lowering the entry barrier</a:t>
            </a:r>
            <a:endParaRPr lang="en-US" sz="1100" dirty="0"/>
          </a:p>
          <a:p>
            <a:pPr marL="0" indent="0">
              <a:spcAft>
                <a:spcPts val="500"/>
              </a:spcAft>
              <a:buNone/>
            </a:pPr>
            <a:r>
              <a:rPr lang="en-US" sz="1100" b="1" dirty="0">
                <a:solidFill>
                  <a:srgbClr val="1F2937"/>
                </a:solidFill>
                <a:latin typeface="Calibri" pitchFamily="34" charset="0"/>
                <a:ea typeface="Calibri" pitchFamily="34" charset="-122"/>
                <a:cs typeface="Calibri" pitchFamily="34" charset="-120"/>
              </a:rPr>
              <a:t>▪  Additional revenue streams:</a:t>
            </a:r>
            <a:r>
              <a:rPr lang="en-US" sz="1100" dirty="0">
                <a:solidFill>
                  <a:srgbClr val="475569"/>
                </a:solidFill>
                <a:latin typeface="Calibri" pitchFamily="34" charset="0"/>
                <a:ea typeface="Calibri" pitchFamily="34" charset="-122"/>
                <a:cs typeface="Calibri" pitchFamily="34" charset="-120"/>
              </a:rPr>
              <a:t> training programmes for the sign-language module, premium analytics dashboards, and research-grade anonymised data partnerships (with consent)</a:t>
            </a:r>
            <a:endParaRPr lang="en-US" sz="1100" dirty="0"/>
          </a:p>
        </p:txBody>
      </p:sp>
      <p:sp>
        <p:nvSpPr>
          <p:cNvPr id="55" name="Shape 21">
            <a:extLst>
              <a:ext uri="{FF2B5EF4-FFF2-40B4-BE49-F238E27FC236}">
                <a16:creationId xmlns:a16="http://schemas.microsoft.com/office/drawing/2014/main" id="{DEA89A53-5244-617F-DB7B-4E07A1C64F17}"/>
              </a:ext>
            </a:extLst>
          </p:cNvPr>
          <p:cNvSpPr/>
          <p:nvPr/>
        </p:nvSpPr>
        <p:spPr>
          <a:xfrm>
            <a:off x="457200" y="5669280"/>
            <a:ext cx="5623560" cy="502920"/>
          </a:xfrm>
          <a:prstGeom prst="rect">
            <a:avLst/>
          </a:prstGeom>
          <a:solidFill>
            <a:srgbClr val="F1F5F9"/>
          </a:solidFill>
          <a:ln w="12700">
            <a:solidFill>
              <a:srgbClr val="F1F5F9"/>
            </a:solidFill>
            <a:prstDash val="solid"/>
          </a:ln>
        </p:spPr>
        <p:txBody>
          <a:bodyPr/>
          <a:lstStyle/>
          <a:p>
            <a:endParaRPr lang="en-SG" dirty="0"/>
          </a:p>
        </p:txBody>
      </p:sp>
      <p:sp>
        <p:nvSpPr>
          <p:cNvPr id="56" name="Shape 22">
            <a:extLst>
              <a:ext uri="{FF2B5EF4-FFF2-40B4-BE49-F238E27FC236}">
                <a16:creationId xmlns:a16="http://schemas.microsoft.com/office/drawing/2014/main" id="{D0A0B6B0-6A5A-CB52-A1B3-0A311606D0F7}"/>
              </a:ext>
            </a:extLst>
          </p:cNvPr>
          <p:cNvSpPr/>
          <p:nvPr/>
        </p:nvSpPr>
        <p:spPr>
          <a:xfrm>
            <a:off x="457200" y="5669280"/>
            <a:ext cx="73152" cy="502920"/>
          </a:xfrm>
          <a:prstGeom prst="rect">
            <a:avLst/>
          </a:prstGeom>
          <a:solidFill>
            <a:srgbClr val="0E7C7B"/>
          </a:solidFill>
          <a:ln w="12700">
            <a:solidFill>
              <a:srgbClr val="0E7C7B"/>
            </a:solidFill>
            <a:prstDash val="solid"/>
          </a:ln>
        </p:spPr>
        <p:txBody>
          <a:bodyPr/>
          <a:lstStyle/>
          <a:p>
            <a:endParaRPr lang="en-SG" dirty="0"/>
          </a:p>
        </p:txBody>
      </p:sp>
      <p:sp>
        <p:nvSpPr>
          <p:cNvPr id="57" name="Text 23">
            <a:extLst>
              <a:ext uri="{FF2B5EF4-FFF2-40B4-BE49-F238E27FC236}">
                <a16:creationId xmlns:a16="http://schemas.microsoft.com/office/drawing/2014/main" id="{1AF9C5BF-78F2-5C50-9F6E-A6385A8192D1}"/>
              </a:ext>
            </a:extLst>
          </p:cNvPr>
          <p:cNvSpPr/>
          <p:nvPr/>
        </p:nvSpPr>
        <p:spPr>
          <a:xfrm>
            <a:off x="640080" y="5669280"/>
            <a:ext cx="5349240" cy="502920"/>
          </a:xfrm>
          <a:prstGeom prst="rect">
            <a:avLst/>
          </a:prstGeom>
          <a:noFill/>
          <a:ln/>
        </p:spPr>
        <p:txBody>
          <a:bodyPr wrap="square" lIns="0" tIns="0" rIns="0" bIns="0" rtlCol="0" anchor="ctr"/>
          <a:lstStyle/>
          <a:p>
            <a:pPr marL="0" indent="0">
              <a:buNone/>
            </a:pPr>
            <a:r>
              <a:rPr lang="en-US" sz="900" b="1" kern="0" spc="200" dirty="0">
                <a:solidFill>
                  <a:srgbClr val="0E7C7B"/>
                </a:solidFill>
                <a:latin typeface="Calibri" pitchFamily="34" charset="0"/>
                <a:ea typeface="Calibri" pitchFamily="34" charset="-122"/>
                <a:cs typeface="Calibri" pitchFamily="34" charset="-120"/>
              </a:rPr>
              <a:t>TARGET MARKET   </a:t>
            </a:r>
            <a:r>
              <a:rPr lang="en-US" sz="1050" dirty="0">
                <a:solidFill>
                  <a:srgbClr val="1F2937"/>
                </a:solidFill>
                <a:latin typeface="Calibri" pitchFamily="34" charset="0"/>
                <a:ea typeface="Calibri" pitchFamily="34" charset="-122"/>
                <a:cs typeface="Calibri" pitchFamily="34" charset="-120"/>
              </a:rPr>
              <a:t>Sri Lanka &amp; South Asia — expanding private hospital sector + strong serviceable demand from elderly-care growth</a:t>
            </a:r>
            <a:endParaRPr lang="en-US" sz="900" dirty="0"/>
          </a:p>
        </p:txBody>
      </p:sp>
      <p:sp>
        <p:nvSpPr>
          <p:cNvPr id="58" name="Shape 24">
            <a:extLst>
              <a:ext uri="{FF2B5EF4-FFF2-40B4-BE49-F238E27FC236}">
                <a16:creationId xmlns:a16="http://schemas.microsoft.com/office/drawing/2014/main" id="{F9437384-D73D-BD12-4B3E-98CC127705DC}"/>
              </a:ext>
            </a:extLst>
          </p:cNvPr>
          <p:cNvSpPr/>
          <p:nvPr/>
        </p:nvSpPr>
        <p:spPr>
          <a:xfrm>
            <a:off x="6400800" y="5669280"/>
            <a:ext cx="5623560" cy="502920"/>
          </a:xfrm>
          <a:prstGeom prst="rect">
            <a:avLst/>
          </a:prstGeom>
          <a:solidFill>
            <a:srgbClr val="F1F5F9"/>
          </a:solidFill>
          <a:ln w="12700">
            <a:solidFill>
              <a:srgbClr val="F1F5F9"/>
            </a:solidFill>
            <a:prstDash val="solid"/>
          </a:ln>
        </p:spPr>
        <p:txBody>
          <a:bodyPr/>
          <a:lstStyle/>
          <a:p>
            <a:endParaRPr lang="en-SG" dirty="0"/>
          </a:p>
        </p:txBody>
      </p:sp>
      <p:sp>
        <p:nvSpPr>
          <p:cNvPr id="59" name="Shape 25">
            <a:extLst>
              <a:ext uri="{FF2B5EF4-FFF2-40B4-BE49-F238E27FC236}">
                <a16:creationId xmlns:a16="http://schemas.microsoft.com/office/drawing/2014/main" id="{F8DC34EF-FB2D-0A9F-2925-0AD67D49DB81}"/>
              </a:ext>
            </a:extLst>
          </p:cNvPr>
          <p:cNvSpPr/>
          <p:nvPr/>
        </p:nvSpPr>
        <p:spPr>
          <a:xfrm>
            <a:off x="6400800" y="5669280"/>
            <a:ext cx="73152" cy="502920"/>
          </a:xfrm>
          <a:prstGeom prst="rect">
            <a:avLst/>
          </a:prstGeom>
          <a:solidFill>
            <a:srgbClr val="8B5CF6"/>
          </a:solidFill>
          <a:ln w="12700">
            <a:solidFill>
              <a:srgbClr val="8B5CF6"/>
            </a:solidFill>
            <a:prstDash val="solid"/>
          </a:ln>
        </p:spPr>
        <p:txBody>
          <a:bodyPr/>
          <a:lstStyle/>
          <a:p>
            <a:endParaRPr lang="en-SG" dirty="0"/>
          </a:p>
        </p:txBody>
      </p:sp>
      <p:sp>
        <p:nvSpPr>
          <p:cNvPr id="60" name="Text 26">
            <a:extLst>
              <a:ext uri="{FF2B5EF4-FFF2-40B4-BE49-F238E27FC236}">
                <a16:creationId xmlns:a16="http://schemas.microsoft.com/office/drawing/2014/main" id="{AB513C97-E642-203A-1EA4-84D3090E9A60}"/>
              </a:ext>
            </a:extLst>
          </p:cNvPr>
          <p:cNvSpPr/>
          <p:nvPr/>
        </p:nvSpPr>
        <p:spPr>
          <a:xfrm>
            <a:off x="6583680" y="5669280"/>
            <a:ext cx="5349240" cy="502920"/>
          </a:xfrm>
          <a:prstGeom prst="rect">
            <a:avLst/>
          </a:prstGeom>
          <a:noFill/>
          <a:ln/>
        </p:spPr>
        <p:txBody>
          <a:bodyPr wrap="square" lIns="0" tIns="0" rIns="0" bIns="0" rtlCol="0" anchor="ctr"/>
          <a:lstStyle/>
          <a:p>
            <a:pPr marL="0" indent="0">
              <a:buNone/>
            </a:pPr>
            <a:r>
              <a:rPr lang="en-US" sz="900" b="1" kern="0" spc="200" dirty="0">
                <a:solidFill>
                  <a:srgbClr val="8B5CF6"/>
                </a:solidFill>
                <a:latin typeface="Calibri" pitchFamily="34" charset="0"/>
                <a:ea typeface="Calibri" pitchFamily="34" charset="-122"/>
                <a:cs typeface="Calibri" pitchFamily="34" charset="-120"/>
              </a:rPr>
              <a:t>DEFENSIBILITY   </a:t>
            </a:r>
            <a:r>
              <a:rPr lang="en-US" sz="1050" dirty="0">
                <a:solidFill>
                  <a:srgbClr val="1F2937"/>
                </a:solidFill>
                <a:latin typeface="Calibri" pitchFamily="34" charset="0"/>
                <a:ea typeface="Calibri" pitchFamily="34" charset="-122"/>
                <a:cs typeface="Calibri" pitchFamily="34" charset="-120"/>
              </a:rPr>
              <a:t>Four integrated AI modules + edge-first privacy stance create switching costs hard for single-feature competitors to match</a:t>
            </a:r>
            <a:endParaRPr lang="en-US" sz="900" dirty="0"/>
          </a:p>
        </p:txBody>
      </p:sp>
    </p:spTree>
    <p:extLst>
      <p:ext uri="{BB962C8B-B14F-4D97-AF65-F5344CB8AC3E}">
        <p14:creationId xmlns:p14="http://schemas.microsoft.com/office/powerpoint/2010/main" val="135976589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fade">
                                      <p:cBhvr>
                                        <p:cTn id="21" dur="500"/>
                                        <p:tgtEl>
                                          <p:spTgt spid="3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fade">
                                      <p:cBhvr>
                                        <p:cTn id="24" dur="500"/>
                                        <p:tgtEl>
                                          <p:spTgt spid="4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5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500"/>
                                        <p:tgtEl>
                                          <p:spTgt spid="4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500"/>
                                        <p:tgtEl>
                                          <p:spTgt spid="46"/>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barn(inVertical)">
                                      <p:cBhvr>
                                        <p:cTn id="46" dur="500"/>
                                        <p:tgtEl>
                                          <p:spTgt spid="57"/>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56"/>
                                        </p:tgtEl>
                                        <p:attrNameLst>
                                          <p:attrName>style.visibility</p:attrName>
                                        </p:attrNameLst>
                                      </p:cBhvr>
                                      <p:to>
                                        <p:strVal val="visible"/>
                                      </p:to>
                                    </p:set>
                                    <p:animEffect transition="in" filter="barn(inVertical)">
                                      <p:cBhvr>
                                        <p:cTn id="51" dur="500"/>
                                        <p:tgtEl>
                                          <p:spTgt spid="56"/>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55"/>
                                        </p:tgtEl>
                                        <p:attrNameLst>
                                          <p:attrName>style.visibility</p:attrName>
                                        </p:attrNameLst>
                                      </p:cBhvr>
                                      <p:to>
                                        <p:strVal val="visible"/>
                                      </p:to>
                                    </p:set>
                                    <p:animEffect transition="in" filter="barn(inVertical)">
                                      <p:cBhvr>
                                        <p:cTn id="54" dur="500"/>
                                        <p:tgtEl>
                                          <p:spTgt spid="5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fade">
                                      <p:cBhvr>
                                        <p:cTn id="59" dur="500"/>
                                        <p:tgtEl>
                                          <p:spTgt spid="4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fade">
                                      <p:cBhvr>
                                        <p:cTn id="62" dur="500"/>
                                        <p:tgtEl>
                                          <p:spTgt spid="4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0"/>
                                        </p:tgtEl>
                                        <p:attrNameLst>
                                          <p:attrName>style.visibility</p:attrName>
                                        </p:attrNameLst>
                                      </p:cBhvr>
                                      <p:to>
                                        <p:strVal val="visible"/>
                                      </p:to>
                                    </p:set>
                                    <p:animEffect transition="in" filter="fade">
                                      <p:cBhvr>
                                        <p:cTn id="65" dur="500"/>
                                        <p:tgtEl>
                                          <p:spTgt spid="50"/>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fade">
                                      <p:cBhvr>
                                        <p:cTn id="70" dur="500"/>
                                        <p:tgtEl>
                                          <p:spTgt spid="4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52"/>
                                        </p:tgtEl>
                                        <p:attrNameLst>
                                          <p:attrName>style.visibility</p:attrName>
                                        </p:attrNameLst>
                                      </p:cBhvr>
                                      <p:to>
                                        <p:strVal val="visible"/>
                                      </p:to>
                                    </p:set>
                                    <p:animEffect transition="in" filter="fade">
                                      <p:cBhvr>
                                        <p:cTn id="75" dur="500"/>
                                        <p:tgtEl>
                                          <p:spTgt spid="5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53"/>
                                        </p:tgtEl>
                                        <p:attrNameLst>
                                          <p:attrName>style.visibility</p:attrName>
                                        </p:attrNameLst>
                                      </p:cBhvr>
                                      <p:to>
                                        <p:strVal val="visible"/>
                                      </p:to>
                                    </p:set>
                                    <p:animEffect transition="in" filter="fade">
                                      <p:cBhvr>
                                        <p:cTn id="78" dur="500"/>
                                        <p:tgtEl>
                                          <p:spTgt spid="5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4"/>
                                        </p:tgtEl>
                                        <p:attrNameLst>
                                          <p:attrName>style.visibility</p:attrName>
                                        </p:attrNameLst>
                                      </p:cBhvr>
                                      <p:to>
                                        <p:strVal val="visible"/>
                                      </p:to>
                                    </p:set>
                                    <p:animEffect transition="in" filter="fade">
                                      <p:cBhvr>
                                        <p:cTn id="81" dur="500"/>
                                        <p:tgtEl>
                                          <p:spTgt spid="5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0"/>
                                        </p:tgtEl>
                                        <p:attrNameLst>
                                          <p:attrName>style.visibility</p:attrName>
                                        </p:attrNameLst>
                                      </p:cBhvr>
                                      <p:to>
                                        <p:strVal val="visible"/>
                                      </p:to>
                                    </p:set>
                                    <p:animEffect transition="in" filter="fade">
                                      <p:cBhvr>
                                        <p:cTn id="84" dur="500"/>
                                        <p:tgtEl>
                                          <p:spTgt spid="6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9"/>
                                        </p:tgtEl>
                                        <p:attrNameLst>
                                          <p:attrName>style.visibility</p:attrName>
                                        </p:attrNameLst>
                                      </p:cBhvr>
                                      <p:to>
                                        <p:strVal val="visible"/>
                                      </p:to>
                                    </p:set>
                                    <p:animEffect transition="in" filter="fade">
                                      <p:cBhvr>
                                        <p:cTn id="8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2" grpId="0" animBg="1"/>
      <p:bldP spid="53" grpId="0" animBg="1"/>
      <p:bldP spid="54" grpId="0" animBg="1"/>
      <p:bldP spid="55" grpId="0" animBg="1"/>
      <p:bldP spid="56" grpId="0" animBg="1"/>
      <p:bldP spid="57" grpId="0" animBg="1"/>
      <p:bldP spid="59" grpId="0" animBg="1"/>
      <p:bldP spid="6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12080B-ADF7-ABD3-A3B0-B852B9481E32}"/>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BBB633A1-AF44-3BE1-1AF3-CAB461937F67}"/>
              </a:ext>
            </a:extLst>
          </p:cNvPr>
          <p:cNvSpPr txBox="1">
            <a:spLocks/>
          </p:cNvSpPr>
          <p:nvPr/>
        </p:nvSpPr>
        <p:spPr>
          <a:xfrm>
            <a:off x="685800" y="152400"/>
            <a:ext cx="10276840" cy="1470025"/>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nSpc>
                <a:spcPct val="90000"/>
              </a:lnSpc>
            </a:pPr>
            <a:r>
              <a:rPr lang="en-US" sz="2400" b="1" dirty="0"/>
              <a:t>Multimodal Computational Intelligence for Enhancing Caregiver Performance and Care Delivery </a:t>
            </a:r>
            <a:endParaRPr lang="en-US" sz="2400" dirty="0"/>
          </a:p>
        </p:txBody>
      </p:sp>
      <p:pic>
        <p:nvPicPr>
          <p:cNvPr id="5" name="Picture 4">
            <a:extLst>
              <a:ext uri="{FF2B5EF4-FFF2-40B4-BE49-F238E27FC236}">
                <a16:creationId xmlns:a16="http://schemas.microsoft.com/office/drawing/2014/main" id="{6AFFF54B-4012-9E9A-DCD1-0B7FFACE9247}"/>
              </a:ext>
            </a:extLst>
          </p:cNvPr>
          <p:cNvPicPr>
            <a:picLocks noChangeAspect="1"/>
          </p:cNvPicPr>
          <p:nvPr/>
        </p:nvPicPr>
        <p:blipFill>
          <a:blip r:embed="rId2">
            <a:extLst>
              <a:ext uri="{28A0092B-C50C-407E-A947-70E740481C1C}">
                <a14:useLocalDpi xmlns:a14="http://schemas.microsoft.com/office/drawing/2010/main" val="0"/>
              </a:ext>
            </a:extLst>
          </a:blip>
          <a:srcRect b="4205"/>
          <a:stretch>
            <a:fillRect/>
          </a:stretch>
        </p:blipFill>
        <p:spPr>
          <a:xfrm>
            <a:off x="2019300" y="1270000"/>
            <a:ext cx="8153400" cy="5207000"/>
          </a:xfrm>
          <a:prstGeom prst="rect">
            <a:avLst/>
          </a:prstGeom>
        </p:spPr>
      </p:pic>
    </p:spTree>
    <p:extLst>
      <p:ext uri="{BB962C8B-B14F-4D97-AF65-F5344CB8AC3E}">
        <p14:creationId xmlns:p14="http://schemas.microsoft.com/office/powerpoint/2010/main" val="3852868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C442A4-D749-D35F-8FF6-67C7545189A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9200" y="1295400"/>
            <a:ext cx="9372600" cy="5112327"/>
          </a:xfrm>
          <a:prstGeom prst="rect">
            <a:avLst/>
          </a:prstGeom>
        </p:spPr>
      </p:pic>
      <p:sp>
        <p:nvSpPr>
          <p:cNvPr id="6" name="Rectangle 5">
            <a:extLst>
              <a:ext uri="{FF2B5EF4-FFF2-40B4-BE49-F238E27FC236}">
                <a16:creationId xmlns:a16="http://schemas.microsoft.com/office/drawing/2014/main" id="{F28F6E08-C244-C3C7-C21D-3BD824D80380}"/>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CA6598A9-9DA5-60F7-1F8A-64EF83BC3E8C}"/>
              </a:ext>
            </a:extLst>
          </p:cNvPr>
          <p:cNvSpPr txBox="1">
            <a:spLocks/>
          </p:cNvSpPr>
          <p:nvPr/>
        </p:nvSpPr>
        <p:spPr>
          <a:xfrm>
            <a:off x="685800" y="152400"/>
            <a:ext cx="10276840" cy="1470025"/>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nSpc>
                <a:spcPct val="90000"/>
              </a:lnSpc>
            </a:pPr>
            <a:r>
              <a:rPr lang="en-US" sz="2400" b="1" dirty="0"/>
              <a:t>Multimodal Computational Intelligence for Enhancing Caregiver Performance and Care Delivery – System Overview Diagram </a:t>
            </a:r>
            <a:endParaRPr lang="en-US" sz="2400" dirty="0"/>
          </a:p>
        </p:txBody>
      </p:sp>
      <p:sp>
        <p:nvSpPr>
          <p:cNvPr id="9" name="Rectangle 8">
            <a:extLst>
              <a:ext uri="{FF2B5EF4-FFF2-40B4-BE49-F238E27FC236}">
                <a16:creationId xmlns:a16="http://schemas.microsoft.com/office/drawing/2014/main" id="{70EAA25D-4A70-C966-58F4-0C3341859C85}"/>
              </a:ext>
            </a:extLst>
          </p:cNvPr>
          <p:cNvSpPr/>
          <p:nvPr/>
        </p:nvSpPr>
        <p:spPr>
          <a:xfrm>
            <a:off x="9677400" y="5900057"/>
            <a:ext cx="914400" cy="381000"/>
          </a:xfrm>
          <a:prstGeom prst="rect">
            <a:avLst/>
          </a:prstGeom>
          <a:solidFill>
            <a:srgbClr val="E8E9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5243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CDB40F-6943-1045-D205-D3F2C83A7A5D}"/>
              </a:ext>
            </a:extLst>
          </p:cNvPr>
          <p:cNvPicPr>
            <a:picLocks noChangeAspect="1"/>
          </p:cNvPicPr>
          <p:nvPr/>
        </p:nvPicPr>
        <p:blipFill>
          <a:blip r:embed="rId2">
            <a:extLst>
              <a:ext uri="{28A0092B-C50C-407E-A947-70E740481C1C}">
                <a14:useLocalDpi xmlns:a14="http://schemas.microsoft.com/office/drawing/2010/main" val="0"/>
              </a:ext>
            </a:extLst>
          </a:blip>
          <a:srcRect t="11333"/>
          <a:stretch>
            <a:fillRect/>
          </a:stretch>
        </p:blipFill>
        <p:spPr>
          <a:xfrm>
            <a:off x="1809750" y="1371600"/>
            <a:ext cx="8572500" cy="5067300"/>
          </a:xfrm>
          <a:prstGeom prst="rect">
            <a:avLst/>
          </a:prstGeom>
        </p:spPr>
      </p:pic>
      <p:sp>
        <p:nvSpPr>
          <p:cNvPr id="4" name="Title 1">
            <a:extLst>
              <a:ext uri="{FF2B5EF4-FFF2-40B4-BE49-F238E27FC236}">
                <a16:creationId xmlns:a16="http://schemas.microsoft.com/office/drawing/2014/main" id="{4FC28CF7-77B4-E595-9584-2239FBF8ADC3}"/>
              </a:ext>
            </a:extLst>
          </p:cNvPr>
          <p:cNvSpPr txBox="1">
            <a:spLocks/>
          </p:cNvSpPr>
          <p:nvPr/>
        </p:nvSpPr>
        <p:spPr>
          <a:xfrm>
            <a:off x="685800" y="152400"/>
            <a:ext cx="10276840" cy="1470025"/>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nSpc>
                <a:spcPct val="90000"/>
              </a:lnSpc>
            </a:pPr>
            <a:r>
              <a:rPr lang="en-US" sz="2400" b="1" dirty="0"/>
              <a:t>Multimodal Computational Intelligence for Enhancing Caregiver Performance and Care Delivery </a:t>
            </a:r>
            <a:endParaRPr lang="en-US" sz="2400" dirty="0"/>
          </a:p>
        </p:txBody>
      </p:sp>
      <p:sp>
        <p:nvSpPr>
          <p:cNvPr id="5" name="Rectangle 4">
            <a:extLst>
              <a:ext uri="{FF2B5EF4-FFF2-40B4-BE49-F238E27FC236}">
                <a16:creationId xmlns:a16="http://schemas.microsoft.com/office/drawing/2014/main" id="{E7A5DFE0-F623-8E7F-E7B3-D13E38D8A5FA}"/>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295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1A5917-B929-2BA2-D562-3D4714A49EBE}"/>
              </a:ext>
            </a:extLst>
          </p:cNvPr>
          <p:cNvPicPr>
            <a:picLocks noChangeAspect="1"/>
          </p:cNvPicPr>
          <p:nvPr/>
        </p:nvPicPr>
        <p:blipFill>
          <a:blip r:embed="rId2">
            <a:extLst>
              <a:ext uri="{28A0092B-C50C-407E-A947-70E740481C1C}">
                <a14:useLocalDpi xmlns:a14="http://schemas.microsoft.com/office/drawing/2010/main" val="0"/>
              </a:ext>
            </a:extLst>
          </a:blip>
          <a:srcRect t="13407"/>
          <a:stretch>
            <a:fillRect/>
          </a:stretch>
        </p:blipFill>
        <p:spPr>
          <a:xfrm>
            <a:off x="685800" y="1219200"/>
            <a:ext cx="10820400" cy="5229603"/>
          </a:xfrm>
          <a:prstGeom prst="rect">
            <a:avLst/>
          </a:prstGeom>
        </p:spPr>
      </p:pic>
      <p:sp>
        <p:nvSpPr>
          <p:cNvPr id="5" name="Title 1">
            <a:extLst>
              <a:ext uri="{FF2B5EF4-FFF2-40B4-BE49-F238E27FC236}">
                <a16:creationId xmlns:a16="http://schemas.microsoft.com/office/drawing/2014/main" id="{F855A636-5883-715E-F345-4AC8866E2FA6}"/>
              </a:ext>
            </a:extLst>
          </p:cNvPr>
          <p:cNvSpPr txBox="1">
            <a:spLocks/>
          </p:cNvSpPr>
          <p:nvPr/>
        </p:nvSpPr>
        <p:spPr>
          <a:xfrm>
            <a:off x="685800" y="152400"/>
            <a:ext cx="10276840" cy="1470025"/>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nSpc>
                <a:spcPct val="90000"/>
              </a:lnSpc>
            </a:pPr>
            <a:r>
              <a:rPr lang="en-US" sz="2400" b="1" dirty="0"/>
              <a:t>Multimodal Computational Intelligence for Enhancing Caregiver Performance and Care Delivery – Gantt Chart</a:t>
            </a:r>
            <a:endParaRPr lang="en-US" sz="2400" dirty="0"/>
          </a:p>
          <a:p>
            <a:pPr>
              <a:lnSpc>
                <a:spcPct val="90000"/>
              </a:lnSpc>
            </a:pPr>
            <a:endParaRPr lang="en-US" sz="2400" dirty="0"/>
          </a:p>
        </p:txBody>
      </p:sp>
      <p:sp>
        <p:nvSpPr>
          <p:cNvPr id="6" name="Rectangle 5">
            <a:extLst>
              <a:ext uri="{FF2B5EF4-FFF2-40B4-BE49-F238E27FC236}">
                <a16:creationId xmlns:a16="http://schemas.microsoft.com/office/drawing/2014/main" id="{D82D70E5-6998-0C07-251B-07FE2F088037}"/>
              </a:ext>
            </a:extLst>
          </p:cNvPr>
          <p:cNvSpPr/>
          <p:nvPr/>
        </p:nvSpPr>
        <p:spPr>
          <a:xfrm>
            <a:off x="10591800" y="5867400"/>
            <a:ext cx="609600" cy="152400"/>
          </a:xfrm>
          <a:prstGeom prst="rect">
            <a:avLst/>
          </a:prstGeom>
          <a:solidFill>
            <a:srgbClr val="8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64FF11D-74BF-9888-E777-9696EB8268D2}"/>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36915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F257C4-E73B-9609-68B4-A6BF777A01E6}"/>
              </a:ext>
            </a:extLst>
          </p:cNvPr>
          <p:cNvPicPr>
            <a:picLocks noChangeAspect="1"/>
          </p:cNvPicPr>
          <p:nvPr/>
        </p:nvPicPr>
        <p:blipFill>
          <a:blip r:embed="rId2">
            <a:extLst>
              <a:ext uri="{28A0092B-C50C-407E-A947-70E740481C1C}">
                <a14:useLocalDpi xmlns:a14="http://schemas.microsoft.com/office/drawing/2010/main" val="0"/>
              </a:ext>
            </a:extLst>
          </a:blip>
          <a:srcRect t="4194" r="1" b="12014"/>
          <a:stretch>
            <a:fillRect/>
          </a:stretch>
        </p:blipFill>
        <p:spPr>
          <a:xfrm>
            <a:off x="723900" y="435527"/>
            <a:ext cx="10744200" cy="5986946"/>
          </a:xfrm>
          <a:prstGeom prst="rect">
            <a:avLst/>
          </a:prstGeom>
          <a:noFill/>
        </p:spPr>
      </p:pic>
      <p:sp>
        <p:nvSpPr>
          <p:cNvPr id="2" name="Rectangle 1">
            <a:extLst>
              <a:ext uri="{FF2B5EF4-FFF2-40B4-BE49-F238E27FC236}">
                <a16:creationId xmlns:a16="http://schemas.microsoft.com/office/drawing/2014/main" id="{A7C6969A-B141-3822-7DB7-339C40791BBF}"/>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4314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447AA5-5393-5576-34BB-9415B7F19F4B}"/>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026" name="Picture 2" descr="Kid Friendly Q And A Questions at Tawana Tibbs blog">
            <a:extLst>
              <a:ext uri="{FF2B5EF4-FFF2-40B4-BE49-F238E27FC236}">
                <a16:creationId xmlns:a16="http://schemas.microsoft.com/office/drawing/2014/main" id="{5DA598A1-2599-FECE-7675-319C70CEBD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5400" y="762000"/>
            <a:ext cx="9601200" cy="5760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72517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2B84EE9-7C38-B4A1-62C3-55DDF36DAB5E}"/>
              </a:ext>
            </a:extLst>
          </p:cNvPr>
          <p:cNvSpPr/>
          <p:nvPr/>
        </p:nvSpPr>
        <p:spPr>
          <a:xfrm>
            <a:off x="0" y="0"/>
            <a:ext cx="12192000" cy="304800"/>
          </a:xfrm>
          <a:prstGeom prst="rect">
            <a:avLst/>
          </a:prstGeom>
          <a:solidFill>
            <a:srgbClr val="0011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3082" name="Picture 10" descr="Thank You White Background Images – Browse 45,350 Stock Photos, Vectors ...">
            <a:extLst>
              <a:ext uri="{FF2B5EF4-FFF2-40B4-BE49-F238E27FC236}">
                <a16:creationId xmlns:a16="http://schemas.microsoft.com/office/drawing/2014/main" id="{26BB349A-D9D2-C0B0-E52B-D06E573411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524000"/>
            <a:ext cx="10001568" cy="4152900"/>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2E61B10B-BD7D-99DA-DA18-DF625AA9AC8C}"/>
              </a:ext>
            </a:extLst>
          </p:cNvPr>
          <p:cNvSpPr>
            <a:spLocks noGrp="1"/>
          </p:cNvSpPr>
          <p:nvPr>
            <p:ph type="dt" sz="half" idx="10"/>
          </p:nvPr>
        </p:nvSpPr>
        <p:spPr>
          <a:xfrm>
            <a:off x="9982200" y="6361061"/>
            <a:ext cx="2743200" cy="365125"/>
          </a:xfrm>
        </p:spPr>
        <p:txBody>
          <a:bodyPr/>
          <a:lstStyle/>
          <a:p>
            <a:fld id="{34182BFF-04F4-4686-96C3-584AEE75D93F}" type="datetime1">
              <a:rPr lang="en-US" b="1" smtClean="0">
                <a:solidFill>
                  <a:schemeClr val="tx1"/>
                </a:solidFill>
              </a:rPr>
              <a:t>5/12/2026</a:t>
            </a:fld>
            <a:endParaRPr lang="en-US" b="1" dirty="0">
              <a:solidFill>
                <a:schemeClr val="tx1"/>
              </a:solidFill>
            </a:endParaRPr>
          </a:p>
        </p:txBody>
      </p:sp>
      <p:sp>
        <p:nvSpPr>
          <p:cNvPr id="7" name="Slide Number Placeholder 6">
            <a:extLst>
              <a:ext uri="{FF2B5EF4-FFF2-40B4-BE49-F238E27FC236}">
                <a16:creationId xmlns:a16="http://schemas.microsoft.com/office/drawing/2014/main" id="{39711A25-B779-E881-8046-3DD13C9D1EC6}"/>
              </a:ext>
            </a:extLst>
          </p:cNvPr>
          <p:cNvSpPr>
            <a:spLocks noGrp="1"/>
          </p:cNvSpPr>
          <p:nvPr>
            <p:ph type="sldNum" sz="quarter" idx="12"/>
          </p:nvPr>
        </p:nvSpPr>
        <p:spPr/>
        <p:txBody>
          <a:bodyPr/>
          <a:lstStyle/>
          <a:p>
            <a:fld id="{47D73ED1-4BC5-4C68-A93F-B56D3DD7872F}" type="slidenum">
              <a:rPr lang="en-US" smtClean="0"/>
              <a:t>28</a:t>
            </a:fld>
            <a:endParaRPr lang="en-US" dirty="0"/>
          </a:p>
        </p:txBody>
      </p:sp>
      <p:pic>
        <p:nvPicPr>
          <p:cNvPr id="8" name="Picture 7">
            <a:extLst>
              <a:ext uri="{FF2B5EF4-FFF2-40B4-BE49-F238E27FC236}">
                <a16:creationId xmlns:a16="http://schemas.microsoft.com/office/drawing/2014/main" id="{8E69CEB3-48DC-14DD-8420-3EFA405492D3}"/>
              </a:ext>
            </a:extLst>
          </p:cNvPr>
          <p:cNvPicPr>
            <a:picLocks noChangeAspect="1"/>
          </p:cNvPicPr>
          <p:nvPr/>
        </p:nvPicPr>
        <p:blipFill>
          <a:blip r:embed="rId3"/>
          <a:stretch>
            <a:fillRect/>
          </a:stretch>
        </p:blipFill>
        <p:spPr>
          <a:xfrm>
            <a:off x="137651" y="6188001"/>
            <a:ext cx="2676899" cy="533474"/>
          </a:xfrm>
          <a:prstGeom prst="rect">
            <a:avLst/>
          </a:prstGeom>
        </p:spPr>
      </p:pic>
    </p:spTree>
    <p:extLst>
      <p:ext uri="{BB962C8B-B14F-4D97-AF65-F5344CB8AC3E}">
        <p14:creationId xmlns:p14="http://schemas.microsoft.com/office/powerpoint/2010/main" val="990813018"/>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351CF19874D54390B54B723E8A2D43" ma:contentTypeVersion="12" ma:contentTypeDescription="Create a new document." ma:contentTypeScope="" ma:versionID="1b463a5cf12690795c70ca22925accb2">
  <xsd:schema xmlns:xsd="http://www.w3.org/2001/XMLSchema" xmlns:xs="http://www.w3.org/2001/XMLSchema" xmlns:p="http://schemas.microsoft.com/office/2006/metadata/properties" xmlns:ns2="5aad1aa7-8ede-435c-b3a7-ac11bacaeb50" xmlns:ns3="db72c12f-87a4-44ab-bbc5-4cc8306b158a" targetNamespace="http://schemas.microsoft.com/office/2006/metadata/properties" ma:root="true" ma:fieldsID="8257c98c4c60cf9cc366d29f7e570d5e" ns2:_="" ns3:_="">
    <xsd:import namespace="5aad1aa7-8ede-435c-b3a7-ac11bacaeb50"/>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ad1aa7-8ede-435c-b3a7-ac11bacaeb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b72c12f-87a4-44ab-bbc5-4cc8306b158a" xsi:nil="true"/>
    <lcf76f155ced4ddcb4097134ff3c332f xmlns="5aad1aa7-8ede-435c-b3a7-ac11bacaeb5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A5A9E9D-AA02-4076-913D-2A5E1F6F6BD8}"/>
</file>

<file path=customXml/itemProps2.xml><?xml version="1.0" encoding="utf-8"?>
<ds:datastoreItem xmlns:ds="http://schemas.openxmlformats.org/officeDocument/2006/customXml" ds:itemID="{17B33960-7733-4D2E-A366-990885094945}"/>
</file>

<file path=customXml/itemProps3.xml><?xml version="1.0" encoding="utf-8"?>
<ds:datastoreItem xmlns:ds="http://schemas.openxmlformats.org/officeDocument/2006/customXml" ds:itemID="{2FA7E8C6-F9AE-4966-B30D-FB281286C545}"/>
</file>

<file path=docProps/app.xml><?xml version="1.0" encoding="utf-8"?>
<Properties xmlns="http://schemas.openxmlformats.org/officeDocument/2006/extended-properties" xmlns:vt="http://schemas.openxmlformats.org/officeDocument/2006/docPropsVTypes">
  <TotalTime>943</TotalTime>
  <Words>4120</Words>
  <Application>Microsoft Office PowerPoint</Application>
  <PresentationFormat>Widescreen</PresentationFormat>
  <Paragraphs>422</Paragraphs>
  <Slides>28</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Abadi</vt:lpstr>
      <vt:lpstr>Aptos</vt:lpstr>
      <vt:lpstr>Aptos Display</vt:lpstr>
      <vt:lpstr>Arial</vt:lpstr>
      <vt:lpstr>Calibri</vt:lpstr>
      <vt:lpstr>Cambria</vt:lpstr>
      <vt:lpstr>Georgia</vt:lpstr>
      <vt:lpstr>Poppins</vt:lpstr>
      <vt:lpstr>Times New Roman</vt:lpstr>
      <vt:lpstr>Wingdings</vt:lpstr>
      <vt:lpstr>Office Theme</vt:lpstr>
      <vt:lpstr>Multimodal Computational Intelligence for Enhancing Caregiver Performance and Care Delivery </vt:lpstr>
      <vt:lpstr>PowerPoint Presentation</vt:lpstr>
      <vt:lpstr>PowerPoint Presentation</vt:lpstr>
      <vt:lpstr>IT22178640 | DAYANA PRIYADHARSHANI KUMAR</vt:lpstr>
      <vt:lpstr>PowerPoint Presentation</vt:lpstr>
      <vt:lpstr>PowerPoint Presentation</vt:lpstr>
      <vt:lpstr>PowerPoint Presentation</vt:lpstr>
      <vt:lpstr>IT22057488 | HARISHALINEE ELANGOVAN</vt:lpstr>
      <vt:lpstr>PowerPoint Presentation</vt:lpstr>
      <vt:lpstr>PowerPoint Presentation</vt:lpstr>
      <vt:lpstr>PowerPoint Presentation</vt:lpstr>
      <vt:lpstr>IT22294098 | VIDURSHA PRABAGARAN</vt:lpstr>
      <vt:lpstr>PowerPoint Presentation</vt:lpstr>
      <vt:lpstr>PowerPoint Presentation</vt:lpstr>
      <vt:lpstr>PowerPoint Presentation</vt:lpstr>
      <vt:lpstr>IT22289384 | KAUSHALYA NAGENTHRARAJA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DAYANA K. it22178640</dc:creator>
  <cp:lastModifiedBy>DAYANA K. it22178640</cp:lastModifiedBy>
  <cp:revision>57</cp:revision>
  <dcterms:created xsi:type="dcterms:W3CDTF">2026-05-10T16:57:39Z</dcterms:created>
  <dcterms:modified xsi:type="dcterms:W3CDTF">2026-05-12T03:11:28Z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0x0101003C351CF19874D54390B54B723E8A2D43</vt:lpwstr>
  </property>
</Properties>
</file>