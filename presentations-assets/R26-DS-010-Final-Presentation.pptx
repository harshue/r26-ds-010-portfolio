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5" r:id="rId5"/>
    <p:sldId id="262" r:id="rId6"/>
    <p:sldId id="264" r:id="rId7"/>
    <p:sldId id="266" r:id="rId8"/>
    <p:sldId id="259" r:id="rId9"/>
    <p:sldId id="260" r:id="rId10"/>
    <p:sldId id="263" r:id="rId11"/>
    <p:sldId id="261"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284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introduce the group (R26-DS-010), the CareSense platform and its four components: PULSE (caregiver strain), SENTRY (fall detection), SCRIBE (voice-to-record documentation) and GLOSS (sign-language tutor). One web application, one sign-in, a person in control of every decision.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answers the panel comment given for their component. PULSE: actual vs predicted heart rate to judge model performance. SENTRY: adapt to a changing environment, using a short on-site fine-tune. SCRIBE: no panel comment, so we show the improvements made anyway. GLOSS: evaluate whether caregivers retain signs by perform and identify tasks, with personalisation per person. The dashed boxes are for each member's solution screenshot.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caregivers work under sustained strain while keeping residents safe, keeping records and communicating, but support is split across separate tools. Numbers: 86.1% of health professionals wished to learn sign language and only 6.3% had been formally trained; a caregiver may watch over a dozen residents in one shift. Design excellence (Table 2.3 of the report): CareSense delivers all 7 compared capabilities; stress research, fall systems, ambient scribes and sign apps each deliver none fully and at most two partly. Novelty per component: PULSE turns a score into a reviewable action; SENTRY fuses ST-GCN with 18 biomechanical features and temporal alert states; SCRIBE is a care-home voice-to-record pipeline with a 19-field ADL schema; GLOSS is a care-specific sign tutor with cautious, explained feedback.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PULSE: personalized two-stage LightGBM pipeline using heart rate, physical activity, sleep and previous EMA stress, with SHAP explanations and supervisor-reviewed redistribution suggestions. Results: held-out ROC-AUC 0.7211 (27 caregivers, 1,406 assessments); test accuracy 79.30% against a 78.73% majority-class baseline, so ROC-AUC is the headline and accuracy alone should not be claimed as strong performance; repeated participant-grouped validation mean ROC-AUC 0.6991; personalized heart-rate modelling raised test ROC-AUC from 0.7086 to 0.7211. Feedback came from a caregiver walkthrough and is not a formal user acceptance test. Limits: trained and evaluated on hospital-worker data; previous EMA responses contribute substantially; no measured effect of redistribution on stress or care outcomes. Evidence: IT22178640_DRAFT.pdf, Chapters 6, 7 and 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SCRIBE (IT22294098, Vithursha Prabagaran): caregivers record daily care observations by voice. Pipeline: Whisper-small with LoRA (rank 16) for South Asian-accented English, BART-base to remove fillers and self-corrections, LanguageTool with protected medication and food names, then T5-small with field rules to extract a 19-field ADL record and alerts. Outputs: a written report and a shift handover summary in text and spoken audio, stored in the shared CareSense platform. Results: WER 26.13% to 15.57%, CER 12.85% to 5.32%; BLEU 0.9530, ROUGE-L 0.9817; 92.3% exact match on 233 test records; safety set of 200 cases: recall 82.00%, precision 96.09%, F1 88.49%.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 (IT22289384, Kaushalya Nagenthraraja): a personalized sign-language tutor that teaches caregivers 59 care-relevant ASL signs. Pipeline: MediaPipe Holistic landmarks from the webcam; an ensemble of an improved TCN and an improved SPOTER-style transformer recognises the sign; DTW against a reference signer grades execution (strong, moderate, weak) and localises the hand or body part to fix; rule-based feedback is reworded by Gemini behind a guard (no LLM below 0.35 confidence, the LLM sees only the rule text, every reply is checked with fallback); mastery is 3 consecutive strong attempts and drives next-lesson selection. Results on 355 test videos: macro-F1 0.7752 (95% CI 0.712 to 0.802), accuracy 78.59%; the ensemble was chosen on validation (0.8116) and beats the best single model by 0.039 (95% CI 0.008 to 0.072). When confidence is 0.6 or above it is right 98.4% of the time. Feedback: Love and Care UAT (18 Oct 2026) and the CCHSS HOD; localise to Sri Lankan Sign Language. Limits: split is by sign, not signer; hurt and pain are weak; test signers are fluent, not novices. Parkinson's content is educational only, with no classifier.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requirements came from the people who do the work. Timeline: supervisor discussions (27 Nov and 10 Dec 2025), external supervisor meetings (Jan to Feb 2026), then three signed industry-visit letters: Love and Care Elder Home (2 Apr 2026), Remark Elder Care (7 Apr 2026) and the Colombo Caregiver and Health Science School (22 Apr 2026). Repeated visits to Love and Care continued from April to August 2026. No audio was recorded and no resident was interviewed.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testing journey: Meet (introduce the platform to staff, caregivers and trainees), Demo (walk through the four modules), Try (hands-on use with webcam, voice and dashboards), Feedback (usefulness, clarity, gaps) and Refine (each comment changed the design). The Love and Care letter confirms user acceptance testing of the developed system on 2 April 2026. Feedback and refinements come from Table 6.5 of the report: PULSE (Remark Elder Care walkthrough, Aug 2026), SENTRY (Love and Care and Remark staff), SCRIBE (two care homes plus a caregiver who reviewed the 200-case safety set), GLOSS (caregiver trainees, a CCHSS sign-language tutor and the Remark Chairperson).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paper “Multimodal AI Framework for Intelligent Caregiver Support and Patient Safety in Care Facilities” (ICSCDS-0291) was accepted with major revision for presentation and publication at ICSCDS 2026, held 15–17 December 2026 at Shree Venkateshwara Hi-tech Engineering College, India, with proceedings by IEEE. Next step: complete the major revision.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held-out results (Table 6.4 of the report): PULSE ROC AUC 0.7211 (95% CI 0.6644 to 0.7699) on 27 unseen caregivers; SENTRY sensitivity 92.31%, false alarm rate 1.28%, AUC 0.9836 on unseen NTU subjects, and a short fine-tune on webcam clips restores cross-setting AUC from 0.410 to 0.8527; SCRIBE word error rate 15.57% (26.13% before adaptation) and alert recall 93.3% with rules (82.0% model-only); GLOSS macro-F1 0.7752 on unseen signers with 98.4% of confident predictions correct. Limits: models were trained on data from other settings, so site-level calibration in the pilot is the next step.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6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54000"/>
            <a:ext cx="6354321" cy="349250"/>
          </a:xfrm>
          <a:prstGeom prst="rect">
            <a:avLst/>
          </a:prstGeom>
          <a:noFill/>
          <a:ln/>
        </p:spPr>
        <p:txBody>
          <a:bodyPr wrap="square" lIns="0" tIns="0" rIns="0" bIns="0" rtlCol="0" anchor="t"/>
          <a:lstStyle>
            <a:lvl1pPr marL="0" indent="0" algn="l">
              <a:lnSpc>
                <a:spcPct val="115000"/>
              </a:lnSpc>
              <a:buNone/>
              <a:defRPr lang="en-US" sz="2500" dirty="0">
                <a:solidFill>
                  <a:srgbClr val="0E1B4D"/>
                </a:solidFill>
                <a:latin typeface="Rubik" pitchFamily="34" charset="0"/>
                <a:ea typeface="Rubik" pitchFamily="34" charset="-122"/>
                <a:cs typeface="Rubik" pitchFamily="34" charset="-120"/>
              </a:defRPr>
            </a:lvl1pPr>
          </a:lstStyle>
          <a:p>
            <a:pPr marL="0" indent="0" algn="l">
              <a:lnSpc>
                <a:spcPct val="115000"/>
              </a:lnSpc>
              <a:buNone/>
            </a:pPr>
            <a:endParaRPr lang="en-US" sz="2500" dirty="0"/>
          </a:p>
        </p:txBody>
      </p:sp>
      <p:sp>
        <p:nvSpPr>
          <p:cNvPr id="3" name="Text Placeholder 2"/>
          <p:cNvSpPr>
            <a:spLocks noGrp="1"/>
          </p:cNvSpPr>
          <p:nvPr>
            <p:ph type="body" idx="101"/>
          </p:nvPr>
        </p:nvSpPr>
        <p:spPr>
          <a:xfrm>
            <a:off x="609600" y="908050"/>
            <a:ext cx="10769600" cy="5137150"/>
          </a:xfrm>
          <a:prstGeom prst="rect">
            <a:avLst/>
          </a:prstGeom>
          <a:noFill/>
          <a:ln/>
        </p:spPr>
        <p:txBody>
          <a:bodyPr wrap="square" lIns="0" tIns="0" rIns="0" bIns="0" rtlCol="0" anchor="t"/>
          <a:lstStyle>
            <a:lvl1pPr marL="0" indent="0" algn="l">
              <a:lnSpc>
                <a:spcPct val="140000"/>
              </a:lnSpc>
              <a:buNone/>
              <a:defRPr lang="en-US" sz="1600" dirty="0">
                <a:solidFill>
                  <a:srgbClr val="0E1B4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54000"/>
            <a:ext cx="6354321" cy="349250"/>
          </a:xfrm>
          <a:prstGeom prst="rect">
            <a:avLst/>
          </a:prstGeom>
          <a:noFill/>
          <a:ln/>
        </p:spPr>
        <p:txBody>
          <a:bodyPr wrap="square" lIns="0" tIns="0" rIns="0" bIns="0" rtlCol="0" anchor="t"/>
          <a:lstStyle>
            <a:lvl1pPr marL="0" indent="0" algn="l">
              <a:lnSpc>
                <a:spcPct val="115000"/>
              </a:lnSpc>
              <a:buNone/>
              <a:defRPr lang="en-US" sz="2500" dirty="0">
                <a:solidFill>
                  <a:srgbClr val="0E1B4D"/>
                </a:solidFill>
                <a:latin typeface="Rubik" pitchFamily="34" charset="0"/>
                <a:ea typeface="Rubik" pitchFamily="34" charset="-122"/>
                <a:cs typeface="Rubik" pitchFamily="34" charset="-120"/>
              </a:defRPr>
            </a:lvl1pPr>
          </a:lstStyle>
          <a:p>
            <a:pPr marL="0" indent="0" algn="l">
              <a:lnSpc>
                <a:spcPct val="115000"/>
              </a:lnSpc>
              <a:buNone/>
            </a:pPr>
            <a:endParaRPr lang="en-US" sz="2500" dirty="0"/>
          </a:p>
        </p:txBody>
      </p:sp>
      <p:sp>
        <p:nvSpPr>
          <p:cNvPr id="3" name="Text Placeholder 2"/>
          <p:cNvSpPr>
            <a:spLocks noGrp="1"/>
          </p:cNvSpPr>
          <p:nvPr>
            <p:ph type="body" idx="101"/>
          </p:nvPr>
        </p:nvSpPr>
        <p:spPr>
          <a:xfrm>
            <a:off x="609600" y="908050"/>
            <a:ext cx="10769600" cy="5137150"/>
          </a:xfrm>
          <a:prstGeom prst="rect">
            <a:avLst/>
          </a:prstGeom>
          <a:noFill/>
          <a:ln/>
        </p:spPr>
        <p:txBody>
          <a:bodyPr wrap="square" lIns="0" tIns="0" rIns="0" bIns="0" rtlCol="0" anchor="t"/>
          <a:lstStyle>
            <a:lvl1pPr marL="0" indent="0" algn="l">
              <a:lnSpc>
                <a:spcPct val="140000"/>
              </a:lnSpc>
              <a:buNone/>
              <a:defRPr lang="en-US" sz="1600" dirty="0">
                <a:solidFill>
                  <a:srgbClr val="0E1B4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12"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jpe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jpeg"/><Relationship Id="rId5" Type="http://schemas.openxmlformats.org/officeDocument/2006/relationships/image" Target="../media/image26.png"/><Relationship Id="rId10" Type="http://schemas.openxmlformats.org/officeDocument/2006/relationships/image" Target="../media/image31.jpeg"/><Relationship Id="rId4" Type="http://schemas.openxmlformats.org/officeDocument/2006/relationships/image" Target="../media/image25.png"/><Relationship Id="rId9" Type="http://schemas.openxmlformats.org/officeDocument/2006/relationships/image" Target="../media/image30.jpeg"/><Relationship Id="rId1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40"/>
        </a:solidFill>
        <a:effectLst/>
      </p:bgPr>
    </p:bg>
    <p:spTree>
      <p:nvGrpSpPr>
        <p:cNvPr id="1" name=""/>
        <p:cNvGrpSpPr/>
        <p:nvPr/>
      </p:nvGrpSpPr>
      <p:grpSpPr>
        <a:xfrm>
          <a:off x="0" y="0"/>
          <a:ext cx="0" cy="0"/>
          <a:chOff x="0" y="0"/>
          <a:chExt cx="0" cy="0"/>
        </a:xfrm>
      </p:grpSpPr>
      <p:sp>
        <p:nvSpPr>
          <p:cNvPr id="2" name="Shape 0"/>
          <p:cNvSpPr/>
          <p:nvPr/>
        </p:nvSpPr>
        <p:spPr>
          <a:xfrm>
            <a:off x="-139959" y="0"/>
            <a:ext cx="12192000" cy="6858000"/>
          </a:xfrm>
          <a:prstGeom prst="rect">
            <a:avLst/>
          </a:prstGeom>
          <a:gradFill rotWithShape="1">
            <a:gsLst>
              <a:gs pos="0">
                <a:srgbClr val="0A1440"/>
              </a:gs>
              <a:gs pos="58000">
                <a:srgbClr val="16276B"/>
              </a:gs>
              <a:gs pos="100000">
                <a:srgbClr val="3A1F7A"/>
              </a:gs>
            </a:gsLst>
            <a:lin ang="2700000" scaled="0"/>
          </a:gradFill>
          <a:ln/>
        </p:spPr>
        <p:txBody>
          <a:bodyPr/>
          <a:lstStyle/>
          <a:p>
            <a:endParaRPr lang="en-US" dirty="0"/>
          </a:p>
        </p:txBody>
      </p:sp>
      <p:sp>
        <p:nvSpPr>
          <p:cNvPr id="3" name="Shape 1"/>
          <p:cNvSpPr/>
          <p:nvPr/>
        </p:nvSpPr>
        <p:spPr>
          <a:xfrm>
            <a:off x="6096000" y="635000"/>
            <a:ext cx="5715000" cy="4953000"/>
          </a:xfrm>
          <a:prstGeom prst="rect">
            <a:avLst/>
          </a:prstGeom>
          <a:gradFill rotWithShape="1">
            <a:gsLst>
              <a:gs pos="0">
                <a:srgbClr val="4FE0D2">
                  <a:alpha val="30000"/>
                </a:srgbClr>
              </a:gs>
              <a:gs pos="100000">
                <a:srgbClr val="4FE0D2">
                  <a:alpha val="0"/>
                </a:srgbClr>
              </a:gs>
            </a:gsLst>
            <a:path path="circle">
              <a:fillToRect l="50000" t="50000" r="50000" b="50000"/>
            </a:path>
          </a:gradFill>
          <a:ln/>
        </p:spPr>
        <p:txBody>
          <a:bodyPr/>
          <a:lstStyle/>
          <a:p>
            <a:endParaRPr lang="en-US"/>
          </a:p>
        </p:txBody>
      </p:sp>
      <p:sp>
        <p:nvSpPr>
          <p:cNvPr id="4" name="Text 2"/>
          <p:cNvSpPr/>
          <p:nvPr/>
        </p:nvSpPr>
        <p:spPr>
          <a:xfrm>
            <a:off x="609600" y="693208"/>
            <a:ext cx="5755640"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E0D2"/>
                </a:solidFill>
                <a:latin typeface="Nunito Sans" pitchFamily="34" charset="0"/>
                <a:ea typeface="Nunito Sans" pitchFamily="34" charset="-122"/>
                <a:cs typeface="Nunito Sans" pitchFamily="34" charset="-120"/>
              </a:rPr>
              <a:t>FINAL VIVA · BSC (HONS) IT · DATA SCIENCE</a:t>
            </a:r>
            <a:endParaRPr lang="en-US" sz="1200" dirty="0"/>
          </a:p>
        </p:txBody>
      </p:sp>
      <p:sp>
        <p:nvSpPr>
          <p:cNvPr id="5" name="Text 3"/>
          <p:cNvSpPr>
            <a:spLocks noGrp="1"/>
          </p:cNvSpPr>
          <p:nvPr>
            <p:ph type="title"/>
          </p:nvPr>
        </p:nvSpPr>
        <p:spPr>
          <a:xfrm>
            <a:off x="609600" y="1071651"/>
            <a:ext cx="5032375" cy="2987675"/>
          </a:xfrm>
          <a:prstGeom prst="rect">
            <a:avLst/>
          </a:prstGeom>
          <a:noFill/>
          <a:ln/>
        </p:spPr>
        <p:txBody>
          <a:bodyPr wrap="square" lIns="0" tIns="0" rIns="0" bIns="0" rtlCol="0" anchor="t">
            <a:normAutofit/>
          </a:bodyPr>
          <a:lstStyle/>
          <a:p>
            <a:pPr marL="0" indent="0" algn="l">
              <a:lnSpc>
                <a:spcPts val="3888"/>
              </a:lnSpc>
              <a:buNone/>
            </a:pPr>
            <a:r>
              <a:rPr lang="en-US" sz="3600" b="1" i="0" dirty="0">
                <a:solidFill>
                  <a:srgbClr val="FFC247"/>
                </a:solidFill>
                <a:latin typeface="Rubik" pitchFamily="34" charset="0"/>
                <a:ea typeface="Rubik" pitchFamily="34" charset="-122"/>
                <a:cs typeface="Rubik" pitchFamily="34" charset="-120"/>
              </a:rPr>
              <a:t>Multimodal Computational Intelligence</a:t>
            </a:r>
            <a:r>
              <a:rPr lang="en-US" sz="3600" b="1" i="0" dirty="0">
                <a:solidFill>
                  <a:srgbClr val="FFFFFF"/>
                </a:solidFill>
                <a:latin typeface="Rubik" pitchFamily="34" charset="0"/>
                <a:ea typeface="Rubik" pitchFamily="34" charset="-122"/>
                <a:cs typeface="Rubik" pitchFamily="34" charset="-120"/>
              </a:rPr>
              <a:t> for Enhancing Caregiver Performance and </a:t>
            </a:r>
            <a:r>
              <a:rPr lang="en-US" sz="3600" b="1" i="0" dirty="0">
                <a:solidFill>
                  <a:srgbClr val="4FE0D2"/>
                </a:solidFill>
                <a:latin typeface="Rubik" pitchFamily="34" charset="0"/>
                <a:ea typeface="Rubik" pitchFamily="34" charset="-122"/>
                <a:cs typeface="Rubik" pitchFamily="34" charset="-120"/>
              </a:rPr>
              <a:t>Care Delivery</a:t>
            </a:r>
            <a:endParaRPr lang="en-US" sz="3600" dirty="0"/>
          </a:p>
        </p:txBody>
      </p:sp>
      <p:sp>
        <p:nvSpPr>
          <p:cNvPr id="6" name="Shape 4"/>
          <p:cNvSpPr/>
          <p:nvPr/>
        </p:nvSpPr>
        <p:spPr>
          <a:xfrm>
            <a:off x="609600" y="3626424"/>
            <a:ext cx="1143000" cy="50800"/>
          </a:xfrm>
          <a:prstGeom prst="roundRect">
            <a:avLst>
              <a:gd name="adj" fmla="val 50000"/>
            </a:avLst>
          </a:prstGeom>
          <a:gradFill rotWithShape="1">
            <a:gsLst>
              <a:gs pos="0">
                <a:srgbClr val="FFC247"/>
              </a:gs>
              <a:gs pos="100000">
                <a:srgbClr val="4FE0D2"/>
              </a:gs>
            </a:gsLst>
            <a:lin ang="0" scaled="0"/>
          </a:gradFill>
          <a:ln/>
        </p:spPr>
        <p:txBody>
          <a:bodyPr/>
          <a:lstStyle/>
          <a:p>
            <a:endParaRPr lang="en-US"/>
          </a:p>
        </p:txBody>
      </p:sp>
      <p:sp>
        <p:nvSpPr>
          <p:cNvPr id="7" name="Text 5"/>
          <p:cNvSpPr/>
          <p:nvPr/>
        </p:nvSpPr>
        <p:spPr>
          <a:xfrm>
            <a:off x="587199" y="3807972"/>
            <a:ext cx="835201" cy="332669"/>
          </a:xfrm>
          <a:prstGeom prst="roundRect">
            <a:avLst>
              <a:gd name="adj" fmla="val 50000"/>
            </a:avLst>
          </a:prstGeom>
          <a:solidFill>
            <a:srgbClr val="FF8A9B"/>
          </a:solidFill>
          <a:ln/>
        </p:spPr>
        <p:txBody>
          <a:bodyPr wrap="none" lIns="0" tIns="0" rIns="0" bIns="0" rtlCol="0" anchor="ctr">
            <a:normAutofit/>
          </a:bodyPr>
          <a:lstStyle/>
          <a:p>
            <a:pPr marL="0" indent="0" algn="ctr">
              <a:lnSpc>
                <a:spcPts val="1820"/>
              </a:lnSpc>
              <a:buNone/>
            </a:pPr>
            <a:r>
              <a:rPr lang="en-US" sz="1300" b="1" dirty="0">
                <a:solidFill>
                  <a:srgbClr val="0A1440"/>
                </a:solidFill>
                <a:latin typeface="Nunito Sans" pitchFamily="34" charset="0"/>
                <a:ea typeface="Nunito Sans" pitchFamily="34" charset="-122"/>
                <a:cs typeface="Nunito Sans" pitchFamily="34" charset="-120"/>
              </a:rPr>
              <a:t>PULSE</a:t>
            </a:r>
            <a:endParaRPr lang="en-US" sz="1300" dirty="0"/>
          </a:p>
        </p:txBody>
      </p:sp>
      <p:sp>
        <p:nvSpPr>
          <p:cNvPr id="8" name="Text 6"/>
          <p:cNvSpPr/>
          <p:nvPr/>
        </p:nvSpPr>
        <p:spPr>
          <a:xfrm>
            <a:off x="1539875" y="3817378"/>
            <a:ext cx="956910" cy="332669"/>
          </a:xfrm>
          <a:prstGeom prst="roundRect">
            <a:avLst>
              <a:gd name="adj" fmla="val 50000"/>
            </a:avLst>
          </a:prstGeom>
          <a:solidFill>
            <a:srgbClr val="FFB547"/>
          </a:solidFill>
          <a:ln/>
        </p:spPr>
        <p:txBody>
          <a:bodyPr wrap="none" lIns="0" tIns="0" rIns="0" bIns="0" rtlCol="0" anchor="ctr">
            <a:normAutofit/>
          </a:bodyPr>
          <a:lstStyle/>
          <a:p>
            <a:pPr marL="0" indent="0" algn="ctr">
              <a:lnSpc>
                <a:spcPts val="1820"/>
              </a:lnSpc>
              <a:buNone/>
            </a:pPr>
            <a:r>
              <a:rPr lang="en-US" sz="1300" b="1" dirty="0">
                <a:solidFill>
                  <a:srgbClr val="0A1440"/>
                </a:solidFill>
                <a:latin typeface="Nunito Sans" pitchFamily="34" charset="0"/>
                <a:ea typeface="Nunito Sans" pitchFamily="34" charset="-122"/>
                <a:cs typeface="Nunito Sans" pitchFamily="34" charset="-120"/>
              </a:rPr>
              <a:t>SENTRY</a:t>
            </a:r>
            <a:endParaRPr lang="en-US" sz="1300" dirty="0"/>
          </a:p>
        </p:txBody>
      </p:sp>
      <p:sp>
        <p:nvSpPr>
          <p:cNvPr id="9" name="Text 7"/>
          <p:cNvSpPr/>
          <p:nvPr/>
        </p:nvSpPr>
        <p:spPr>
          <a:xfrm>
            <a:off x="2614260" y="3817378"/>
            <a:ext cx="901876" cy="332669"/>
          </a:xfrm>
          <a:prstGeom prst="roundRect">
            <a:avLst>
              <a:gd name="adj" fmla="val 50000"/>
            </a:avLst>
          </a:prstGeom>
          <a:solidFill>
            <a:srgbClr val="4FE0D2"/>
          </a:solidFill>
          <a:ln/>
        </p:spPr>
        <p:txBody>
          <a:bodyPr wrap="none" lIns="0" tIns="0" rIns="0" bIns="0" rtlCol="0" anchor="ctr">
            <a:normAutofit/>
          </a:bodyPr>
          <a:lstStyle/>
          <a:p>
            <a:pPr marL="0" indent="0" algn="ctr">
              <a:lnSpc>
                <a:spcPts val="1820"/>
              </a:lnSpc>
              <a:buNone/>
            </a:pPr>
            <a:r>
              <a:rPr lang="en-US" sz="1300" b="1" dirty="0">
                <a:solidFill>
                  <a:srgbClr val="0A1440"/>
                </a:solidFill>
                <a:latin typeface="Nunito Sans" pitchFamily="34" charset="0"/>
                <a:ea typeface="Nunito Sans" pitchFamily="34" charset="-122"/>
                <a:cs typeface="Nunito Sans" pitchFamily="34" charset="-120"/>
              </a:rPr>
              <a:t>SCRIBE</a:t>
            </a:r>
            <a:endParaRPr lang="en-US" sz="1300" dirty="0"/>
          </a:p>
        </p:txBody>
      </p:sp>
      <p:sp>
        <p:nvSpPr>
          <p:cNvPr id="10" name="Text 8"/>
          <p:cNvSpPr/>
          <p:nvPr/>
        </p:nvSpPr>
        <p:spPr>
          <a:xfrm>
            <a:off x="3633611" y="3817378"/>
            <a:ext cx="858661" cy="332669"/>
          </a:xfrm>
          <a:prstGeom prst="roundRect">
            <a:avLst>
              <a:gd name="adj" fmla="val 50000"/>
            </a:avLst>
          </a:prstGeom>
          <a:solidFill>
            <a:srgbClr val="B7A1FF"/>
          </a:solidFill>
          <a:ln/>
        </p:spPr>
        <p:txBody>
          <a:bodyPr wrap="none" lIns="0" tIns="0" rIns="0" bIns="0" rtlCol="0" anchor="ctr">
            <a:normAutofit/>
          </a:bodyPr>
          <a:lstStyle/>
          <a:p>
            <a:pPr marL="0" indent="0" algn="ctr">
              <a:lnSpc>
                <a:spcPts val="1820"/>
              </a:lnSpc>
              <a:buNone/>
            </a:pPr>
            <a:r>
              <a:rPr lang="en-US" sz="1300" b="1" dirty="0">
                <a:solidFill>
                  <a:srgbClr val="0A1440"/>
                </a:solidFill>
                <a:latin typeface="Nunito Sans" pitchFamily="34" charset="0"/>
                <a:ea typeface="Nunito Sans" pitchFamily="34" charset="-122"/>
                <a:cs typeface="Nunito Sans" pitchFamily="34" charset="-120"/>
              </a:rPr>
              <a:t>GLOSS</a:t>
            </a:r>
            <a:endParaRPr lang="en-US" sz="1300" dirty="0"/>
          </a:p>
        </p:txBody>
      </p:sp>
      <p:sp>
        <p:nvSpPr>
          <p:cNvPr id="11" name="Text 9"/>
          <p:cNvSpPr/>
          <p:nvPr/>
        </p:nvSpPr>
        <p:spPr>
          <a:xfrm>
            <a:off x="587199" y="4326348"/>
            <a:ext cx="4339364" cy="436739"/>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D5DCFF"/>
                </a:solidFill>
                <a:latin typeface="Nunito Sans" pitchFamily="34" charset="0"/>
                <a:ea typeface="Nunito Sans" pitchFamily="34" charset="-122"/>
                <a:cs typeface="Nunito Sans" pitchFamily="34" charset="-120"/>
              </a:rPr>
              <a:t>Dayana Priyadharshani Kumar · Harishalinee Elangovan · Vithursha Prabagaran · Kaushalya Nagenthraraja</a:t>
            </a:r>
            <a:endParaRPr lang="en-US" sz="1200" dirty="0"/>
          </a:p>
        </p:txBody>
      </p:sp>
      <p:sp>
        <p:nvSpPr>
          <p:cNvPr id="12" name="Text 10"/>
          <p:cNvSpPr/>
          <p:nvPr/>
        </p:nvSpPr>
        <p:spPr>
          <a:xfrm>
            <a:off x="609600" y="4956868"/>
            <a:ext cx="5803900" cy="100825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AEB9F0"/>
                </a:solidFill>
                <a:latin typeface="Nunito Sans" pitchFamily="34" charset="0"/>
                <a:ea typeface="Nunito Sans" pitchFamily="34" charset="-122"/>
                <a:cs typeface="Nunito Sans" pitchFamily="34" charset="-120"/>
              </a:rPr>
              <a:t>Supervisor: Prof. Samantha </a:t>
            </a:r>
            <a:r>
              <a:rPr lang="en-US" sz="1200" dirty="0" err="1">
                <a:solidFill>
                  <a:srgbClr val="AEB9F0"/>
                </a:solidFill>
                <a:latin typeface="Nunito Sans" pitchFamily="34" charset="0"/>
                <a:ea typeface="Nunito Sans" pitchFamily="34" charset="-122"/>
                <a:cs typeface="Nunito Sans" pitchFamily="34" charset="-120"/>
              </a:rPr>
              <a:t>Thelijjagoda</a:t>
            </a:r>
            <a:r>
              <a:rPr lang="en-US" sz="1200" dirty="0">
                <a:solidFill>
                  <a:srgbClr val="AEB9F0"/>
                </a:solidFill>
                <a:latin typeface="Nunito Sans" pitchFamily="34" charset="0"/>
                <a:ea typeface="Nunito Sans" pitchFamily="34" charset="-122"/>
                <a:cs typeface="Nunito Sans" pitchFamily="34" charset="-120"/>
              </a:rPr>
              <a:t>  </a:t>
            </a:r>
          </a:p>
          <a:p>
            <a:pPr marL="0" indent="0" algn="l">
              <a:lnSpc>
                <a:spcPts val="1620"/>
              </a:lnSpc>
              <a:buNone/>
            </a:pPr>
            <a:r>
              <a:rPr lang="en-US" sz="1200" dirty="0">
                <a:solidFill>
                  <a:srgbClr val="AEB9F0"/>
                </a:solidFill>
                <a:latin typeface="Nunito Sans" pitchFamily="34" charset="0"/>
                <a:ea typeface="Nunito Sans" pitchFamily="34" charset="-122"/>
                <a:cs typeface="Nunito Sans" pitchFamily="34" charset="-120"/>
              </a:rPr>
              <a:t>Co-supervisor: Mr. Samadhi Rathnayake</a:t>
            </a:r>
          </a:p>
          <a:p>
            <a:pPr marL="0" indent="0" algn="l">
              <a:lnSpc>
                <a:spcPts val="1620"/>
              </a:lnSpc>
              <a:buNone/>
            </a:pPr>
            <a:endParaRPr lang="en-US" sz="1200" dirty="0">
              <a:solidFill>
                <a:srgbClr val="AEB9F0"/>
              </a:solidFill>
              <a:latin typeface="Nunito Sans" pitchFamily="34" charset="0"/>
            </a:endParaRPr>
          </a:p>
          <a:p>
            <a:pPr marL="0" indent="0" algn="l">
              <a:lnSpc>
                <a:spcPts val="1620"/>
              </a:lnSpc>
              <a:buNone/>
            </a:pPr>
            <a:endParaRPr lang="en-US" sz="1200" dirty="0"/>
          </a:p>
        </p:txBody>
      </p:sp>
      <p:sp>
        <p:nvSpPr>
          <p:cNvPr id="13" name="Shape 11"/>
          <p:cNvSpPr/>
          <p:nvPr/>
        </p:nvSpPr>
        <p:spPr>
          <a:xfrm>
            <a:off x="6423024" y="1724024"/>
            <a:ext cx="5159375" cy="2759075"/>
          </a:xfrm>
          <a:prstGeom prst="roundRect">
            <a:avLst>
              <a:gd name="adj" fmla="val 5806"/>
            </a:avLst>
          </a:prstGeom>
          <a:solidFill>
            <a:srgbClr val="1B2236"/>
          </a:solidFill>
          <a:ln w="19050">
            <a:solidFill>
              <a:srgbClr val="3A4666"/>
            </a:solidFill>
            <a:prstDash val="solid"/>
          </a:ln>
          <a:effectLst>
            <a:outerShdw blurRad="444500" dist="190500" dir="5400000" algn="bl" rotWithShape="0">
              <a:srgbClr val="000000">
                <a:alpha val="50000"/>
              </a:srgbClr>
            </a:outerShdw>
          </a:effectLst>
        </p:spPr>
        <p:txBody>
          <a:bodyPr/>
          <a:lstStyle/>
          <a:p>
            <a:endParaRPr lang="en-US"/>
          </a:p>
        </p:txBody>
      </p:sp>
      <p:pic>
        <p:nvPicPr>
          <p:cNvPr id="14" name="Image 0" descr="CareSense PULSE dashboard showing a caregiver profile with a low-risk score"/>
          <p:cNvPicPr>
            <a:picLocks noChangeAspect="1"/>
          </p:cNvPicPr>
          <p:nvPr/>
        </p:nvPicPr>
        <p:blipFill>
          <a:blip r:embed="rId3"/>
          <a:srcRect l="943" r="8489"/>
          <a:stretch/>
        </p:blipFill>
        <p:spPr>
          <a:xfrm>
            <a:off x="6540500" y="1841499"/>
            <a:ext cx="4926822" cy="2563279"/>
          </a:xfrm>
          <a:prstGeom prst="roundRect">
            <a:avLst>
              <a:gd name="adj" fmla="val 2078"/>
            </a:avLst>
          </a:prstGeom>
        </p:spPr>
      </p:pic>
      <p:sp>
        <p:nvSpPr>
          <p:cNvPr id="15" name="Shape 12"/>
          <p:cNvSpPr/>
          <p:nvPr/>
        </p:nvSpPr>
        <p:spPr>
          <a:xfrm>
            <a:off x="8839200" y="1758950"/>
            <a:ext cx="63500" cy="63500"/>
          </a:xfrm>
          <a:prstGeom prst="roundRect">
            <a:avLst>
              <a:gd name="adj" fmla="val 50000"/>
            </a:avLst>
          </a:prstGeom>
          <a:solidFill>
            <a:srgbClr val="4A556F"/>
          </a:solidFill>
          <a:ln/>
        </p:spPr>
        <p:txBody>
          <a:bodyPr/>
          <a:lstStyle/>
          <a:p>
            <a:endParaRPr lang="en-US"/>
          </a:p>
        </p:txBody>
      </p:sp>
      <p:sp>
        <p:nvSpPr>
          <p:cNvPr id="16" name="Shape 13"/>
          <p:cNvSpPr/>
          <p:nvPr/>
        </p:nvSpPr>
        <p:spPr>
          <a:xfrm>
            <a:off x="6159500" y="4413249"/>
            <a:ext cx="5626100" cy="311151"/>
          </a:xfrm>
          <a:custGeom>
            <a:avLst/>
            <a:gdLst/>
            <a:ahLst/>
            <a:cxnLst/>
            <a:rect l="l" t="t" r="r" b="b"/>
            <a:pathLst>
              <a:path w="5461000" h="177800">
                <a:moveTo>
                  <a:pt x="0" y="0"/>
                </a:moveTo>
                <a:lnTo>
                  <a:pt x="5461000" y="0"/>
                </a:lnTo>
                <a:lnTo>
                  <a:pt x="5461000" y="0"/>
                </a:lnTo>
                <a:arcTo wR="177800" hR="177800" stAng="0" swAng="5400000"/>
                <a:lnTo>
                  <a:pt x="177800" y="177800"/>
                </a:lnTo>
                <a:arcTo wR="177800" hR="177800" stAng="5400000" swAng="5400000"/>
                <a:lnTo>
                  <a:pt x="0" y="0"/>
                </a:lnTo>
                <a:close/>
              </a:path>
            </a:pathLst>
          </a:custGeom>
          <a:gradFill rotWithShape="1">
            <a:gsLst>
              <a:gs pos="0">
                <a:srgbClr val="D2D7E3"/>
              </a:gs>
              <a:gs pos="100000">
                <a:srgbClr val="98A1B8"/>
              </a:gs>
            </a:gsLst>
            <a:lin ang="5400000" scaled="0"/>
          </a:gradFill>
          <a:ln/>
          <a:effectLst>
            <a:outerShdw blurRad="317500" dist="165100" dir="5400000" algn="bl" rotWithShape="0">
              <a:srgbClr val="000000">
                <a:alpha val="45000"/>
              </a:srgbClr>
            </a:outerShdw>
          </a:effectLst>
        </p:spPr>
        <p:txBody>
          <a:bodyPr/>
          <a:lstStyle/>
          <a:p>
            <a:endParaRPr lang="en-US"/>
          </a:p>
        </p:txBody>
      </p:sp>
      <p:sp>
        <p:nvSpPr>
          <p:cNvPr id="17" name="Shape 14"/>
          <p:cNvSpPr/>
          <p:nvPr/>
        </p:nvSpPr>
        <p:spPr>
          <a:xfrm>
            <a:off x="8445500" y="4413250"/>
            <a:ext cx="889000" cy="57150"/>
          </a:xfrm>
          <a:custGeom>
            <a:avLst/>
            <a:gdLst/>
            <a:ahLst/>
            <a:cxnLst/>
            <a:rect l="l" t="t" r="r" b="b"/>
            <a:pathLst>
              <a:path w="889000" h="57150">
                <a:moveTo>
                  <a:pt x="0" y="0"/>
                </a:moveTo>
                <a:lnTo>
                  <a:pt x="889000" y="0"/>
                </a:lnTo>
                <a:lnTo>
                  <a:pt x="889000" y="0"/>
                </a:lnTo>
                <a:arcTo wR="57150" hR="57150" stAng="0" swAng="5400000"/>
                <a:lnTo>
                  <a:pt x="57150" y="57150"/>
                </a:lnTo>
                <a:arcTo wR="57150" hR="57150" stAng="5400000" swAng="5400000"/>
                <a:lnTo>
                  <a:pt x="0" y="0"/>
                </a:lnTo>
                <a:close/>
              </a:path>
            </a:pathLst>
          </a:custGeom>
          <a:solidFill>
            <a:srgbClr val="7A849C"/>
          </a:solidFill>
          <a:ln/>
        </p:spPr>
        <p:txBody>
          <a:bodyPr/>
          <a:lstStyle/>
          <a:p>
            <a:endParaRPr lang="en-US"/>
          </a:p>
        </p:txBody>
      </p:sp>
      <p:sp>
        <p:nvSpPr>
          <p:cNvPr id="18" name="Text 15"/>
          <p:cNvSpPr/>
          <p:nvPr/>
        </p:nvSpPr>
        <p:spPr>
          <a:xfrm>
            <a:off x="7143750" y="4911725"/>
            <a:ext cx="3937000" cy="358069"/>
          </a:xfrm>
          <a:prstGeom prst="roundRect">
            <a:avLst>
              <a:gd name="adj" fmla="val 50000"/>
            </a:avLst>
          </a:prstGeom>
          <a:solidFill>
            <a:srgbClr val="FFC247"/>
          </a:solidFill>
          <a:ln/>
        </p:spPr>
        <p:txBody>
          <a:bodyPr wrap="square" lIns="112663" tIns="11063" rIns="4459" bIns="0" rtlCol="0" anchor="t">
            <a:normAutofit/>
          </a:bodyPr>
          <a:lstStyle/>
          <a:p>
            <a:pPr marL="0" indent="0" algn="l">
              <a:lnSpc>
                <a:spcPts val="1820"/>
              </a:lnSpc>
              <a:buNone/>
            </a:pPr>
            <a:r>
              <a:rPr lang="en-US" sz="1300" b="1" dirty="0">
                <a:solidFill>
                  <a:srgbClr val="0A1440"/>
                </a:solidFill>
                <a:latin typeface="Nunito Sans" pitchFamily="34" charset="0"/>
                <a:ea typeface="Nunito Sans" pitchFamily="34" charset="-122"/>
                <a:cs typeface="Nunito Sans" pitchFamily="34" charset="-120"/>
              </a:rPr>
              <a:t>4 AI modules · 1 integrated platform</a:t>
            </a:r>
            <a:endParaRPr lang="en-US" sz="1300" dirty="0"/>
          </a:p>
        </p:txBody>
      </p:sp>
      <p:sp>
        <p:nvSpPr>
          <p:cNvPr id="19" name="Text 16"/>
          <p:cNvSpPr/>
          <p:nvPr/>
        </p:nvSpPr>
        <p:spPr>
          <a:xfrm>
            <a:off x="7143750" y="5413120"/>
            <a:ext cx="3937000" cy="358069"/>
          </a:xfrm>
          <a:prstGeom prst="roundRect">
            <a:avLst>
              <a:gd name="adj" fmla="val 50000"/>
            </a:avLst>
          </a:prstGeom>
          <a:solidFill>
            <a:srgbClr val="FFFFFF"/>
          </a:solidFill>
          <a:ln/>
        </p:spPr>
        <p:txBody>
          <a:bodyPr wrap="square" lIns="112663" tIns="11063" rIns="4459" bIns="0" rtlCol="0" anchor="t">
            <a:normAutofit/>
          </a:bodyPr>
          <a:lstStyle/>
          <a:p>
            <a:pPr marL="0" indent="0" algn="l">
              <a:lnSpc>
                <a:spcPts val="1820"/>
              </a:lnSpc>
              <a:buNone/>
            </a:pPr>
            <a:r>
              <a:rPr lang="en-US" sz="1300" b="1" dirty="0">
                <a:solidFill>
                  <a:srgbClr val="0A1440"/>
                </a:solidFill>
                <a:latin typeface="Nunito Sans" pitchFamily="34" charset="0"/>
                <a:ea typeface="Nunito Sans" pitchFamily="34" charset="-122"/>
                <a:cs typeface="Nunito Sans" pitchFamily="34" charset="-120"/>
              </a:rPr>
              <a:t>A person always stays in the loop</a:t>
            </a:r>
            <a:endParaRPr lang="en-US" sz="1300" dirty="0"/>
          </a:p>
        </p:txBody>
      </p:sp>
      <p:sp>
        <p:nvSpPr>
          <p:cNvPr id="20" name="Shape 17"/>
          <p:cNvSpPr/>
          <p:nvPr/>
        </p:nvSpPr>
        <p:spPr>
          <a:xfrm>
            <a:off x="-139959" y="6273800"/>
            <a:ext cx="12331959" cy="584200"/>
          </a:xfrm>
          <a:prstGeom prst="rect">
            <a:avLst/>
          </a:prstGeom>
          <a:solidFill>
            <a:srgbClr val="FFFFFF"/>
          </a:solidFill>
          <a:ln/>
        </p:spPr>
        <p:txBody>
          <a:bodyPr/>
          <a:lstStyle/>
          <a:p>
            <a:endParaRPr lang="en-US"/>
          </a:p>
        </p:txBody>
      </p:sp>
      <p:sp>
        <p:nvSpPr>
          <p:cNvPr id="21" name="Shape 18"/>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22" name="Image 1" descr="SLIIT Faculty of Computing logo"/>
          <p:cNvPicPr>
            <a:picLocks noChangeAspect="1"/>
          </p:cNvPicPr>
          <p:nvPr/>
        </p:nvPicPr>
        <p:blipFill>
          <a:blip r:embed="rId4"/>
          <a:srcRect t="-370" b="-370"/>
          <a:stretch/>
        </p:blipFill>
        <p:spPr>
          <a:xfrm>
            <a:off x="406400" y="6362700"/>
            <a:ext cx="2032000" cy="406400"/>
          </a:xfrm>
          <a:prstGeom prst="rect">
            <a:avLst/>
          </a:prstGeom>
        </p:spPr>
      </p:pic>
      <p:sp>
        <p:nvSpPr>
          <p:cNvPr id="23" name="Text 19"/>
          <p:cNvSpPr/>
          <p:nvPr/>
        </p:nvSpPr>
        <p:spPr>
          <a:xfrm>
            <a:off x="4133850" y="6408473"/>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24" name="Text 20"/>
          <p:cNvSpPr/>
          <p:nvPr/>
        </p:nvSpPr>
        <p:spPr>
          <a:xfrm>
            <a:off x="8384540" y="6449131"/>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600" y="304712"/>
            <a:ext cx="7191057" cy="416542"/>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E1B4D"/>
                </a:solidFill>
                <a:latin typeface="Rubik" pitchFamily="34" charset="0"/>
                <a:ea typeface="Rubik" pitchFamily="34" charset="-122"/>
                <a:cs typeface="Rubik" pitchFamily="34" charset="-120"/>
              </a:rPr>
              <a:t>Panel Feedback and Our Solutions</a:t>
            </a:r>
            <a:endParaRPr lang="en-US" sz="2800" dirty="0"/>
          </a:p>
        </p:txBody>
      </p:sp>
      <p:sp>
        <p:nvSpPr>
          <p:cNvPr id="3" name="Text 1"/>
          <p:cNvSpPr/>
          <p:nvPr/>
        </p:nvSpPr>
        <p:spPr>
          <a:xfrm>
            <a:off x="10166438" y="333904"/>
            <a:ext cx="1415962" cy="332669"/>
          </a:xfrm>
          <a:prstGeom prst="roundRect">
            <a:avLst>
              <a:gd name="adj" fmla="val 50000"/>
            </a:avLst>
          </a:prstGeom>
          <a:solidFill>
            <a:srgbClr val="0E1B4D"/>
          </a:solidFill>
          <a:ln/>
        </p:spPr>
        <p:txBody>
          <a:bodyPr wrap="none" lIns="0" tIns="0" rIns="0" bIns="0" rtlCol="0" anchor="ctr">
            <a:normAutofit/>
          </a:bodyPr>
          <a:lstStyle/>
          <a:p>
            <a:pPr marL="0" indent="0" algn="ctr">
              <a:lnSpc>
                <a:spcPts val="1820"/>
              </a:lnSpc>
              <a:buNone/>
            </a:pPr>
            <a:r>
              <a:rPr lang="en-US" sz="1300" b="1" dirty="0">
                <a:solidFill>
                  <a:srgbClr val="FFFFFF"/>
                </a:solidFill>
                <a:latin typeface="Nunito Sans" pitchFamily="34" charset="0"/>
                <a:ea typeface="Nunito Sans" pitchFamily="34" charset="-122"/>
                <a:cs typeface="Nunito Sans" pitchFamily="34" charset="-120"/>
              </a:rPr>
              <a:t>Panel DS-P02</a:t>
            </a:r>
            <a:endParaRPr lang="en-US" sz="1300" dirty="0"/>
          </a:p>
        </p:txBody>
      </p:sp>
      <p:sp>
        <p:nvSpPr>
          <p:cNvPr id="4" name="Text 2"/>
          <p:cNvSpPr/>
          <p:nvPr/>
        </p:nvSpPr>
        <p:spPr>
          <a:xfrm>
            <a:off x="609600" y="822678"/>
            <a:ext cx="1282700" cy="408869"/>
          </a:xfrm>
          <a:prstGeom prst="roundRect">
            <a:avLst>
              <a:gd name="adj" fmla="val 18637"/>
            </a:avLst>
          </a:prstGeom>
          <a:solidFill>
            <a:srgbClr val="0E1B4D"/>
          </a:solidFill>
          <a:ln/>
        </p:spPr>
        <p:txBody>
          <a:bodyPr wrap="square" lIns="104682" tIns="66582" rIns="53882" bIns="41182"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Student ID</a:t>
            </a:r>
            <a:endParaRPr lang="en-US" sz="1300" dirty="0"/>
          </a:p>
        </p:txBody>
      </p:sp>
      <p:sp>
        <p:nvSpPr>
          <p:cNvPr id="5" name="Text 3"/>
          <p:cNvSpPr/>
          <p:nvPr/>
        </p:nvSpPr>
        <p:spPr>
          <a:xfrm>
            <a:off x="2082800" y="822678"/>
            <a:ext cx="3238500" cy="408869"/>
          </a:xfrm>
          <a:prstGeom prst="roundRect">
            <a:avLst>
              <a:gd name="adj" fmla="val 18637"/>
            </a:avLst>
          </a:prstGeom>
          <a:solidFill>
            <a:srgbClr val="0E1B4D"/>
          </a:solidFill>
          <a:ln/>
        </p:spPr>
        <p:txBody>
          <a:bodyPr wrap="square" lIns="104682" tIns="66582" rIns="15147" bIns="41182"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Detailed Comments</a:t>
            </a:r>
            <a:endParaRPr lang="en-US" sz="1300" dirty="0"/>
          </a:p>
        </p:txBody>
      </p:sp>
      <p:sp>
        <p:nvSpPr>
          <p:cNvPr id="6" name="Text 4"/>
          <p:cNvSpPr/>
          <p:nvPr/>
        </p:nvSpPr>
        <p:spPr>
          <a:xfrm>
            <a:off x="5397500" y="822678"/>
            <a:ext cx="3937000" cy="408869"/>
          </a:xfrm>
          <a:prstGeom prst="roundRect">
            <a:avLst>
              <a:gd name="adj" fmla="val 18637"/>
            </a:avLst>
          </a:prstGeom>
          <a:solidFill>
            <a:srgbClr val="0E1B4D"/>
          </a:solidFill>
          <a:ln/>
        </p:spPr>
        <p:txBody>
          <a:bodyPr wrap="square" lIns="104682" tIns="66582" rIns="0" bIns="41182"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Our Solution</a:t>
            </a:r>
            <a:endParaRPr lang="en-US" sz="1300" dirty="0"/>
          </a:p>
        </p:txBody>
      </p:sp>
      <p:sp>
        <p:nvSpPr>
          <p:cNvPr id="7" name="Text 5"/>
          <p:cNvSpPr/>
          <p:nvPr/>
        </p:nvSpPr>
        <p:spPr>
          <a:xfrm>
            <a:off x="9410700" y="822678"/>
            <a:ext cx="2171700" cy="408869"/>
          </a:xfrm>
          <a:prstGeom prst="roundRect">
            <a:avLst>
              <a:gd name="adj" fmla="val 18637"/>
            </a:avLst>
          </a:prstGeom>
          <a:solidFill>
            <a:srgbClr val="0E1B4D"/>
          </a:solidFill>
          <a:ln/>
        </p:spPr>
        <p:txBody>
          <a:bodyPr wrap="square" lIns="104682" tIns="66582" rIns="47151" bIns="41182" rtlCol="0" anchor="t">
            <a:normAutofit/>
          </a:bodyPr>
          <a:lstStyle/>
          <a:p>
            <a:pPr marL="0" indent="0" algn="l">
              <a:lnSpc>
                <a:spcPts val="1820"/>
              </a:lnSpc>
              <a:buNone/>
            </a:pPr>
            <a:r>
              <a:rPr lang="en-US" sz="1300" b="1" dirty="0">
                <a:solidFill>
                  <a:srgbClr val="FFFFFF"/>
                </a:solidFill>
                <a:latin typeface="Nunito Sans" pitchFamily="34" charset="0"/>
                <a:ea typeface="Nunito Sans" pitchFamily="34" charset="-122"/>
                <a:cs typeface="Nunito Sans" pitchFamily="34" charset="-120"/>
              </a:rPr>
              <a:t>Solution Space</a:t>
            </a:r>
            <a:endParaRPr lang="en-US" sz="1300" dirty="0"/>
          </a:p>
        </p:txBody>
      </p:sp>
      <p:sp>
        <p:nvSpPr>
          <p:cNvPr id="8" name="Shape 6"/>
          <p:cNvSpPr/>
          <p:nvPr/>
        </p:nvSpPr>
        <p:spPr>
          <a:xfrm>
            <a:off x="609600" y="1307747"/>
            <a:ext cx="1282700" cy="1032228"/>
          </a:xfrm>
          <a:prstGeom prst="roundRect">
            <a:avLst>
              <a:gd name="adj" fmla="val 8612"/>
            </a:avLst>
          </a:prstGeom>
          <a:solidFill>
            <a:srgbClr val="FFE7EB"/>
          </a:solidFill>
          <a:ln/>
        </p:spPr>
        <p:txBody>
          <a:bodyPr/>
          <a:lstStyle/>
          <a:p>
            <a:endParaRPr lang="en-US"/>
          </a:p>
        </p:txBody>
      </p:sp>
      <p:sp>
        <p:nvSpPr>
          <p:cNvPr id="9" name="Shape 7"/>
          <p:cNvSpPr/>
          <p:nvPr/>
        </p:nvSpPr>
        <p:spPr>
          <a:xfrm>
            <a:off x="609600" y="1307747"/>
            <a:ext cx="1282700" cy="1032228"/>
          </a:xfrm>
          <a:custGeom>
            <a:avLst/>
            <a:gdLst/>
            <a:ahLst/>
            <a:cxnLst/>
            <a:rect l="l" t="t" r="r" b="b"/>
            <a:pathLst>
              <a:path w="1397000" h="1032228">
                <a:moveTo>
                  <a:pt x="88900" y="1032228"/>
                </a:moveTo>
                <a:lnTo>
                  <a:pt x="88900" y="1032228"/>
                </a:lnTo>
                <a:arcTo wR="88900" hR="88900" stAng="5400000" swAng="5400000"/>
                <a:lnTo>
                  <a:pt x="0" y="88900"/>
                </a:lnTo>
                <a:arcTo wR="88900" hR="88900" stAng="10800000" swAng="5400000"/>
                <a:lnTo>
                  <a:pt x="88900" y="0"/>
                </a:lnTo>
                <a:arcTo wR="38100" hR="88900" stAng="16200000" swAng="-5400000"/>
                <a:lnTo>
                  <a:pt x="50800" y="943328"/>
                </a:lnTo>
                <a:arcTo wR="38100" hR="88900" stAng="10800000" swAng="-5400000"/>
                <a:close/>
              </a:path>
            </a:pathLst>
          </a:custGeom>
          <a:solidFill>
            <a:srgbClr val="C8304B"/>
          </a:solidFill>
          <a:ln/>
        </p:spPr>
        <p:txBody>
          <a:bodyPr/>
          <a:lstStyle/>
          <a:p>
            <a:endParaRPr lang="en-US"/>
          </a:p>
        </p:txBody>
      </p:sp>
      <p:sp>
        <p:nvSpPr>
          <p:cNvPr id="10" name="Text 8"/>
          <p:cNvSpPr/>
          <p:nvPr/>
        </p:nvSpPr>
        <p:spPr>
          <a:xfrm>
            <a:off x="774700" y="1422047"/>
            <a:ext cx="107280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B4D"/>
                </a:solidFill>
                <a:latin typeface="Nunito Sans" pitchFamily="34" charset="0"/>
                <a:ea typeface="Nunito Sans" pitchFamily="34" charset="-122"/>
                <a:cs typeface="Nunito Sans" pitchFamily="34" charset="-120"/>
              </a:rPr>
              <a:t>IT22178640</a:t>
            </a:r>
            <a:endParaRPr lang="en-US" sz="1300" dirty="0"/>
          </a:p>
        </p:txBody>
      </p:sp>
      <p:sp>
        <p:nvSpPr>
          <p:cNvPr id="11" name="Text 9"/>
          <p:cNvSpPr/>
          <p:nvPr/>
        </p:nvSpPr>
        <p:spPr>
          <a:xfrm>
            <a:off x="774700" y="1716617"/>
            <a:ext cx="1026160" cy="264142"/>
          </a:xfrm>
          <a:custGeom>
            <a:avLst/>
            <a:gdLst/>
            <a:ahLst/>
            <a:cxnLst/>
            <a:rect l="l" t="t" r="r" b="b"/>
            <a:pathLst>
              <a:path w="1117600" h="264142">
                <a:moveTo>
                  <a:pt x="132071" y="0"/>
                </a:moveTo>
                <a:lnTo>
                  <a:pt x="985529" y="0"/>
                </a:lnTo>
                <a:arcTo wR="132071" hR="132071" stAng="16200000" swAng="5400000"/>
                <a:lnTo>
                  <a:pt x="1117600" y="132071"/>
                </a:lnTo>
                <a:arcTo wR="132071" hR="132071" stAng="0" swAng="5400000"/>
                <a:lnTo>
                  <a:pt x="132071" y="264142"/>
                </a:lnTo>
                <a:arcTo wR="132071" hR="132071" stAng="5400000" swAng="5400000"/>
                <a:lnTo>
                  <a:pt x="0" y="132071"/>
                </a:lnTo>
                <a:arcTo wR="132071" hR="132071" stAng="10800000" swAng="5400000"/>
                <a:close/>
              </a:path>
            </a:pathLst>
          </a:custGeom>
          <a:solidFill>
            <a:srgbClr val="C8304B"/>
          </a:solidFill>
          <a:ln/>
        </p:spPr>
        <p:txBody>
          <a:bodyPr wrap="square" lIns="101600" tIns="25400" rIns="50800" bIns="0" rtlCol="0" anchor="t">
            <a:norm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PULSE</a:t>
            </a:r>
            <a:endParaRPr lang="en-US" sz="1200" dirty="0"/>
          </a:p>
        </p:txBody>
      </p:sp>
      <p:sp>
        <p:nvSpPr>
          <p:cNvPr id="12" name="Text 10"/>
          <p:cNvSpPr/>
          <p:nvPr/>
        </p:nvSpPr>
        <p:spPr>
          <a:xfrm>
            <a:off x="2085975" y="1310922"/>
            <a:ext cx="3232150" cy="1025878"/>
          </a:xfrm>
          <a:prstGeom prst="roundRect">
            <a:avLst>
              <a:gd name="adj" fmla="val 8356"/>
            </a:avLst>
          </a:prstGeom>
          <a:solidFill>
            <a:srgbClr val="FFFFFF"/>
          </a:solidFill>
          <a:ln w="6350">
            <a:solidFill>
              <a:srgbClr val="DCE2F2"/>
            </a:solidFill>
            <a:prstDash val="solid"/>
          </a:ln>
        </p:spPr>
        <p:txBody>
          <a:bodyPr wrap="square" lIns="104361" tIns="91661" rIns="15165" bIns="91661" rtlCol="0" anchor="t">
            <a:normAutofit/>
          </a:bodyPr>
          <a:lstStyle/>
          <a:p>
            <a:pPr marL="0" indent="0" algn="l">
              <a:lnSpc>
                <a:spcPts val="1560"/>
              </a:lnSpc>
              <a:buNone/>
            </a:pPr>
            <a:r>
              <a:rPr lang="en-US" sz="1200" i="1" dirty="0">
                <a:solidFill>
                  <a:srgbClr val="1B2A5E"/>
                </a:solidFill>
                <a:latin typeface="Nunito Sans" pitchFamily="34" charset="0"/>
                <a:ea typeface="Nunito Sans" pitchFamily="34" charset="-122"/>
                <a:cs typeface="Nunito Sans" pitchFamily="34" charset="-120"/>
              </a:rPr>
              <a:t>“When it comes to visualisation, show actual and predicted HR to check model performance.”</a:t>
            </a:r>
            <a:endParaRPr lang="en-US" sz="1200" dirty="0"/>
          </a:p>
        </p:txBody>
      </p:sp>
      <p:sp>
        <p:nvSpPr>
          <p:cNvPr id="13" name="Shape 11"/>
          <p:cNvSpPr/>
          <p:nvPr/>
        </p:nvSpPr>
        <p:spPr>
          <a:xfrm>
            <a:off x="5400675" y="1310922"/>
            <a:ext cx="3930650" cy="1025878"/>
          </a:xfrm>
          <a:prstGeom prst="roundRect">
            <a:avLst>
              <a:gd name="adj" fmla="val 8356"/>
            </a:avLst>
          </a:prstGeom>
          <a:solidFill>
            <a:srgbClr val="FFFFFF"/>
          </a:solidFill>
          <a:ln w="6350">
            <a:solidFill>
              <a:srgbClr val="DCE2F2"/>
            </a:solidFill>
            <a:prstDash val="solid"/>
          </a:ln>
        </p:spPr>
        <p:txBody>
          <a:bodyPr/>
          <a:lstStyle/>
          <a:p>
            <a:endParaRPr lang="en-US"/>
          </a:p>
        </p:txBody>
      </p:sp>
      <p:sp>
        <p:nvSpPr>
          <p:cNvPr id="14" name="Text 12"/>
          <p:cNvSpPr/>
          <p:nvPr/>
        </p:nvSpPr>
        <p:spPr>
          <a:xfrm>
            <a:off x="5628951" y="1427692"/>
            <a:ext cx="3675436" cy="817739"/>
          </a:xfrm>
          <a:prstGeom prst="rect">
            <a:avLst/>
          </a:prstGeom>
          <a:noFill/>
          <a:ln/>
        </p:spPr>
        <p:txBody>
          <a:bodyPr wrap="square" lIns="0" tIns="0" rIns="0" bIns="0" rtlCol="0" anchor="t">
            <a:normAutofit/>
          </a:bodyPr>
          <a:lstStyle/>
          <a:p>
            <a:pPr marL="155194" indent="-155194" algn="l">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Model Check tab plots actual vs predicted heart rate (Stage-1 expected-HR residual)</a:t>
            </a:r>
            <a:endParaRPr lang="en-US" sz="1200" dirty="0"/>
          </a:p>
          <a:p>
            <a:pPr marL="155194" indent="-155194" algn="l">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Held-out check: ROC AUC 0.72 on 27 unseen caregivers</a:t>
            </a:r>
            <a:endParaRPr lang="en-US" sz="1200" dirty="0"/>
          </a:p>
        </p:txBody>
      </p:sp>
      <p:sp>
        <p:nvSpPr>
          <p:cNvPr id="15" name="Shape 13"/>
          <p:cNvSpPr/>
          <p:nvPr/>
        </p:nvSpPr>
        <p:spPr>
          <a:xfrm>
            <a:off x="9420225" y="1317272"/>
            <a:ext cx="2152650" cy="1013178"/>
          </a:xfrm>
          <a:prstGeom prst="roundRect">
            <a:avLst>
              <a:gd name="adj" fmla="val 7834"/>
            </a:avLst>
          </a:prstGeom>
          <a:solidFill>
            <a:srgbClr val="FFF3F5"/>
          </a:solidFill>
          <a:ln w="19050">
            <a:solidFill>
              <a:srgbClr val="C8304B"/>
            </a:solidFill>
            <a:prstDash val="dash"/>
          </a:ln>
        </p:spPr>
        <p:txBody>
          <a:bodyPr/>
          <a:lstStyle/>
          <a:p>
            <a:endParaRPr lang="en-US"/>
          </a:p>
        </p:txBody>
      </p:sp>
      <p:pic>
        <p:nvPicPr>
          <p:cNvPr id="16" name="Image 0" descr="Chart"/>
          <p:cNvPicPr>
            <a:picLocks noChangeAspect="1"/>
          </p:cNvPicPr>
          <p:nvPr/>
        </p:nvPicPr>
        <p:blipFill>
          <a:blip r:embed="rId3"/>
          <a:srcRect/>
          <a:stretch/>
        </p:blipFill>
        <p:spPr>
          <a:xfrm>
            <a:off x="10356850" y="1552046"/>
            <a:ext cx="279400" cy="279400"/>
          </a:xfrm>
          <a:prstGeom prst="rect">
            <a:avLst/>
          </a:prstGeom>
        </p:spPr>
      </p:pic>
      <p:sp>
        <p:nvSpPr>
          <p:cNvPr id="17" name="Text 14"/>
          <p:cNvSpPr/>
          <p:nvPr/>
        </p:nvSpPr>
        <p:spPr>
          <a:xfrm>
            <a:off x="9519497" y="1882246"/>
            <a:ext cx="1954107" cy="23874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7A1A2B"/>
                </a:solidFill>
                <a:latin typeface="Nunito Sans" pitchFamily="34" charset="0"/>
                <a:ea typeface="Nunito Sans" pitchFamily="34" charset="-122"/>
                <a:cs typeface="Nunito Sans" pitchFamily="34" charset="-120"/>
              </a:rPr>
              <a:t>Add PULSE screenshot</a:t>
            </a:r>
            <a:endParaRPr lang="en-US" sz="1200" dirty="0"/>
          </a:p>
        </p:txBody>
      </p:sp>
      <p:sp>
        <p:nvSpPr>
          <p:cNvPr id="18" name="Shape 15"/>
          <p:cNvSpPr/>
          <p:nvPr/>
        </p:nvSpPr>
        <p:spPr>
          <a:xfrm>
            <a:off x="609600" y="2416175"/>
            <a:ext cx="1282700" cy="1032228"/>
          </a:xfrm>
          <a:prstGeom prst="roundRect">
            <a:avLst>
              <a:gd name="adj" fmla="val 8612"/>
            </a:avLst>
          </a:prstGeom>
          <a:solidFill>
            <a:srgbClr val="FFF0DC"/>
          </a:solidFill>
          <a:ln/>
        </p:spPr>
        <p:txBody>
          <a:bodyPr/>
          <a:lstStyle/>
          <a:p>
            <a:endParaRPr lang="en-US"/>
          </a:p>
        </p:txBody>
      </p:sp>
      <p:sp>
        <p:nvSpPr>
          <p:cNvPr id="19" name="Shape 16"/>
          <p:cNvSpPr/>
          <p:nvPr/>
        </p:nvSpPr>
        <p:spPr>
          <a:xfrm>
            <a:off x="609600" y="2416175"/>
            <a:ext cx="1282700" cy="1032228"/>
          </a:xfrm>
          <a:custGeom>
            <a:avLst/>
            <a:gdLst/>
            <a:ahLst/>
            <a:cxnLst/>
            <a:rect l="l" t="t" r="r" b="b"/>
            <a:pathLst>
              <a:path w="1397000" h="1032228">
                <a:moveTo>
                  <a:pt x="88900" y="1032228"/>
                </a:moveTo>
                <a:lnTo>
                  <a:pt x="88900" y="1032228"/>
                </a:lnTo>
                <a:arcTo wR="88900" hR="88900" stAng="5400000" swAng="5400000"/>
                <a:lnTo>
                  <a:pt x="0" y="88900"/>
                </a:lnTo>
                <a:arcTo wR="88900" hR="88900" stAng="10800000" swAng="5400000"/>
                <a:lnTo>
                  <a:pt x="88900" y="0"/>
                </a:lnTo>
                <a:arcTo wR="38100" hR="88900" stAng="16200000" swAng="-5400000"/>
                <a:lnTo>
                  <a:pt x="50800" y="943328"/>
                </a:lnTo>
                <a:arcTo wR="38100" hR="88900" stAng="10800000" swAng="-5400000"/>
                <a:close/>
              </a:path>
            </a:pathLst>
          </a:custGeom>
          <a:solidFill>
            <a:srgbClr val="B45F06"/>
          </a:solidFill>
          <a:ln/>
        </p:spPr>
        <p:txBody>
          <a:bodyPr/>
          <a:lstStyle/>
          <a:p>
            <a:endParaRPr lang="en-US"/>
          </a:p>
        </p:txBody>
      </p:sp>
      <p:sp>
        <p:nvSpPr>
          <p:cNvPr id="20" name="Text 17"/>
          <p:cNvSpPr/>
          <p:nvPr/>
        </p:nvSpPr>
        <p:spPr>
          <a:xfrm>
            <a:off x="774700" y="2530475"/>
            <a:ext cx="107280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B4D"/>
                </a:solidFill>
                <a:latin typeface="Nunito Sans" pitchFamily="34" charset="0"/>
                <a:ea typeface="Nunito Sans" pitchFamily="34" charset="-122"/>
                <a:cs typeface="Nunito Sans" pitchFamily="34" charset="-120"/>
              </a:rPr>
              <a:t>IT22057488</a:t>
            </a:r>
            <a:endParaRPr lang="en-US" sz="1300" dirty="0"/>
          </a:p>
        </p:txBody>
      </p:sp>
      <p:sp>
        <p:nvSpPr>
          <p:cNvPr id="21" name="Text 18"/>
          <p:cNvSpPr/>
          <p:nvPr/>
        </p:nvSpPr>
        <p:spPr>
          <a:xfrm>
            <a:off x="774700" y="2825045"/>
            <a:ext cx="1026160" cy="264142"/>
          </a:xfrm>
          <a:custGeom>
            <a:avLst/>
            <a:gdLst/>
            <a:ahLst/>
            <a:cxnLst/>
            <a:rect l="l" t="t" r="r" b="b"/>
            <a:pathLst>
              <a:path w="1117600" h="264142">
                <a:moveTo>
                  <a:pt x="132071" y="0"/>
                </a:moveTo>
                <a:lnTo>
                  <a:pt x="985529" y="0"/>
                </a:lnTo>
                <a:arcTo wR="132071" hR="132071" stAng="16200000" swAng="5400000"/>
                <a:lnTo>
                  <a:pt x="1117600" y="132071"/>
                </a:lnTo>
                <a:arcTo wR="132071" hR="132071" stAng="0" swAng="5400000"/>
                <a:lnTo>
                  <a:pt x="132071" y="264142"/>
                </a:lnTo>
                <a:arcTo wR="132071" hR="132071" stAng="5400000" swAng="5400000"/>
                <a:lnTo>
                  <a:pt x="0" y="132071"/>
                </a:lnTo>
                <a:arcTo wR="132071" hR="132071" stAng="10800000" swAng="5400000"/>
                <a:close/>
              </a:path>
            </a:pathLst>
          </a:custGeom>
          <a:solidFill>
            <a:srgbClr val="B45F06"/>
          </a:solidFill>
          <a:ln/>
        </p:spPr>
        <p:txBody>
          <a:bodyPr wrap="square" lIns="101600" tIns="25400" rIns="50800" bIns="0" rtlCol="0" anchor="t">
            <a:norm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SENTRY</a:t>
            </a:r>
            <a:endParaRPr lang="en-US" sz="1200" dirty="0"/>
          </a:p>
        </p:txBody>
      </p:sp>
      <p:sp>
        <p:nvSpPr>
          <p:cNvPr id="22" name="Text 19"/>
          <p:cNvSpPr/>
          <p:nvPr/>
        </p:nvSpPr>
        <p:spPr>
          <a:xfrm>
            <a:off x="2085975" y="2419350"/>
            <a:ext cx="3232150" cy="1025878"/>
          </a:xfrm>
          <a:prstGeom prst="roundRect">
            <a:avLst>
              <a:gd name="adj" fmla="val 8356"/>
            </a:avLst>
          </a:prstGeom>
          <a:solidFill>
            <a:srgbClr val="FFFFFF"/>
          </a:solidFill>
          <a:ln w="6350">
            <a:solidFill>
              <a:srgbClr val="DCE2F2"/>
            </a:solidFill>
            <a:prstDash val="solid"/>
          </a:ln>
        </p:spPr>
        <p:txBody>
          <a:bodyPr wrap="square" lIns="104361" tIns="91661" rIns="15165" bIns="91661" rtlCol="0" anchor="t">
            <a:normAutofit/>
          </a:bodyPr>
          <a:lstStyle/>
          <a:p>
            <a:pPr marL="0" indent="0" algn="l">
              <a:lnSpc>
                <a:spcPts val="1560"/>
              </a:lnSpc>
              <a:buNone/>
            </a:pPr>
            <a:r>
              <a:rPr lang="en-US" sz="1200" i="1" dirty="0">
                <a:solidFill>
                  <a:srgbClr val="1B2A5E"/>
                </a:solidFill>
                <a:latin typeface="Nunito Sans" pitchFamily="34" charset="0"/>
                <a:ea typeface="Nunito Sans" pitchFamily="34" charset="-122"/>
                <a:cs typeface="Nunito Sans" pitchFamily="34" charset="-120"/>
              </a:rPr>
              <a:t>“Improve model accuracy and prediction when it changes with the environment.”</a:t>
            </a:r>
            <a:endParaRPr lang="en-US" sz="1200" dirty="0"/>
          </a:p>
        </p:txBody>
      </p:sp>
      <p:sp>
        <p:nvSpPr>
          <p:cNvPr id="23" name="Shape 20"/>
          <p:cNvSpPr/>
          <p:nvPr/>
        </p:nvSpPr>
        <p:spPr>
          <a:xfrm>
            <a:off x="5400675" y="2419350"/>
            <a:ext cx="3930650" cy="1025878"/>
          </a:xfrm>
          <a:prstGeom prst="roundRect">
            <a:avLst>
              <a:gd name="adj" fmla="val 8356"/>
            </a:avLst>
          </a:prstGeom>
          <a:solidFill>
            <a:srgbClr val="FFFFFF"/>
          </a:solidFill>
          <a:ln w="6350">
            <a:solidFill>
              <a:srgbClr val="DCE2F2"/>
            </a:solidFill>
            <a:prstDash val="solid"/>
          </a:ln>
        </p:spPr>
        <p:txBody>
          <a:bodyPr/>
          <a:lstStyle/>
          <a:p>
            <a:endParaRPr lang="en-US"/>
          </a:p>
        </p:txBody>
      </p:sp>
      <p:sp>
        <p:nvSpPr>
          <p:cNvPr id="24" name="Text 21"/>
          <p:cNvSpPr/>
          <p:nvPr/>
        </p:nvSpPr>
        <p:spPr>
          <a:xfrm>
            <a:off x="5628951" y="2536120"/>
            <a:ext cx="3675436" cy="817739"/>
          </a:xfrm>
          <a:prstGeom prst="rect">
            <a:avLst/>
          </a:prstGeom>
          <a:noFill/>
          <a:ln/>
        </p:spPr>
        <p:txBody>
          <a:bodyPr wrap="square" lIns="0" tIns="0" rIns="0" bIns="0" rtlCol="0" anchor="t">
            <a:normAutofit/>
          </a:bodyPr>
          <a:lstStyle/>
          <a:p>
            <a:pPr marL="155194" indent="-155194">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Fine-tuned on real Hikvision webcam footage — AUC improved from 0.41 → 0.85</a:t>
            </a:r>
          </a:p>
          <a:p>
            <a:pPr marL="155194" indent="-155194">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5-step augmentation + hip-</a:t>
            </a:r>
            <a:r>
              <a:rPr lang="en-US" sz="1200" dirty="0" err="1">
                <a:solidFill>
                  <a:srgbClr val="1B2A5E"/>
                </a:solidFill>
                <a:latin typeface="Nunito Sans" pitchFamily="34" charset="0"/>
                <a:ea typeface="Nunito Sans" pitchFamily="34" charset="-122"/>
                <a:cs typeface="Nunito Sans" pitchFamily="34" charset="-120"/>
              </a:rPr>
              <a:t>centerd</a:t>
            </a:r>
            <a:r>
              <a:rPr lang="en-US" sz="1200" dirty="0">
                <a:solidFill>
                  <a:srgbClr val="1B2A5E"/>
                </a:solidFill>
                <a:latin typeface="Nunito Sans" pitchFamily="34" charset="0"/>
                <a:ea typeface="Nunito Sans" pitchFamily="34" charset="-122"/>
                <a:cs typeface="Nunito Sans" pitchFamily="34" charset="-120"/>
              </a:rPr>
              <a:t> normalization ensures robustness across environments</a:t>
            </a:r>
            <a:endParaRPr lang="en-US" sz="1200" dirty="0"/>
          </a:p>
        </p:txBody>
      </p:sp>
      <p:sp>
        <p:nvSpPr>
          <p:cNvPr id="25" name="Shape 22"/>
          <p:cNvSpPr/>
          <p:nvPr/>
        </p:nvSpPr>
        <p:spPr>
          <a:xfrm>
            <a:off x="9420225" y="2425700"/>
            <a:ext cx="2152650" cy="1013178"/>
          </a:xfrm>
          <a:prstGeom prst="roundRect">
            <a:avLst>
              <a:gd name="adj" fmla="val 7834"/>
            </a:avLst>
          </a:prstGeom>
          <a:solidFill>
            <a:srgbClr val="FFF7EC"/>
          </a:solidFill>
          <a:ln w="19050">
            <a:solidFill>
              <a:srgbClr val="B45F06"/>
            </a:solidFill>
            <a:prstDash val="dash"/>
          </a:ln>
        </p:spPr>
        <p:txBody>
          <a:bodyPr/>
          <a:lstStyle/>
          <a:p>
            <a:endParaRPr lang="en-US"/>
          </a:p>
        </p:txBody>
      </p:sp>
      <p:pic>
        <p:nvPicPr>
          <p:cNvPr id="26" name="Image 1" descr="Chart"/>
          <p:cNvPicPr>
            <a:picLocks noChangeAspect="1"/>
          </p:cNvPicPr>
          <p:nvPr/>
        </p:nvPicPr>
        <p:blipFill>
          <a:blip r:embed="rId4"/>
          <a:srcRect/>
          <a:stretch/>
        </p:blipFill>
        <p:spPr>
          <a:xfrm>
            <a:off x="10356850" y="2660474"/>
            <a:ext cx="279400" cy="279400"/>
          </a:xfrm>
          <a:prstGeom prst="rect">
            <a:avLst/>
          </a:prstGeom>
        </p:spPr>
      </p:pic>
      <p:sp>
        <p:nvSpPr>
          <p:cNvPr id="27" name="Text 23"/>
          <p:cNvSpPr/>
          <p:nvPr/>
        </p:nvSpPr>
        <p:spPr>
          <a:xfrm>
            <a:off x="9452927" y="2990674"/>
            <a:ext cx="2087245" cy="23874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6B3803"/>
                </a:solidFill>
                <a:latin typeface="Nunito Sans" pitchFamily="34" charset="0"/>
                <a:ea typeface="Nunito Sans" pitchFamily="34" charset="-122"/>
                <a:cs typeface="Nunito Sans" pitchFamily="34" charset="-120"/>
              </a:rPr>
              <a:t>Add SENTRY screenshot</a:t>
            </a:r>
            <a:endParaRPr lang="en-US" sz="1200" dirty="0"/>
          </a:p>
        </p:txBody>
      </p:sp>
      <p:sp>
        <p:nvSpPr>
          <p:cNvPr id="28" name="Shape 24"/>
          <p:cNvSpPr/>
          <p:nvPr/>
        </p:nvSpPr>
        <p:spPr>
          <a:xfrm>
            <a:off x="609600" y="3524603"/>
            <a:ext cx="1282700" cy="834143"/>
          </a:xfrm>
          <a:prstGeom prst="roundRect">
            <a:avLst>
              <a:gd name="adj" fmla="val 10658"/>
            </a:avLst>
          </a:prstGeom>
          <a:solidFill>
            <a:srgbClr val="DDF6F3"/>
          </a:solidFill>
          <a:ln/>
        </p:spPr>
        <p:txBody>
          <a:bodyPr/>
          <a:lstStyle/>
          <a:p>
            <a:endParaRPr lang="en-US"/>
          </a:p>
        </p:txBody>
      </p:sp>
      <p:sp>
        <p:nvSpPr>
          <p:cNvPr id="29" name="Shape 25"/>
          <p:cNvSpPr/>
          <p:nvPr/>
        </p:nvSpPr>
        <p:spPr>
          <a:xfrm>
            <a:off x="609600" y="3524603"/>
            <a:ext cx="1282700" cy="834143"/>
          </a:xfrm>
          <a:custGeom>
            <a:avLst/>
            <a:gdLst/>
            <a:ahLst/>
            <a:cxnLst/>
            <a:rect l="l" t="t" r="r" b="b"/>
            <a:pathLst>
              <a:path w="1397000" h="834143">
                <a:moveTo>
                  <a:pt x="88900" y="834143"/>
                </a:moveTo>
                <a:lnTo>
                  <a:pt x="88900" y="834143"/>
                </a:lnTo>
                <a:arcTo wR="88900" hR="88900" stAng="5400000" swAng="5400000"/>
                <a:lnTo>
                  <a:pt x="0" y="88900"/>
                </a:lnTo>
                <a:arcTo wR="88900" hR="88900" stAng="10800000" swAng="5400000"/>
                <a:lnTo>
                  <a:pt x="88900" y="0"/>
                </a:lnTo>
                <a:arcTo wR="38100" hR="88900" stAng="16200000" swAng="-5400000"/>
                <a:lnTo>
                  <a:pt x="50800" y="745243"/>
                </a:lnTo>
                <a:arcTo wR="38100" hR="88900" stAng="10800000" swAng="-5400000"/>
                <a:close/>
              </a:path>
            </a:pathLst>
          </a:custGeom>
          <a:solidFill>
            <a:srgbClr val="0A7F7C"/>
          </a:solidFill>
          <a:ln/>
        </p:spPr>
        <p:txBody>
          <a:bodyPr/>
          <a:lstStyle/>
          <a:p>
            <a:endParaRPr lang="en-US"/>
          </a:p>
        </p:txBody>
      </p:sp>
      <p:sp>
        <p:nvSpPr>
          <p:cNvPr id="30" name="Text 26"/>
          <p:cNvSpPr/>
          <p:nvPr/>
        </p:nvSpPr>
        <p:spPr>
          <a:xfrm>
            <a:off x="774700" y="3638903"/>
            <a:ext cx="107280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B4D"/>
                </a:solidFill>
                <a:latin typeface="Nunito Sans" pitchFamily="34" charset="0"/>
                <a:ea typeface="Nunito Sans" pitchFamily="34" charset="-122"/>
                <a:cs typeface="Nunito Sans" pitchFamily="34" charset="-120"/>
              </a:rPr>
              <a:t>IT22294098</a:t>
            </a:r>
            <a:endParaRPr lang="en-US" sz="1300" dirty="0"/>
          </a:p>
        </p:txBody>
      </p:sp>
      <p:sp>
        <p:nvSpPr>
          <p:cNvPr id="31" name="Text 27"/>
          <p:cNvSpPr/>
          <p:nvPr/>
        </p:nvSpPr>
        <p:spPr>
          <a:xfrm>
            <a:off x="774700" y="3933472"/>
            <a:ext cx="1026160" cy="264142"/>
          </a:xfrm>
          <a:custGeom>
            <a:avLst/>
            <a:gdLst/>
            <a:ahLst/>
            <a:cxnLst/>
            <a:rect l="l" t="t" r="r" b="b"/>
            <a:pathLst>
              <a:path w="1117600" h="264142">
                <a:moveTo>
                  <a:pt x="132071" y="0"/>
                </a:moveTo>
                <a:lnTo>
                  <a:pt x="985529" y="0"/>
                </a:lnTo>
                <a:arcTo wR="132071" hR="132071" stAng="16200000" swAng="5400000"/>
                <a:lnTo>
                  <a:pt x="1117600" y="132071"/>
                </a:lnTo>
                <a:arcTo wR="132071" hR="132071" stAng="0" swAng="5400000"/>
                <a:lnTo>
                  <a:pt x="132071" y="264142"/>
                </a:lnTo>
                <a:arcTo wR="132071" hR="132071" stAng="5400000" swAng="5400000"/>
                <a:lnTo>
                  <a:pt x="0" y="132071"/>
                </a:lnTo>
                <a:arcTo wR="132071" hR="132071" stAng="10800000" swAng="5400000"/>
                <a:close/>
              </a:path>
            </a:pathLst>
          </a:custGeom>
          <a:solidFill>
            <a:srgbClr val="0A7F7C"/>
          </a:solidFill>
          <a:ln/>
        </p:spPr>
        <p:txBody>
          <a:bodyPr wrap="square" lIns="101600" tIns="25400" rIns="50800" bIns="0" rtlCol="0" anchor="t">
            <a:norm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SCRIBE</a:t>
            </a:r>
            <a:endParaRPr lang="en-US" sz="1200" dirty="0"/>
          </a:p>
        </p:txBody>
      </p:sp>
      <p:sp>
        <p:nvSpPr>
          <p:cNvPr id="32" name="Text 28"/>
          <p:cNvSpPr/>
          <p:nvPr/>
        </p:nvSpPr>
        <p:spPr>
          <a:xfrm>
            <a:off x="2085975" y="3527778"/>
            <a:ext cx="3232150" cy="827793"/>
          </a:xfrm>
          <a:prstGeom prst="roundRect">
            <a:avLst>
              <a:gd name="adj" fmla="val 10356"/>
            </a:avLst>
          </a:prstGeom>
          <a:solidFill>
            <a:srgbClr val="FFFFFF"/>
          </a:solidFill>
          <a:ln w="6350">
            <a:solidFill>
              <a:srgbClr val="DCE2F2"/>
            </a:solidFill>
            <a:prstDash val="solid"/>
          </a:ln>
        </p:spPr>
        <p:txBody>
          <a:bodyPr wrap="square" lIns="104361" tIns="91661" rIns="15165" bIns="91661" rtlCol="0" anchor="t">
            <a:normAutofit/>
          </a:bodyPr>
          <a:lstStyle/>
          <a:p>
            <a:pPr marL="0" indent="0" algn="l">
              <a:lnSpc>
                <a:spcPts val="1560"/>
              </a:lnSpc>
              <a:buNone/>
            </a:pPr>
            <a:r>
              <a:rPr lang="en-US" sz="1200" i="1" dirty="0">
                <a:solidFill>
                  <a:srgbClr val="1B2A5E"/>
                </a:solidFill>
                <a:latin typeface="Nunito Sans" pitchFamily="34" charset="0"/>
                <a:ea typeface="Nunito Sans" pitchFamily="34" charset="-122"/>
                <a:cs typeface="Nunito Sans" pitchFamily="34" charset="-120"/>
              </a:rPr>
              <a:t>“No comments.”</a:t>
            </a:r>
            <a:endParaRPr lang="en-US" sz="1200" dirty="0"/>
          </a:p>
        </p:txBody>
      </p:sp>
      <p:sp>
        <p:nvSpPr>
          <p:cNvPr id="33" name="Shape 29"/>
          <p:cNvSpPr/>
          <p:nvPr/>
        </p:nvSpPr>
        <p:spPr>
          <a:xfrm>
            <a:off x="5400675" y="3527778"/>
            <a:ext cx="3930650" cy="827793"/>
          </a:xfrm>
          <a:prstGeom prst="roundRect">
            <a:avLst>
              <a:gd name="adj" fmla="val 10356"/>
            </a:avLst>
          </a:prstGeom>
          <a:solidFill>
            <a:srgbClr val="FFFFFF"/>
          </a:solidFill>
          <a:ln w="6350">
            <a:solidFill>
              <a:srgbClr val="DCE2F2"/>
            </a:solidFill>
            <a:prstDash val="solid"/>
          </a:ln>
        </p:spPr>
        <p:txBody>
          <a:bodyPr/>
          <a:lstStyle/>
          <a:p>
            <a:endParaRPr lang="en-US"/>
          </a:p>
        </p:txBody>
      </p:sp>
      <p:sp>
        <p:nvSpPr>
          <p:cNvPr id="34" name="Text 30"/>
          <p:cNvSpPr/>
          <p:nvPr/>
        </p:nvSpPr>
        <p:spPr>
          <a:xfrm>
            <a:off x="5628951" y="3644547"/>
            <a:ext cx="3675436" cy="619654"/>
          </a:xfrm>
          <a:prstGeom prst="rect">
            <a:avLst/>
          </a:prstGeom>
          <a:noFill/>
          <a:ln/>
        </p:spPr>
        <p:txBody>
          <a:bodyPr wrap="square" lIns="0" tIns="0" rIns="0" bIns="0" rtlCol="0" anchor="t">
            <a:normAutofit/>
          </a:bodyPr>
          <a:lstStyle/>
          <a:p>
            <a:pPr marL="155194" indent="-155194">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Handles long recordings with more than one observation</a:t>
            </a:r>
          </a:p>
        </p:txBody>
      </p:sp>
      <p:sp>
        <p:nvSpPr>
          <p:cNvPr id="35" name="Shape 31"/>
          <p:cNvSpPr/>
          <p:nvPr/>
        </p:nvSpPr>
        <p:spPr>
          <a:xfrm>
            <a:off x="9420225" y="3534128"/>
            <a:ext cx="2152650" cy="815093"/>
          </a:xfrm>
          <a:prstGeom prst="roundRect">
            <a:avLst>
              <a:gd name="adj" fmla="val 9738"/>
            </a:avLst>
          </a:prstGeom>
          <a:solidFill>
            <a:srgbClr val="EFFAF9"/>
          </a:solidFill>
          <a:ln w="19050">
            <a:solidFill>
              <a:srgbClr val="0A7F7C"/>
            </a:solidFill>
            <a:prstDash val="dash"/>
          </a:ln>
        </p:spPr>
        <p:txBody>
          <a:bodyPr/>
          <a:lstStyle/>
          <a:p>
            <a:endParaRPr lang="en-US"/>
          </a:p>
        </p:txBody>
      </p:sp>
      <p:pic>
        <p:nvPicPr>
          <p:cNvPr id="36" name="Image 2" descr="Chart"/>
          <p:cNvPicPr>
            <a:picLocks noChangeAspect="1"/>
          </p:cNvPicPr>
          <p:nvPr/>
        </p:nvPicPr>
        <p:blipFill>
          <a:blip r:embed="rId5"/>
          <a:srcRect/>
          <a:stretch/>
        </p:blipFill>
        <p:spPr>
          <a:xfrm>
            <a:off x="10356850" y="3669859"/>
            <a:ext cx="279400" cy="279400"/>
          </a:xfrm>
          <a:prstGeom prst="rect">
            <a:avLst/>
          </a:prstGeom>
        </p:spPr>
      </p:pic>
      <p:sp>
        <p:nvSpPr>
          <p:cNvPr id="38" name="Shape 33"/>
          <p:cNvSpPr/>
          <p:nvPr/>
        </p:nvSpPr>
        <p:spPr>
          <a:xfrm>
            <a:off x="609600" y="4434946"/>
            <a:ext cx="1282700" cy="1622954"/>
          </a:xfrm>
          <a:prstGeom prst="roundRect">
            <a:avLst>
              <a:gd name="adj" fmla="val 6364"/>
            </a:avLst>
          </a:prstGeom>
          <a:solidFill>
            <a:srgbClr val="ECE6FF"/>
          </a:solidFill>
          <a:ln/>
        </p:spPr>
        <p:txBody>
          <a:bodyPr/>
          <a:lstStyle/>
          <a:p>
            <a:endParaRPr lang="en-US"/>
          </a:p>
        </p:txBody>
      </p:sp>
      <p:sp>
        <p:nvSpPr>
          <p:cNvPr id="39" name="Shape 34"/>
          <p:cNvSpPr/>
          <p:nvPr/>
        </p:nvSpPr>
        <p:spPr>
          <a:xfrm>
            <a:off x="609600" y="4434946"/>
            <a:ext cx="1282700" cy="1622954"/>
          </a:xfrm>
          <a:custGeom>
            <a:avLst/>
            <a:gdLst/>
            <a:ahLst/>
            <a:cxnLst/>
            <a:rect l="l" t="t" r="r" b="b"/>
            <a:pathLst>
              <a:path w="1397000" h="1622954">
                <a:moveTo>
                  <a:pt x="88900" y="1622954"/>
                </a:moveTo>
                <a:lnTo>
                  <a:pt x="88900" y="1622954"/>
                </a:lnTo>
                <a:arcTo wR="88900" hR="88900" stAng="5400000" swAng="5400000"/>
                <a:lnTo>
                  <a:pt x="0" y="88900"/>
                </a:lnTo>
                <a:arcTo wR="88900" hR="88900" stAng="10800000" swAng="5400000"/>
                <a:lnTo>
                  <a:pt x="88900" y="0"/>
                </a:lnTo>
                <a:arcTo wR="38100" hR="88900" stAng="16200000" swAng="-5400000"/>
                <a:lnTo>
                  <a:pt x="50800" y="1534054"/>
                </a:lnTo>
                <a:arcTo wR="38100" hR="88900" stAng="10800000" swAng="-5400000"/>
                <a:close/>
              </a:path>
            </a:pathLst>
          </a:custGeom>
          <a:solidFill>
            <a:srgbClr val="6B46E0"/>
          </a:solidFill>
          <a:ln/>
        </p:spPr>
        <p:txBody>
          <a:bodyPr/>
          <a:lstStyle/>
          <a:p>
            <a:endParaRPr lang="en-US"/>
          </a:p>
        </p:txBody>
      </p:sp>
      <p:sp>
        <p:nvSpPr>
          <p:cNvPr id="40" name="Text 35"/>
          <p:cNvSpPr/>
          <p:nvPr/>
        </p:nvSpPr>
        <p:spPr>
          <a:xfrm>
            <a:off x="774700" y="4549246"/>
            <a:ext cx="107280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B4D"/>
                </a:solidFill>
                <a:latin typeface="Nunito Sans" pitchFamily="34" charset="0"/>
                <a:ea typeface="Nunito Sans" pitchFamily="34" charset="-122"/>
                <a:cs typeface="Nunito Sans" pitchFamily="34" charset="-120"/>
              </a:rPr>
              <a:t>IT22289384</a:t>
            </a:r>
            <a:endParaRPr lang="en-US" sz="1300" dirty="0"/>
          </a:p>
        </p:txBody>
      </p:sp>
      <p:sp>
        <p:nvSpPr>
          <p:cNvPr id="41" name="Text 36"/>
          <p:cNvSpPr/>
          <p:nvPr/>
        </p:nvSpPr>
        <p:spPr>
          <a:xfrm>
            <a:off x="774700" y="4843815"/>
            <a:ext cx="1026160" cy="264142"/>
          </a:xfrm>
          <a:custGeom>
            <a:avLst/>
            <a:gdLst/>
            <a:ahLst/>
            <a:cxnLst/>
            <a:rect l="l" t="t" r="r" b="b"/>
            <a:pathLst>
              <a:path w="1117600" h="264142">
                <a:moveTo>
                  <a:pt x="132071" y="0"/>
                </a:moveTo>
                <a:lnTo>
                  <a:pt x="985529" y="0"/>
                </a:lnTo>
                <a:arcTo wR="132071" hR="132071" stAng="16200000" swAng="5400000"/>
                <a:lnTo>
                  <a:pt x="1117600" y="132071"/>
                </a:lnTo>
                <a:arcTo wR="132071" hR="132071" stAng="0" swAng="5400000"/>
                <a:lnTo>
                  <a:pt x="132071" y="264142"/>
                </a:lnTo>
                <a:arcTo wR="132071" hR="132071" stAng="5400000" swAng="5400000"/>
                <a:lnTo>
                  <a:pt x="0" y="132071"/>
                </a:lnTo>
                <a:arcTo wR="132071" hR="132071" stAng="10800000" swAng="5400000"/>
                <a:close/>
              </a:path>
            </a:pathLst>
          </a:custGeom>
          <a:solidFill>
            <a:srgbClr val="6B46E0"/>
          </a:solidFill>
          <a:ln/>
        </p:spPr>
        <p:txBody>
          <a:bodyPr wrap="square" lIns="101600" tIns="25400" rIns="50800" bIns="0" rtlCol="0" anchor="t">
            <a:norm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GLOSS</a:t>
            </a:r>
            <a:endParaRPr lang="en-US" sz="1200" dirty="0"/>
          </a:p>
        </p:txBody>
      </p:sp>
      <p:sp>
        <p:nvSpPr>
          <p:cNvPr id="42" name="Shape 37"/>
          <p:cNvSpPr/>
          <p:nvPr/>
        </p:nvSpPr>
        <p:spPr>
          <a:xfrm>
            <a:off x="2085975" y="4438121"/>
            <a:ext cx="3232150" cy="1616604"/>
          </a:xfrm>
          <a:prstGeom prst="roundRect">
            <a:avLst>
              <a:gd name="adj" fmla="val 5303"/>
            </a:avLst>
          </a:prstGeom>
          <a:solidFill>
            <a:srgbClr val="FFFFFF"/>
          </a:solidFill>
          <a:ln w="6350">
            <a:solidFill>
              <a:srgbClr val="DCE2F2"/>
            </a:solidFill>
            <a:prstDash val="solid"/>
          </a:ln>
        </p:spPr>
        <p:txBody>
          <a:bodyPr/>
          <a:lstStyle/>
          <a:p>
            <a:endParaRPr lang="en-US"/>
          </a:p>
        </p:txBody>
      </p:sp>
      <p:sp>
        <p:nvSpPr>
          <p:cNvPr id="43" name="Text 38"/>
          <p:cNvSpPr/>
          <p:nvPr/>
        </p:nvSpPr>
        <p:spPr>
          <a:xfrm>
            <a:off x="2215444" y="4554890"/>
            <a:ext cx="3062407" cy="1408465"/>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A5E"/>
                </a:solidFill>
                <a:latin typeface="Nunito Sans" pitchFamily="34" charset="0"/>
                <a:ea typeface="Nunito Sans" pitchFamily="34" charset="-122"/>
                <a:cs typeface="Nunito Sans" pitchFamily="34" charset="-120"/>
              </a:rPr>
              <a:t>“Evaluate properly whether caregivers remember sign language: (1) ask them to perform a sign for a given word or sentence; (2) show a sign and check they can identify its meaning. Show how personalisation happens from person to person.”</a:t>
            </a:r>
            <a:endParaRPr lang="en-US" sz="1200" dirty="0"/>
          </a:p>
        </p:txBody>
      </p:sp>
      <p:sp>
        <p:nvSpPr>
          <p:cNvPr id="44" name="Shape 39"/>
          <p:cNvSpPr/>
          <p:nvPr/>
        </p:nvSpPr>
        <p:spPr>
          <a:xfrm>
            <a:off x="5400675" y="4438121"/>
            <a:ext cx="3930650" cy="1616604"/>
          </a:xfrm>
          <a:prstGeom prst="roundRect">
            <a:avLst>
              <a:gd name="adj" fmla="val 5303"/>
            </a:avLst>
          </a:prstGeom>
          <a:solidFill>
            <a:srgbClr val="FFFFFF"/>
          </a:solidFill>
          <a:ln w="6350">
            <a:solidFill>
              <a:srgbClr val="DCE2F2"/>
            </a:solidFill>
            <a:prstDash val="solid"/>
          </a:ln>
        </p:spPr>
        <p:txBody>
          <a:bodyPr/>
          <a:lstStyle/>
          <a:p>
            <a:endParaRPr lang="en-US"/>
          </a:p>
        </p:txBody>
      </p:sp>
      <p:sp>
        <p:nvSpPr>
          <p:cNvPr id="45" name="Text 40"/>
          <p:cNvSpPr/>
          <p:nvPr/>
        </p:nvSpPr>
        <p:spPr>
          <a:xfrm>
            <a:off x="5628951" y="4554890"/>
            <a:ext cx="3675436" cy="1213908"/>
          </a:xfrm>
          <a:prstGeom prst="rect">
            <a:avLst/>
          </a:prstGeom>
          <a:noFill/>
          <a:ln/>
        </p:spPr>
        <p:txBody>
          <a:bodyPr wrap="square" lIns="0" tIns="0" rIns="0" bIns="0" rtlCol="0" anchor="t">
            <a:normAutofit fontScale="92500"/>
          </a:bodyPr>
          <a:lstStyle/>
          <a:p>
            <a:pPr marL="155194" indent="-155194" algn="l">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Perform: webcam recognition of 59 care signs plus a DTW execution score</a:t>
            </a:r>
            <a:endParaRPr lang="en-US" sz="1200" dirty="0"/>
          </a:p>
          <a:p>
            <a:pPr marL="155194" indent="-155194" algn="l">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Identify: quiz with a 2D sign guide and reference video</a:t>
            </a:r>
            <a:endParaRPr lang="en-US" sz="1200" dirty="0"/>
          </a:p>
          <a:p>
            <a:pPr marL="155194" indent="-155194" algn="l">
              <a:lnSpc>
                <a:spcPts val="1560"/>
              </a:lnSpc>
              <a:buSzPct val="100000"/>
              <a:buChar char="•"/>
            </a:pPr>
            <a:r>
              <a:rPr lang="en-US" sz="1200" dirty="0">
                <a:solidFill>
                  <a:srgbClr val="1B2A5E"/>
                </a:solidFill>
                <a:latin typeface="Nunito Sans" pitchFamily="34" charset="0"/>
                <a:ea typeface="Nunito Sans" pitchFamily="34" charset="-122"/>
                <a:cs typeface="Nunito Sans" pitchFamily="34" charset="-120"/>
              </a:rPr>
              <a:t>Personalised: mastery per sign, repeat until mastered, next-lesson pick</a:t>
            </a:r>
            <a:endParaRPr lang="en-US" sz="1200" dirty="0"/>
          </a:p>
        </p:txBody>
      </p:sp>
      <p:sp>
        <p:nvSpPr>
          <p:cNvPr id="46" name="Shape 41"/>
          <p:cNvSpPr/>
          <p:nvPr/>
        </p:nvSpPr>
        <p:spPr>
          <a:xfrm>
            <a:off x="9420225" y="4444471"/>
            <a:ext cx="2152650" cy="1603904"/>
          </a:xfrm>
          <a:prstGeom prst="roundRect">
            <a:avLst>
              <a:gd name="adj" fmla="val 4949"/>
            </a:avLst>
          </a:prstGeom>
          <a:solidFill>
            <a:srgbClr val="F6F2FF"/>
          </a:solidFill>
          <a:ln w="19050">
            <a:solidFill>
              <a:srgbClr val="6B46E0"/>
            </a:solidFill>
            <a:prstDash val="dash"/>
          </a:ln>
        </p:spPr>
        <p:txBody>
          <a:bodyPr/>
          <a:lstStyle/>
          <a:p>
            <a:endParaRPr lang="en-US"/>
          </a:p>
        </p:txBody>
      </p:sp>
      <p:pic>
        <p:nvPicPr>
          <p:cNvPr id="47" name="Image 3" descr="Chart"/>
          <p:cNvPicPr>
            <a:picLocks noChangeAspect="1"/>
          </p:cNvPicPr>
          <p:nvPr/>
        </p:nvPicPr>
        <p:blipFill>
          <a:blip r:embed="rId6"/>
          <a:srcRect/>
          <a:stretch/>
        </p:blipFill>
        <p:spPr>
          <a:xfrm>
            <a:off x="10356850" y="4974608"/>
            <a:ext cx="279400" cy="279400"/>
          </a:xfrm>
          <a:prstGeom prst="rect">
            <a:avLst/>
          </a:prstGeom>
        </p:spPr>
      </p:pic>
      <p:sp>
        <p:nvSpPr>
          <p:cNvPr id="48" name="Text 42"/>
          <p:cNvSpPr/>
          <p:nvPr/>
        </p:nvSpPr>
        <p:spPr>
          <a:xfrm>
            <a:off x="9506479" y="5304808"/>
            <a:ext cx="1980142" cy="238742"/>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3B2290"/>
                </a:solidFill>
                <a:latin typeface="Nunito Sans" pitchFamily="34" charset="0"/>
                <a:ea typeface="Nunito Sans" pitchFamily="34" charset="-122"/>
                <a:cs typeface="Nunito Sans" pitchFamily="34" charset="-120"/>
              </a:rPr>
              <a:t>Add GLOSS screenshot</a:t>
            </a:r>
            <a:endParaRPr lang="en-US" sz="1200" dirty="0"/>
          </a:p>
        </p:txBody>
      </p:sp>
      <p:sp>
        <p:nvSpPr>
          <p:cNvPr id="49" name="Shape 43"/>
          <p:cNvSpPr/>
          <p:nvPr/>
        </p:nvSpPr>
        <p:spPr>
          <a:xfrm>
            <a:off x="0" y="6273800"/>
            <a:ext cx="12192000" cy="584200"/>
          </a:xfrm>
          <a:prstGeom prst="rect">
            <a:avLst/>
          </a:prstGeom>
          <a:solidFill>
            <a:srgbClr val="FFFFFF"/>
          </a:solidFill>
          <a:ln/>
        </p:spPr>
        <p:txBody>
          <a:bodyPr/>
          <a:lstStyle/>
          <a:p>
            <a:endParaRPr lang="en-US"/>
          </a:p>
        </p:txBody>
      </p:sp>
      <p:sp>
        <p:nvSpPr>
          <p:cNvPr id="50" name="Shape 44"/>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51" name="Image 4" descr="SLIIT Faculty of Computing logo"/>
          <p:cNvPicPr>
            <a:picLocks noChangeAspect="1"/>
          </p:cNvPicPr>
          <p:nvPr/>
        </p:nvPicPr>
        <p:blipFill>
          <a:blip r:embed="rId7"/>
          <a:srcRect t="-370" b="-370"/>
          <a:stretch/>
        </p:blipFill>
        <p:spPr>
          <a:xfrm>
            <a:off x="406400" y="6362700"/>
            <a:ext cx="2032000" cy="406400"/>
          </a:xfrm>
          <a:prstGeom prst="rect">
            <a:avLst/>
          </a:prstGeom>
        </p:spPr>
      </p:pic>
      <p:sp>
        <p:nvSpPr>
          <p:cNvPr id="52" name="Text 45"/>
          <p:cNvSpPr/>
          <p:nvPr/>
        </p:nvSpPr>
        <p:spPr>
          <a:xfrm>
            <a:off x="4133850" y="6408472"/>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53" name="Text 46"/>
          <p:cNvSpPr/>
          <p:nvPr/>
        </p:nvSpPr>
        <p:spPr>
          <a:xfrm>
            <a:off x="8384540" y="6449130"/>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2</a:t>
            </a:r>
            <a:endParaRPr lang="en-US" sz="1300" dirty="0"/>
          </a:p>
        </p:txBody>
      </p:sp>
      <p:pic>
        <p:nvPicPr>
          <p:cNvPr id="55" name="Picture 54">
            <a:extLst>
              <a:ext uri="{FF2B5EF4-FFF2-40B4-BE49-F238E27FC236}">
                <a16:creationId xmlns:a16="http://schemas.microsoft.com/office/drawing/2014/main" id="{6B19041F-955B-9806-0A72-D710D416B96C}"/>
              </a:ext>
            </a:extLst>
          </p:cNvPr>
          <p:cNvPicPr>
            <a:picLocks noChangeAspect="1"/>
          </p:cNvPicPr>
          <p:nvPr/>
        </p:nvPicPr>
        <p:blipFill>
          <a:blip r:embed="rId8"/>
          <a:stretch>
            <a:fillRect/>
          </a:stretch>
        </p:blipFill>
        <p:spPr>
          <a:xfrm>
            <a:off x="9483196" y="1400901"/>
            <a:ext cx="2002999" cy="805283"/>
          </a:xfrm>
          <a:prstGeom prst="rect">
            <a:avLst/>
          </a:prstGeom>
        </p:spPr>
      </p:pic>
      <p:pic>
        <p:nvPicPr>
          <p:cNvPr id="57" name="Picture 56">
            <a:extLst>
              <a:ext uri="{FF2B5EF4-FFF2-40B4-BE49-F238E27FC236}">
                <a16:creationId xmlns:a16="http://schemas.microsoft.com/office/drawing/2014/main" id="{AB1B6971-CB5F-7602-ADF6-5F5319F50FB5}"/>
              </a:ext>
            </a:extLst>
          </p:cNvPr>
          <p:cNvPicPr>
            <a:picLocks noChangeAspect="1"/>
          </p:cNvPicPr>
          <p:nvPr/>
        </p:nvPicPr>
        <p:blipFill>
          <a:blip r:embed="rId9"/>
          <a:stretch>
            <a:fillRect/>
          </a:stretch>
        </p:blipFill>
        <p:spPr>
          <a:xfrm>
            <a:off x="9506479" y="2469189"/>
            <a:ext cx="1930643" cy="884670"/>
          </a:xfrm>
          <a:prstGeom prst="rect">
            <a:avLst/>
          </a:prstGeom>
        </p:spPr>
      </p:pic>
      <p:pic>
        <p:nvPicPr>
          <p:cNvPr id="59" name="Picture 58">
            <a:extLst>
              <a:ext uri="{FF2B5EF4-FFF2-40B4-BE49-F238E27FC236}">
                <a16:creationId xmlns:a16="http://schemas.microsoft.com/office/drawing/2014/main" id="{D1A7682F-C57B-65B4-6547-3FF8D124D604}"/>
              </a:ext>
            </a:extLst>
          </p:cNvPr>
          <p:cNvPicPr>
            <a:picLocks noChangeAspect="1"/>
          </p:cNvPicPr>
          <p:nvPr/>
        </p:nvPicPr>
        <p:blipFill>
          <a:blip r:embed="rId10"/>
          <a:stretch>
            <a:fillRect/>
          </a:stretch>
        </p:blipFill>
        <p:spPr>
          <a:xfrm>
            <a:off x="9799178" y="3603797"/>
            <a:ext cx="1346342" cy="690924"/>
          </a:xfrm>
          <a:prstGeom prst="rect">
            <a:avLst/>
          </a:prstGeom>
        </p:spPr>
      </p:pic>
      <p:pic>
        <p:nvPicPr>
          <p:cNvPr id="61" name="Picture 60">
            <a:extLst>
              <a:ext uri="{FF2B5EF4-FFF2-40B4-BE49-F238E27FC236}">
                <a16:creationId xmlns:a16="http://schemas.microsoft.com/office/drawing/2014/main" id="{A7C6B70C-ED1F-B755-90B9-E68174DE8D21}"/>
              </a:ext>
            </a:extLst>
          </p:cNvPr>
          <p:cNvPicPr>
            <a:picLocks noChangeAspect="1"/>
          </p:cNvPicPr>
          <p:nvPr/>
        </p:nvPicPr>
        <p:blipFill>
          <a:blip r:embed="rId11"/>
          <a:stretch>
            <a:fillRect/>
          </a:stretch>
        </p:blipFill>
        <p:spPr>
          <a:xfrm>
            <a:off x="9550151" y="4720514"/>
            <a:ext cx="1946630" cy="10447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EEFB"/>
        </a:solidFill>
        <a:effectLst/>
      </p:bgPr>
    </p:bg>
    <p:spTree>
      <p:nvGrpSpPr>
        <p:cNvPr id="1" name=""/>
        <p:cNvGrpSpPr/>
        <p:nvPr/>
      </p:nvGrpSpPr>
      <p:grpSpPr>
        <a:xfrm>
          <a:off x="0" y="0"/>
          <a:ext cx="0" cy="0"/>
          <a:chOff x="0" y="0"/>
          <a:chExt cx="0" cy="0"/>
        </a:xfrm>
      </p:grpSpPr>
      <p:sp>
        <p:nvSpPr>
          <p:cNvPr id="2" name="Shape 0"/>
          <p:cNvSpPr/>
          <p:nvPr/>
        </p:nvSpPr>
        <p:spPr>
          <a:xfrm>
            <a:off x="609600" y="254000"/>
            <a:ext cx="6096000" cy="2407532"/>
          </a:xfrm>
          <a:prstGeom prst="roundRect">
            <a:avLst>
              <a:gd name="adj" fmla="val 5803"/>
            </a:avLst>
          </a:prstGeom>
          <a:gradFill rotWithShape="1">
            <a:gsLst>
              <a:gs pos="0">
                <a:srgbClr val="0E1B4D"/>
              </a:gs>
              <a:gs pos="100000">
                <a:srgbClr val="23318A"/>
              </a:gs>
            </a:gsLst>
            <a:lin ang="2700000" scaled="0"/>
          </a:gradFill>
          <a:ln/>
        </p:spPr>
        <p:txBody>
          <a:bodyPr/>
          <a:lstStyle/>
          <a:p>
            <a:endParaRPr lang="en-US"/>
          </a:p>
        </p:txBody>
      </p:sp>
      <p:sp>
        <p:nvSpPr>
          <p:cNvPr id="3" name="Text 1"/>
          <p:cNvSpPr/>
          <p:nvPr/>
        </p:nvSpPr>
        <p:spPr>
          <a:xfrm>
            <a:off x="800100" y="419100"/>
            <a:ext cx="5886450"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FFC247"/>
                </a:solidFill>
                <a:latin typeface="Rubik" pitchFamily="34" charset="0"/>
                <a:ea typeface="Rubik" pitchFamily="34" charset="-122"/>
                <a:cs typeface="Rubik" pitchFamily="34" charset="-120"/>
              </a:rPr>
              <a:t>Problem in Brief</a:t>
            </a:r>
            <a:endParaRPr lang="en-US" sz="2200" dirty="0"/>
          </a:p>
        </p:txBody>
      </p:sp>
      <p:sp>
        <p:nvSpPr>
          <p:cNvPr id="4" name="Text 2"/>
          <p:cNvSpPr/>
          <p:nvPr/>
        </p:nvSpPr>
        <p:spPr>
          <a:xfrm>
            <a:off x="800100" y="829292"/>
            <a:ext cx="5886450"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3E8FF"/>
                </a:solidFill>
                <a:latin typeface="Nunito Sans" pitchFamily="34" charset="0"/>
                <a:ea typeface="Nunito Sans" pitchFamily="34" charset="-122"/>
                <a:cs typeface="Nunito Sans" pitchFamily="34" charset="-120"/>
              </a:rPr>
              <a:t>Caregivers carry strain while keeping residents safe, documenting care and communicating, with support split across 4 separate tools.</a:t>
            </a:r>
            <a:endParaRPr lang="en-US" sz="1300" dirty="0"/>
          </a:p>
        </p:txBody>
      </p:sp>
      <p:sp>
        <p:nvSpPr>
          <p:cNvPr id="5" name="Shape 3"/>
          <p:cNvSpPr/>
          <p:nvPr/>
        </p:nvSpPr>
        <p:spPr>
          <a:xfrm>
            <a:off x="800100" y="1394267"/>
            <a:ext cx="1371600" cy="1102166"/>
          </a:xfrm>
          <a:prstGeom prst="roundRect">
            <a:avLst>
              <a:gd name="adj" fmla="val 9218"/>
            </a:avLst>
          </a:prstGeom>
          <a:solidFill>
            <a:srgbClr val="FFFFFF">
              <a:alpha val="12000"/>
            </a:srgbClr>
          </a:solidFill>
          <a:ln/>
        </p:spPr>
        <p:txBody>
          <a:bodyPr/>
          <a:lstStyle/>
          <a:p>
            <a:endParaRPr lang="en-US"/>
          </a:p>
        </p:txBody>
      </p:sp>
      <p:sp>
        <p:nvSpPr>
          <p:cNvPr id="6" name="Text 4"/>
          <p:cNvSpPr/>
          <p:nvPr/>
        </p:nvSpPr>
        <p:spPr>
          <a:xfrm>
            <a:off x="901700" y="1483167"/>
            <a:ext cx="1219200"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F8A9B"/>
                </a:solidFill>
                <a:latin typeface="Rubik" pitchFamily="34" charset="0"/>
                <a:ea typeface="Rubik" pitchFamily="34" charset="-122"/>
                <a:cs typeface="Rubik" pitchFamily="34" charset="-120"/>
              </a:rPr>
              <a:t>86.1%</a:t>
            </a:r>
            <a:endParaRPr lang="en-US" sz="2600" dirty="0"/>
          </a:p>
        </p:txBody>
      </p:sp>
      <p:sp>
        <p:nvSpPr>
          <p:cNvPr id="7" name="Text 5"/>
          <p:cNvSpPr/>
          <p:nvPr/>
        </p:nvSpPr>
        <p:spPr>
          <a:xfrm>
            <a:off x="901700" y="1859051"/>
            <a:ext cx="1219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want to learn sign language</a:t>
            </a:r>
            <a:endParaRPr lang="en-US" sz="1200" dirty="0"/>
          </a:p>
        </p:txBody>
      </p:sp>
      <p:sp>
        <p:nvSpPr>
          <p:cNvPr id="8" name="Shape 6"/>
          <p:cNvSpPr/>
          <p:nvPr/>
        </p:nvSpPr>
        <p:spPr>
          <a:xfrm>
            <a:off x="2247900" y="1394267"/>
            <a:ext cx="1371600" cy="1102166"/>
          </a:xfrm>
          <a:prstGeom prst="roundRect">
            <a:avLst>
              <a:gd name="adj" fmla="val 9218"/>
            </a:avLst>
          </a:prstGeom>
          <a:solidFill>
            <a:srgbClr val="FFFFFF">
              <a:alpha val="12000"/>
            </a:srgbClr>
          </a:solidFill>
          <a:ln/>
        </p:spPr>
        <p:txBody>
          <a:bodyPr/>
          <a:lstStyle/>
          <a:p>
            <a:endParaRPr lang="en-US"/>
          </a:p>
        </p:txBody>
      </p:sp>
      <p:sp>
        <p:nvSpPr>
          <p:cNvPr id="9" name="Text 7"/>
          <p:cNvSpPr/>
          <p:nvPr/>
        </p:nvSpPr>
        <p:spPr>
          <a:xfrm>
            <a:off x="2349500" y="1483167"/>
            <a:ext cx="1219200"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FFB547"/>
                </a:solidFill>
                <a:latin typeface="Rubik" pitchFamily="34" charset="0"/>
                <a:ea typeface="Rubik" pitchFamily="34" charset="-122"/>
                <a:cs typeface="Rubik" pitchFamily="34" charset="-120"/>
              </a:rPr>
              <a:t>6.3%</a:t>
            </a:r>
            <a:endParaRPr lang="en-US" sz="2600" dirty="0"/>
          </a:p>
        </p:txBody>
      </p:sp>
      <p:sp>
        <p:nvSpPr>
          <p:cNvPr id="10" name="Text 8"/>
          <p:cNvSpPr/>
          <p:nvPr/>
        </p:nvSpPr>
        <p:spPr>
          <a:xfrm>
            <a:off x="2349500" y="1859051"/>
            <a:ext cx="1219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are formally trained</a:t>
            </a:r>
            <a:endParaRPr lang="en-US" sz="1200" dirty="0"/>
          </a:p>
        </p:txBody>
      </p:sp>
      <p:sp>
        <p:nvSpPr>
          <p:cNvPr id="11" name="Shape 9"/>
          <p:cNvSpPr/>
          <p:nvPr/>
        </p:nvSpPr>
        <p:spPr>
          <a:xfrm>
            <a:off x="3695700" y="1394267"/>
            <a:ext cx="1371600" cy="1102166"/>
          </a:xfrm>
          <a:prstGeom prst="roundRect">
            <a:avLst>
              <a:gd name="adj" fmla="val 9218"/>
            </a:avLst>
          </a:prstGeom>
          <a:solidFill>
            <a:srgbClr val="FFFFFF">
              <a:alpha val="12000"/>
            </a:srgbClr>
          </a:solidFill>
          <a:ln/>
        </p:spPr>
        <p:txBody>
          <a:bodyPr/>
          <a:lstStyle/>
          <a:p>
            <a:endParaRPr lang="en-US"/>
          </a:p>
        </p:txBody>
      </p:sp>
      <p:sp>
        <p:nvSpPr>
          <p:cNvPr id="12" name="Text 10"/>
          <p:cNvSpPr/>
          <p:nvPr/>
        </p:nvSpPr>
        <p:spPr>
          <a:xfrm>
            <a:off x="3797300" y="1483167"/>
            <a:ext cx="1219200"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4FE0D2"/>
                </a:solidFill>
                <a:latin typeface="Rubik" pitchFamily="34" charset="0"/>
                <a:ea typeface="Rubik" pitchFamily="34" charset="-122"/>
                <a:cs typeface="Rubik" pitchFamily="34" charset="-120"/>
              </a:rPr>
              <a:t>4</a:t>
            </a:r>
            <a:endParaRPr lang="en-US" sz="2600" dirty="0"/>
          </a:p>
        </p:txBody>
      </p:sp>
      <p:sp>
        <p:nvSpPr>
          <p:cNvPr id="13" name="Text 11"/>
          <p:cNvSpPr/>
          <p:nvPr/>
        </p:nvSpPr>
        <p:spPr>
          <a:xfrm>
            <a:off x="3797300" y="1859051"/>
            <a:ext cx="1219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separate logins and dashboards</a:t>
            </a:r>
            <a:endParaRPr lang="en-US" sz="1200" dirty="0"/>
          </a:p>
        </p:txBody>
      </p:sp>
      <p:sp>
        <p:nvSpPr>
          <p:cNvPr id="14" name="Shape 12"/>
          <p:cNvSpPr/>
          <p:nvPr/>
        </p:nvSpPr>
        <p:spPr>
          <a:xfrm>
            <a:off x="5143500" y="1394267"/>
            <a:ext cx="1371600" cy="1102166"/>
          </a:xfrm>
          <a:prstGeom prst="roundRect">
            <a:avLst>
              <a:gd name="adj" fmla="val 9218"/>
            </a:avLst>
          </a:prstGeom>
          <a:solidFill>
            <a:srgbClr val="FFFFFF">
              <a:alpha val="12000"/>
            </a:srgbClr>
          </a:solidFill>
          <a:ln/>
        </p:spPr>
        <p:txBody>
          <a:bodyPr/>
          <a:lstStyle/>
          <a:p>
            <a:endParaRPr lang="en-US"/>
          </a:p>
        </p:txBody>
      </p:sp>
      <p:sp>
        <p:nvSpPr>
          <p:cNvPr id="15" name="Text 13"/>
          <p:cNvSpPr/>
          <p:nvPr/>
        </p:nvSpPr>
        <p:spPr>
          <a:xfrm>
            <a:off x="5245100" y="1483167"/>
            <a:ext cx="1219200"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B7A1FF"/>
                </a:solidFill>
                <a:latin typeface="Rubik" pitchFamily="34" charset="0"/>
                <a:ea typeface="Rubik" pitchFamily="34" charset="-122"/>
                <a:cs typeface="Rubik" pitchFamily="34" charset="-120"/>
              </a:rPr>
              <a:t>12+</a:t>
            </a:r>
            <a:endParaRPr lang="en-US" sz="2600" dirty="0"/>
          </a:p>
        </p:txBody>
      </p:sp>
      <p:sp>
        <p:nvSpPr>
          <p:cNvPr id="16" name="Text 14"/>
          <p:cNvSpPr/>
          <p:nvPr/>
        </p:nvSpPr>
        <p:spPr>
          <a:xfrm>
            <a:off x="5245100" y="1859051"/>
            <a:ext cx="1219200"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residents watched per shift</a:t>
            </a:r>
            <a:endParaRPr lang="en-US" sz="1200" dirty="0"/>
          </a:p>
        </p:txBody>
      </p:sp>
      <p:sp>
        <p:nvSpPr>
          <p:cNvPr id="17" name="Shape 15"/>
          <p:cNvSpPr/>
          <p:nvPr/>
        </p:nvSpPr>
        <p:spPr>
          <a:xfrm>
            <a:off x="6861175" y="257175"/>
            <a:ext cx="4718050" cy="2401182"/>
          </a:xfrm>
          <a:prstGeom prst="roundRect">
            <a:avLst>
              <a:gd name="adj" fmla="val 5686"/>
            </a:avLst>
          </a:prstGeom>
          <a:solidFill>
            <a:srgbClr val="FFFFFF"/>
          </a:solidFill>
          <a:ln w="6350">
            <a:solidFill>
              <a:srgbClr val="D3DAF0"/>
            </a:solidFill>
            <a:prstDash val="solid"/>
          </a:ln>
        </p:spPr>
        <p:txBody>
          <a:bodyPr/>
          <a:lstStyle/>
          <a:p>
            <a:endParaRPr lang="en-US"/>
          </a:p>
        </p:txBody>
      </p:sp>
      <p:sp>
        <p:nvSpPr>
          <p:cNvPr id="18" name="Text 16"/>
          <p:cNvSpPr/>
          <p:nvPr/>
        </p:nvSpPr>
        <p:spPr>
          <a:xfrm>
            <a:off x="7028745" y="399345"/>
            <a:ext cx="4514398" cy="229835"/>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0E1B4D"/>
                </a:solidFill>
                <a:latin typeface="Rubik" pitchFamily="34" charset="0"/>
                <a:ea typeface="Rubik" pitchFamily="34" charset="-122"/>
                <a:cs typeface="Rubik" pitchFamily="34" charset="-120"/>
              </a:rPr>
              <a:t>Design excellence over existing solutions</a:t>
            </a:r>
            <a:endParaRPr lang="en-US" sz="1400" dirty="0"/>
          </a:p>
        </p:txBody>
      </p:sp>
      <p:sp>
        <p:nvSpPr>
          <p:cNvPr id="19" name="Text 17"/>
          <p:cNvSpPr/>
          <p:nvPr/>
        </p:nvSpPr>
        <p:spPr>
          <a:xfrm>
            <a:off x="7028745" y="641879"/>
            <a:ext cx="4514398"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683"/>
                </a:solidFill>
                <a:latin typeface="Nunito Sans" pitchFamily="34" charset="0"/>
                <a:ea typeface="Nunito Sans" pitchFamily="34" charset="-122"/>
                <a:cs typeface="Nunito Sans" pitchFamily="34" charset="-120"/>
              </a:rPr>
              <a:t>Capabilities fully delivered, out of 7</a:t>
            </a:r>
            <a:endParaRPr lang="en-US" sz="1200" dirty="0"/>
          </a:p>
        </p:txBody>
      </p:sp>
      <p:sp>
        <p:nvSpPr>
          <p:cNvPr id="20" name="Text 18"/>
          <p:cNvSpPr/>
          <p:nvPr/>
        </p:nvSpPr>
        <p:spPr>
          <a:xfrm>
            <a:off x="7028745" y="893322"/>
            <a:ext cx="13208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CareSense</a:t>
            </a:r>
            <a:endParaRPr lang="en-US" sz="1200" dirty="0"/>
          </a:p>
        </p:txBody>
      </p:sp>
      <p:sp>
        <p:nvSpPr>
          <p:cNvPr id="21" name="Shape 19"/>
          <p:cNvSpPr/>
          <p:nvPr/>
        </p:nvSpPr>
        <p:spPr>
          <a:xfrm>
            <a:off x="8374945" y="904698"/>
            <a:ext cx="2604911" cy="190500"/>
          </a:xfrm>
          <a:prstGeom prst="roundRect">
            <a:avLst>
              <a:gd name="adj" fmla="val 50000"/>
            </a:avLst>
          </a:prstGeom>
          <a:solidFill>
            <a:srgbClr val="E6EAF7"/>
          </a:solidFill>
          <a:ln/>
        </p:spPr>
        <p:txBody>
          <a:bodyPr/>
          <a:lstStyle/>
          <a:p>
            <a:endParaRPr lang="en-US"/>
          </a:p>
        </p:txBody>
      </p:sp>
      <p:sp>
        <p:nvSpPr>
          <p:cNvPr id="22" name="Shape 20"/>
          <p:cNvSpPr/>
          <p:nvPr/>
        </p:nvSpPr>
        <p:spPr>
          <a:xfrm>
            <a:off x="8374945" y="904698"/>
            <a:ext cx="2616200" cy="190500"/>
          </a:xfrm>
          <a:custGeom>
            <a:avLst/>
            <a:gdLst/>
            <a:ahLst/>
            <a:cxnLst/>
            <a:rect l="l" t="t" r="r" b="b"/>
            <a:pathLst>
              <a:path w="2616200" h="190500">
                <a:moveTo>
                  <a:pt x="0" y="95250"/>
                </a:moveTo>
                <a:arcTo wR="95250" hR="95250" stAng="10800000" swAng="5400000"/>
                <a:lnTo>
                  <a:pt x="2616200" y="0"/>
                </a:lnTo>
                <a:lnTo>
                  <a:pt x="2616200" y="190500"/>
                </a:lnTo>
                <a:lnTo>
                  <a:pt x="95250" y="190500"/>
                </a:lnTo>
                <a:arcTo wR="95250" hR="95250" stAng="5400000" swAng="5400000"/>
                <a:close/>
              </a:path>
            </a:pathLst>
          </a:custGeom>
          <a:gradFill rotWithShape="1">
            <a:gsLst>
              <a:gs pos="0">
                <a:srgbClr val="C8304B"/>
              </a:gs>
              <a:gs pos="33333">
                <a:srgbClr val="B45F06"/>
              </a:gs>
              <a:gs pos="66667">
                <a:srgbClr val="0A7F7C"/>
              </a:gs>
              <a:gs pos="100000">
                <a:srgbClr val="6B46E0"/>
              </a:gs>
            </a:gsLst>
            <a:lin ang="0" scaled="0"/>
          </a:gradFill>
          <a:ln/>
        </p:spPr>
        <p:txBody>
          <a:bodyPr/>
          <a:lstStyle/>
          <a:p>
            <a:endParaRPr lang="en-US"/>
          </a:p>
        </p:txBody>
      </p:sp>
      <p:sp>
        <p:nvSpPr>
          <p:cNvPr id="23" name="Text 21"/>
          <p:cNvSpPr/>
          <p:nvPr/>
        </p:nvSpPr>
        <p:spPr>
          <a:xfrm>
            <a:off x="11056055" y="893322"/>
            <a:ext cx="4064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7 / 7</a:t>
            </a:r>
            <a:endParaRPr lang="en-US" sz="1200" dirty="0"/>
          </a:p>
        </p:txBody>
      </p:sp>
      <p:sp>
        <p:nvSpPr>
          <p:cNvPr id="24" name="Text 22"/>
          <p:cNvSpPr/>
          <p:nvPr/>
        </p:nvSpPr>
        <p:spPr>
          <a:xfrm>
            <a:off x="7028745" y="1144764"/>
            <a:ext cx="13208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5E"/>
                </a:solidFill>
                <a:latin typeface="Nunito Sans" pitchFamily="34" charset="0"/>
                <a:ea typeface="Nunito Sans" pitchFamily="34" charset="-122"/>
                <a:cs typeface="Nunito Sans" pitchFamily="34" charset="-120"/>
              </a:rPr>
              <a:t>Stress research</a:t>
            </a:r>
            <a:endParaRPr lang="en-US" sz="1200" dirty="0"/>
          </a:p>
        </p:txBody>
      </p:sp>
      <p:sp>
        <p:nvSpPr>
          <p:cNvPr id="25" name="Shape 23"/>
          <p:cNvSpPr/>
          <p:nvPr/>
        </p:nvSpPr>
        <p:spPr>
          <a:xfrm>
            <a:off x="8374945" y="1156142"/>
            <a:ext cx="2604911" cy="190500"/>
          </a:xfrm>
          <a:prstGeom prst="roundRect">
            <a:avLst>
              <a:gd name="adj" fmla="val 50000"/>
            </a:avLst>
          </a:prstGeom>
          <a:solidFill>
            <a:srgbClr val="E6EAF7"/>
          </a:solidFill>
          <a:ln/>
        </p:spPr>
        <p:txBody>
          <a:bodyPr/>
          <a:lstStyle/>
          <a:p>
            <a:endParaRPr lang="en-US"/>
          </a:p>
        </p:txBody>
      </p:sp>
      <p:sp>
        <p:nvSpPr>
          <p:cNvPr id="26" name="Shape 24"/>
          <p:cNvSpPr/>
          <p:nvPr/>
        </p:nvSpPr>
        <p:spPr>
          <a:xfrm>
            <a:off x="8374945" y="1156142"/>
            <a:ext cx="749300" cy="190500"/>
          </a:xfrm>
          <a:custGeom>
            <a:avLst/>
            <a:gdLst/>
            <a:ahLst/>
            <a:cxnLst/>
            <a:rect l="l" t="t" r="r" b="b"/>
            <a:pathLst>
              <a:path w="749300" h="190500">
                <a:moveTo>
                  <a:pt x="0" y="95250"/>
                </a:moveTo>
                <a:arcTo wR="95250" hR="95250" stAng="10800000" swAng="5400000"/>
                <a:lnTo>
                  <a:pt x="749300" y="0"/>
                </a:lnTo>
                <a:lnTo>
                  <a:pt x="749300" y="190500"/>
                </a:lnTo>
                <a:lnTo>
                  <a:pt x="95250" y="190500"/>
                </a:lnTo>
                <a:arcTo wR="95250" hR="95250" stAng="5400000" swAng="5400000"/>
                <a:close/>
              </a:path>
            </a:pathLst>
          </a:custGeom>
          <a:gradFill rotWithShape="1">
            <a:gsLst>
              <a:gs pos="0">
                <a:srgbClr val="FFC247"/>
              </a:gs>
              <a:gs pos="50000">
                <a:srgbClr val="FFC247"/>
              </a:gs>
              <a:gs pos="50000">
                <a:srgbClr val="FFE6A8"/>
              </a:gs>
              <a:gs pos="100000">
                <a:srgbClr val="FFE6A8"/>
              </a:gs>
            </a:gsLst>
            <a:lin ang="18900000" scaled="0"/>
          </a:gradFill>
          <a:ln/>
        </p:spPr>
        <p:txBody>
          <a:bodyPr/>
          <a:lstStyle/>
          <a:p>
            <a:endParaRPr lang="en-US"/>
          </a:p>
        </p:txBody>
      </p:sp>
      <p:sp>
        <p:nvSpPr>
          <p:cNvPr id="27" name="Text 25"/>
          <p:cNvSpPr/>
          <p:nvPr/>
        </p:nvSpPr>
        <p:spPr>
          <a:xfrm>
            <a:off x="11056055" y="1144764"/>
            <a:ext cx="4064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0 / 7</a:t>
            </a:r>
            <a:endParaRPr lang="en-US" sz="1200" dirty="0"/>
          </a:p>
        </p:txBody>
      </p:sp>
      <p:sp>
        <p:nvSpPr>
          <p:cNvPr id="28" name="Text 26"/>
          <p:cNvSpPr/>
          <p:nvPr/>
        </p:nvSpPr>
        <p:spPr>
          <a:xfrm>
            <a:off x="7028745" y="1396206"/>
            <a:ext cx="13208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5E"/>
                </a:solidFill>
                <a:latin typeface="Nunito Sans" pitchFamily="34" charset="0"/>
                <a:ea typeface="Nunito Sans" pitchFamily="34" charset="-122"/>
                <a:cs typeface="Nunito Sans" pitchFamily="34" charset="-120"/>
              </a:rPr>
              <a:t>Fall systems</a:t>
            </a:r>
            <a:endParaRPr lang="en-US" sz="1200" dirty="0"/>
          </a:p>
        </p:txBody>
      </p:sp>
      <p:sp>
        <p:nvSpPr>
          <p:cNvPr id="29" name="Shape 27"/>
          <p:cNvSpPr/>
          <p:nvPr/>
        </p:nvSpPr>
        <p:spPr>
          <a:xfrm>
            <a:off x="8374945" y="1407584"/>
            <a:ext cx="2604911" cy="190500"/>
          </a:xfrm>
          <a:prstGeom prst="roundRect">
            <a:avLst>
              <a:gd name="adj" fmla="val 50000"/>
            </a:avLst>
          </a:prstGeom>
          <a:solidFill>
            <a:srgbClr val="E6EAF7"/>
          </a:solidFill>
          <a:ln/>
        </p:spPr>
        <p:txBody>
          <a:bodyPr/>
          <a:lstStyle/>
          <a:p>
            <a:endParaRPr lang="en-US"/>
          </a:p>
        </p:txBody>
      </p:sp>
      <p:sp>
        <p:nvSpPr>
          <p:cNvPr id="30" name="Shape 28"/>
          <p:cNvSpPr/>
          <p:nvPr/>
        </p:nvSpPr>
        <p:spPr>
          <a:xfrm>
            <a:off x="8374945" y="1407584"/>
            <a:ext cx="749300" cy="190500"/>
          </a:xfrm>
          <a:custGeom>
            <a:avLst/>
            <a:gdLst/>
            <a:ahLst/>
            <a:cxnLst/>
            <a:rect l="l" t="t" r="r" b="b"/>
            <a:pathLst>
              <a:path w="749300" h="190500">
                <a:moveTo>
                  <a:pt x="0" y="95250"/>
                </a:moveTo>
                <a:arcTo wR="95250" hR="95250" stAng="10800000" swAng="5400000"/>
                <a:lnTo>
                  <a:pt x="749300" y="0"/>
                </a:lnTo>
                <a:lnTo>
                  <a:pt x="749300" y="190500"/>
                </a:lnTo>
                <a:lnTo>
                  <a:pt x="95250" y="190500"/>
                </a:lnTo>
                <a:arcTo wR="95250" hR="95250" stAng="5400000" swAng="5400000"/>
                <a:close/>
              </a:path>
            </a:pathLst>
          </a:custGeom>
          <a:gradFill rotWithShape="1">
            <a:gsLst>
              <a:gs pos="0">
                <a:srgbClr val="FFC247"/>
              </a:gs>
              <a:gs pos="50000">
                <a:srgbClr val="FFC247"/>
              </a:gs>
              <a:gs pos="50000">
                <a:srgbClr val="FFE6A8"/>
              </a:gs>
              <a:gs pos="100000">
                <a:srgbClr val="FFE6A8"/>
              </a:gs>
            </a:gsLst>
            <a:lin ang="18900000" scaled="0"/>
          </a:gradFill>
          <a:ln/>
        </p:spPr>
        <p:txBody>
          <a:bodyPr/>
          <a:lstStyle/>
          <a:p>
            <a:endParaRPr lang="en-US"/>
          </a:p>
        </p:txBody>
      </p:sp>
      <p:sp>
        <p:nvSpPr>
          <p:cNvPr id="31" name="Text 29"/>
          <p:cNvSpPr/>
          <p:nvPr/>
        </p:nvSpPr>
        <p:spPr>
          <a:xfrm>
            <a:off x="11056055" y="1396206"/>
            <a:ext cx="4064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0 / 7</a:t>
            </a:r>
            <a:endParaRPr lang="en-US" sz="1200" dirty="0"/>
          </a:p>
        </p:txBody>
      </p:sp>
      <p:sp>
        <p:nvSpPr>
          <p:cNvPr id="32" name="Text 30"/>
          <p:cNvSpPr/>
          <p:nvPr/>
        </p:nvSpPr>
        <p:spPr>
          <a:xfrm>
            <a:off x="7028745" y="1647648"/>
            <a:ext cx="13208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5E"/>
                </a:solidFill>
                <a:latin typeface="Nunito Sans" pitchFamily="34" charset="0"/>
                <a:ea typeface="Nunito Sans" pitchFamily="34" charset="-122"/>
                <a:cs typeface="Nunito Sans" pitchFamily="34" charset="-120"/>
              </a:rPr>
              <a:t>Ambient scribes</a:t>
            </a:r>
            <a:endParaRPr lang="en-US" sz="1200" dirty="0"/>
          </a:p>
        </p:txBody>
      </p:sp>
      <p:sp>
        <p:nvSpPr>
          <p:cNvPr id="33" name="Shape 31"/>
          <p:cNvSpPr/>
          <p:nvPr/>
        </p:nvSpPr>
        <p:spPr>
          <a:xfrm>
            <a:off x="8374945" y="1659026"/>
            <a:ext cx="2604911" cy="190500"/>
          </a:xfrm>
          <a:prstGeom prst="roundRect">
            <a:avLst>
              <a:gd name="adj" fmla="val 50000"/>
            </a:avLst>
          </a:prstGeom>
          <a:solidFill>
            <a:srgbClr val="E6EAF7"/>
          </a:solidFill>
          <a:ln/>
        </p:spPr>
        <p:txBody>
          <a:bodyPr/>
          <a:lstStyle/>
          <a:p>
            <a:endParaRPr lang="en-US"/>
          </a:p>
        </p:txBody>
      </p:sp>
      <p:sp>
        <p:nvSpPr>
          <p:cNvPr id="34" name="Shape 32"/>
          <p:cNvSpPr/>
          <p:nvPr/>
        </p:nvSpPr>
        <p:spPr>
          <a:xfrm>
            <a:off x="8374945" y="1659026"/>
            <a:ext cx="749300" cy="190500"/>
          </a:xfrm>
          <a:custGeom>
            <a:avLst/>
            <a:gdLst/>
            <a:ahLst/>
            <a:cxnLst/>
            <a:rect l="l" t="t" r="r" b="b"/>
            <a:pathLst>
              <a:path w="749300" h="190500">
                <a:moveTo>
                  <a:pt x="0" y="95250"/>
                </a:moveTo>
                <a:arcTo wR="95250" hR="95250" stAng="10800000" swAng="5400000"/>
                <a:lnTo>
                  <a:pt x="749300" y="0"/>
                </a:lnTo>
                <a:lnTo>
                  <a:pt x="749300" y="190500"/>
                </a:lnTo>
                <a:lnTo>
                  <a:pt x="95250" y="190500"/>
                </a:lnTo>
                <a:arcTo wR="95250" hR="95250" stAng="5400000" swAng="5400000"/>
                <a:close/>
              </a:path>
            </a:pathLst>
          </a:custGeom>
          <a:gradFill rotWithShape="1">
            <a:gsLst>
              <a:gs pos="0">
                <a:srgbClr val="FFC247"/>
              </a:gs>
              <a:gs pos="50000">
                <a:srgbClr val="FFC247"/>
              </a:gs>
              <a:gs pos="50000">
                <a:srgbClr val="FFE6A8"/>
              </a:gs>
              <a:gs pos="100000">
                <a:srgbClr val="FFE6A8"/>
              </a:gs>
            </a:gsLst>
            <a:lin ang="18900000" scaled="0"/>
          </a:gradFill>
          <a:ln/>
        </p:spPr>
        <p:txBody>
          <a:bodyPr/>
          <a:lstStyle/>
          <a:p>
            <a:endParaRPr lang="en-US"/>
          </a:p>
        </p:txBody>
      </p:sp>
      <p:sp>
        <p:nvSpPr>
          <p:cNvPr id="35" name="Text 33"/>
          <p:cNvSpPr/>
          <p:nvPr/>
        </p:nvSpPr>
        <p:spPr>
          <a:xfrm>
            <a:off x="11056055" y="1647648"/>
            <a:ext cx="4064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0 / 7</a:t>
            </a:r>
            <a:endParaRPr lang="en-US" sz="1200" dirty="0"/>
          </a:p>
        </p:txBody>
      </p:sp>
      <p:sp>
        <p:nvSpPr>
          <p:cNvPr id="36" name="Text 34"/>
          <p:cNvSpPr/>
          <p:nvPr/>
        </p:nvSpPr>
        <p:spPr>
          <a:xfrm>
            <a:off x="7028745" y="1899092"/>
            <a:ext cx="1320800"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B2A5E"/>
                </a:solidFill>
                <a:latin typeface="Nunito Sans" pitchFamily="34" charset="0"/>
                <a:ea typeface="Nunito Sans" pitchFamily="34" charset="-122"/>
                <a:cs typeface="Nunito Sans" pitchFamily="34" charset="-120"/>
              </a:rPr>
              <a:t>Sign apps</a:t>
            </a:r>
            <a:endParaRPr lang="en-US" sz="1200" dirty="0"/>
          </a:p>
        </p:txBody>
      </p:sp>
      <p:sp>
        <p:nvSpPr>
          <p:cNvPr id="37" name="Shape 35"/>
          <p:cNvSpPr/>
          <p:nvPr/>
        </p:nvSpPr>
        <p:spPr>
          <a:xfrm>
            <a:off x="8374945" y="1910468"/>
            <a:ext cx="2604911" cy="190500"/>
          </a:xfrm>
          <a:prstGeom prst="roundRect">
            <a:avLst>
              <a:gd name="adj" fmla="val 50000"/>
            </a:avLst>
          </a:prstGeom>
          <a:solidFill>
            <a:srgbClr val="E6EAF7"/>
          </a:solidFill>
          <a:ln/>
        </p:spPr>
        <p:txBody>
          <a:bodyPr/>
          <a:lstStyle/>
          <a:p>
            <a:endParaRPr lang="en-US"/>
          </a:p>
        </p:txBody>
      </p:sp>
      <p:sp>
        <p:nvSpPr>
          <p:cNvPr id="38" name="Shape 36"/>
          <p:cNvSpPr/>
          <p:nvPr/>
        </p:nvSpPr>
        <p:spPr>
          <a:xfrm>
            <a:off x="8374945" y="1910468"/>
            <a:ext cx="374650" cy="190500"/>
          </a:xfrm>
          <a:custGeom>
            <a:avLst/>
            <a:gdLst/>
            <a:ahLst/>
            <a:cxnLst/>
            <a:rect l="l" t="t" r="r" b="b"/>
            <a:pathLst>
              <a:path w="374650" h="190500">
                <a:moveTo>
                  <a:pt x="0" y="95250"/>
                </a:moveTo>
                <a:arcTo wR="95250" hR="95250" stAng="10800000" swAng="5400000"/>
                <a:lnTo>
                  <a:pt x="374650" y="0"/>
                </a:lnTo>
                <a:lnTo>
                  <a:pt x="374650" y="190500"/>
                </a:lnTo>
                <a:lnTo>
                  <a:pt x="95250" y="190500"/>
                </a:lnTo>
                <a:arcTo wR="95250" hR="95250" stAng="5400000" swAng="5400000"/>
                <a:close/>
              </a:path>
            </a:pathLst>
          </a:custGeom>
          <a:gradFill rotWithShape="1">
            <a:gsLst>
              <a:gs pos="0">
                <a:srgbClr val="FFC247"/>
              </a:gs>
              <a:gs pos="50000">
                <a:srgbClr val="FFC247"/>
              </a:gs>
              <a:gs pos="50000">
                <a:srgbClr val="FFE6A8"/>
              </a:gs>
              <a:gs pos="100000">
                <a:srgbClr val="FFE6A8"/>
              </a:gs>
            </a:gsLst>
            <a:lin ang="18900000" scaled="0"/>
          </a:gradFill>
          <a:ln/>
        </p:spPr>
        <p:txBody>
          <a:bodyPr/>
          <a:lstStyle/>
          <a:p>
            <a:endParaRPr lang="en-US"/>
          </a:p>
        </p:txBody>
      </p:sp>
      <p:sp>
        <p:nvSpPr>
          <p:cNvPr id="39" name="Text 37"/>
          <p:cNvSpPr/>
          <p:nvPr/>
        </p:nvSpPr>
        <p:spPr>
          <a:xfrm>
            <a:off x="11056055" y="1899092"/>
            <a:ext cx="406400"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0 / 7</a:t>
            </a:r>
            <a:endParaRPr lang="en-US" sz="1200" dirty="0"/>
          </a:p>
        </p:txBody>
      </p:sp>
      <p:sp>
        <p:nvSpPr>
          <p:cNvPr id="40" name="Text 38"/>
          <p:cNvSpPr/>
          <p:nvPr/>
        </p:nvSpPr>
        <p:spPr>
          <a:xfrm>
            <a:off x="7028745" y="2150534"/>
            <a:ext cx="4514398"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Hatched = partly covered. Only CareSense joins all 4 behind one sign-in, roles, audit log and model registry.</a:t>
            </a:r>
            <a:endParaRPr lang="en-US" sz="1200" dirty="0"/>
          </a:p>
        </p:txBody>
      </p:sp>
      <p:sp>
        <p:nvSpPr>
          <p:cNvPr id="41" name="Shape 39"/>
          <p:cNvSpPr/>
          <p:nvPr/>
        </p:nvSpPr>
        <p:spPr>
          <a:xfrm>
            <a:off x="609600" y="2788532"/>
            <a:ext cx="2647950" cy="3002051"/>
          </a:xfrm>
          <a:prstGeom prst="roundRect">
            <a:avLst>
              <a:gd name="adj" fmla="val 5276"/>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42" name="Shape 40"/>
          <p:cNvSpPr/>
          <p:nvPr/>
        </p:nvSpPr>
        <p:spPr>
          <a:xfrm>
            <a:off x="609600" y="2788532"/>
            <a:ext cx="2647950" cy="497769"/>
          </a:xfrm>
          <a:custGeom>
            <a:avLst/>
            <a:gdLst/>
            <a:ahLst/>
            <a:cxnLst/>
            <a:rect l="l" t="t" r="r" b="b"/>
            <a:pathLst>
              <a:path w="2647950" h="497769">
                <a:moveTo>
                  <a:pt x="0" y="139700"/>
                </a:moveTo>
                <a:arcTo wR="139700" hR="139700" stAng="10800000" swAng="5400000"/>
                <a:lnTo>
                  <a:pt x="2508250" y="0"/>
                </a:lnTo>
                <a:arcTo wR="139700" hR="139700" stAng="16200000" swAng="5400000"/>
                <a:lnTo>
                  <a:pt x="2647950" y="497769"/>
                </a:lnTo>
                <a:lnTo>
                  <a:pt x="0" y="497769"/>
                </a:lnTo>
                <a:close/>
              </a:path>
            </a:pathLst>
          </a:custGeom>
          <a:solidFill>
            <a:srgbClr val="C8304B"/>
          </a:solidFill>
          <a:ln/>
        </p:spPr>
        <p:txBody>
          <a:bodyPr/>
          <a:lstStyle/>
          <a:p>
            <a:endParaRPr lang="en-US"/>
          </a:p>
        </p:txBody>
      </p:sp>
      <p:sp>
        <p:nvSpPr>
          <p:cNvPr id="43" name="Text 41"/>
          <p:cNvSpPr/>
          <p:nvPr/>
        </p:nvSpPr>
        <p:spPr>
          <a:xfrm>
            <a:off x="749300" y="2877432"/>
            <a:ext cx="924772" cy="34536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FFFF"/>
                </a:solidFill>
                <a:latin typeface="Rubik" pitchFamily="34" charset="0"/>
                <a:ea typeface="Rubik" pitchFamily="34" charset="-122"/>
                <a:cs typeface="Rubik" pitchFamily="34" charset="-120"/>
              </a:rPr>
              <a:t>PULSE</a:t>
            </a:r>
            <a:endParaRPr lang="en-US" sz="1800" dirty="0"/>
          </a:p>
        </p:txBody>
      </p:sp>
      <p:sp>
        <p:nvSpPr>
          <p:cNvPr id="44" name="Text 42"/>
          <p:cNvSpPr/>
          <p:nvPr/>
        </p:nvSpPr>
        <p:spPr>
          <a:xfrm>
            <a:off x="1772708" y="2930702"/>
            <a:ext cx="1345142" cy="238742"/>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FFFFF"/>
                </a:solidFill>
                <a:latin typeface="Nunito Sans" pitchFamily="34" charset="0"/>
                <a:ea typeface="Nunito Sans" pitchFamily="34" charset="-122"/>
                <a:cs typeface="Nunito Sans" pitchFamily="34" charset="-120"/>
              </a:rPr>
              <a:t>Caregiver strain</a:t>
            </a:r>
            <a:endParaRPr lang="en-US" sz="1200" dirty="0"/>
          </a:p>
        </p:txBody>
      </p:sp>
      <p:sp>
        <p:nvSpPr>
          <p:cNvPr id="45" name="Text 43"/>
          <p:cNvSpPr/>
          <p:nvPr/>
        </p:nvSpPr>
        <p:spPr>
          <a:xfrm>
            <a:off x="749300" y="3400602"/>
            <a:ext cx="2439607"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C8304B"/>
                </a:solidFill>
                <a:latin typeface="Rubik" pitchFamily="34" charset="0"/>
                <a:ea typeface="Rubik" pitchFamily="34" charset="-122"/>
                <a:cs typeface="Rubik" pitchFamily="34" charset="-120"/>
              </a:rPr>
              <a:t>0.72</a:t>
            </a:r>
            <a:endParaRPr lang="en-US" sz="2600" dirty="0"/>
          </a:p>
        </p:txBody>
      </p:sp>
      <p:sp>
        <p:nvSpPr>
          <p:cNvPr id="46" name="Text 44"/>
          <p:cNvSpPr/>
          <p:nvPr/>
        </p:nvSpPr>
        <p:spPr>
          <a:xfrm>
            <a:off x="749300" y="3827286"/>
            <a:ext cx="2439607"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ROC AUC on 27 unseen caregivers</a:t>
            </a:r>
            <a:endParaRPr lang="en-US" sz="1200" dirty="0"/>
          </a:p>
        </p:txBody>
      </p:sp>
      <p:sp>
        <p:nvSpPr>
          <p:cNvPr id="47" name="Text 45"/>
          <p:cNvSpPr/>
          <p:nvPr/>
        </p:nvSpPr>
        <p:spPr>
          <a:xfrm>
            <a:off x="749300" y="4256441"/>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8304B"/>
                </a:solidFill>
                <a:latin typeface="Nunito Sans" pitchFamily="34" charset="0"/>
                <a:ea typeface="Nunito Sans" pitchFamily="34" charset="-122"/>
                <a:cs typeface="Nunito Sans" pitchFamily="34" charset="-120"/>
              </a:rPr>
              <a:t>NOVELTY</a:t>
            </a:r>
            <a:endParaRPr lang="en-US" sz="1200" dirty="0"/>
          </a:p>
        </p:txBody>
      </p:sp>
      <p:sp>
        <p:nvSpPr>
          <p:cNvPr id="48" name="Text 46"/>
          <p:cNvSpPr/>
          <p:nvPr/>
        </p:nvSpPr>
        <p:spPr>
          <a:xfrm>
            <a:off x="848106" y="4533283"/>
            <a:ext cx="2333181" cy="11684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Stress score to reviewable workload change</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Two-stage model with SHAP reasons</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Flags 3 of last 5 days, proposes same-unit cover</a:t>
            </a:r>
            <a:endParaRPr lang="en-US" sz="1200" dirty="0"/>
          </a:p>
        </p:txBody>
      </p:sp>
      <p:sp>
        <p:nvSpPr>
          <p:cNvPr id="49" name="Shape 47"/>
          <p:cNvSpPr/>
          <p:nvPr/>
        </p:nvSpPr>
        <p:spPr>
          <a:xfrm>
            <a:off x="3384550" y="2788532"/>
            <a:ext cx="2647950" cy="3002051"/>
          </a:xfrm>
          <a:prstGeom prst="roundRect">
            <a:avLst>
              <a:gd name="adj" fmla="val 5276"/>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50" name="Shape 48"/>
          <p:cNvSpPr/>
          <p:nvPr/>
        </p:nvSpPr>
        <p:spPr>
          <a:xfrm>
            <a:off x="3384550" y="2788532"/>
            <a:ext cx="2647950" cy="497769"/>
          </a:xfrm>
          <a:custGeom>
            <a:avLst/>
            <a:gdLst/>
            <a:ahLst/>
            <a:cxnLst/>
            <a:rect l="l" t="t" r="r" b="b"/>
            <a:pathLst>
              <a:path w="2647950" h="497769">
                <a:moveTo>
                  <a:pt x="0" y="139700"/>
                </a:moveTo>
                <a:arcTo wR="139700" hR="139700" stAng="10800000" swAng="5400000"/>
                <a:lnTo>
                  <a:pt x="2508250" y="0"/>
                </a:lnTo>
                <a:arcTo wR="139700" hR="139700" stAng="16200000" swAng="5400000"/>
                <a:lnTo>
                  <a:pt x="2647950" y="497769"/>
                </a:lnTo>
                <a:lnTo>
                  <a:pt x="0" y="497769"/>
                </a:lnTo>
                <a:close/>
              </a:path>
            </a:pathLst>
          </a:custGeom>
          <a:solidFill>
            <a:srgbClr val="B45F06"/>
          </a:solidFill>
          <a:ln/>
        </p:spPr>
        <p:txBody>
          <a:bodyPr/>
          <a:lstStyle/>
          <a:p>
            <a:endParaRPr lang="en-US"/>
          </a:p>
        </p:txBody>
      </p:sp>
      <p:sp>
        <p:nvSpPr>
          <p:cNvPr id="51" name="Text 49"/>
          <p:cNvSpPr/>
          <p:nvPr/>
        </p:nvSpPr>
        <p:spPr>
          <a:xfrm>
            <a:off x="3524250" y="2877432"/>
            <a:ext cx="1121516" cy="34536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FFFF"/>
                </a:solidFill>
                <a:latin typeface="Rubik" pitchFamily="34" charset="0"/>
                <a:ea typeface="Rubik" pitchFamily="34" charset="-122"/>
                <a:cs typeface="Rubik" pitchFamily="34" charset="-120"/>
              </a:rPr>
              <a:t>SENTRY</a:t>
            </a:r>
            <a:endParaRPr lang="en-US" sz="1800" dirty="0"/>
          </a:p>
        </p:txBody>
      </p:sp>
      <p:sp>
        <p:nvSpPr>
          <p:cNvPr id="52" name="Text 50"/>
          <p:cNvSpPr/>
          <p:nvPr/>
        </p:nvSpPr>
        <p:spPr>
          <a:xfrm>
            <a:off x="4734772" y="2930702"/>
            <a:ext cx="1158028" cy="238742"/>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FFFFF"/>
                </a:solidFill>
                <a:latin typeface="Nunito Sans" pitchFamily="34" charset="0"/>
                <a:ea typeface="Nunito Sans" pitchFamily="34" charset="-122"/>
                <a:cs typeface="Nunito Sans" pitchFamily="34" charset="-120"/>
              </a:rPr>
              <a:t>Fall detection</a:t>
            </a:r>
            <a:endParaRPr lang="en-US" sz="1200" dirty="0"/>
          </a:p>
        </p:txBody>
      </p:sp>
      <p:sp>
        <p:nvSpPr>
          <p:cNvPr id="53" name="Text 51"/>
          <p:cNvSpPr/>
          <p:nvPr/>
        </p:nvSpPr>
        <p:spPr>
          <a:xfrm>
            <a:off x="3524250" y="3400602"/>
            <a:ext cx="2439607"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B45F06"/>
                </a:solidFill>
                <a:latin typeface="Rubik" pitchFamily="34" charset="0"/>
                <a:ea typeface="Rubik" pitchFamily="34" charset="-122"/>
                <a:cs typeface="Rubik" pitchFamily="34" charset="-120"/>
              </a:rPr>
              <a:t>92.3%</a:t>
            </a:r>
            <a:endParaRPr lang="en-US" sz="2600" dirty="0"/>
          </a:p>
        </p:txBody>
      </p:sp>
      <p:sp>
        <p:nvSpPr>
          <p:cNvPr id="54" name="Text 52"/>
          <p:cNvSpPr/>
          <p:nvPr/>
        </p:nvSpPr>
        <p:spPr>
          <a:xfrm>
            <a:off x="3524250" y="3827286"/>
            <a:ext cx="2439607"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sensitivity at 1.28% false alarms</a:t>
            </a:r>
            <a:endParaRPr lang="en-US" sz="1200" dirty="0"/>
          </a:p>
        </p:txBody>
      </p:sp>
      <p:sp>
        <p:nvSpPr>
          <p:cNvPr id="55" name="Text 53"/>
          <p:cNvSpPr/>
          <p:nvPr/>
        </p:nvSpPr>
        <p:spPr>
          <a:xfrm>
            <a:off x="3524250" y="4073613"/>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F06"/>
                </a:solidFill>
                <a:latin typeface="Nunito Sans" pitchFamily="34" charset="0"/>
                <a:ea typeface="Nunito Sans" pitchFamily="34" charset="-122"/>
                <a:cs typeface="Nunito Sans" pitchFamily="34" charset="-120"/>
              </a:rPr>
              <a:t>NOVELTY</a:t>
            </a:r>
            <a:endParaRPr lang="en-US" sz="1200" dirty="0"/>
          </a:p>
        </p:txBody>
      </p:sp>
      <p:sp>
        <p:nvSpPr>
          <p:cNvPr id="56" name="Text 54"/>
          <p:cNvSpPr/>
          <p:nvPr/>
        </p:nvSpPr>
        <p:spPr>
          <a:xfrm>
            <a:off x="3623056" y="4350455"/>
            <a:ext cx="2333181" cy="11684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ST-GCN fused with 18 biomechanical features</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3 alert states: NORMAL, MODERATE, HIGH</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Skeletons only, no raw video stored</a:t>
            </a:r>
            <a:endParaRPr lang="en-US" sz="1200" dirty="0"/>
          </a:p>
        </p:txBody>
      </p:sp>
      <p:sp>
        <p:nvSpPr>
          <p:cNvPr id="57" name="Shape 55"/>
          <p:cNvSpPr/>
          <p:nvPr/>
        </p:nvSpPr>
        <p:spPr>
          <a:xfrm>
            <a:off x="6159500" y="2788532"/>
            <a:ext cx="2647950" cy="3002051"/>
          </a:xfrm>
          <a:prstGeom prst="roundRect">
            <a:avLst>
              <a:gd name="adj" fmla="val 5276"/>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58" name="Shape 56"/>
          <p:cNvSpPr/>
          <p:nvPr/>
        </p:nvSpPr>
        <p:spPr>
          <a:xfrm>
            <a:off x="6159500" y="2788532"/>
            <a:ext cx="2647950" cy="497769"/>
          </a:xfrm>
          <a:custGeom>
            <a:avLst/>
            <a:gdLst/>
            <a:ahLst/>
            <a:cxnLst/>
            <a:rect l="l" t="t" r="r" b="b"/>
            <a:pathLst>
              <a:path w="2647950" h="497769">
                <a:moveTo>
                  <a:pt x="0" y="139700"/>
                </a:moveTo>
                <a:arcTo wR="139700" hR="139700" stAng="10800000" swAng="5400000"/>
                <a:lnTo>
                  <a:pt x="2508250" y="0"/>
                </a:lnTo>
                <a:arcTo wR="139700" hR="139700" stAng="16200000" swAng="5400000"/>
                <a:lnTo>
                  <a:pt x="2647950" y="497769"/>
                </a:lnTo>
                <a:lnTo>
                  <a:pt x="0" y="497769"/>
                </a:lnTo>
                <a:close/>
              </a:path>
            </a:pathLst>
          </a:custGeom>
          <a:solidFill>
            <a:srgbClr val="0A7F7C"/>
          </a:solidFill>
          <a:ln/>
        </p:spPr>
        <p:txBody>
          <a:bodyPr/>
          <a:lstStyle/>
          <a:p>
            <a:endParaRPr lang="en-US"/>
          </a:p>
        </p:txBody>
      </p:sp>
      <p:sp>
        <p:nvSpPr>
          <p:cNvPr id="59" name="Text 57"/>
          <p:cNvSpPr/>
          <p:nvPr/>
        </p:nvSpPr>
        <p:spPr>
          <a:xfrm>
            <a:off x="6299200" y="2877432"/>
            <a:ext cx="1048808" cy="34536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FFFF"/>
                </a:solidFill>
                <a:latin typeface="Rubik" pitchFamily="34" charset="0"/>
                <a:ea typeface="Rubik" pitchFamily="34" charset="-122"/>
                <a:cs typeface="Rubik" pitchFamily="34" charset="-120"/>
              </a:rPr>
              <a:t>SCRIBE</a:t>
            </a:r>
            <a:endParaRPr lang="en-US" sz="1800" dirty="0"/>
          </a:p>
        </p:txBody>
      </p:sp>
      <p:sp>
        <p:nvSpPr>
          <p:cNvPr id="60" name="Text 58"/>
          <p:cNvSpPr/>
          <p:nvPr/>
        </p:nvSpPr>
        <p:spPr>
          <a:xfrm>
            <a:off x="7365427" y="2930702"/>
            <a:ext cx="1302323" cy="238742"/>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FFFFF"/>
                </a:solidFill>
                <a:latin typeface="Nunito Sans" pitchFamily="34" charset="0"/>
                <a:ea typeface="Nunito Sans" pitchFamily="34" charset="-122"/>
                <a:cs typeface="Nunito Sans" pitchFamily="34" charset="-120"/>
              </a:rPr>
              <a:t>Voice-to-record</a:t>
            </a:r>
            <a:endParaRPr lang="en-US" sz="1200" dirty="0"/>
          </a:p>
        </p:txBody>
      </p:sp>
      <p:sp>
        <p:nvSpPr>
          <p:cNvPr id="61" name="Text 59"/>
          <p:cNvSpPr/>
          <p:nvPr/>
        </p:nvSpPr>
        <p:spPr>
          <a:xfrm>
            <a:off x="6299200" y="3400602"/>
            <a:ext cx="2439607"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0A7F7C"/>
                </a:solidFill>
                <a:latin typeface="Rubik" pitchFamily="34" charset="0"/>
                <a:ea typeface="Rubik" pitchFamily="34" charset="-122"/>
                <a:cs typeface="Rubik" pitchFamily="34" charset="-120"/>
              </a:rPr>
              <a:t>15.5%</a:t>
            </a:r>
            <a:endParaRPr lang="en-US" sz="2600" dirty="0"/>
          </a:p>
        </p:txBody>
      </p:sp>
      <p:sp>
        <p:nvSpPr>
          <p:cNvPr id="62" name="Text 60"/>
          <p:cNvSpPr/>
          <p:nvPr/>
        </p:nvSpPr>
        <p:spPr>
          <a:xfrm>
            <a:off x="6299200" y="3827286"/>
            <a:ext cx="2508250"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word error rate, down from 26.1%</a:t>
            </a:r>
            <a:endParaRPr lang="en-US" sz="1200" dirty="0"/>
          </a:p>
        </p:txBody>
      </p:sp>
      <p:sp>
        <p:nvSpPr>
          <p:cNvPr id="63" name="Text 61"/>
          <p:cNvSpPr/>
          <p:nvPr/>
        </p:nvSpPr>
        <p:spPr>
          <a:xfrm>
            <a:off x="6299200" y="4073613"/>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A7F7C"/>
                </a:solidFill>
                <a:latin typeface="Nunito Sans" pitchFamily="34" charset="0"/>
                <a:ea typeface="Nunito Sans" pitchFamily="34" charset="-122"/>
                <a:cs typeface="Nunito Sans" pitchFamily="34" charset="-120"/>
              </a:rPr>
              <a:t>NOVELTY</a:t>
            </a:r>
            <a:endParaRPr lang="en-US" sz="1200" dirty="0"/>
          </a:p>
        </p:txBody>
      </p:sp>
      <p:sp>
        <p:nvSpPr>
          <p:cNvPr id="64" name="Text 62"/>
          <p:cNvSpPr/>
          <p:nvPr/>
        </p:nvSpPr>
        <p:spPr>
          <a:xfrm>
            <a:off x="6398006" y="4350455"/>
            <a:ext cx="2333181" cy="11684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19-field ADL record from spoken notes</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Accent-adapted ASR with protected vocabulary</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Safety rules lift alert recall to 82%</a:t>
            </a:r>
            <a:endParaRPr lang="en-US" sz="1200" dirty="0"/>
          </a:p>
        </p:txBody>
      </p:sp>
      <p:sp>
        <p:nvSpPr>
          <p:cNvPr id="65" name="Shape 63"/>
          <p:cNvSpPr/>
          <p:nvPr/>
        </p:nvSpPr>
        <p:spPr>
          <a:xfrm>
            <a:off x="8934450" y="2788532"/>
            <a:ext cx="2647950" cy="3002051"/>
          </a:xfrm>
          <a:prstGeom prst="roundRect">
            <a:avLst>
              <a:gd name="adj" fmla="val 5276"/>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66" name="Shape 64"/>
          <p:cNvSpPr/>
          <p:nvPr/>
        </p:nvSpPr>
        <p:spPr>
          <a:xfrm>
            <a:off x="8934450" y="2788532"/>
            <a:ext cx="2647950" cy="497769"/>
          </a:xfrm>
          <a:custGeom>
            <a:avLst/>
            <a:gdLst/>
            <a:ahLst/>
            <a:cxnLst/>
            <a:rect l="l" t="t" r="r" b="b"/>
            <a:pathLst>
              <a:path w="2647950" h="497769">
                <a:moveTo>
                  <a:pt x="0" y="139700"/>
                </a:moveTo>
                <a:arcTo wR="139700" hR="139700" stAng="10800000" swAng="5400000"/>
                <a:lnTo>
                  <a:pt x="2508250" y="0"/>
                </a:lnTo>
                <a:arcTo wR="139700" hR="139700" stAng="16200000" swAng="5400000"/>
                <a:lnTo>
                  <a:pt x="2647950" y="497769"/>
                </a:lnTo>
                <a:lnTo>
                  <a:pt x="0" y="497769"/>
                </a:lnTo>
                <a:close/>
              </a:path>
            </a:pathLst>
          </a:custGeom>
          <a:solidFill>
            <a:srgbClr val="6B46E0"/>
          </a:solidFill>
          <a:ln/>
        </p:spPr>
        <p:txBody>
          <a:bodyPr/>
          <a:lstStyle/>
          <a:p>
            <a:endParaRPr lang="en-US"/>
          </a:p>
        </p:txBody>
      </p:sp>
      <p:sp>
        <p:nvSpPr>
          <p:cNvPr id="67" name="Text 65"/>
          <p:cNvSpPr/>
          <p:nvPr/>
        </p:nvSpPr>
        <p:spPr>
          <a:xfrm>
            <a:off x="9074150" y="2877432"/>
            <a:ext cx="939906" cy="34536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FFFFF"/>
                </a:solidFill>
                <a:latin typeface="Rubik" pitchFamily="34" charset="0"/>
                <a:ea typeface="Rubik" pitchFamily="34" charset="-122"/>
                <a:cs typeface="Rubik" pitchFamily="34" charset="-120"/>
              </a:rPr>
              <a:t>GLOSS</a:t>
            </a:r>
            <a:endParaRPr lang="en-US" sz="1800" dirty="0"/>
          </a:p>
        </p:txBody>
      </p:sp>
      <p:sp>
        <p:nvSpPr>
          <p:cNvPr id="68" name="Text 66"/>
          <p:cNvSpPr/>
          <p:nvPr/>
        </p:nvSpPr>
        <p:spPr>
          <a:xfrm>
            <a:off x="10591377" y="2930702"/>
            <a:ext cx="851323" cy="238742"/>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FFFFFF"/>
                </a:solidFill>
                <a:latin typeface="Nunito Sans" pitchFamily="34" charset="0"/>
                <a:ea typeface="Nunito Sans" pitchFamily="34" charset="-122"/>
                <a:cs typeface="Nunito Sans" pitchFamily="34" charset="-120"/>
              </a:rPr>
              <a:t>Sign tutor</a:t>
            </a:r>
            <a:endParaRPr lang="en-US" sz="1200" dirty="0"/>
          </a:p>
        </p:txBody>
      </p:sp>
      <p:sp>
        <p:nvSpPr>
          <p:cNvPr id="69" name="Text 67"/>
          <p:cNvSpPr/>
          <p:nvPr/>
        </p:nvSpPr>
        <p:spPr>
          <a:xfrm>
            <a:off x="9074150" y="3400602"/>
            <a:ext cx="2439607" cy="388585"/>
          </a:xfrm>
          <a:prstGeom prst="rect">
            <a:avLst/>
          </a:prstGeom>
          <a:noFill/>
          <a:ln/>
        </p:spPr>
        <p:txBody>
          <a:bodyPr wrap="square" lIns="0" tIns="0" rIns="0" bIns="0" rtlCol="0" anchor="t">
            <a:normAutofit/>
          </a:bodyPr>
          <a:lstStyle/>
          <a:p>
            <a:pPr marL="0" indent="0" algn="l">
              <a:lnSpc>
                <a:spcPts val="2860"/>
              </a:lnSpc>
              <a:buNone/>
            </a:pPr>
            <a:r>
              <a:rPr lang="en-US" sz="2600" b="1" dirty="0">
                <a:solidFill>
                  <a:srgbClr val="6B46E0"/>
                </a:solidFill>
                <a:latin typeface="Rubik" pitchFamily="34" charset="0"/>
                <a:ea typeface="Rubik" pitchFamily="34" charset="-122"/>
                <a:cs typeface="Rubik" pitchFamily="34" charset="-120"/>
              </a:rPr>
              <a:t>0.78</a:t>
            </a:r>
            <a:endParaRPr lang="en-US" sz="2600" dirty="0"/>
          </a:p>
        </p:txBody>
      </p:sp>
      <p:sp>
        <p:nvSpPr>
          <p:cNvPr id="70" name="Text 68"/>
          <p:cNvSpPr/>
          <p:nvPr/>
        </p:nvSpPr>
        <p:spPr>
          <a:xfrm>
            <a:off x="9074150" y="3827286"/>
            <a:ext cx="2439607"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macro-F1 on 59 care signs</a:t>
            </a:r>
            <a:endParaRPr lang="en-US" sz="1200" dirty="0"/>
          </a:p>
        </p:txBody>
      </p:sp>
      <p:sp>
        <p:nvSpPr>
          <p:cNvPr id="71" name="Text 69"/>
          <p:cNvSpPr/>
          <p:nvPr/>
        </p:nvSpPr>
        <p:spPr>
          <a:xfrm>
            <a:off x="9074150" y="4073613"/>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B46E0"/>
                </a:solidFill>
                <a:latin typeface="Nunito Sans" pitchFamily="34" charset="0"/>
                <a:ea typeface="Nunito Sans" pitchFamily="34" charset="-122"/>
                <a:cs typeface="Nunito Sans" pitchFamily="34" charset="-120"/>
              </a:rPr>
              <a:t>NOVELTY</a:t>
            </a:r>
            <a:endParaRPr lang="en-US" sz="1200" dirty="0"/>
          </a:p>
        </p:txBody>
      </p:sp>
      <p:sp>
        <p:nvSpPr>
          <p:cNvPr id="72" name="Text 70"/>
          <p:cNvSpPr/>
          <p:nvPr/>
        </p:nvSpPr>
        <p:spPr>
          <a:xfrm>
            <a:off x="9172956" y="4350455"/>
            <a:ext cx="2333181" cy="9779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Care-specific vocabulary, not general signs</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Asks for a repeat when unsure</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Explained feedback plus Parkinson’s education</a:t>
            </a:r>
            <a:endParaRPr lang="en-US" sz="1200" dirty="0"/>
          </a:p>
        </p:txBody>
      </p:sp>
      <p:sp>
        <p:nvSpPr>
          <p:cNvPr id="73" name="Shape 71"/>
          <p:cNvSpPr/>
          <p:nvPr/>
        </p:nvSpPr>
        <p:spPr>
          <a:xfrm>
            <a:off x="0" y="6273800"/>
            <a:ext cx="12192000" cy="584200"/>
          </a:xfrm>
          <a:prstGeom prst="rect">
            <a:avLst/>
          </a:prstGeom>
          <a:solidFill>
            <a:srgbClr val="FFFFFF"/>
          </a:solidFill>
          <a:ln/>
        </p:spPr>
        <p:txBody>
          <a:bodyPr/>
          <a:lstStyle/>
          <a:p>
            <a:endParaRPr lang="en-US"/>
          </a:p>
        </p:txBody>
      </p:sp>
      <p:sp>
        <p:nvSpPr>
          <p:cNvPr id="74" name="Shape 72"/>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75" name="Image 0" descr="SLIIT Faculty of Computing logo"/>
          <p:cNvPicPr>
            <a:picLocks noChangeAspect="1"/>
          </p:cNvPicPr>
          <p:nvPr/>
        </p:nvPicPr>
        <p:blipFill>
          <a:blip r:embed="rId3"/>
          <a:srcRect t="-370" b="-370"/>
          <a:stretch/>
        </p:blipFill>
        <p:spPr>
          <a:xfrm>
            <a:off x="406400" y="6362700"/>
            <a:ext cx="2032000" cy="406400"/>
          </a:xfrm>
          <a:prstGeom prst="rect">
            <a:avLst/>
          </a:prstGeom>
        </p:spPr>
      </p:pic>
      <p:sp>
        <p:nvSpPr>
          <p:cNvPr id="76" name="Text 73"/>
          <p:cNvSpPr/>
          <p:nvPr/>
        </p:nvSpPr>
        <p:spPr>
          <a:xfrm>
            <a:off x="4133850" y="6408472"/>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77" name="Text 74"/>
          <p:cNvSpPr/>
          <p:nvPr/>
        </p:nvSpPr>
        <p:spPr>
          <a:xfrm>
            <a:off x="8384540" y="6449130"/>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609600" y="238832"/>
            <a:ext cx="8184621" cy="304800"/>
          </a:xfrm>
          <a:prstGeom prst="rect">
            <a:avLst/>
          </a:prstGeom>
          <a:noFill/>
          <a:ln/>
        </p:spPr>
        <p:txBody>
          <a:bodyPr wrap="square" lIns="0" tIns="0" rIns="0" bIns="0" rtlCol="0" anchor="t">
            <a:normAutofit/>
          </a:bodyPr>
          <a:lstStyle/>
          <a:p>
            <a:pPr marL="0" indent="0" algn="l">
              <a:lnSpc>
                <a:spcPts val="2200"/>
              </a:lnSpc>
              <a:buNone/>
            </a:pPr>
            <a:r>
              <a:rPr lang="en-US" sz="2000" b="1" i="0" kern="0" spc="150" dirty="0">
                <a:solidFill>
                  <a:srgbClr val="0E1B4D"/>
                </a:solidFill>
                <a:latin typeface="Rubik" pitchFamily="34" charset="0"/>
                <a:ea typeface="Rubik" pitchFamily="34" charset="-122"/>
                <a:cs typeface="Rubik" pitchFamily="34" charset="-120"/>
              </a:rPr>
              <a:t>IT22178640 | DAYANA PRIYADHARSHANI KUMAR</a:t>
            </a:r>
            <a:endParaRPr lang="en-US" sz="2000" dirty="0"/>
          </a:p>
        </p:txBody>
      </p:sp>
      <p:sp>
        <p:nvSpPr>
          <p:cNvPr id="3" name="Text 1"/>
          <p:cNvSpPr/>
          <p:nvPr/>
        </p:nvSpPr>
        <p:spPr>
          <a:xfrm>
            <a:off x="8892205" y="212285"/>
            <a:ext cx="2690195" cy="332669"/>
          </a:xfrm>
          <a:prstGeom prst="roundRect">
            <a:avLst>
              <a:gd name="adj" fmla="val 50000"/>
            </a:avLst>
          </a:prstGeom>
          <a:solidFill>
            <a:srgbClr val="FFC247"/>
          </a:solidFill>
          <a:ln/>
        </p:spPr>
        <p:txBody>
          <a:bodyPr wrap="none" lIns="0" tIns="0" rIns="0" bIns="0" rtlCol="0" anchor="ctr">
            <a:normAutofit/>
          </a:bodyPr>
          <a:lstStyle/>
          <a:p>
            <a:pPr marL="0" indent="0" algn="ctr">
              <a:lnSpc>
                <a:spcPts val="1820"/>
              </a:lnSpc>
              <a:buNone/>
            </a:pPr>
            <a:r>
              <a:rPr lang="en-US" sz="1300" b="1" dirty="0">
                <a:solidFill>
                  <a:srgbClr val="0E1B4D"/>
                </a:solidFill>
                <a:latin typeface="Nunito Sans" pitchFamily="34" charset="0"/>
                <a:ea typeface="Nunito Sans" pitchFamily="34" charset="-122"/>
                <a:cs typeface="Nunito Sans" pitchFamily="34" charset="-120"/>
              </a:rPr>
              <a:t>PULSE · Individual Component</a:t>
            </a:r>
            <a:endParaRPr lang="en-US" sz="1300" dirty="0"/>
          </a:p>
        </p:txBody>
      </p:sp>
      <p:sp>
        <p:nvSpPr>
          <p:cNvPr id="4" name="Shape 2"/>
          <p:cNvSpPr/>
          <p:nvPr/>
        </p:nvSpPr>
        <p:spPr>
          <a:xfrm>
            <a:off x="609600" y="617451"/>
            <a:ext cx="10972800" cy="1337204"/>
          </a:xfrm>
          <a:prstGeom prst="roundRect">
            <a:avLst>
              <a:gd name="adj" fmla="val 10447"/>
            </a:avLst>
          </a:prstGeom>
          <a:gradFill rotWithShape="1">
            <a:gsLst>
              <a:gs pos="0">
                <a:srgbClr val="0E1B4D"/>
              </a:gs>
              <a:gs pos="100000">
                <a:srgbClr val="23318A"/>
              </a:gs>
            </a:gsLst>
            <a:lin ang="2700000" scaled="0"/>
          </a:gradFill>
          <a:ln/>
        </p:spPr>
        <p:txBody>
          <a:bodyPr/>
          <a:lstStyle/>
          <a:p>
            <a:endParaRPr lang="en-US" dirty="0"/>
          </a:p>
        </p:txBody>
      </p:sp>
      <p:sp>
        <p:nvSpPr>
          <p:cNvPr id="5" name="Text 3"/>
          <p:cNvSpPr/>
          <p:nvPr/>
        </p:nvSpPr>
        <p:spPr>
          <a:xfrm>
            <a:off x="800100" y="699470"/>
            <a:ext cx="9588373"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247"/>
                </a:solidFill>
                <a:latin typeface="Nunito Sans" pitchFamily="34" charset="0"/>
                <a:ea typeface="Nunito Sans" pitchFamily="34" charset="-122"/>
                <a:cs typeface="Nunito Sans" pitchFamily="34" charset="-120"/>
              </a:rPr>
              <a:t>PULSE · CAREGIVER STRESS-RISK DECISION SUPPORT</a:t>
            </a:r>
            <a:endParaRPr lang="en-US" sz="1200" dirty="0"/>
          </a:p>
        </p:txBody>
      </p:sp>
      <p:sp>
        <p:nvSpPr>
          <p:cNvPr id="6" name="Text 4"/>
          <p:cNvSpPr/>
          <p:nvPr/>
        </p:nvSpPr>
        <p:spPr>
          <a:xfrm>
            <a:off x="800100" y="950913"/>
            <a:ext cx="9588373" cy="543454"/>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FFF"/>
                </a:solidFill>
                <a:latin typeface="Rubik" pitchFamily="34" charset="0"/>
                <a:ea typeface="Rubik" pitchFamily="34" charset="-122"/>
                <a:cs typeface="Rubik" pitchFamily="34" charset="-120"/>
              </a:rPr>
              <a:t>AI-Assisted Caregiver Workforce Deterioration Detection and Adaptive Workload Redistribution (PULSE)</a:t>
            </a:r>
            <a:endParaRPr lang="en-US" sz="1700" dirty="0"/>
          </a:p>
        </p:txBody>
      </p:sp>
      <p:pic>
        <p:nvPicPr>
          <p:cNvPr id="8" name="Image 0" descr="Dayana Priyadharshani Kumar"/>
          <p:cNvPicPr>
            <a:picLocks noChangeAspect="1"/>
          </p:cNvPicPr>
          <p:nvPr/>
        </p:nvPicPr>
        <p:blipFill>
          <a:blip r:embed="rId3"/>
          <a:srcRect l="617" r="617"/>
          <a:stretch/>
        </p:blipFill>
        <p:spPr>
          <a:xfrm>
            <a:off x="10344150" y="778052"/>
            <a:ext cx="1016000" cy="1016000"/>
          </a:xfrm>
          <a:prstGeom prst="ellipse">
            <a:avLst/>
          </a:prstGeom>
        </p:spPr>
      </p:pic>
      <p:sp>
        <p:nvSpPr>
          <p:cNvPr id="9" name="Shape 6"/>
          <p:cNvSpPr/>
          <p:nvPr/>
        </p:nvSpPr>
        <p:spPr>
          <a:xfrm>
            <a:off x="10328275" y="762177"/>
            <a:ext cx="1047750" cy="1047750"/>
          </a:xfrm>
          <a:prstGeom prst="ellipse">
            <a:avLst/>
          </a:prstGeom>
          <a:noFill/>
          <a:ln w="31750">
            <a:solidFill>
              <a:srgbClr val="FFC247"/>
            </a:solidFill>
            <a:prstDash val="solid"/>
          </a:ln>
        </p:spPr>
        <p:txBody>
          <a:bodyPr/>
          <a:lstStyle/>
          <a:p>
            <a:endParaRPr lang="en-US"/>
          </a:p>
        </p:txBody>
      </p:sp>
      <p:sp>
        <p:nvSpPr>
          <p:cNvPr id="10" name="Shape 7"/>
          <p:cNvSpPr/>
          <p:nvPr/>
        </p:nvSpPr>
        <p:spPr>
          <a:xfrm>
            <a:off x="609600"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1" name="Text 8"/>
          <p:cNvSpPr/>
          <p:nvPr/>
        </p:nvSpPr>
        <p:spPr>
          <a:xfrm>
            <a:off x="749300" y="2126193"/>
            <a:ext cx="411057"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C8304B"/>
                </a:solidFill>
                <a:latin typeface="Rubik" pitchFamily="34" charset="0"/>
                <a:ea typeface="Rubik" pitchFamily="34" charset="-122"/>
                <a:cs typeface="Rubik" pitchFamily="34" charset="-120"/>
              </a:rPr>
              <a:t>01</a:t>
            </a:r>
            <a:endParaRPr lang="en-US" sz="2200" dirty="0"/>
          </a:p>
        </p:txBody>
      </p:sp>
      <p:sp>
        <p:nvSpPr>
          <p:cNvPr id="12" name="Text 9"/>
          <p:cNvSpPr/>
          <p:nvPr/>
        </p:nvSpPr>
        <p:spPr>
          <a:xfrm>
            <a:off x="1180747" y="2173111"/>
            <a:ext cx="2408555"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8304B"/>
                </a:solidFill>
                <a:latin typeface="Nunito Sans" pitchFamily="34" charset="0"/>
                <a:ea typeface="Nunito Sans" pitchFamily="34" charset="-122"/>
                <a:cs typeface="Nunito Sans" pitchFamily="34" charset="-120"/>
              </a:rPr>
              <a:t>PERSONALIZED MODEL</a:t>
            </a:r>
            <a:endParaRPr lang="en-US" sz="1200" dirty="0"/>
          </a:p>
        </p:txBody>
      </p:sp>
      <p:sp>
        <p:nvSpPr>
          <p:cNvPr id="13" name="Text 10"/>
          <p:cNvSpPr/>
          <p:nvPr/>
        </p:nvSpPr>
        <p:spPr>
          <a:xfrm>
            <a:off x="749300" y="2452601"/>
            <a:ext cx="3392339" cy="217488"/>
          </a:xfrm>
          <a:prstGeom prst="rect">
            <a:avLst/>
          </a:prstGeom>
          <a:noFill/>
          <a:ln/>
        </p:spPr>
        <p:txBody>
          <a:bodyPr wrap="square" lIns="0" tIns="0" rIns="0" bIns="0" rtlCol="0" anchor="t">
            <a:normAutofit/>
          </a:bodyPr>
          <a:lstStyle/>
          <a:p>
            <a:pPr marL="0" indent="0" algn="l">
              <a:lnSpc>
                <a:spcPts val="1520"/>
              </a:lnSpc>
              <a:buNone/>
            </a:pPr>
            <a:r>
              <a:rPr lang="en-US" sz="1322" b="1" dirty="0">
                <a:solidFill>
                  <a:srgbClr val="0E1B4D"/>
                </a:solidFill>
                <a:latin typeface="Nunito Sans" pitchFamily="34" charset="0"/>
                <a:ea typeface="Nunito Sans" pitchFamily="34" charset="-122"/>
                <a:cs typeface="Nunito Sans" pitchFamily="34" charset="-120"/>
              </a:rPr>
              <a:t>Two-stage LightGBM</a:t>
            </a:r>
            <a:endParaRPr lang="en-US" sz="1322" dirty="0"/>
          </a:p>
        </p:txBody>
      </p:sp>
      <p:sp>
        <p:nvSpPr>
          <p:cNvPr id="14" name="Text 11"/>
          <p:cNvSpPr/>
          <p:nvPr/>
        </p:nvSpPr>
        <p:spPr>
          <a:xfrm>
            <a:off x="749300" y="2682788"/>
            <a:ext cx="3392339" cy="526344"/>
          </a:xfrm>
          <a:prstGeom prst="rect">
            <a:avLst/>
          </a:prstGeom>
          <a:noFill/>
          <a:ln/>
        </p:spPr>
        <p:txBody>
          <a:bodyPr wrap="square" lIns="0" tIns="0" rIns="0" bIns="0" rtlCol="0" anchor="t">
            <a:normAutofit/>
          </a:bodyPr>
          <a:lstStyle/>
          <a:p>
            <a:pPr marL="0" indent="0" algn="l">
              <a:lnSpc>
                <a:spcPts val="1406"/>
              </a:lnSpc>
              <a:buNone/>
            </a:pPr>
            <a:r>
              <a:rPr lang="en-US" sz="1125" dirty="0">
                <a:solidFill>
                  <a:srgbClr val="1B2A5E"/>
                </a:solidFill>
                <a:latin typeface="Nunito Sans" pitchFamily="34" charset="0"/>
                <a:ea typeface="Nunito Sans" pitchFamily="34" charset="-122"/>
                <a:cs typeface="Nunito Sans" pitchFamily="34" charset="-120"/>
              </a:rPr>
              <a:t>Personalized pipeline using heart rate, physical activity, sleep and previous EMA stress information.</a:t>
            </a:r>
            <a:endParaRPr lang="en-US" sz="1125" dirty="0"/>
          </a:p>
        </p:txBody>
      </p:sp>
      <p:sp>
        <p:nvSpPr>
          <p:cNvPr id="15" name="Shape 12"/>
          <p:cNvSpPr/>
          <p:nvPr/>
        </p:nvSpPr>
        <p:spPr>
          <a:xfrm>
            <a:off x="4309533"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6" name="Text 13"/>
          <p:cNvSpPr/>
          <p:nvPr/>
        </p:nvSpPr>
        <p:spPr>
          <a:xfrm>
            <a:off x="4449233" y="2145153"/>
            <a:ext cx="461433"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C8304B"/>
                </a:solidFill>
                <a:latin typeface="Rubik" pitchFamily="34" charset="0"/>
                <a:ea typeface="Rubik" pitchFamily="34" charset="-122"/>
                <a:cs typeface="Rubik" pitchFamily="34" charset="-120"/>
              </a:rPr>
              <a:t>02</a:t>
            </a:r>
            <a:endParaRPr lang="en-US" sz="2200" dirty="0"/>
          </a:p>
        </p:txBody>
      </p:sp>
      <p:sp>
        <p:nvSpPr>
          <p:cNvPr id="17" name="Text 14"/>
          <p:cNvSpPr/>
          <p:nvPr/>
        </p:nvSpPr>
        <p:spPr>
          <a:xfrm>
            <a:off x="4922661" y="2192074"/>
            <a:ext cx="1988185"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8304B"/>
                </a:solidFill>
                <a:latin typeface="Nunito Sans" pitchFamily="34" charset="0"/>
                <a:ea typeface="Nunito Sans" pitchFamily="34" charset="-122"/>
                <a:cs typeface="Nunito Sans" pitchFamily="34" charset="-120"/>
              </a:rPr>
              <a:t>EXPLAINABLE RISK</a:t>
            </a:r>
            <a:endParaRPr lang="en-US" sz="1200" dirty="0"/>
          </a:p>
        </p:txBody>
      </p:sp>
      <p:sp>
        <p:nvSpPr>
          <p:cNvPr id="18" name="Text 15"/>
          <p:cNvSpPr/>
          <p:nvPr/>
        </p:nvSpPr>
        <p:spPr>
          <a:xfrm>
            <a:off x="4449233" y="2490524"/>
            <a:ext cx="3392339"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0E1B4D"/>
                </a:solidFill>
                <a:latin typeface="Nunito Sans" pitchFamily="34" charset="0"/>
                <a:ea typeface="Nunito Sans" pitchFamily="34" charset="-122"/>
                <a:cs typeface="Nunito Sans" pitchFamily="34" charset="-120"/>
              </a:rPr>
              <a:t>SHAP-based factors</a:t>
            </a:r>
            <a:endParaRPr lang="en-US" sz="1500" dirty="0"/>
          </a:p>
        </p:txBody>
      </p:sp>
      <p:sp>
        <p:nvSpPr>
          <p:cNvPr id="19" name="Text 16"/>
          <p:cNvSpPr/>
          <p:nvPr/>
        </p:nvSpPr>
        <p:spPr>
          <a:xfrm>
            <a:off x="4449233" y="2747699"/>
            <a:ext cx="3392339"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Stress-risk probabilities shown in clear risk tiers with their SHAP-based contributing factors.</a:t>
            </a:r>
            <a:endParaRPr lang="en-US" sz="1200" dirty="0"/>
          </a:p>
        </p:txBody>
      </p:sp>
      <p:sp>
        <p:nvSpPr>
          <p:cNvPr id="20" name="Shape 17"/>
          <p:cNvSpPr/>
          <p:nvPr/>
        </p:nvSpPr>
        <p:spPr>
          <a:xfrm>
            <a:off x="8009467"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21" name="Text 18"/>
          <p:cNvSpPr/>
          <p:nvPr/>
        </p:nvSpPr>
        <p:spPr>
          <a:xfrm>
            <a:off x="8149167" y="2145153"/>
            <a:ext cx="463762"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C8304B"/>
                </a:solidFill>
                <a:latin typeface="Rubik" pitchFamily="34" charset="0"/>
                <a:ea typeface="Rubik" pitchFamily="34" charset="-122"/>
                <a:cs typeface="Rubik" pitchFamily="34" charset="-120"/>
              </a:rPr>
              <a:t>03</a:t>
            </a:r>
            <a:endParaRPr lang="en-US" sz="2200" dirty="0"/>
          </a:p>
        </p:txBody>
      </p:sp>
      <p:sp>
        <p:nvSpPr>
          <p:cNvPr id="22" name="Text 19"/>
          <p:cNvSpPr/>
          <p:nvPr/>
        </p:nvSpPr>
        <p:spPr>
          <a:xfrm>
            <a:off x="8624535" y="2192074"/>
            <a:ext cx="2237423"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8304B"/>
                </a:solidFill>
                <a:latin typeface="Nunito Sans" pitchFamily="34" charset="0"/>
                <a:ea typeface="Nunito Sans" pitchFamily="34" charset="-122"/>
                <a:cs typeface="Nunito Sans" pitchFamily="34" charset="-120"/>
              </a:rPr>
              <a:t>SUPERVISOR REVIEW</a:t>
            </a:r>
            <a:endParaRPr lang="en-US" sz="1200" dirty="0"/>
          </a:p>
        </p:txBody>
      </p:sp>
      <p:sp>
        <p:nvSpPr>
          <p:cNvPr id="23" name="Text 20"/>
          <p:cNvSpPr/>
          <p:nvPr/>
        </p:nvSpPr>
        <p:spPr>
          <a:xfrm>
            <a:off x="8149167" y="2490524"/>
            <a:ext cx="3392339"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0E1B4D"/>
                </a:solidFill>
                <a:latin typeface="Nunito Sans" pitchFamily="34" charset="0"/>
                <a:ea typeface="Nunito Sans" pitchFamily="34" charset="-122"/>
                <a:cs typeface="Nunito Sans" pitchFamily="34" charset="-120"/>
              </a:rPr>
              <a:t>Workload redistribution</a:t>
            </a:r>
            <a:endParaRPr lang="en-US" sz="1500" dirty="0"/>
          </a:p>
        </p:txBody>
      </p:sp>
      <p:sp>
        <p:nvSpPr>
          <p:cNvPr id="24" name="Text 21"/>
          <p:cNvSpPr/>
          <p:nvPr/>
        </p:nvSpPr>
        <p:spPr>
          <a:xfrm>
            <a:off x="8149167" y="2747699"/>
            <a:ext cx="3392339" cy="4064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Sustained high-risk patterns and supervisor-reviewed workload redistribution suggestions.</a:t>
            </a:r>
            <a:endParaRPr lang="en-US" sz="1200" dirty="0"/>
          </a:p>
        </p:txBody>
      </p:sp>
      <p:sp>
        <p:nvSpPr>
          <p:cNvPr id="25" name="Shape 22"/>
          <p:cNvSpPr/>
          <p:nvPr/>
        </p:nvSpPr>
        <p:spPr>
          <a:xfrm>
            <a:off x="609600" y="3374231"/>
            <a:ext cx="2665236" cy="1082763"/>
          </a:xfrm>
          <a:prstGeom prst="roundRect">
            <a:avLst>
              <a:gd name="adj" fmla="val 10556"/>
            </a:avLst>
          </a:prstGeom>
          <a:solidFill>
            <a:srgbClr val="C8304B"/>
          </a:solidFill>
          <a:ln/>
          <a:effectLst>
            <a:outerShdw blurRad="25400" dir="60000" algn="bl" rotWithShape="0">
              <a:srgbClr val="FFC247">
                <a:alpha val="100000"/>
              </a:srgbClr>
            </a:outerShdw>
          </a:effectLst>
        </p:spPr>
        <p:txBody>
          <a:bodyPr/>
          <a:lstStyle/>
          <a:p>
            <a:endParaRPr lang="en-US"/>
          </a:p>
        </p:txBody>
      </p:sp>
      <p:sp>
        <p:nvSpPr>
          <p:cNvPr id="26" name="Text 23"/>
          <p:cNvSpPr/>
          <p:nvPr/>
        </p:nvSpPr>
        <p:spPr>
          <a:xfrm>
            <a:off x="736600" y="3463131"/>
            <a:ext cx="2483573"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FFFFFF"/>
                </a:solidFill>
                <a:latin typeface="Rubik" pitchFamily="34" charset="0"/>
                <a:ea typeface="Rubik" pitchFamily="34" charset="-122"/>
                <a:cs typeface="Rubik" pitchFamily="34" charset="-120"/>
              </a:rPr>
              <a:t>0.7211</a:t>
            </a:r>
            <a:endParaRPr lang="en-US" sz="2400" dirty="0"/>
          </a:p>
        </p:txBody>
      </p:sp>
      <p:sp>
        <p:nvSpPr>
          <p:cNvPr id="27" name="Text 24"/>
          <p:cNvSpPr/>
          <p:nvPr/>
        </p:nvSpPr>
        <p:spPr>
          <a:xfrm>
            <a:off x="736600" y="3811057"/>
            <a:ext cx="2483573"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Held-out ROC-AUC</a:t>
            </a:r>
            <a:endParaRPr lang="en-US" sz="1200" dirty="0"/>
          </a:p>
        </p:txBody>
      </p:sp>
      <p:sp>
        <p:nvSpPr>
          <p:cNvPr id="28" name="Text 25"/>
          <p:cNvSpPr/>
          <p:nvPr/>
        </p:nvSpPr>
        <p:spPr>
          <a:xfrm>
            <a:off x="736600" y="4037099"/>
            <a:ext cx="2483573"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FFFFF"/>
                </a:solidFill>
                <a:latin typeface="Nunito Sans" pitchFamily="34" charset="0"/>
                <a:ea typeface="Nunito Sans" pitchFamily="34" charset="-122"/>
                <a:cs typeface="Nunito Sans" pitchFamily="34" charset="-120"/>
              </a:rPr>
              <a:t>27 caregivers, 1,406 assessments</a:t>
            </a:r>
            <a:endParaRPr lang="en-US" sz="1200" dirty="0"/>
          </a:p>
        </p:txBody>
      </p:sp>
      <p:sp>
        <p:nvSpPr>
          <p:cNvPr id="29" name="Shape 26"/>
          <p:cNvSpPr/>
          <p:nvPr/>
        </p:nvSpPr>
        <p:spPr>
          <a:xfrm>
            <a:off x="3370086" y="3380581"/>
            <a:ext cx="2675114" cy="1070063"/>
          </a:xfrm>
          <a:prstGeom prst="roundRect">
            <a:avLst>
              <a:gd name="adj" fmla="val 10088"/>
            </a:avLst>
          </a:prstGeom>
          <a:solidFill>
            <a:srgbClr val="FFFFFF"/>
          </a:solidFill>
          <a:ln w="12700">
            <a:solidFill>
              <a:srgbClr val="C8304B"/>
            </a:solidFill>
            <a:prstDash val="solid"/>
          </a:ln>
        </p:spPr>
        <p:txBody>
          <a:bodyPr/>
          <a:lstStyle/>
          <a:p>
            <a:endParaRPr lang="en-US"/>
          </a:p>
        </p:txBody>
      </p:sp>
      <p:sp>
        <p:nvSpPr>
          <p:cNvPr id="30" name="Text 27"/>
          <p:cNvSpPr/>
          <p:nvPr/>
        </p:nvSpPr>
        <p:spPr>
          <a:xfrm>
            <a:off x="3502025" y="3474420"/>
            <a:ext cx="2483573" cy="320058"/>
          </a:xfrm>
          <a:prstGeom prst="rect">
            <a:avLst/>
          </a:prstGeom>
          <a:noFill/>
          <a:ln/>
        </p:spPr>
        <p:txBody>
          <a:bodyPr wrap="square" lIns="0" tIns="0" rIns="0" bIns="0" rtlCol="0" anchor="t">
            <a:normAutofit/>
          </a:bodyPr>
          <a:lstStyle/>
          <a:p>
            <a:pPr marL="0" indent="0" algn="l">
              <a:lnSpc>
                <a:spcPts val="2318"/>
              </a:lnSpc>
              <a:buNone/>
            </a:pPr>
            <a:r>
              <a:rPr lang="en-US" sz="2108" b="1" dirty="0">
                <a:solidFill>
                  <a:srgbClr val="C8304B"/>
                </a:solidFill>
                <a:latin typeface="Rubik" pitchFamily="34" charset="0"/>
                <a:ea typeface="Rubik" pitchFamily="34" charset="-122"/>
                <a:cs typeface="Rubik" pitchFamily="34" charset="-120"/>
              </a:rPr>
              <a:t>0.6991</a:t>
            </a:r>
            <a:endParaRPr lang="en-US" sz="2108" dirty="0"/>
          </a:p>
        </p:txBody>
      </p:sp>
      <p:sp>
        <p:nvSpPr>
          <p:cNvPr id="31" name="Text 28"/>
          <p:cNvSpPr/>
          <p:nvPr/>
        </p:nvSpPr>
        <p:spPr>
          <a:xfrm>
            <a:off x="3502025" y="3781778"/>
            <a:ext cx="2483573" cy="212813"/>
          </a:xfrm>
          <a:prstGeom prst="rect">
            <a:avLst/>
          </a:prstGeom>
          <a:noFill/>
          <a:ln/>
        </p:spPr>
        <p:txBody>
          <a:bodyPr wrap="square" lIns="0" tIns="0" rIns="0" bIns="0" rtlCol="0" anchor="t">
            <a:normAutofit/>
          </a:bodyPr>
          <a:lstStyle/>
          <a:p>
            <a:pPr marL="0" indent="0" algn="l">
              <a:lnSpc>
                <a:spcPts val="1523"/>
              </a:lnSpc>
              <a:buNone/>
            </a:pPr>
            <a:r>
              <a:rPr lang="en-US" sz="1088" b="1" dirty="0">
                <a:solidFill>
                  <a:srgbClr val="0E1B4D"/>
                </a:solidFill>
                <a:latin typeface="Nunito Sans" pitchFamily="34" charset="0"/>
                <a:ea typeface="Nunito Sans" pitchFamily="34" charset="-122"/>
                <a:cs typeface="Nunito Sans" pitchFamily="34" charset="-120"/>
              </a:rPr>
              <a:t>Grouped validation ROC-AUC</a:t>
            </a:r>
            <a:endParaRPr lang="en-US" sz="1088" dirty="0"/>
          </a:p>
        </p:txBody>
      </p:sp>
      <p:sp>
        <p:nvSpPr>
          <p:cNvPr id="32" name="Text 29"/>
          <p:cNvSpPr/>
          <p:nvPr/>
        </p:nvSpPr>
        <p:spPr>
          <a:xfrm>
            <a:off x="3502025" y="3981890"/>
            <a:ext cx="2536825" cy="400315"/>
          </a:xfrm>
          <a:prstGeom prst="rect">
            <a:avLst/>
          </a:prstGeom>
          <a:noFill/>
          <a:ln/>
        </p:spPr>
        <p:txBody>
          <a:bodyPr wrap="square" lIns="0" tIns="0" rIns="0" bIns="0" rtlCol="0" anchor="t">
            <a:normAutofit/>
          </a:bodyPr>
          <a:lstStyle/>
          <a:p>
            <a:pPr marL="0" indent="0" algn="l">
              <a:lnSpc>
                <a:spcPts val="1638"/>
              </a:lnSpc>
              <a:buNone/>
            </a:pPr>
            <a:r>
              <a:rPr lang="en-US" sz="1170" dirty="0">
                <a:solidFill>
                  <a:srgbClr val="4B5683"/>
                </a:solidFill>
                <a:latin typeface="Nunito Sans" pitchFamily="34" charset="0"/>
                <a:ea typeface="Nunito Sans" pitchFamily="34" charset="-122"/>
                <a:cs typeface="Nunito Sans" pitchFamily="34" charset="-120"/>
              </a:rPr>
              <a:t>repeated, participant-grouped mean</a:t>
            </a:r>
            <a:endParaRPr lang="en-US" sz="1170" dirty="0"/>
          </a:p>
        </p:txBody>
      </p:sp>
      <p:sp>
        <p:nvSpPr>
          <p:cNvPr id="33" name="Shape 30"/>
          <p:cNvSpPr/>
          <p:nvPr/>
        </p:nvSpPr>
        <p:spPr>
          <a:xfrm>
            <a:off x="6146800" y="3380581"/>
            <a:ext cx="2675114" cy="1070063"/>
          </a:xfrm>
          <a:prstGeom prst="roundRect">
            <a:avLst>
              <a:gd name="adj" fmla="val 10088"/>
            </a:avLst>
          </a:prstGeom>
          <a:solidFill>
            <a:srgbClr val="FFFFFF"/>
          </a:solidFill>
          <a:ln w="12700">
            <a:solidFill>
              <a:srgbClr val="C8304B"/>
            </a:solidFill>
            <a:prstDash val="solid"/>
          </a:ln>
        </p:spPr>
        <p:txBody>
          <a:bodyPr/>
          <a:lstStyle/>
          <a:p>
            <a:endParaRPr lang="en-US"/>
          </a:p>
        </p:txBody>
      </p:sp>
      <p:sp>
        <p:nvSpPr>
          <p:cNvPr id="34" name="Text 31"/>
          <p:cNvSpPr/>
          <p:nvPr/>
        </p:nvSpPr>
        <p:spPr>
          <a:xfrm>
            <a:off x="6278739" y="3474420"/>
            <a:ext cx="2483573"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C8304B"/>
                </a:solidFill>
                <a:latin typeface="Rubik" pitchFamily="34" charset="0"/>
                <a:ea typeface="Rubik" pitchFamily="34" charset="-122"/>
                <a:cs typeface="Rubik" pitchFamily="34" charset="-120"/>
              </a:rPr>
              <a:t>79.30%</a:t>
            </a:r>
            <a:endParaRPr lang="en-US" sz="2400" dirty="0"/>
          </a:p>
        </p:txBody>
      </p:sp>
      <p:sp>
        <p:nvSpPr>
          <p:cNvPr id="35" name="Text 32"/>
          <p:cNvSpPr/>
          <p:nvPr/>
        </p:nvSpPr>
        <p:spPr>
          <a:xfrm>
            <a:off x="6278739" y="3822347"/>
            <a:ext cx="2483573"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Test accuracy</a:t>
            </a:r>
            <a:endParaRPr lang="en-US" sz="1200" dirty="0"/>
          </a:p>
        </p:txBody>
      </p:sp>
      <p:sp>
        <p:nvSpPr>
          <p:cNvPr id="36" name="Text 33"/>
          <p:cNvSpPr/>
          <p:nvPr/>
        </p:nvSpPr>
        <p:spPr>
          <a:xfrm>
            <a:off x="6278739" y="4048392"/>
            <a:ext cx="2483573"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683"/>
                </a:solidFill>
                <a:latin typeface="Nunito Sans" pitchFamily="34" charset="0"/>
                <a:ea typeface="Nunito Sans" pitchFamily="34" charset="-122"/>
                <a:cs typeface="Nunito Sans" pitchFamily="34" charset="-120"/>
              </a:rPr>
              <a:t>vs 78.73% majority baseline</a:t>
            </a:r>
            <a:endParaRPr lang="en-US" sz="1200" dirty="0"/>
          </a:p>
        </p:txBody>
      </p:sp>
      <p:sp>
        <p:nvSpPr>
          <p:cNvPr id="37" name="Shape 34"/>
          <p:cNvSpPr/>
          <p:nvPr/>
        </p:nvSpPr>
        <p:spPr>
          <a:xfrm>
            <a:off x="8917164" y="3374231"/>
            <a:ext cx="2665236" cy="1082763"/>
          </a:xfrm>
          <a:prstGeom prst="roundRect">
            <a:avLst>
              <a:gd name="adj" fmla="val 10556"/>
            </a:avLst>
          </a:prstGeom>
          <a:solidFill>
            <a:srgbClr val="FFC247"/>
          </a:solidFill>
          <a:ln/>
          <a:effectLst>
            <a:outerShdw blurRad="25400" dir="60000" algn="bl" rotWithShape="0">
              <a:srgbClr val="C8304B">
                <a:alpha val="100000"/>
              </a:srgbClr>
            </a:outerShdw>
          </a:effectLst>
        </p:spPr>
        <p:txBody>
          <a:bodyPr/>
          <a:lstStyle/>
          <a:p>
            <a:endParaRPr lang="en-US"/>
          </a:p>
        </p:txBody>
      </p:sp>
      <p:sp>
        <p:nvSpPr>
          <p:cNvPr id="38" name="Text 35"/>
          <p:cNvSpPr/>
          <p:nvPr/>
        </p:nvSpPr>
        <p:spPr>
          <a:xfrm>
            <a:off x="9044164" y="3463131"/>
            <a:ext cx="2483573" cy="360627"/>
          </a:xfrm>
          <a:prstGeom prst="rect">
            <a:avLst/>
          </a:prstGeom>
          <a:noFill/>
          <a:ln/>
        </p:spPr>
        <p:txBody>
          <a:bodyPr wrap="square" lIns="0" tIns="0" rIns="0" bIns="0" rtlCol="0" anchor="t">
            <a:normAutofit/>
          </a:bodyPr>
          <a:lstStyle/>
          <a:p>
            <a:pPr marL="0" indent="0" algn="l">
              <a:lnSpc>
                <a:spcPts val="2640"/>
              </a:lnSpc>
              <a:buNone/>
            </a:pPr>
            <a:r>
              <a:rPr lang="en-US" sz="2400" b="1" dirty="0">
                <a:solidFill>
                  <a:srgbClr val="0E1B4D"/>
                </a:solidFill>
                <a:latin typeface="Rubik" pitchFamily="34" charset="0"/>
                <a:ea typeface="Rubik" pitchFamily="34" charset="-122"/>
                <a:cs typeface="Rubik" pitchFamily="34" charset="-120"/>
              </a:rPr>
              <a:t>+0.0125</a:t>
            </a:r>
            <a:endParaRPr lang="en-US" sz="2400" dirty="0"/>
          </a:p>
        </p:txBody>
      </p:sp>
      <p:sp>
        <p:nvSpPr>
          <p:cNvPr id="39" name="Text 36"/>
          <p:cNvSpPr/>
          <p:nvPr/>
        </p:nvSpPr>
        <p:spPr>
          <a:xfrm>
            <a:off x="9044164" y="3811057"/>
            <a:ext cx="2483573"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Personalized HR modelling</a:t>
            </a:r>
            <a:endParaRPr lang="en-US" sz="1200" dirty="0"/>
          </a:p>
        </p:txBody>
      </p:sp>
      <p:sp>
        <p:nvSpPr>
          <p:cNvPr id="40" name="Text 37"/>
          <p:cNvSpPr/>
          <p:nvPr/>
        </p:nvSpPr>
        <p:spPr>
          <a:xfrm>
            <a:off x="9044164" y="4037099"/>
            <a:ext cx="2483573" cy="23874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E1B4D"/>
                </a:solidFill>
                <a:latin typeface="Nunito Sans" pitchFamily="34" charset="0"/>
                <a:ea typeface="Nunito Sans" pitchFamily="34" charset="-122"/>
                <a:cs typeface="Nunito Sans" pitchFamily="34" charset="-120"/>
              </a:rPr>
              <a:t>ROC-AUC 0.7086 to 0.7211</a:t>
            </a:r>
            <a:endParaRPr lang="en-US" sz="1200" dirty="0"/>
          </a:p>
        </p:txBody>
      </p:sp>
      <p:sp>
        <p:nvSpPr>
          <p:cNvPr id="41" name="Shape 38"/>
          <p:cNvSpPr/>
          <p:nvPr/>
        </p:nvSpPr>
        <p:spPr>
          <a:xfrm>
            <a:off x="609600" y="4545893"/>
            <a:ext cx="5287347" cy="1062390"/>
          </a:xfrm>
          <a:prstGeom prst="roundRect">
            <a:avLst>
              <a:gd name="adj" fmla="val 9563"/>
            </a:avLst>
          </a:prstGeom>
          <a:solidFill>
            <a:srgbClr val="E8F7F6"/>
          </a:solidFill>
          <a:ln/>
        </p:spPr>
        <p:txBody>
          <a:bodyPr/>
          <a:lstStyle/>
          <a:p>
            <a:endParaRPr lang="en-US"/>
          </a:p>
        </p:txBody>
      </p:sp>
      <p:sp>
        <p:nvSpPr>
          <p:cNvPr id="42" name="Shape 39"/>
          <p:cNvSpPr/>
          <p:nvPr/>
        </p:nvSpPr>
        <p:spPr>
          <a:xfrm>
            <a:off x="609600" y="4545893"/>
            <a:ext cx="3572933" cy="1062390"/>
          </a:xfrm>
          <a:custGeom>
            <a:avLst/>
            <a:gdLst/>
            <a:ahLst/>
            <a:cxnLst/>
            <a:rect l="l" t="t" r="r" b="b"/>
            <a:pathLst>
              <a:path w="3572933" h="1062390">
                <a:moveTo>
                  <a:pt x="101600" y="1062390"/>
                </a:moveTo>
                <a:lnTo>
                  <a:pt x="101600" y="1062390"/>
                </a:lnTo>
                <a:arcTo wR="101600" hR="101600" stAng="5400000" swAng="5400000"/>
                <a:lnTo>
                  <a:pt x="0" y="101600"/>
                </a:lnTo>
                <a:arcTo wR="101600" hR="101600" stAng="10800000" swAng="5400000"/>
                <a:lnTo>
                  <a:pt x="101600" y="0"/>
                </a:lnTo>
                <a:arcTo wR="50800" hR="101600" stAng="16200000" swAng="-5400000"/>
                <a:lnTo>
                  <a:pt x="50800" y="960790"/>
                </a:lnTo>
                <a:arcTo wR="50800" hR="101600" stAng="10800000" swAng="-5400000"/>
                <a:close/>
              </a:path>
            </a:pathLst>
          </a:custGeom>
          <a:solidFill>
            <a:srgbClr val="0A7F7C"/>
          </a:solidFill>
          <a:ln/>
        </p:spPr>
        <p:txBody>
          <a:bodyPr/>
          <a:lstStyle/>
          <a:p>
            <a:endParaRPr lang="en-US"/>
          </a:p>
        </p:txBody>
      </p:sp>
      <p:sp>
        <p:nvSpPr>
          <p:cNvPr id="43" name="Text 40"/>
          <p:cNvSpPr/>
          <p:nvPr/>
        </p:nvSpPr>
        <p:spPr>
          <a:xfrm>
            <a:off x="787400" y="4634793"/>
            <a:ext cx="3366177" cy="228688"/>
          </a:xfrm>
          <a:prstGeom prst="rect">
            <a:avLst/>
          </a:prstGeom>
          <a:noFill/>
          <a:ln/>
        </p:spPr>
        <p:txBody>
          <a:bodyPr wrap="square" lIns="0" tIns="0" rIns="0" bIns="0" rtlCol="0" anchor="t">
            <a:normAutofit/>
          </a:bodyPr>
          <a:lstStyle/>
          <a:p>
            <a:pPr marL="0" indent="0" algn="l">
              <a:lnSpc>
                <a:spcPts val="1621"/>
              </a:lnSpc>
              <a:buNone/>
            </a:pPr>
            <a:r>
              <a:rPr lang="en-US" sz="1158" b="1" dirty="0">
                <a:solidFill>
                  <a:srgbClr val="06504E"/>
                </a:solidFill>
                <a:latin typeface="Nunito Sans" pitchFamily="34" charset="0"/>
                <a:ea typeface="Nunito Sans" pitchFamily="34" charset="-122"/>
                <a:cs typeface="Nunito Sans" pitchFamily="34" charset="-120"/>
              </a:rPr>
              <a:t>Caregiver feedback</a:t>
            </a:r>
            <a:endParaRPr lang="en-US" sz="1158" dirty="0"/>
          </a:p>
        </p:txBody>
      </p:sp>
      <p:sp>
        <p:nvSpPr>
          <p:cNvPr id="44" name="Text 41"/>
          <p:cNvSpPr/>
          <p:nvPr/>
        </p:nvSpPr>
        <p:spPr>
          <a:xfrm>
            <a:off x="886349" y="4876186"/>
            <a:ext cx="3259609" cy="668602"/>
          </a:xfrm>
          <a:prstGeom prst="rect">
            <a:avLst/>
          </a:prstGeom>
          <a:noFill/>
          <a:ln/>
        </p:spPr>
        <p:txBody>
          <a:bodyPr wrap="square" lIns="0" tIns="0" rIns="0" bIns="0" rtlCol="0" anchor="t">
            <a:normAutofit/>
          </a:bodyPr>
          <a:lstStyle/>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Colours and SHAP lists easy to follow</a:t>
            </a:r>
            <a:endParaRPr lang="en-US" sz="1181" dirty="0"/>
          </a:p>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Wants caregiver notes and workload context</a:t>
            </a:r>
            <a:endParaRPr lang="en-US" sz="1181" dirty="0"/>
          </a:p>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Redistribution shown for review only</a:t>
            </a:r>
            <a:endParaRPr lang="en-US" sz="1181" dirty="0"/>
          </a:p>
        </p:txBody>
      </p:sp>
      <p:sp>
        <p:nvSpPr>
          <p:cNvPr id="49" name="Shape 46"/>
          <p:cNvSpPr/>
          <p:nvPr/>
        </p:nvSpPr>
        <p:spPr>
          <a:xfrm>
            <a:off x="6173697" y="4545893"/>
            <a:ext cx="5408704" cy="1062390"/>
          </a:xfrm>
          <a:prstGeom prst="roundRect">
            <a:avLst>
              <a:gd name="adj" fmla="val 9563"/>
            </a:avLst>
          </a:prstGeom>
          <a:solidFill>
            <a:srgbClr val="ECE6FF"/>
          </a:solidFill>
          <a:ln/>
        </p:spPr>
        <p:txBody>
          <a:bodyPr/>
          <a:lstStyle/>
          <a:p>
            <a:endParaRPr lang="en-US"/>
          </a:p>
        </p:txBody>
      </p:sp>
      <p:sp>
        <p:nvSpPr>
          <p:cNvPr id="50" name="Shape 47"/>
          <p:cNvSpPr/>
          <p:nvPr/>
        </p:nvSpPr>
        <p:spPr>
          <a:xfrm>
            <a:off x="6074747" y="4545893"/>
            <a:ext cx="5507653" cy="1062390"/>
          </a:xfrm>
          <a:custGeom>
            <a:avLst/>
            <a:gdLst/>
            <a:ahLst/>
            <a:cxnLst/>
            <a:rect l="l" t="t" r="r" b="b"/>
            <a:pathLst>
              <a:path w="3572933" h="1062390">
                <a:moveTo>
                  <a:pt x="101600" y="1062390"/>
                </a:moveTo>
                <a:lnTo>
                  <a:pt x="101600" y="1062390"/>
                </a:lnTo>
                <a:arcTo wR="101600" hR="101600" stAng="5400000" swAng="5400000"/>
                <a:lnTo>
                  <a:pt x="0" y="101600"/>
                </a:lnTo>
                <a:arcTo wR="101600" hR="101600" stAng="10800000" swAng="5400000"/>
                <a:lnTo>
                  <a:pt x="101600" y="0"/>
                </a:lnTo>
                <a:arcTo wR="50800" hR="101600" stAng="16200000" swAng="-5400000"/>
                <a:lnTo>
                  <a:pt x="50800" y="960790"/>
                </a:lnTo>
                <a:arcTo wR="50800" hR="101600" stAng="10800000" swAng="-5400000"/>
                <a:close/>
              </a:path>
            </a:pathLst>
          </a:custGeom>
          <a:solidFill>
            <a:srgbClr val="6B46E0"/>
          </a:solidFill>
          <a:ln/>
        </p:spPr>
        <p:txBody>
          <a:bodyPr/>
          <a:lstStyle/>
          <a:p>
            <a:endParaRPr lang="en-US"/>
          </a:p>
        </p:txBody>
      </p:sp>
      <p:sp>
        <p:nvSpPr>
          <p:cNvPr id="51" name="Text 48"/>
          <p:cNvSpPr/>
          <p:nvPr/>
        </p:nvSpPr>
        <p:spPr>
          <a:xfrm>
            <a:off x="6326378" y="4645096"/>
            <a:ext cx="336617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B2290"/>
                </a:solidFill>
                <a:latin typeface="Nunito Sans" pitchFamily="34" charset="0"/>
                <a:ea typeface="Nunito Sans" pitchFamily="34" charset="-122"/>
                <a:cs typeface="Nunito Sans" pitchFamily="34" charset="-120"/>
              </a:rPr>
              <a:t>Future improvements</a:t>
            </a:r>
            <a:endParaRPr lang="en-US" sz="1300" dirty="0"/>
          </a:p>
        </p:txBody>
      </p:sp>
      <p:sp>
        <p:nvSpPr>
          <p:cNvPr id="52" name="Text 49"/>
          <p:cNvSpPr/>
          <p:nvPr/>
        </p:nvSpPr>
        <p:spPr>
          <a:xfrm>
            <a:off x="6425184" y="4914270"/>
            <a:ext cx="3259751" cy="573881"/>
          </a:xfrm>
          <a:prstGeom prst="rect">
            <a:avLst/>
          </a:prstGeom>
          <a:noFill/>
          <a:ln/>
        </p:spPr>
        <p:txBody>
          <a:bodyPr wrap="square" lIns="0" tIns="0" rIns="0" bIns="0" rtlCol="0" anchor="t">
            <a:normAutofit/>
          </a:bodyPr>
          <a:lstStyle/>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Retrain on ethical care-home data</a:t>
            </a:r>
            <a:endParaRPr lang="en-US" sz="1200" dirty="0"/>
          </a:p>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Add physiological and workload features</a:t>
            </a:r>
            <a:endParaRPr lang="en-US" sz="1200" dirty="0"/>
          </a:p>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Use skill mix and staffing limits</a:t>
            </a:r>
            <a:endParaRPr lang="en-US" sz="1200" dirty="0"/>
          </a:p>
        </p:txBody>
      </p:sp>
      <p:sp>
        <p:nvSpPr>
          <p:cNvPr id="53" name="Shape 50"/>
          <p:cNvSpPr/>
          <p:nvPr/>
        </p:nvSpPr>
        <p:spPr>
          <a:xfrm>
            <a:off x="609600" y="5697184"/>
            <a:ext cx="10972800" cy="360715"/>
          </a:xfrm>
          <a:prstGeom prst="roundRect">
            <a:avLst>
              <a:gd name="adj" fmla="val 28166"/>
            </a:avLst>
          </a:prstGeom>
          <a:solidFill>
            <a:srgbClr val="FFC247"/>
          </a:solidFill>
          <a:ln/>
        </p:spPr>
        <p:txBody>
          <a:bodyPr/>
          <a:lstStyle/>
          <a:p>
            <a:endParaRPr lang="en-US"/>
          </a:p>
        </p:txBody>
      </p:sp>
      <p:sp>
        <p:nvSpPr>
          <p:cNvPr id="54" name="Text 51"/>
          <p:cNvSpPr/>
          <p:nvPr/>
        </p:nvSpPr>
        <p:spPr>
          <a:xfrm>
            <a:off x="749300" y="5773384"/>
            <a:ext cx="11014202" cy="233715"/>
          </a:xfrm>
          <a:prstGeom prst="rect">
            <a:avLst/>
          </a:prstGeom>
          <a:noFill/>
          <a:ln/>
        </p:spPr>
        <p:txBody>
          <a:bodyPr wrap="square" lIns="0" tIns="0" rIns="0" bIns="0" rtlCol="0" anchor="t">
            <a:normAutofit/>
          </a:bodyPr>
          <a:lstStyle/>
          <a:p>
            <a:pPr marL="0" indent="0" algn="l">
              <a:lnSpc>
                <a:spcPts val="1672"/>
              </a:lnSpc>
              <a:buNone/>
            </a:pPr>
            <a:r>
              <a:rPr lang="en-US" sz="1194" b="1" dirty="0">
                <a:solidFill>
                  <a:srgbClr val="0E1B4D"/>
                </a:solidFill>
                <a:latin typeface="Nunito Sans" pitchFamily="34" charset="0"/>
                <a:ea typeface="Nunito Sans" pitchFamily="34" charset="-122"/>
                <a:cs typeface="Nunito Sans" pitchFamily="34" charset="-120"/>
              </a:rPr>
              <a:t>Decision support for supervisors: every workload change is reviewed by a person.</a:t>
            </a:r>
            <a:endParaRPr lang="en-US" sz="1194" dirty="0"/>
          </a:p>
        </p:txBody>
      </p:sp>
      <p:sp>
        <p:nvSpPr>
          <p:cNvPr id="55" name="Shape 52"/>
          <p:cNvSpPr/>
          <p:nvPr/>
        </p:nvSpPr>
        <p:spPr>
          <a:xfrm>
            <a:off x="0" y="6273800"/>
            <a:ext cx="12192000" cy="584200"/>
          </a:xfrm>
          <a:prstGeom prst="rect">
            <a:avLst/>
          </a:prstGeom>
          <a:solidFill>
            <a:srgbClr val="FFFFFF"/>
          </a:solidFill>
          <a:ln/>
        </p:spPr>
        <p:txBody>
          <a:bodyPr/>
          <a:lstStyle/>
          <a:p>
            <a:endParaRPr lang="en-US"/>
          </a:p>
        </p:txBody>
      </p:sp>
      <p:sp>
        <p:nvSpPr>
          <p:cNvPr id="56" name="Shape 53"/>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57" name="Image 1" descr="SLIIT Faculty of Computing logo"/>
          <p:cNvPicPr>
            <a:picLocks noChangeAspect="1"/>
          </p:cNvPicPr>
          <p:nvPr/>
        </p:nvPicPr>
        <p:blipFill>
          <a:blip r:embed="rId4"/>
          <a:srcRect t="-370" b="-370"/>
          <a:stretch/>
        </p:blipFill>
        <p:spPr>
          <a:xfrm>
            <a:off x="406400" y="6362700"/>
            <a:ext cx="2032000" cy="406400"/>
          </a:xfrm>
          <a:prstGeom prst="rect">
            <a:avLst/>
          </a:prstGeom>
        </p:spPr>
      </p:pic>
      <p:sp>
        <p:nvSpPr>
          <p:cNvPr id="58" name="Text 54"/>
          <p:cNvSpPr/>
          <p:nvPr/>
        </p:nvSpPr>
        <p:spPr>
          <a:xfrm>
            <a:off x="4133850" y="6408471"/>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59" name="Text 55"/>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8</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609600" y="254000"/>
            <a:ext cx="7872800" cy="374650"/>
          </a:xfrm>
          <a:prstGeom prst="rect">
            <a:avLst/>
          </a:prstGeom>
          <a:noFill/>
          <a:ln/>
        </p:spPr>
        <p:txBody>
          <a:bodyPr wrap="square" lIns="0" tIns="0" rIns="0" bIns="0" rtlCol="0" anchor="t">
            <a:normAutofit/>
          </a:bodyPr>
          <a:lstStyle/>
          <a:p>
            <a:pPr marL="0" indent="0" algn="l">
              <a:lnSpc>
                <a:spcPts val="2420"/>
              </a:lnSpc>
              <a:buNone/>
            </a:pPr>
            <a:r>
              <a:rPr lang="en-US" sz="2200" b="1" i="0" dirty="0">
                <a:solidFill>
                  <a:srgbClr val="0E1B4D"/>
                </a:solidFill>
                <a:latin typeface="Rubik" pitchFamily="34" charset="0"/>
                <a:ea typeface="Rubik" pitchFamily="34" charset="-122"/>
                <a:cs typeface="Rubik" pitchFamily="34" charset="-120"/>
              </a:rPr>
              <a:t>IT22057488 | HARISHALINEE ELANGOVAN</a:t>
            </a:r>
            <a:endParaRPr lang="en-US" sz="2200" dirty="0"/>
          </a:p>
        </p:txBody>
      </p:sp>
      <p:sp>
        <p:nvSpPr>
          <p:cNvPr id="3" name="Text 1"/>
          <p:cNvSpPr/>
          <p:nvPr/>
        </p:nvSpPr>
        <p:spPr>
          <a:xfrm>
            <a:off x="8582400" y="271109"/>
            <a:ext cx="3000000" cy="314942"/>
          </a:xfrm>
          <a:prstGeom prst="roundRect">
            <a:avLst>
              <a:gd name="adj" fmla="val 50000"/>
            </a:avLst>
          </a:prstGeom>
          <a:solidFill>
            <a:srgbClr val="FFC247"/>
          </a:solidFill>
          <a:ln/>
        </p:spPr>
        <p:txBody>
          <a:bodyPr wrap="none" lIns="0" tIns="0" rIns="0" bIns="0" rtlCol="0" anchor="ctr">
            <a:normAutofit/>
          </a:bodyPr>
          <a:lstStyle/>
          <a:p>
            <a:pPr marL="0" indent="0" algn="ctr">
              <a:lnSpc>
                <a:spcPts val="1680"/>
              </a:lnSpc>
              <a:buNone/>
            </a:pPr>
            <a:r>
              <a:rPr lang="en-US" sz="1200" b="1" dirty="0">
                <a:solidFill>
                  <a:srgbClr val="0E1B4D"/>
                </a:solidFill>
                <a:latin typeface="Nunito Sans" pitchFamily="34" charset="0"/>
                <a:ea typeface="Nunito Sans" pitchFamily="34" charset="-122"/>
                <a:cs typeface="Nunito Sans" pitchFamily="34" charset="-120"/>
              </a:rPr>
              <a:t>SENTRY · Individual Component</a:t>
            </a:r>
            <a:endParaRPr lang="en-US" sz="1200" dirty="0"/>
          </a:p>
        </p:txBody>
      </p:sp>
      <p:sp>
        <p:nvSpPr>
          <p:cNvPr id="101" name="Hero card"/>
          <p:cNvSpPr/>
          <p:nvPr/>
        </p:nvSpPr>
        <p:spPr>
          <a:xfrm>
            <a:off x="609600" y="704850"/>
            <a:ext cx="10972800" cy="1707750"/>
          </a:xfrm>
          <a:prstGeom prst="roundRect">
            <a:avLst>
              <a:gd name="adj" fmla="val 5803"/>
            </a:avLst>
          </a:prstGeom>
          <a:gradFill rotWithShape="1">
            <a:gsLst>
              <a:gs pos="0">
                <a:srgbClr val="0E1B4D"/>
              </a:gs>
              <a:gs pos="100000">
                <a:srgbClr val="23318A"/>
              </a:gs>
            </a:gsLst>
            <a:lin ang="2700000" scaled="0"/>
          </a:gradFill>
          <a:ln/>
        </p:spPr>
        <p:txBody>
          <a:bodyPr/>
          <a:lstStyle/>
          <a:p>
            <a:endParaRPr lang="en-US"/>
          </a:p>
        </p:txBody>
      </p:sp>
      <p:sp>
        <p:nvSpPr>
          <p:cNvPr id="102" name="Hero label"/>
          <p:cNvSpPr/>
          <p:nvPr/>
        </p:nvSpPr>
        <p:spPr>
          <a:xfrm>
            <a:off x="800100" y="839850"/>
            <a:ext cx="865380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FFC247"/>
                </a:solidFill>
                <a:latin typeface="Nunito Sans" pitchFamily="34" charset="0"/>
                <a:ea typeface="Nunito Sans" pitchFamily="34" charset="-122"/>
                <a:cs typeface="Nunito Sans" pitchFamily="34" charset="-120"/>
              </a:rPr>
              <a:t>SENTRY · SKELETAL FALL RISK DETECTION</a:t>
            </a:r>
            <a:endParaRPr lang="en-US" sz="1100" dirty="0"/>
          </a:p>
        </p:txBody>
      </p:sp>
      <p:sp>
        <p:nvSpPr>
          <p:cNvPr id="103" name="Component title"/>
          <p:cNvSpPr/>
          <p:nvPr/>
        </p:nvSpPr>
        <p:spPr>
          <a:xfrm>
            <a:off x="800100" y="1084850"/>
            <a:ext cx="8653800" cy="540000"/>
          </a:xfrm>
          <a:prstGeom prst="rect">
            <a:avLst/>
          </a:prstGeom>
          <a:noFill/>
          <a:ln/>
        </p:spPr>
        <p:txBody>
          <a:bodyPr wrap="square" lIns="0" tIns="0" rIns="0" bIns="0" rtlCol="0" anchor="t">
            <a:normAutofit/>
          </a:bodyPr>
          <a:lstStyle/>
          <a:p>
            <a:pPr marL="0" indent="0" algn="l">
              <a:lnSpc>
                <a:spcPts val="2100"/>
              </a:lnSpc>
              <a:buNone/>
            </a:pPr>
            <a:r>
              <a:rPr lang="en-US" sz="1700" b="1" dirty="0">
                <a:solidFill>
                  <a:srgbClr val="FFFFFF"/>
                </a:solidFill>
                <a:latin typeface="Rubik" pitchFamily="34" charset="0"/>
                <a:ea typeface="Rubik" pitchFamily="34" charset="-122"/>
                <a:cs typeface="Rubik" pitchFamily="34" charset="-120"/>
              </a:rPr>
              <a:t>Edge-Enabled Skeletal Movement Analysis System for Real-Time Patient Observable Fall Risk Detection and Prediction</a:t>
            </a:r>
            <a:endParaRPr lang="en-US" sz="1700" dirty="0"/>
          </a:p>
        </p:txBody>
      </p:sp>
      <p:pic>
        <p:nvPicPr>
          <p:cNvPr id="105" name="Presenter photo" descr="Professional photo of Harishalinee Elangovan"/>
          <p:cNvPicPr>
            <a:picLocks noChangeAspect="1"/>
          </p:cNvPicPr>
          <p:nvPr/>
        </p:nvPicPr>
        <p:blipFill>
          <a:blip r:embed="rId2"/>
          <a:stretch>
            <a:fillRect/>
          </a:stretch>
        </p:blipFill>
        <p:spPr>
          <a:xfrm>
            <a:off x="9703900" y="904850"/>
            <a:ext cx="1362206" cy="1250841"/>
          </a:xfrm>
          <a:prstGeom prst="roundRect">
            <a:avLst>
              <a:gd name="adj" fmla="val 7000"/>
            </a:avLst>
          </a:prstGeom>
          <a:ln w="28575">
            <a:solidFill>
              <a:srgbClr val="FFC247"/>
            </a:solidFill>
          </a:ln>
        </p:spPr>
      </p:pic>
      <p:sp>
        <p:nvSpPr>
          <p:cNvPr id="106" name="Card 1"/>
          <p:cNvSpPr/>
          <p:nvPr/>
        </p:nvSpPr>
        <p:spPr>
          <a:xfrm>
            <a:off x="609600" y="2789850"/>
            <a:ext cx="2647950" cy="1700000"/>
          </a:xfrm>
          <a:prstGeom prst="roundRect">
            <a:avLst>
              <a:gd name="adj" fmla="val 954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07" name="Card 1 label"/>
          <p:cNvSpPr/>
          <p:nvPr/>
        </p:nvSpPr>
        <p:spPr>
          <a:xfrm>
            <a:off x="749600" y="2919850"/>
            <a:ext cx="236795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B45F06"/>
                </a:solidFill>
                <a:latin typeface="Nunito Sans" pitchFamily="34" charset="0"/>
                <a:ea typeface="Nunito Sans" pitchFamily="34" charset="-122"/>
                <a:cs typeface="Nunito Sans" pitchFamily="34" charset="-120"/>
              </a:rPr>
              <a:t>POSE TRACKING</a:t>
            </a:r>
            <a:endParaRPr lang="en-US" sz="1100" dirty="0"/>
          </a:p>
        </p:txBody>
      </p:sp>
      <p:sp>
        <p:nvSpPr>
          <p:cNvPr id="108" name="Card 1 heading"/>
          <p:cNvSpPr/>
          <p:nvPr/>
        </p:nvSpPr>
        <p:spPr>
          <a:xfrm>
            <a:off x="749600" y="3189850"/>
            <a:ext cx="2367950" cy="330000"/>
          </a:xfrm>
          <a:prstGeom prst="rect">
            <a:avLst/>
          </a:prstGeom>
          <a:noFill/>
          <a:ln/>
        </p:spPr>
        <p:txBody>
          <a:bodyPr wrap="square" lIns="0" tIns="0" rIns="0" bIns="0" rtlCol="0" anchor="t">
            <a:normAutofit/>
          </a:bodyPr>
          <a:lstStyle/>
          <a:p>
            <a:pPr marL="0" indent="0" algn="l">
              <a:lnSpc>
                <a:spcPts val="2000"/>
              </a:lnSpc>
              <a:buNone/>
            </a:pPr>
            <a:r>
              <a:rPr lang="en-US" sz="1700" b="1" dirty="0">
                <a:solidFill>
                  <a:srgbClr val="0E1B4D"/>
                </a:solidFill>
                <a:latin typeface="Rubik" pitchFamily="34" charset="0"/>
                <a:ea typeface="Rubik" pitchFamily="34" charset="-122"/>
                <a:cs typeface="Rubik" pitchFamily="34" charset="-120"/>
              </a:rPr>
              <a:t>14 body joints</a:t>
            </a:r>
            <a:endParaRPr lang="en-US" sz="1700" dirty="0"/>
          </a:p>
        </p:txBody>
      </p:sp>
      <p:sp>
        <p:nvSpPr>
          <p:cNvPr id="109" name="Card 1 body"/>
          <p:cNvSpPr/>
          <p:nvPr/>
        </p:nvSpPr>
        <p:spPr>
          <a:xfrm>
            <a:off x="749600" y="3589850"/>
            <a:ext cx="2367950" cy="8200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MediaPipe Pose tracks the skeleton and analyses 3 seconds of movement per inference.</a:t>
            </a:r>
            <a:endParaRPr lang="en-US" sz="1200" dirty="0"/>
          </a:p>
        </p:txBody>
      </p:sp>
      <p:sp>
        <p:nvSpPr>
          <p:cNvPr id="110" name="Card 2"/>
          <p:cNvSpPr/>
          <p:nvPr/>
        </p:nvSpPr>
        <p:spPr>
          <a:xfrm>
            <a:off x="3384550" y="2789850"/>
            <a:ext cx="2647950" cy="1700000"/>
          </a:xfrm>
          <a:prstGeom prst="roundRect">
            <a:avLst>
              <a:gd name="adj" fmla="val 954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11" name="Card 2 label"/>
          <p:cNvSpPr/>
          <p:nvPr/>
        </p:nvSpPr>
        <p:spPr>
          <a:xfrm>
            <a:off x="3524550" y="2919850"/>
            <a:ext cx="236795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B45F06"/>
                </a:solidFill>
                <a:latin typeface="Nunito Sans" pitchFamily="34" charset="0"/>
                <a:ea typeface="Nunito Sans" pitchFamily="34" charset="-122"/>
                <a:cs typeface="Nunito Sans" pitchFamily="34" charset="-120"/>
              </a:rPr>
              <a:t>LATE FUSION MODEL</a:t>
            </a:r>
            <a:endParaRPr lang="en-US" sz="1100" dirty="0"/>
          </a:p>
        </p:txBody>
      </p:sp>
      <p:sp>
        <p:nvSpPr>
          <p:cNvPr id="112" name="Card 2 heading"/>
          <p:cNvSpPr/>
          <p:nvPr/>
        </p:nvSpPr>
        <p:spPr>
          <a:xfrm>
            <a:off x="3524550" y="3189850"/>
            <a:ext cx="2367950" cy="330000"/>
          </a:xfrm>
          <a:prstGeom prst="rect">
            <a:avLst/>
          </a:prstGeom>
          <a:noFill/>
          <a:ln/>
        </p:spPr>
        <p:txBody>
          <a:bodyPr wrap="square" lIns="0" tIns="0" rIns="0" bIns="0" rtlCol="0" anchor="t">
            <a:normAutofit/>
          </a:bodyPr>
          <a:lstStyle/>
          <a:p>
            <a:pPr marL="0" indent="0" algn="l">
              <a:lnSpc>
                <a:spcPts val="2000"/>
              </a:lnSpc>
              <a:buNone/>
            </a:pPr>
            <a:r>
              <a:rPr lang="en-US" sz="1700" b="1" dirty="0">
                <a:solidFill>
                  <a:srgbClr val="0E1B4D"/>
                </a:solidFill>
                <a:latin typeface="Rubik" pitchFamily="34" charset="0"/>
                <a:ea typeface="Rubik" pitchFamily="34" charset="-122"/>
                <a:cs typeface="Rubik" pitchFamily="34" charset="-120"/>
              </a:rPr>
              <a:t>ST-GCN fusion</a:t>
            </a:r>
            <a:endParaRPr lang="en-US" sz="1700" dirty="0"/>
          </a:p>
        </p:txBody>
      </p:sp>
      <p:sp>
        <p:nvSpPr>
          <p:cNvPr id="113" name="Card 2 body"/>
          <p:cNvSpPr/>
          <p:nvPr/>
        </p:nvSpPr>
        <p:spPr>
          <a:xfrm>
            <a:off x="3524550" y="3589850"/>
            <a:ext cx="2367950" cy="8200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Skeleton graph combined with 18 biomechanical features into a risk score of 0.0–1.0.</a:t>
            </a:r>
            <a:endParaRPr lang="en-US" sz="1200" dirty="0"/>
          </a:p>
        </p:txBody>
      </p:sp>
      <p:sp>
        <p:nvSpPr>
          <p:cNvPr id="114" name="Card 3"/>
          <p:cNvSpPr/>
          <p:nvPr/>
        </p:nvSpPr>
        <p:spPr>
          <a:xfrm>
            <a:off x="6159500" y="2789850"/>
            <a:ext cx="2647950" cy="1700000"/>
          </a:xfrm>
          <a:prstGeom prst="roundRect">
            <a:avLst>
              <a:gd name="adj" fmla="val 954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15" name="Card 3 label"/>
          <p:cNvSpPr/>
          <p:nvPr/>
        </p:nvSpPr>
        <p:spPr>
          <a:xfrm>
            <a:off x="6299500" y="2919850"/>
            <a:ext cx="236795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B45F06"/>
                </a:solidFill>
                <a:latin typeface="Nunito Sans" pitchFamily="34" charset="0"/>
                <a:ea typeface="Nunito Sans" pitchFamily="34" charset="-122"/>
                <a:cs typeface="Nunito Sans" pitchFamily="34" charset="-120"/>
              </a:rPr>
              <a:t>RISK LEVELS</a:t>
            </a:r>
            <a:endParaRPr lang="en-US" sz="1100" dirty="0"/>
          </a:p>
        </p:txBody>
      </p:sp>
      <p:sp>
        <p:nvSpPr>
          <p:cNvPr id="116" name="Card 3 heading"/>
          <p:cNvSpPr/>
          <p:nvPr/>
        </p:nvSpPr>
        <p:spPr>
          <a:xfrm>
            <a:off x="6299500" y="3189850"/>
            <a:ext cx="2367950" cy="330000"/>
          </a:xfrm>
          <a:prstGeom prst="rect">
            <a:avLst/>
          </a:prstGeom>
          <a:noFill/>
          <a:ln/>
        </p:spPr>
        <p:txBody>
          <a:bodyPr wrap="square" lIns="0" tIns="0" rIns="0" bIns="0" rtlCol="0" anchor="t">
            <a:normAutofit/>
          </a:bodyPr>
          <a:lstStyle/>
          <a:p>
            <a:pPr marL="0" indent="0" algn="l">
              <a:lnSpc>
                <a:spcPts val="2000"/>
              </a:lnSpc>
              <a:buNone/>
            </a:pPr>
            <a:r>
              <a:rPr lang="en-US" sz="1700" b="1" dirty="0">
                <a:solidFill>
                  <a:srgbClr val="0E1B4D"/>
                </a:solidFill>
                <a:latin typeface="Rubik" pitchFamily="34" charset="0"/>
                <a:ea typeface="Rubik" pitchFamily="34" charset="-122"/>
                <a:cs typeface="Rubik" pitchFamily="34" charset="-120"/>
              </a:rPr>
              <a:t>3 alert levels</a:t>
            </a:r>
            <a:endParaRPr lang="en-US" sz="1700" dirty="0"/>
          </a:p>
        </p:txBody>
      </p:sp>
      <p:sp>
        <p:nvSpPr>
          <p:cNvPr id="117" name="Card 3 body"/>
          <p:cNvSpPr/>
          <p:nvPr/>
        </p:nvSpPr>
        <p:spPr>
          <a:xfrm>
            <a:off x="6299500" y="3589850"/>
            <a:ext cx="2367950" cy="8200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NORMAL, MODERATE or HIGH, with zone-aware modifiers for bed and chair areas.</a:t>
            </a:r>
            <a:endParaRPr lang="en-US" sz="1200" dirty="0"/>
          </a:p>
        </p:txBody>
      </p:sp>
      <p:sp>
        <p:nvSpPr>
          <p:cNvPr id="118" name="Card 4"/>
          <p:cNvSpPr/>
          <p:nvPr/>
        </p:nvSpPr>
        <p:spPr>
          <a:xfrm>
            <a:off x="8934450" y="2789850"/>
            <a:ext cx="2647950" cy="1700000"/>
          </a:xfrm>
          <a:prstGeom prst="roundRect">
            <a:avLst>
              <a:gd name="adj" fmla="val 954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19" name="Card 4 label"/>
          <p:cNvSpPr/>
          <p:nvPr/>
        </p:nvSpPr>
        <p:spPr>
          <a:xfrm>
            <a:off x="9074450" y="2919850"/>
            <a:ext cx="236795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B45F06"/>
                </a:solidFill>
                <a:latin typeface="Nunito Sans" pitchFamily="34" charset="0"/>
                <a:ea typeface="Nunito Sans" pitchFamily="34" charset="-122"/>
                <a:cs typeface="Nunito Sans" pitchFamily="34" charset="-120"/>
              </a:rPr>
              <a:t>TRAINING DATA</a:t>
            </a:r>
            <a:endParaRPr lang="en-US" sz="1100" dirty="0"/>
          </a:p>
        </p:txBody>
      </p:sp>
      <p:sp>
        <p:nvSpPr>
          <p:cNvPr id="120" name="Card 4 heading"/>
          <p:cNvSpPr/>
          <p:nvPr/>
        </p:nvSpPr>
        <p:spPr>
          <a:xfrm>
            <a:off x="9074450" y="3189850"/>
            <a:ext cx="2367950" cy="330000"/>
          </a:xfrm>
          <a:prstGeom prst="rect">
            <a:avLst/>
          </a:prstGeom>
          <a:noFill/>
          <a:ln/>
        </p:spPr>
        <p:txBody>
          <a:bodyPr wrap="square" lIns="0" tIns="0" rIns="0" bIns="0" rtlCol="0" anchor="t">
            <a:normAutofit/>
          </a:bodyPr>
          <a:lstStyle/>
          <a:p>
            <a:pPr marL="0" indent="0" algn="l">
              <a:lnSpc>
                <a:spcPts val="2000"/>
              </a:lnSpc>
              <a:buNone/>
            </a:pPr>
            <a:r>
              <a:rPr lang="en-US" sz="1700" b="1" dirty="0">
                <a:solidFill>
                  <a:srgbClr val="0E1B4D"/>
                </a:solidFill>
                <a:latin typeface="Rubik" pitchFamily="34" charset="0"/>
                <a:ea typeface="Rubik" pitchFamily="34" charset="-122"/>
                <a:cs typeface="Rubik" pitchFamily="34" charset="-120"/>
              </a:rPr>
              <a:t>3 datasets</a:t>
            </a:r>
            <a:endParaRPr lang="en-US" sz="1700" dirty="0"/>
          </a:p>
        </p:txBody>
      </p:sp>
      <p:sp>
        <p:nvSpPr>
          <p:cNvPr id="121" name="Card 4 body"/>
          <p:cNvSpPr/>
          <p:nvPr/>
        </p:nvSpPr>
        <p:spPr>
          <a:xfrm>
            <a:off x="9074450" y="3589850"/>
            <a:ext cx="2367950" cy="820000"/>
          </a:xfrm>
          <a:prstGeom prst="rect">
            <a:avLst/>
          </a:prstGeom>
          <a:noFill/>
          <a:ln/>
        </p:spPr>
        <p:txBody>
          <a:bodyPr wrap="square" lIns="0" tIns="0" rIns="0" bIns="0" rtlCol="0" anchor="t">
            <a:norm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NTU RGB+D, UR Fall Detection and in-house Hikvision webcam recordings.</a:t>
            </a:r>
            <a:endParaRPr lang="en-US" sz="1200" dirty="0"/>
          </a:p>
        </p:txBody>
      </p:sp>
      <p:sp>
        <p:nvSpPr>
          <p:cNvPr id="122" name="Metric 1"/>
          <p:cNvSpPr/>
          <p:nvPr/>
        </p:nvSpPr>
        <p:spPr>
          <a:xfrm>
            <a:off x="609600" y="4624850"/>
            <a:ext cx="2647950" cy="1380000"/>
          </a:xfrm>
          <a:prstGeom prst="roundRect">
            <a:avLst>
              <a:gd name="adj" fmla="val 9543"/>
            </a:avLst>
          </a:prstGeom>
          <a:solidFill>
            <a:srgbClr val="B45F06"/>
          </a:solidFill>
          <a:ln/>
        </p:spPr>
        <p:txBody>
          <a:bodyPr/>
          <a:lstStyle/>
          <a:p>
            <a:endParaRPr lang="en-US"/>
          </a:p>
        </p:txBody>
      </p:sp>
      <p:sp>
        <p:nvSpPr>
          <p:cNvPr id="123" name="Metric 1 label"/>
          <p:cNvSpPr/>
          <p:nvPr/>
        </p:nvSpPr>
        <p:spPr>
          <a:xfrm>
            <a:off x="749600" y="4739850"/>
            <a:ext cx="2367950" cy="24000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AUC</a:t>
            </a:r>
            <a:endParaRPr lang="en-US" sz="1200" dirty="0"/>
          </a:p>
        </p:txBody>
      </p:sp>
      <p:sp>
        <p:nvSpPr>
          <p:cNvPr id="124" name="Metric 1 value"/>
          <p:cNvSpPr/>
          <p:nvPr/>
        </p:nvSpPr>
        <p:spPr>
          <a:xfrm>
            <a:off x="749600" y="4984850"/>
            <a:ext cx="2367950" cy="4800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0.9926</a:t>
            </a:r>
            <a:endParaRPr lang="en-US" sz="3200" dirty="0"/>
          </a:p>
        </p:txBody>
      </p:sp>
      <p:sp>
        <p:nvSpPr>
          <p:cNvPr id="125" name="Metric 1 note"/>
          <p:cNvSpPr/>
          <p:nvPr/>
        </p:nvSpPr>
        <p:spPr>
          <a:xfrm>
            <a:off x="749600" y="5504850"/>
            <a:ext cx="2367950" cy="40000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random split</a:t>
            </a:r>
            <a:endParaRPr lang="en-US" sz="1200" dirty="0"/>
          </a:p>
        </p:txBody>
      </p:sp>
      <p:sp>
        <p:nvSpPr>
          <p:cNvPr id="126" name="Metric 2"/>
          <p:cNvSpPr/>
          <p:nvPr/>
        </p:nvSpPr>
        <p:spPr>
          <a:xfrm>
            <a:off x="3384550" y="4624850"/>
            <a:ext cx="2647950" cy="1380000"/>
          </a:xfrm>
          <a:prstGeom prst="roundRect">
            <a:avLst>
              <a:gd name="adj" fmla="val 9543"/>
            </a:avLst>
          </a:prstGeom>
          <a:solidFill>
            <a:srgbClr val="B45F06"/>
          </a:solidFill>
          <a:ln/>
        </p:spPr>
        <p:txBody>
          <a:bodyPr/>
          <a:lstStyle/>
          <a:p>
            <a:endParaRPr lang="en-US"/>
          </a:p>
        </p:txBody>
      </p:sp>
      <p:sp>
        <p:nvSpPr>
          <p:cNvPr id="127" name="Metric 2 label"/>
          <p:cNvSpPr/>
          <p:nvPr/>
        </p:nvSpPr>
        <p:spPr>
          <a:xfrm>
            <a:off x="3524550" y="4739850"/>
            <a:ext cx="2367950" cy="24000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AUC</a:t>
            </a:r>
            <a:endParaRPr lang="en-US" sz="1200" dirty="0"/>
          </a:p>
        </p:txBody>
      </p:sp>
      <p:sp>
        <p:nvSpPr>
          <p:cNvPr id="128" name="Metric 2 value"/>
          <p:cNvSpPr/>
          <p:nvPr/>
        </p:nvSpPr>
        <p:spPr>
          <a:xfrm>
            <a:off x="3524550" y="4984850"/>
            <a:ext cx="2367950" cy="4800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0.9836</a:t>
            </a:r>
            <a:endParaRPr lang="en-US" sz="3200" dirty="0"/>
          </a:p>
        </p:txBody>
      </p:sp>
      <p:sp>
        <p:nvSpPr>
          <p:cNvPr id="129" name="Metric 2 note"/>
          <p:cNvSpPr/>
          <p:nvPr/>
        </p:nvSpPr>
        <p:spPr>
          <a:xfrm>
            <a:off x="3524550" y="5504850"/>
            <a:ext cx="2367950" cy="40000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unseen subjects</a:t>
            </a:r>
            <a:endParaRPr lang="en-US" sz="1200" dirty="0"/>
          </a:p>
        </p:txBody>
      </p:sp>
      <p:sp>
        <p:nvSpPr>
          <p:cNvPr id="130" name="Metric 3"/>
          <p:cNvSpPr/>
          <p:nvPr/>
        </p:nvSpPr>
        <p:spPr>
          <a:xfrm>
            <a:off x="6159500" y="4624850"/>
            <a:ext cx="2647950" cy="1380000"/>
          </a:xfrm>
          <a:prstGeom prst="roundRect">
            <a:avLst>
              <a:gd name="adj" fmla="val 9543"/>
            </a:avLst>
          </a:prstGeom>
          <a:solidFill>
            <a:srgbClr val="B45F06"/>
          </a:solidFill>
          <a:ln/>
        </p:spPr>
        <p:txBody>
          <a:bodyPr/>
          <a:lstStyle/>
          <a:p>
            <a:endParaRPr lang="en-US"/>
          </a:p>
        </p:txBody>
      </p:sp>
      <p:sp>
        <p:nvSpPr>
          <p:cNvPr id="131" name="Metric 3 label"/>
          <p:cNvSpPr/>
          <p:nvPr/>
        </p:nvSpPr>
        <p:spPr>
          <a:xfrm>
            <a:off x="6299500" y="4739850"/>
            <a:ext cx="2367950" cy="24000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ACCURACY</a:t>
            </a:r>
            <a:endParaRPr lang="en-US" sz="1200" dirty="0"/>
          </a:p>
        </p:txBody>
      </p:sp>
      <p:sp>
        <p:nvSpPr>
          <p:cNvPr id="132" name="Metric 3 value"/>
          <p:cNvSpPr/>
          <p:nvPr/>
        </p:nvSpPr>
        <p:spPr>
          <a:xfrm>
            <a:off x="6299500" y="4984850"/>
            <a:ext cx="2367950" cy="4800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91.4%</a:t>
            </a:r>
            <a:endParaRPr lang="en-US" sz="3200" dirty="0"/>
          </a:p>
        </p:txBody>
      </p:sp>
      <p:sp>
        <p:nvSpPr>
          <p:cNvPr id="133" name="Metric 3 note"/>
          <p:cNvSpPr/>
          <p:nvPr/>
        </p:nvSpPr>
        <p:spPr>
          <a:xfrm>
            <a:off x="6299500" y="5504850"/>
            <a:ext cx="2367950" cy="40000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real-world testing</a:t>
            </a:r>
            <a:endParaRPr lang="en-US" sz="1200" dirty="0"/>
          </a:p>
        </p:txBody>
      </p:sp>
      <p:sp>
        <p:nvSpPr>
          <p:cNvPr id="134" name="Metric 4"/>
          <p:cNvSpPr/>
          <p:nvPr/>
        </p:nvSpPr>
        <p:spPr>
          <a:xfrm>
            <a:off x="8934450" y="4624850"/>
            <a:ext cx="2647950" cy="1380000"/>
          </a:xfrm>
          <a:prstGeom prst="roundRect">
            <a:avLst>
              <a:gd name="adj" fmla="val 9543"/>
            </a:avLst>
          </a:prstGeom>
          <a:solidFill>
            <a:srgbClr val="B45F06"/>
          </a:solidFill>
          <a:ln/>
        </p:spPr>
        <p:txBody>
          <a:bodyPr/>
          <a:lstStyle/>
          <a:p>
            <a:endParaRPr lang="en-US"/>
          </a:p>
        </p:txBody>
      </p:sp>
      <p:sp>
        <p:nvSpPr>
          <p:cNvPr id="135" name="Metric 4 label"/>
          <p:cNvSpPr/>
          <p:nvPr/>
        </p:nvSpPr>
        <p:spPr>
          <a:xfrm>
            <a:off x="9074450" y="4739850"/>
            <a:ext cx="2367950" cy="24000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LATENCY</a:t>
            </a:r>
            <a:endParaRPr lang="en-US" sz="1200" dirty="0"/>
          </a:p>
        </p:txBody>
      </p:sp>
      <p:sp>
        <p:nvSpPr>
          <p:cNvPr id="136" name="Metric 4 value"/>
          <p:cNvSpPr/>
          <p:nvPr/>
        </p:nvSpPr>
        <p:spPr>
          <a:xfrm>
            <a:off x="9074450" y="4984850"/>
            <a:ext cx="2367950" cy="4800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5.55 ms</a:t>
            </a:r>
            <a:endParaRPr lang="en-US" sz="3200" dirty="0"/>
          </a:p>
        </p:txBody>
      </p:sp>
      <p:sp>
        <p:nvSpPr>
          <p:cNvPr id="137" name="Metric 4 note"/>
          <p:cNvSpPr/>
          <p:nvPr/>
        </p:nvSpPr>
        <p:spPr>
          <a:xfrm>
            <a:off x="9074450" y="5504850"/>
            <a:ext cx="2367950" cy="400000"/>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fully on-device, real-time</a:t>
            </a:r>
            <a:endParaRPr lang="en-US" sz="1200" dirty="0"/>
          </a:p>
        </p:txBody>
      </p:sp>
      <p:sp>
        <p:nvSpPr>
          <p:cNvPr id="39" name="Shape 36"/>
          <p:cNvSpPr/>
          <p:nvPr/>
        </p:nvSpPr>
        <p:spPr>
          <a:xfrm>
            <a:off x="0" y="6273800"/>
            <a:ext cx="12192000" cy="584200"/>
          </a:xfrm>
          <a:prstGeom prst="rect">
            <a:avLst/>
          </a:prstGeom>
          <a:solidFill>
            <a:srgbClr val="FFFFFF"/>
          </a:solidFill>
          <a:ln/>
        </p:spPr>
        <p:txBody>
          <a:bodyPr/>
          <a:lstStyle/>
          <a:p>
            <a:endParaRPr lang="en-US"/>
          </a:p>
        </p:txBody>
      </p:sp>
      <p:sp>
        <p:nvSpPr>
          <p:cNvPr id="40" name="Shape 37"/>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41" name="Image 1" descr="SLIIT Faculty of Computing logo"/>
          <p:cNvPicPr>
            <a:picLocks noChangeAspect="1"/>
          </p:cNvPicPr>
          <p:nvPr/>
        </p:nvPicPr>
        <p:blipFill>
          <a:blip r:embed="rId3"/>
          <a:srcRect t="-370" b="-370"/>
          <a:stretch/>
        </p:blipFill>
        <p:spPr>
          <a:xfrm>
            <a:off x="406400" y="6362700"/>
            <a:ext cx="2032000" cy="406400"/>
          </a:xfrm>
          <a:prstGeom prst="rect">
            <a:avLst/>
          </a:prstGeom>
        </p:spPr>
      </p:pic>
      <p:sp>
        <p:nvSpPr>
          <p:cNvPr id="42" name="Text 38"/>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43" name="Text 39"/>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8</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hape 102"/>
          <p:cNvSpPr/>
          <p:nvPr/>
        </p:nvSpPr>
        <p:spPr>
          <a:xfrm>
            <a:off x="9364059" y="271109"/>
            <a:ext cx="2218341" cy="314942"/>
          </a:xfrm>
          <a:prstGeom prst="roundRect">
            <a:avLst>
              <a:gd name="adj" fmla="val 50000"/>
            </a:avLst>
          </a:prstGeom>
          <a:solidFill>
            <a:srgbClr val="0A7F7C"/>
          </a:solidFill>
          <a:ln/>
        </p:spPr>
        <p:txBody>
          <a:bodyPr wrap="none" lIns="0" tIns="0" rIns="0" bIns="0" rtlCol="0" anchor="ctr">
            <a:normAutofit/>
          </a:bodyPr>
          <a:lstStyle/>
          <a:p>
            <a:pPr marL="0" indent="0" algn="ctr">
              <a:lnSpc>
                <a:spcPts val="1680"/>
              </a:lnSpc>
              <a:buNone/>
            </a:pPr>
            <a:r>
              <a:rPr lang="en-US" sz="1200" b="1" i="0" dirty="0">
                <a:solidFill>
                  <a:srgbClr val="FFFFFF"/>
                </a:solidFill>
                <a:latin typeface="Nunito Sans" pitchFamily="34" charset="0"/>
                <a:ea typeface="Nunito Sans" pitchFamily="34" charset="-122"/>
                <a:cs typeface="Nunito Sans" pitchFamily="34" charset="-120"/>
              </a:rPr>
              <a:t>Individual component</a:t>
            </a:r>
          </a:p>
        </p:txBody>
      </p:sp>
      <p:sp>
        <p:nvSpPr>
          <p:cNvPr id="103" name="Shape 103"/>
          <p:cNvSpPr/>
          <p:nvPr/>
        </p:nvSpPr>
        <p:spPr>
          <a:xfrm>
            <a:off x="609600" y="704850"/>
            <a:ext cx="10972800" cy="1250000"/>
          </a:xfrm>
          <a:prstGeom prst="roundRect">
            <a:avLst>
              <a:gd name="adj" fmla="val 9543"/>
            </a:avLst>
          </a:prstGeom>
          <a:gradFill rotWithShape="1">
            <a:gsLst>
              <a:gs pos="0">
                <a:srgbClr val="0E1B4D"/>
              </a:gs>
              <a:gs pos="100000">
                <a:srgbClr val="23318A"/>
              </a:gs>
            </a:gsLst>
            <a:lin ang="2700000" scaled="0"/>
          </a:gradFill>
          <a:ln/>
        </p:spPr>
        <p:txBody>
          <a:bodyPr/>
          <a:lstStyle/>
          <a:p>
            <a:endParaRPr lang="en-US"/>
          </a:p>
        </p:txBody>
      </p:sp>
      <p:pic>
        <p:nvPicPr>
          <p:cNvPr id="104" name="Photo 104" descr="Portrait of Vithursha Prabagaran"/>
          <p:cNvPicPr>
            <a:picLocks noChangeAspect="1"/>
          </p:cNvPicPr>
          <p:nvPr/>
        </p:nvPicPr>
        <p:blipFill>
          <a:blip r:embed="rId3"/>
          <a:stretch>
            <a:fillRect/>
          </a:stretch>
        </p:blipFill>
        <p:spPr>
          <a:xfrm>
            <a:off x="769600" y="839850"/>
            <a:ext cx="980000" cy="980000"/>
          </a:xfrm>
          <a:prstGeom prst="ellipse">
            <a:avLst/>
          </a:prstGeom>
          <a:ln w="38100">
            <a:solidFill>
              <a:srgbClr val="FFFFFF"/>
            </a:solidFill>
          </a:ln>
        </p:spPr>
      </p:pic>
      <p:sp>
        <p:nvSpPr>
          <p:cNvPr id="106" name="Text 106"/>
          <p:cNvSpPr/>
          <p:nvPr/>
        </p:nvSpPr>
        <p:spPr>
          <a:xfrm>
            <a:off x="2009600" y="1154850"/>
            <a:ext cx="9372800" cy="680000"/>
          </a:xfrm>
          <a:prstGeom prst="rect">
            <a:avLst/>
          </a:prstGeom>
          <a:noFill/>
          <a:ln/>
        </p:spPr>
        <p:txBody>
          <a:bodyPr wrap="square" lIns="0" tIns="0" rIns="0" bIns="0" rtlCol="0" anchor="t">
            <a:normAutofit/>
          </a:bodyPr>
          <a:lstStyle/>
          <a:p>
            <a:pPr>
              <a:lnSpc>
                <a:spcPts val="2100"/>
              </a:lnSpc>
            </a:pPr>
            <a:r>
              <a:rPr lang="en-US" sz="1700" b="1" dirty="0">
                <a:solidFill>
                  <a:srgbClr val="FFFFFF"/>
                </a:solidFill>
                <a:latin typeface="Rubik" pitchFamily="34" charset="0"/>
                <a:ea typeface="Rubik" pitchFamily="34" charset="-122"/>
              </a:rPr>
              <a:t>SCRIBE – Context-Aware Intelligent System for Automated ADL Extraction and Real-Time Documentation from Caregiver Voice Logs</a:t>
            </a:r>
          </a:p>
        </p:txBody>
      </p:sp>
      <p:sp>
        <p:nvSpPr>
          <p:cNvPr id="107" name="Shape 107"/>
          <p:cNvSpPr/>
          <p:nvPr/>
        </p:nvSpPr>
        <p:spPr>
          <a:xfrm>
            <a:off x="612775" y="2080000"/>
            <a:ext cx="6343650" cy="3220000"/>
          </a:xfrm>
          <a:prstGeom prst="roundRect">
            <a:avLst>
              <a:gd name="adj" fmla="val 4594"/>
            </a:avLst>
          </a:prstGeom>
          <a:solidFill>
            <a:srgbClr val="FFFFFF"/>
          </a:solidFill>
          <a:ln w="6350">
            <a:solidFill>
              <a:srgbClr val="DCE2F2"/>
            </a:solidFill>
          </a:ln>
        </p:spPr>
        <p:txBody>
          <a:bodyPr/>
          <a:lstStyle/>
          <a:p>
            <a:endParaRPr lang="en-US"/>
          </a:p>
        </p:txBody>
      </p:sp>
      <p:sp>
        <p:nvSpPr>
          <p:cNvPr id="108" name="Text 108"/>
          <p:cNvSpPr/>
          <p:nvPr/>
        </p:nvSpPr>
        <p:spPr>
          <a:xfrm>
            <a:off x="793044" y="2235000"/>
            <a:ext cx="5983381" cy="244475"/>
          </a:xfrm>
          <a:prstGeom prst="rect">
            <a:avLst/>
          </a:prstGeom>
          <a:noFill/>
          <a:ln/>
        </p:spPr>
        <p:txBody>
          <a:bodyPr wrap="square" lIns="0" tIns="0" rIns="0" bIns="0" rtlCol="0" anchor="t">
            <a:normAutofit/>
          </a:bodyPr>
          <a:lstStyle/>
          <a:p>
            <a:pPr marL="0" indent="0" algn="l">
              <a:lnSpc>
                <a:spcPts val="1725"/>
              </a:lnSpc>
              <a:buNone/>
            </a:pPr>
            <a:r>
              <a:rPr lang="en-US" sz="1500" b="1" i="0" dirty="0">
                <a:solidFill>
                  <a:srgbClr val="0E1B4D"/>
                </a:solidFill>
                <a:latin typeface="Rubik" pitchFamily="34" charset="0"/>
                <a:ea typeface="Rubik" pitchFamily="34" charset="-122"/>
                <a:cs typeface="Rubik" pitchFamily="34" charset="-120"/>
              </a:rPr>
              <a:t>How SCRIBE works</a:t>
            </a:r>
          </a:p>
        </p:txBody>
      </p:sp>
      <p:sp>
        <p:nvSpPr>
          <p:cNvPr id="109" name="Text 109"/>
          <p:cNvSpPr/>
          <p:nvPr/>
        </p:nvSpPr>
        <p:spPr>
          <a:xfrm>
            <a:off x="793044" y="2540000"/>
            <a:ext cx="5983381" cy="420000"/>
          </a:xfrm>
          <a:prstGeom prst="rect">
            <a:avLst/>
          </a:prstGeom>
          <a:noFill/>
          <a:ln/>
        </p:spPr>
        <p:txBody>
          <a:bodyPr wrap="square" lIns="0" tIns="0" rIns="0" bIns="0" rtlCol="0" anchor="t">
            <a:normAutofit fontScale="85000" lnSpcReduction="10000"/>
          </a:bodyPr>
          <a:lstStyle/>
          <a:p>
            <a:pPr marL="0" indent="0" algn="l">
              <a:lnSpc>
                <a:spcPts val="1440"/>
              </a:lnSpc>
              <a:buNone/>
            </a:pPr>
            <a:r>
              <a:rPr lang="en-US" sz="1200" b="0" i="0" dirty="0">
                <a:solidFill>
                  <a:srgbClr val="4B5683"/>
                </a:solidFill>
                <a:latin typeface="Nunito Sans" pitchFamily="34" charset="0"/>
                <a:ea typeface="Nunito Sans" pitchFamily="34" charset="-122"/>
                <a:cs typeface="Nunito Sans" pitchFamily="34" charset="-120"/>
              </a:rPr>
              <a:t>Caregivers speak their daily care observations instead of writing them by hand. SCRIBE turns each voice log into a structured ADL record and decides whether it needs the supervisor’s attention.</a:t>
            </a:r>
          </a:p>
        </p:txBody>
      </p:sp>
      <p:sp>
        <p:nvSpPr>
          <p:cNvPr id="110" name="Shape 110"/>
          <p:cNvSpPr/>
          <p:nvPr/>
        </p:nvSpPr>
        <p:spPr>
          <a:xfrm>
            <a:off x="793044" y="3130000"/>
            <a:ext cx="330000" cy="330000"/>
          </a:xfrm>
          <a:prstGeom prst="ellipse">
            <a:avLst/>
          </a:prstGeom>
          <a:solidFill>
            <a:srgbClr val="0A7F7C"/>
          </a:solidFill>
          <a:ln/>
        </p:spPr>
        <p:txBody>
          <a:bodyPr wrap="square" lIns="0" tIns="0" rIns="0" bIns="0" rtlCol="0" anchor="ctr">
            <a:normAutofit/>
          </a:bodyPr>
          <a:lstStyle/>
          <a:p>
            <a:pPr marL="0" indent="0" algn="ctr">
              <a:lnSpc>
                <a:spcPts val="1500"/>
              </a:lnSpc>
              <a:buNone/>
            </a:pPr>
            <a:r>
              <a:rPr lang="en-US" sz="1300" b="1" i="0" dirty="0">
                <a:solidFill>
                  <a:srgbClr val="FFFFFF"/>
                </a:solidFill>
                <a:latin typeface="Rubik" pitchFamily="34" charset="0"/>
                <a:ea typeface="Rubik" pitchFamily="34" charset="-122"/>
                <a:cs typeface="Rubik" pitchFamily="34" charset="-120"/>
              </a:rPr>
              <a:t>1</a:t>
            </a:r>
          </a:p>
        </p:txBody>
      </p:sp>
      <p:sp>
        <p:nvSpPr>
          <p:cNvPr id="111" name="Connector 111"/>
          <p:cNvSpPr/>
          <p:nvPr/>
        </p:nvSpPr>
        <p:spPr>
          <a:xfrm>
            <a:off x="958044" y="3460000"/>
            <a:ext cx="0" cy="100000"/>
          </a:xfrm>
          <a:prstGeom prst="line">
            <a:avLst/>
          </a:prstGeom>
          <a:noFill/>
          <a:ln w="12700">
            <a:solidFill>
              <a:srgbClr val="0A7F7C"/>
            </a:solidFill>
          </a:ln>
        </p:spPr>
        <p:txBody>
          <a:bodyPr/>
          <a:lstStyle/>
          <a:p>
            <a:endParaRPr lang="en-US"/>
          </a:p>
        </p:txBody>
      </p:sp>
      <p:sp>
        <p:nvSpPr>
          <p:cNvPr id="112" name="Text 112"/>
          <p:cNvSpPr/>
          <p:nvPr/>
        </p:nvSpPr>
        <p:spPr>
          <a:xfrm>
            <a:off x="1283044" y="3105000"/>
            <a:ext cx="5493381" cy="380000"/>
          </a:xfrm>
          <a:prstGeom prst="rect">
            <a:avLst/>
          </a:prstGeom>
          <a:noFill/>
          <a:ln/>
        </p:spPr>
        <p:txBody>
          <a:bodyPr wrap="square" lIns="0" tIns="0" rIns="0" bIns="0" rtlCol="0" anchor="ctr">
            <a:normAutofit/>
          </a:bodyPr>
          <a:lstStyle/>
          <a:p>
            <a:pPr marL="0" indent="0" algn="l">
              <a:lnSpc>
                <a:spcPts val="1450"/>
              </a:lnSpc>
              <a:buNone/>
            </a:pPr>
            <a:r>
              <a:rPr lang="en-US" sz="1250" b="1" i="0" dirty="0">
                <a:solidFill>
                  <a:srgbClr val="0E1B4D"/>
                </a:solidFill>
                <a:latin typeface="Nunito Sans" pitchFamily="34" charset="0"/>
                <a:ea typeface="Nunito Sans" pitchFamily="34" charset="-122"/>
                <a:cs typeface="Nunito Sans" pitchFamily="34" charset="-120"/>
              </a:rPr>
              <a:t>Whisper-small + LoRA</a:t>
            </a:r>
          </a:p>
          <a:p>
            <a:pPr marL="0" indent="0" algn="l">
              <a:lnSpc>
                <a:spcPts val="1400"/>
              </a:lnSpc>
              <a:buNone/>
            </a:pPr>
            <a:r>
              <a:rPr lang="en-US" sz="1150" b="0" i="0" dirty="0">
                <a:solidFill>
                  <a:srgbClr val="4B5683"/>
                </a:solidFill>
                <a:latin typeface="Nunito Sans" pitchFamily="34" charset="0"/>
                <a:ea typeface="Nunito Sans" pitchFamily="34" charset="-122"/>
                <a:cs typeface="Nunito Sans" pitchFamily="34" charset="-120"/>
              </a:rPr>
              <a:t>Speech recognition for South Asian-accented English</a:t>
            </a:r>
          </a:p>
        </p:txBody>
      </p:sp>
      <p:sp>
        <p:nvSpPr>
          <p:cNvPr id="113" name="Shape 113"/>
          <p:cNvSpPr/>
          <p:nvPr/>
        </p:nvSpPr>
        <p:spPr>
          <a:xfrm>
            <a:off x="793044" y="3560000"/>
            <a:ext cx="330000" cy="330000"/>
          </a:xfrm>
          <a:prstGeom prst="ellipse">
            <a:avLst/>
          </a:prstGeom>
          <a:solidFill>
            <a:srgbClr val="0A7F7C"/>
          </a:solidFill>
          <a:ln/>
        </p:spPr>
        <p:txBody>
          <a:bodyPr wrap="square" lIns="0" tIns="0" rIns="0" bIns="0" rtlCol="0" anchor="ctr">
            <a:normAutofit/>
          </a:bodyPr>
          <a:lstStyle/>
          <a:p>
            <a:pPr marL="0" indent="0" algn="ctr">
              <a:lnSpc>
                <a:spcPts val="1500"/>
              </a:lnSpc>
              <a:buNone/>
            </a:pPr>
            <a:r>
              <a:rPr lang="en-US" sz="1300" b="1" i="0" dirty="0">
                <a:solidFill>
                  <a:srgbClr val="FFFFFF"/>
                </a:solidFill>
                <a:latin typeface="Rubik" pitchFamily="34" charset="0"/>
                <a:ea typeface="Rubik" pitchFamily="34" charset="-122"/>
                <a:cs typeface="Rubik" pitchFamily="34" charset="-120"/>
              </a:rPr>
              <a:t>2</a:t>
            </a:r>
          </a:p>
        </p:txBody>
      </p:sp>
      <p:sp>
        <p:nvSpPr>
          <p:cNvPr id="114" name="Connector 114"/>
          <p:cNvSpPr/>
          <p:nvPr/>
        </p:nvSpPr>
        <p:spPr>
          <a:xfrm>
            <a:off x="958044" y="3890000"/>
            <a:ext cx="0" cy="100000"/>
          </a:xfrm>
          <a:prstGeom prst="line">
            <a:avLst/>
          </a:prstGeom>
          <a:noFill/>
          <a:ln w="12700">
            <a:solidFill>
              <a:srgbClr val="0A7F7C"/>
            </a:solidFill>
          </a:ln>
        </p:spPr>
        <p:txBody>
          <a:bodyPr/>
          <a:lstStyle/>
          <a:p>
            <a:endParaRPr lang="en-US"/>
          </a:p>
        </p:txBody>
      </p:sp>
      <p:sp>
        <p:nvSpPr>
          <p:cNvPr id="115" name="Text 115"/>
          <p:cNvSpPr/>
          <p:nvPr/>
        </p:nvSpPr>
        <p:spPr>
          <a:xfrm>
            <a:off x="1283044" y="3535000"/>
            <a:ext cx="5493381" cy="380000"/>
          </a:xfrm>
          <a:prstGeom prst="rect">
            <a:avLst/>
          </a:prstGeom>
          <a:noFill/>
          <a:ln/>
        </p:spPr>
        <p:txBody>
          <a:bodyPr wrap="square" lIns="0" tIns="0" rIns="0" bIns="0" rtlCol="0" anchor="ctr">
            <a:normAutofit/>
          </a:bodyPr>
          <a:lstStyle/>
          <a:p>
            <a:pPr marL="0" indent="0" algn="l">
              <a:lnSpc>
                <a:spcPts val="1450"/>
              </a:lnSpc>
              <a:buNone/>
            </a:pPr>
            <a:r>
              <a:rPr lang="en-US" sz="1250" b="1" i="0" dirty="0">
                <a:solidFill>
                  <a:srgbClr val="0E1B4D"/>
                </a:solidFill>
                <a:latin typeface="Nunito Sans" pitchFamily="34" charset="0"/>
                <a:ea typeface="Nunito Sans" pitchFamily="34" charset="-122"/>
                <a:cs typeface="Nunito Sans" pitchFamily="34" charset="-120"/>
              </a:rPr>
              <a:t>BART-base</a:t>
            </a:r>
          </a:p>
          <a:p>
            <a:pPr marL="0" indent="0" algn="l">
              <a:lnSpc>
                <a:spcPts val="1400"/>
              </a:lnSpc>
              <a:buNone/>
            </a:pPr>
            <a:r>
              <a:rPr lang="en-US" sz="1150" b="0" i="0" dirty="0">
                <a:solidFill>
                  <a:srgbClr val="4B5683"/>
                </a:solidFill>
                <a:latin typeface="Nunito Sans" pitchFamily="34" charset="0"/>
                <a:ea typeface="Nunito Sans" pitchFamily="34" charset="-122"/>
                <a:cs typeface="Nunito Sans" pitchFamily="34" charset="-120"/>
              </a:rPr>
              <a:t>Removes fillers and spoken self-corrections</a:t>
            </a:r>
          </a:p>
        </p:txBody>
      </p:sp>
      <p:sp>
        <p:nvSpPr>
          <p:cNvPr id="116" name="Shape 116"/>
          <p:cNvSpPr/>
          <p:nvPr/>
        </p:nvSpPr>
        <p:spPr>
          <a:xfrm>
            <a:off x="793044" y="3990000"/>
            <a:ext cx="330000" cy="330000"/>
          </a:xfrm>
          <a:prstGeom prst="ellipse">
            <a:avLst/>
          </a:prstGeom>
          <a:solidFill>
            <a:srgbClr val="0A7F7C"/>
          </a:solidFill>
          <a:ln/>
        </p:spPr>
        <p:txBody>
          <a:bodyPr wrap="square" lIns="0" tIns="0" rIns="0" bIns="0" rtlCol="0" anchor="ctr">
            <a:normAutofit/>
          </a:bodyPr>
          <a:lstStyle/>
          <a:p>
            <a:pPr marL="0" indent="0" algn="ctr">
              <a:lnSpc>
                <a:spcPts val="1500"/>
              </a:lnSpc>
              <a:buNone/>
            </a:pPr>
            <a:r>
              <a:rPr lang="en-US" sz="1300" b="1" i="0" dirty="0">
                <a:solidFill>
                  <a:srgbClr val="FFFFFF"/>
                </a:solidFill>
                <a:latin typeface="Rubik" pitchFamily="34" charset="0"/>
                <a:ea typeface="Rubik" pitchFamily="34" charset="-122"/>
                <a:cs typeface="Rubik" pitchFamily="34" charset="-120"/>
              </a:rPr>
              <a:t>3</a:t>
            </a:r>
          </a:p>
        </p:txBody>
      </p:sp>
      <p:sp>
        <p:nvSpPr>
          <p:cNvPr id="117" name="Connector 117"/>
          <p:cNvSpPr/>
          <p:nvPr/>
        </p:nvSpPr>
        <p:spPr>
          <a:xfrm>
            <a:off x="958044" y="4320000"/>
            <a:ext cx="0" cy="100000"/>
          </a:xfrm>
          <a:prstGeom prst="line">
            <a:avLst/>
          </a:prstGeom>
          <a:noFill/>
          <a:ln w="12700">
            <a:solidFill>
              <a:srgbClr val="0A7F7C"/>
            </a:solidFill>
          </a:ln>
        </p:spPr>
        <p:txBody>
          <a:bodyPr/>
          <a:lstStyle/>
          <a:p>
            <a:endParaRPr lang="en-US"/>
          </a:p>
        </p:txBody>
      </p:sp>
      <p:sp>
        <p:nvSpPr>
          <p:cNvPr id="118" name="Text 118"/>
          <p:cNvSpPr/>
          <p:nvPr/>
        </p:nvSpPr>
        <p:spPr>
          <a:xfrm>
            <a:off x="1283044" y="3965000"/>
            <a:ext cx="5493381" cy="380000"/>
          </a:xfrm>
          <a:prstGeom prst="rect">
            <a:avLst/>
          </a:prstGeom>
          <a:noFill/>
          <a:ln/>
        </p:spPr>
        <p:txBody>
          <a:bodyPr wrap="square" lIns="0" tIns="0" rIns="0" bIns="0" rtlCol="0" anchor="ctr">
            <a:normAutofit/>
          </a:bodyPr>
          <a:lstStyle/>
          <a:p>
            <a:pPr marL="0" indent="0" algn="l">
              <a:lnSpc>
                <a:spcPts val="1450"/>
              </a:lnSpc>
              <a:buNone/>
            </a:pPr>
            <a:r>
              <a:rPr lang="en-US" sz="1250" b="1" i="0" dirty="0">
                <a:solidFill>
                  <a:srgbClr val="0E1B4D"/>
                </a:solidFill>
                <a:latin typeface="Nunito Sans" pitchFamily="34" charset="0"/>
                <a:ea typeface="Nunito Sans" pitchFamily="34" charset="-122"/>
                <a:cs typeface="Nunito Sans" pitchFamily="34" charset="-120"/>
              </a:rPr>
              <a:t>LanguageTool</a:t>
            </a:r>
          </a:p>
          <a:p>
            <a:pPr marL="0" indent="0" algn="l">
              <a:lnSpc>
                <a:spcPts val="1400"/>
              </a:lnSpc>
              <a:buNone/>
            </a:pPr>
            <a:r>
              <a:rPr lang="en-US" sz="1150" b="0" i="0" dirty="0">
                <a:solidFill>
                  <a:srgbClr val="4B5683"/>
                </a:solidFill>
                <a:latin typeface="Nunito Sans" pitchFamily="34" charset="0"/>
                <a:ea typeface="Nunito Sans" pitchFamily="34" charset="-122"/>
                <a:cs typeface="Nunito Sans" pitchFamily="34" charset="-120"/>
              </a:rPr>
              <a:t>Safe grammar fixes; medication and food names protected</a:t>
            </a:r>
          </a:p>
        </p:txBody>
      </p:sp>
      <p:sp>
        <p:nvSpPr>
          <p:cNvPr id="119" name="Shape 119"/>
          <p:cNvSpPr/>
          <p:nvPr/>
        </p:nvSpPr>
        <p:spPr>
          <a:xfrm>
            <a:off x="793044" y="4420000"/>
            <a:ext cx="330000" cy="330000"/>
          </a:xfrm>
          <a:prstGeom prst="ellipse">
            <a:avLst/>
          </a:prstGeom>
          <a:solidFill>
            <a:srgbClr val="0A7F7C"/>
          </a:solidFill>
          <a:ln/>
        </p:spPr>
        <p:txBody>
          <a:bodyPr wrap="square" lIns="0" tIns="0" rIns="0" bIns="0" rtlCol="0" anchor="ctr">
            <a:normAutofit/>
          </a:bodyPr>
          <a:lstStyle/>
          <a:p>
            <a:pPr marL="0" indent="0" algn="ctr">
              <a:lnSpc>
                <a:spcPts val="1500"/>
              </a:lnSpc>
              <a:buNone/>
            </a:pPr>
            <a:r>
              <a:rPr lang="en-US" sz="1300" b="1" i="0" dirty="0">
                <a:solidFill>
                  <a:srgbClr val="FFFFFF"/>
                </a:solidFill>
                <a:latin typeface="Rubik" pitchFamily="34" charset="0"/>
                <a:ea typeface="Rubik" pitchFamily="34" charset="-122"/>
                <a:cs typeface="Rubik" pitchFamily="34" charset="-120"/>
              </a:rPr>
              <a:t>4</a:t>
            </a:r>
          </a:p>
        </p:txBody>
      </p:sp>
      <p:sp>
        <p:nvSpPr>
          <p:cNvPr id="120" name="Text 120"/>
          <p:cNvSpPr/>
          <p:nvPr/>
        </p:nvSpPr>
        <p:spPr>
          <a:xfrm>
            <a:off x="1283044" y="4395000"/>
            <a:ext cx="5493381" cy="380000"/>
          </a:xfrm>
          <a:prstGeom prst="rect">
            <a:avLst/>
          </a:prstGeom>
          <a:noFill/>
          <a:ln/>
        </p:spPr>
        <p:txBody>
          <a:bodyPr wrap="square" lIns="0" tIns="0" rIns="0" bIns="0" rtlCol="0" anchor="ctr">
            <a:normAutofit/>
          </a:bodyPr>
          <a:lstStyle/>
          <a:p>
            <a:pPr marL="0" indent="0" algn="l">
              <a:lnSpc>
                <a:spcPts val="1450"/>
              </a:lnSpc>
              <a:buNone/>
            </a:pPr>
            <a:r>
              <a:rPr lang="en-US" sz="1250" b="1" i="0" dirty="0">
                <a:solidFill>
                  <a:srgbClr val="0E1B4D"/>
                </a:solidFill>
                <a:latin typeface="Nunito Sans" pitchFamily="34" charset="0"/>
                <a:ea typeface="Nunito Sans" pitchFamily="34" charset="-122"/>
                <a:cs typeface="Nunito Sans" pitchFamily="34" charset="-120"/>
              </a:rPr>
              <a:t>T5-small + field rules</a:t>
            </a:r>
          </a:p>
          <a:p>
            <a:pPr marL="0" indent="0" algn="l">
              <a:lnSpc>
                <a:spcPts val="1400"/>
              </a:lnSpc>
              <a:buNone/>
            </a:pPr>
            <a:r>
              <a:rPr lang="en-US" sz="1150" b="0" i="0" dirty="0">
                <a:solidFill>
                  <a:srgbClr val="4B5683"/>
                </a:solidFill>
                <a:latin typeface="Nunito Sans" pitchFamily="34" charset="0"/>
                <a:ea typeface="Nunito Sans" pitchFamily="34" charset="-122"/>
                <a:cs typeface="Nunito Sans" pitchFamily="34" charset="-120"/>
              </a:rPr>
              <a:t>Extracts a 19-field ADL record and supervisor alerts</a:t>
            </a:r>
          </a:p>
        </p:txBody>
      </p:sp>
      <p:sp>
        <p:nvSpPr>
          <p:cNvPr id="121" name="Text 121"/>
          <p:cNvSpPr/>
          <p:nvPr/>
        </p:nvSpPr>
        <p:spPr>
          <a:xfrm>
            <a:off x="793044" y="4930000"/>
            <a:ext cx="760000" cy="230000"/>
          </a:xfrm>
          <a:prstGeom prst="rect">
            <a:avLst/>
          </a:prstGeom>
          <a:noFill/>
          <a:ln/>
        </p:spPr>
        <p:txBody>
          <a:bodyPr wrap="square" lIns="0" tIns="0" rIns="0" bIns="0" rtlCol="0" anchor="ctr">
            <a:normAutofit/>
          </a:bodyPr>
          <a:lstStyle/>
          <a:p>
            <a:pPr marL="0" indent="0" algn="l">
              <a:lnSpc>
                <a:spcPts val="1400"/>
              </a:lnSpc>
              <a:buNone/>
            </a:pPr>
            <a:r>
              <a:rPr lang="en-US" sz="1100" b="1" i="0" kern="0" spc="100" dirty="0">
                <a:solidFill>
                  <a:srgbClr val="0A7F7C"/>
                </a:solidFill>
                <a:latin typeface="Nunito Sans" pitchFamily="34" charset="0"/>
                <a:ea typeface="Nunito Sans" pitchFamily="34" charset="-122"/>
                <a:cs typeface="Nunito Sans" pitchFamily="34" charset="-120"/>
              </a:rPr>
              <a:t>OUTPUTS</a:t>
            </a:r>
          </a:p>
        </p:txBody>
      </p:sp>
      <p:sp>
        <p:nvSpPr>
          <p:cNvPr id="122" name="Shape 122"/>
          <p:cNvSpPr/>
          <p:nvPr/>
        </p:nvSpPr>
        <p:spPr>
          <a:xfrm>
            <a:off x="1613044" y="4880000"/>
            <a:ext cx="1200000" cy="330000"/>
          </a:xfrm>
          <a:prstGeom prst="roundRect">
            <a:avLst>
              <a:gd name="adj" fmla="val 50000"/>
            </a:avLst>
          </a:prstGeom>
          <a:solidFill>
            <a:srgbClr val="E3F3F2"/>
          </a:solidFill>
          <a:ln/>
        </p:spPr>
        <p:txBody>
          <a:bodyPr wrap="square" lIns="0" tIns="0" rIns="0" bIns="0" rtlCol="0" anchor="ctr">
            <a:normAutofit/>
          </a:bodyPr>
          <a:lstStyle/>
          <a:p>
            <a:pPr marL="0" indent="0" algn="ctr">
              <a:lnSpc>
                <a:spcPts val="1400"/>
              </a:lnSpc>
              <a:buNone/>
            </a:pPr>
            <a:r>
              <a:rPr lang="en-US" sz="1100" b="1" i="0" dirty="0">
                <a:solidFill>
                  <a:srgbClr val="0A7F7C"/>
                </a:solidFill>
                <a:latin typeface="Nunito Sans" pitchFamily="34" charset="0"/>
                <a:ea typeface="Nunito Sans" pitchFamily="34" charset="-122"/>
                <a:cs typeface="Nunito Sans" pitchFamily="34" charset="-120"/>
              </a:rPr>
              <a:t>Written report</a:t>
            </a:r>
          </a:p>
        </p:txBody>
      </p:sp>
      <p:sp>
        <p:nvSpPr>
          <p:cNvPr id="123" name="Shape 123"/>
          <p:cNvSpPr/>
          <p:nvPr/>
        </p:nvSpPr>
        <p:spPr>
          <a:xfrm>
            <a:off x="2903044" y="4880000"/>
            <a:ext cx="2250000" cy="330000"/>
          </a:xfrm>
          <a:prstGeom prst="roundRect">
            <a:avLst>
              <a:gd name="adj" fmla="val 50000"/>
            </a:avLst>
          </a:prstGeom>
          <a:solidFill>
            <a:srgbClr val="E3F3F2"/>
          </a:solidFill>
          <a:ln/>
        </p:spPr>
        <p:txBody>
          <a:bodyPr wrap="square" lIns="0" tIns="0" rIns="0" bIns="0" rtlCol="0" anchor="ctr">
            <a:normAutofit/>
          </a:bodyPr>
          <a:lstStyle/>
          <a:p>
            <a:pPr marL="0" indent="0" algn="ctr">
              <a:lnSpc>
                <a:spcPts val="1400"/>
              </a:lnSpc>
              <a:buNone/>
            </a:pPr>
            <a:r>
              <a:rPr lang="en-US" sz="1100" b="1" i="0" dirty="0">
                <a:solidFill>
                  <a:srgbClr val="0A7F7C"/>
                </a:solidFill>
                <a:latin typeface="Nunito Sans" pitchFamily="34" charset="0"/>
                <a:ea typeface="Nunito Sans" pitchFamily="34" charset="-122"/>
                <a:cs typeface="Nunito Sans" pitchFamily="34" charset="-120"/>
              </a:rPr>
              <a:t>Shift handover · text + audio</a:t>
            </a:r>
          </a:p>
        </p:txBody>
      </p:sp>
      <p:sp>
        <p:nvSpPr>
          <p:cNvPr id="124" name="Shape 124"/>
          <p:cNvSpPr/>
          <p:nvPr/>
        </p:nvSpPr>
        <p:spPr>
          <a:xfrm>
            <a:off x="5243044" y="4880000"/>
            <a:ext cx="1500000" cy="330000"/>
          </a:xfrm>
          <a:prstGeom prst="roundRect">
            <a:avLst>
              <a:gd name="adj" fmla="val 50000"/>
            </a:avLst>
          </a:prstGeom>
          <a:solidFill>
            <a:srgbClr val="E3F3F2"/>
          </a:solidFill>
          <a:ln/>
        </p:spPr>
        <p:txBody>
          <a:bodyPr wrap="square" lIns="0" tIns="0" rIns="0" bIns="0" rtlCol="0" anchor="ctr">
            <a:normAutofit/>
          </a:bodyPr>
          <a:lstStyle/>
          <a:p>
            <a:pPr marL="0" indent="0" algn="ctr">
              <a:lnSpc>
                <a:spcPts val="1400"/>
              </a:lnSpc>
              <a:buNone/>
            </a:pPr>
            <a:r>
              <a:rPr lang="en-US" sz="1100" b="1" i="0" dirty="0">
                <a:solidFill>
                  <a:srgbClr val="0A7F7C"/>
                </a:solidFill>
                <a:latin typeface="Nunito Sans" pitchFamily="34" charset="0"/>
                <a:ea typeface="Nunito Sans" pitchFamily="34" charset="-122"/>
                <a:cs typeface="Nunito Sans" pitchFamily="34" charset="-120"/>
              </a:rPr>
              <a:t>Stored in CareSense</a:t>
            </a:r>
          </a:p>
        </p:txBody>
      </p:sp>
      <p:sp>
        <p:nvSpPr>
          <p:cNvPr id="125" name="Shape 125"/>
          <p:cNvSpPr/>
          <p:nvPr/>
        </p:nvSpPr>
        <p:spPr>
          <a:xfrm>
            <a:off x="7086600" y="2080000"/>
            <a:ext cx="4495800" cy="3220000"/>
          </a:xfrm>
          <a:prstGeom prst="roundRect">
            <a:avLst>
              <a:gd name="adj" fmla="val 4594"/>
            </a:avLst>
          </a:prstGeom>
          <a:solidFill>
            <a:srgbClr val="0E1B4D"/>
          </a:solidFill>
          <a:ln/>
        </p:spPr>
        <p:txBody>
          <a:bodyPr/>
          <a:lstStyle/>
          <a:p>
            <a:endParaRPr lang="en-US"/>
          </a:p>
        </p:txBody>
      </p:sp>
      <p:sp>
        <p:nvSpPr>
          <p:cNvPr id="126" name="Text 126"/>
          <p:cNvSpPr/>
          <p:nvPr/>
        </p:nvSpPr>
        <p:spPr>
          <a:xfrm>
            <a:off x="7286600" y="2235000"/>
            <a:ext cx="4095800" cy="244475"/>
          </a:xfrm>
          <a:prstGeom prst="rect">
            <a:avLst/>
          </a:prstGeom>
          <a:noFill/>
          <a:ln/>
        </p:spPr>
        <p:txBody>
          <a:bodyPr wrap="square" lIns="0" tIns="0" rIns="0" bIns="0" rtlCol="0" anchor="t">
            <a:normAutofit/>
          </a:bodyPr>
          <a:lstStyle/>
          <a:p>
            <a:pPr marL="0" indent="0" algn="l">
              <a:lnSpc>
                <a:spcPts val="1725"/>
              </a:lnSpc>
              <a:buNone/>
            </a:pPr>
            <a:r>
              <a:rPr lang="en-US" sz="1500" b="1" i="0" dirty="0">
                <a:solidFill>
                  <a:srgbClr val="FFC247"/>
                </a:solidFill>
                <a:latin typeface="Rubik" pitchFamily="34" charset="0"/>
                <a:ea typeface="Rubik" pitchFamily="34" charset="-122"/>
                <a:cs typeface="Rubik" pitchFamily="34" charset="-120"/>
              </a:rPr>
              <a:t>Accuracy and benchmark tests</a:t>
            </a:r>
          </a:p>
        </p:txBody>
      </p:sp>
      <p:sp>
        <p:nvSpPr>
          <p:cNvPr id="127" name="Text 127"/>
          <p:cNvSpPr/>
          <p:nvPr/>
        </p:nvSpPr>
        <p:spPr>
          <a:xfrm>
            <a:off x="7286600" y="2580000"/>
            <a:ext cx="4095800" cy="160000"/>
          </a:xfrm>
          <a:prstGeom prst="rect">
            <a:avLst/>
          </a:prstGeom>
          <a:noFill/>
          <a:ln/>
        </p:spPr>
        <p:txBody>
          <a:bodyPr wrap="square" lIns="0" tIns="0" rIns="0" bIns="0" rtlCol="0" anchor="t">
            <a:normAutofit/>
          </a:bodyPr>
          <a:lstStyle/>
          <a:p>
            <a:pPr marL="0" indent="0" algn="l">
              <a:lnSpc>
                <a:spcPts val="1100"/>
              </a:lnSpc>
              <a:buNone/>
            </a:pPr>
            <a:r>
              <a:rPr lang="en-US" sz="900" b="1" i="0" kern="0" spc="50" dirty="0">
                <a:solidFill>
                  <a:srgbClr val="AEB8DE"/>
                </a:solidFill>
                <a:latin typeface="Nunito Sans" pitchFamily="34" charset="0"/>
                <a:ea typeface="Nunito Sans" pitchFamily="34" charset="-122"/>
                <a:cs typeface="Nunito Sans" pitchFamily="34" charset="-120"/>
              </a:rPr>
              <a:t>SPEECH RECOGNITION · WHISPER-SMALL + LORA (RANK 16)</a:t>
            </a:r>
          </a:p>
        </p:txBody>
      </p:sp>
      <p:sp>
        <p:nvSpPr>
          <p:cNvPr id="128" name="Text 128"/>
          <p:cNvSpPr/>
          <p:nvPr/>
        </p:nvSpPr>
        <p:spPr>
          <a:xfrm>
            <a:off x="7286600" y="2760000"/>
            <a:ext cx="4095800" cy="300000"/>
          </a:xfrm>
          <a:prstGeom prst="rect">
            <a:avLst/>
          </a:prstGeom>
          <a:noFill/>
          <a:ln/>
        </p:spPr>
        <p:txBody>
          <a:bodyPr wrap="square" lIns="0" tIns="0" rIns="0" bIns="0" rtlCol="0" anchor="t">
            <a:normAutofit/>
          </a:bodyPr>
          <a:lstStyle/>
          <a:p>
            <a:pPr marL="0" indent="0" algn="l">
              <a:lnSpc>
                <a:spcPts val="2200"/>
              </a:lnSpc>
              <a:buNone/>
            </a:pPr>
            <a:r>
              <a:rPr lang="en-US" sz="1800" b="1" i="0" dirty="0">
                <a:solidFill>
                  <a:srgbClr val="FFFFFF"/>
                </a:solidFill>
                <a:latin typeface="Rubik" pitchFamily="34" charset="0"/>
                <a:ea typeface="Rubik" pitchFamily="34" charset="-122"/>
                <a:cs typeface="Rubik" pitchFamily="34" charset="-120"/>
              </a:rPr>
              <a:t>WER </a:t>
            </a:r>
            <a:r>
              <a:rPr lang="en-US" sz="1800" b="1" i="0" dirty="0">
                <a:solidFill>
                  <a:srgbClr val="B9C2E3"/>
                </a:solidFill>
                <a:latin typeface="Rubik" pitchFamily="34" charset="0"/>
                <a:ea typeface="Rubik" pitchFamily="34" charset="-122"/>
                <a:cs typeface="Rubik" pitchFamily="34" charset="-120"/>
              </a:rPr>
              <a:t>26.13% → </a:t>
            </a:r>
            <a:r>
              <a:rPr lang="en-US" sz="1800" b="1" i="0" dirty="0">
                <a:solidFill>
                  <a:srgbClr val="6FE0D3"/>
                </a:solidFill>
                <a:latin typeface="Rubik" pitchFamily="34" charset="0"/>
                <a:ea typeface="Rubik" pitchFamily="34" charset="-122"/>
                <a:cs typeface="Rubik" pitchFamily="34" charset="-120"/>
              </a:rPr>
              <a:t>15.57%</a:t>
            </a:r>
          </a:p>
        </p:txBody>
      </p:sp>
      <p:sp>
        <p:nvSpPr>
          <p:cNvPr id="129" name="Text 129"/>
          <p:cNvSpPr/>
          <p:nvPr/>
        </p:nvSpPr>
        <p:spPr>
          <a:xfrm>
            <a:off x="7286600" y="3040000"/>
            <a:ext cx="4095800" cy="160000"/>
          </a:xfrm>
          <a:prstGeom prst="rect">
            <a:avLst/>
          </a:prstGeom>
          <a:noFill/>
          <a:ln/>
        </p:spPr>
        <p:txBody>
          <a:bodyPr wrap="square" lIns="0" tIns="0" rIns="0" bIns="0" rtlCol="0" anchor="t">
            <a:normAutofit fontScale="85000" lnSpcReduction="10000"/>
          </a:bodyPr>
          <a:lstStyle/>
          <a:p>
            <a:pPr marL="0" indent="0" algn="l">
              <a:lnSpc>
                <a:spcPts val="1250"/>
              </a:lnSpc>
              <a:buNone/>
            </a:pPr>
            <a:r>
              <a:rPr lang="en-US" sz="1050" b="0" i="0" dirty="0">
                <a:solidFill>
                  <a:srgbClr val="DCE2F2"/>
                </a:solidFill>
                <a:latin typeface="Nunito Sans" pitchFamily="34" charset="0"/>
                <a:ea typeface="Nunito Sans" pitchFamily="34" charset="-122"/>
                <a:cs typeface="Nunito Sans" pitchFamily="34" charset="-120"/>
              </a:rPr>
              <a:t>CER 12.85% → 5.32%  (zero-shot → LoRA)</a:t>
            </a:r>
          </a:p>
        </p:txBody>
      </p:sp>
      <p:sp>
        <p:nvSpPr>
          <p:cNvPr id="130" name="Text 130"/>
          <p:cNvSpPr/>
          <p:nvPr/>
        </p:nvSpPr>
        <p:spPr>
          <a:xfrm>
            <a:off x="7286600" y="3570250"/>
            <a:ext cx="4095800" cy="160000"/>
          </a:xfrm>
          <a:prstGeom prst="rect">
            <a:avLst/>
          </a:prstGeom>
          <a:noFill/>
          <a:ln/>
        </p:spPr>
        <p:txBody>
          <a:bodyPr wrap="square" lIns="0" tIns="0" rIns="0" bIns="0" rtlCol="0" anchor="t">
            <a:normAutofit/>
          </a:bodyPr>
          <a:lstStyle/>
          <a:p>
            <a:pPr marL="0" indent="0" algn="l">
              <a:lnSpc>
                <a:spcPts val="1100"/>
              </a:lnSpc>
              <a:buNone/>
            </a:pPr>
            <a:r>
              <a:rPr lang="en-US" sz="900" b="1" i="0" kern="0" spc="50" dirty="0">
                <a:solidFill>
                  <a:srgbClr val="AEB8DE"/>
                </a:solidFill>
                <a:latin typeface="Nunito Sans" pitchFamily="34" charset="0"/>
                <a:ea typeface="Nunito Sans" pitchFamily="34" charset="-122"/>
                <a:cs typeface="Nunito Sans" pitchFamily="34" charset="-120"/>
              </a:rPr>
              <a:t>DISFLUENCY REMOVAL · BART-BASE, FINE-TUNED</a:t>
            </a:r>
          </a:p>
        </p:txBody>
      </p:sp>
      <p:sp>
        <p:nvSpPr>
          <p:cNvPr id="131" name="Text 131"/>
          <p:cNvSpPr/>
          <p:nvPr/>
        </p:nvSpPr>
        <p:spPr>
          <a:xfrm>
            <a:off x="7281424" y="3759476"/>
            <a:ext cx="4095800" cy="300000"/>
          </a:xfrm>
          <a:prstGeom prst="rect">
            <a:avLst/>
          </a:prstGeom>
          <a:noFill/>
          <a:ln/>
        </p:spPr>
        <p:txBody>
          <a:bodyPr wrap="square" lIns="0" tIns="0" rIns="0" bIns="0" rtlCol="0" anchor="t">
            <a:normAutofit/>
          </a:bodyPr>
          <a:lstStyle/>
          <a:p>
            <a:pPr marL="0" indent="0" algn="l">
              <a:lnSpc>
                <a:spcPts val="2200"/>
              </a:lnSpc>
              <a:buNone/>
            </a:pPr>
            <a:r>
              <a:rPr lang="en-US" sz="1800" b="1" i="0" dirty="0">
                <a:solidFill>
                  <a:srgbClr val="FFFFFF"/>
                </a:solidFill>
                <a:latin typeface="Rubik" pitchFamily="34" charset="0"/>
                <a:ea typeface="Rubik" pitchFamily="34" charset="-122"/>
                <a:cs typeface="Rubik" pitchFamily="34" charset="-120"/>
              </a:rPr>
              <a:t>BLEU </a:t>
            </a:r>
            <a:r>
              <a:rPr lang="en-US" sz="1800" b="1" i="0" dirty="0">
                <a:solidFill>
                  <a:srgbClr val="6FE0D3"/>
                </a:solidFill>
                <a:latin typeface="Rubik" pitchFamily="34" charset="0"/>
                <a:ea typeface="Rubik" pitchFamily="34" charset="-122"/>
                <a:cs typeface="Rubik" pitchFamily="34" charset="-120"/>
              </a:rPr>
              <a:t>0.9530</a:t>
            </a:r>
            <a:r>
              <a:rPr lang="en-US" sz="1800" b="1" i="0" dirty="0">
                <a:solidFill>
                  <a:srgbClr val="FFFFFF"/>
                </a:solidFill>
                <a:latin typeface="Rubik" pitchFamily="34" charset="0"/>
                <a:ea typeface="Rubik" pitchFamily="34" charset="-122"/>
                <a:cs typeface="Rubik" pitchFamily="34" charset="-120"/>
              </a:rPr>
              <a:t>   ROUGE-L </a:t>
            </a:r>
            <a:r>
              <a:rPr lang="en-US" sz="1800" b="1" i="0" dirty="0">
                <a:solidFill>
                  <a:srgbClr val="6FE0D3"/>
                </a:solidFill>
                <a:latin typeface="Rubik" pitchFamily="34" charset="0"/>
                <a:ea typeface="Rubik" pitchFamily="34" charset="-122"/>
                <a:cs typeface="Rubik" pitchFamily="34" charset="-120"/>
              </a:rPr>
              <a:t>0.9817</a:t>
            </a:r>
          </a:p>
        </p:txBody>
      </p:sp>
      <p:sp>
        <p:nvSpPr>
          <p:cNvPr id="132" name="Text 132"/>
          <p:cNvSpPr/>
          <p:nvPr/>
        </p:nvSpPr>
        <p:spPr>
          <a:xfrm>
            <a:off x="7286600" y="4092340"/>
            <a:ext cx="4095800" cy="160000"/>
          </a:xfrm>
          <a:prstGeom prst="rect">
            <a:avLst/>
          </a:prstGeom>
          <a:noFill/>
          <a:ln/>
        </p:spPr>
        <p:txBody>
          <a:bodyPr wrap="square" lIns="0" tIns="0" rIns="0" bIns="0" rtlCol="0" anchor="t">
            <a:normAutofit fontScale="85000" lnSpcReduction="10000"/>
          </a:bodyPr>
          <a:lstStyle/>
          <a:p>
            <a:pPr marL="0" indent="0" algn="l">
              <a:lnSpc>
                <a:spcPts val="1250"/>
              </a:lnSpc>
              <a:buNone/>
            </a:pPr>
            <a:r>
              <a:rPr lang="en-US" sz="1050" b="0" i="0" dirty="0">
                <a:solidFill>
                  <a:srgbClr val="DCE2F2"/>
                </a:solidFill>
                <a:latin typeface="Nunito Sans" pitchFamily="34" charset="0"/>
                <a:ea typeface="Nunito Sans" pitchFamily="34" charset="-122"/>
                <a:cs typeface="Nunito Sans" pitchFamily="34" charset="-120"/>
              </a:rPr>
              <a:t>Fillers and self-corrections removed</a:t>
            </a:r>
          </a:p>
        </p:txBody>
      </p:sp>
      <p:sp>
        <p:nvSpPr>
          <p:cNvPr id="133" name="Text 133"/>
          <p:cNvSpPr/>
          <p:nvPr/>
        </p:nvSpPr>
        <p:spPr>
          <a:xfrm>
            <a:off x="7286600" y="3910000"/>
            <a:ext cx="4095800" cy="160000"/>
          </a:xfrm>
          <a:prstGeom prst="rect">
            <a:avLst/>
          </a:prstGeom>
          <a:noFill/>
          <a:ln/>
        </p:spPr>
        <p:txBody>
          <a:bodyPr wrap="square" lIns="0" tIns="0" rIns="0" bIns="0" rtlCol="0" anchor="t">
            <a:normAutofit/>
          </a:bodyPr>
          <a:lstStyle/>
          <a:p>
            <a:pPr marL="0" indent="0" algn="l">
              <a:lnSpc>
                <a:spcPts val="1100"/>
              </a:lnSpc>
              <a:buNone/>
            </a:pPr>
            <a:endParaRPr lang="en-US" sz="900" b="1" i="0" kern="0" spc="50" dirty="0">
              <a:solidFill>
                <a:srgbClr val="AEB8DE"/>
              </a:solidFill>
              <a:latin typeface="Nunito Sans" pitchFamily="34" charset="0"/>
              <a:ea typeface="Nunito Sans" pitchFamily="34" charset="-122"/>
              <a:cs typeface="Nunito Sans" pitchFamily="34" charset="-120"/>
            </a:endParaRPr>
          </a:p>
        </p:txBody>
      </p:sp>
      <p:sp>
        <p:nvSpPr>
          <p:cNvPr id="134" name="Text 134"/>
          <p:cNvSpPr/>
          <p:nvPr/>
        </p:nvSpPr>
        <p:spPr>
          <a:xfrm>
            <a:off x="7286600" y="4090000"/>
            <a:ext cx="4095800" cy="300000"/>
          </a:xfrm>
          <a:prstGeom prst="rect">
            <a:avLst/>
          </a:prstGeom>
          <a:noFill/>
          <a:ln/>
        </p:spPr>
        <p:txBody>
          <a:bodyPr wrap="square" lIns="0" tIns="0" rIns="0" bIns="0" rtlCol="0" anchor="t">
            <a:normAutofit/>
          </a:bodyPr>
          <a:lstStyle/>
          <a:p>
            <a:pPr marL="0" indent="0" algn="l">
              <a:lnSpc>
                <a:spcPts val="2200"/>
              </a:lnSpc>
              <a:buNone/>
            </a:pPr>
            <a:endParaRPr lang="en-US" sz="1800" b="1" i="0" dirty="0">
              <a:solidFill>
                <a:srgbClr val="FFFFFF"/>
              </a:solidFill>
              <a:latin typeface="Rubik" pitchFamily="34" charset="0"/>
              <a:ea typeface="Rubik" pitchFamily="34" charset="-122"/>
              <a:cs typeface="Rubik" pitchFamily="34" charset="-120"/>
            </a:endParaRPr>
          </a:p>
        </p:txBody>
      </p:sp>
      <p:sp>
        <p:nvSpPr>
          <p:cNvPr id="135" name="Text 135"/>
          <p:cNvSpPr/>
          <p:nvPr/>
        </p:nvSpPr>
        <p:spPr>
          <a:xfrm>
            <a:off x="7286600" y="4370000"/>
            <a:ext cx="4095800" cy="160000"/>
          </a:xfrm>
          <a:prstGeom prst="rect">
            <a:avLst/>
          </a:prstGeom>
          <a:noFill/>
          <a:ln/>
        </p:spPr>
        <p:txBody>
          <a:bodyPr wrap="square" lIns="0" tIns="0" rIns="0" bIns="0" rtlCol="0" anchor="t">
            <a:normAutofit fontScale="85000" lnSpcReduction="10000"/>
          </a:bodyPr>
          <a:lstStyle/>
          <a:p>
            <a:pPr marL="0" indent="0" algn="l">
              <a:lnSpc>
                <a:spcPts val="1250"/>
              </a:lnSpc>
              <a:buNone/>
            </a:pPr>
            <a:endParaRPr lang="en-US" sz="1050" b="0" i="0" dirty="0">
              <a:solidFill>
                <a:srgbClr val="DCE2F2"/>
              </a:solidFill>
              <a:latin typeface="Nunito Sans" pitchFamily="34" charset="0"/>
              <a:ea typeface="Nunito Sans" pitchFamily="34" charset="-122"/>
              <a:cs typeface="Nunito Sans" pitchFamily="34" charset="-120"/>
            </a:endParaRPr>
          </a:p>
        </p:txBody>
      </p:sp>
      <p:sp>
        <p:nvSpPr>
          <p:cNvPr id="136" name="Text 136"/>
          <p:cNvSpPr/>
          <p:nvPr/>
        </p:nvSpPr>
        <p:spPr>
          <a:xfrm>
            <a:off x="7286600" y="4575000"/>
            <a:ext cx="4095800" cy="160000"/>
          </a:xfrm>
          <a:prstGeom prst="rect">
            <a:avLst/>
          </a:prstGeom>
          <a:noFill/>
          <a:ln/>
        </p:spPr>
        <p:txBody>
          <a:bodyPr wrap="square" lIns="0" tIns="0" rIns="0" bIns="0" rtlCol="0" anchor="t">
            <a:normAutofit/>
          </a:bodyPr>
          <a:lstStyle/>
          <a:p>
            <a:pPr marL="0" indent="0" algn="l">
              <a:lnSpc>
                <a:spcPts val="1100"/>
              </a:lnSpc>
              <a:buNone/>
            </a:pPr>
            <a:r>
              <a:rPr lang="en-US" sz="900" b="1" i="0" kern="0" spc="50" dirty="0">
                <a:solidFill>
                  <a:srgbClr val="AEB8DE"/>
                </a:solidFill>
                <a:latin typeface="Nunito Sans" pitchFamily="34" charset="0"/>
                <a:ea typeface="Nunito Sans" pitchFamily="34" charset="-122"/>
                <a:cs typeface="Nunito Sans" pitchFamily="34" charset="-120"/>
              </a:rPr>
              <a:t>SAFETY EVALUATION · 200 CASES, T5-SMALL</a:t>
            </a:r>
          </a:p>
        </p:txBody>
      </p:sp>
      <p:sp>
        <p:nvSpPr>
          <p:cNvPr id="137" name="Text 137"/>
          <p:cNvSpPr/>
          <p:nvPr/>
        </p:nvSpPr>
        <p:spPr>
          <a:xfrm>
            <a:off x="7286600" y="4755000"/>
            <a:ext cx="4095800" cy="300000"/>
          </a:xfrm>
          <a:prstGeom prst="rect">
            <a:avLst/>
          </a:prstGeom>
          <a:noFill/>
          <a:ln/>
        </p:spPr>
        <p:txBody>
          <a:bodyPr wrap="square" lIns="0" tIns="0" rIns="0" bIns="0" rtlCol="0" anchor="t">
            <a:normAutofit/>
          </a:bodyPr>
          <a:lstStyle/>
          <a:p>
            <a:pPr marL="0" indent="0" algn="l">
              <a:lnSpc>
                <a:spcPts val="2200"/>
              </a:lnSpc>
              <a:buNone/>
            </a:pPr>
            <a:r>
              <a:rPr lang="en-US" sz="1800" b="1" i="0" dirty="0">
                <a:solidFill>
                  <a:srgbClr val="FFFFFF"/>
                </a:solidFill>
                <a:latin typeface="Rubik" pitchFamily="34" charset="0"/>
                <a:ea typeface="Rubik" pitchFamily="34" charset="-122"/>
                <a:cs typeface="Rubik" pitchFamily="34" charset="-120"/>
              </a:rPr>
              <a:t>F1 </a:t>
            </a:r>
            <a:r>
              <a:rPr lang="en-US" sz="1800" b="1" i="0" dirty="0">
                <a:solidFill>
                  <a:srgbClr val="6FE0D3"/>
                </a:solidFill>
                <a:latin typeface="Rubik" pitchFamily="34" charset="0"/>
                <a:ea typeface="Rubik" pitchFamily="34" charset="-122"/>
                <a:cs typeface="Rubik" pitchFamily="34" charset="-120"/>
              </a:rPr>
              <a:t>88.49%</a:t>
            </a:r>
          </a:p>
        </p:txBody>
      </p:sp>
      <p:sp>
        <p:nvSpPr>
          <p:cNvPr id="138" name="Text 138"/>
          <p:cNvSpPr/>
          <p:nvPr/>
        </p:nvSpPr>
        <p:spPr>
          <a:xfrm>
            <a:off x="7286600" y="5035000"/>
            <a:ext cx="4095800" cy="160000"/>
          </a:xfrm>
          <a:prstGeom prst="rect">
            <a:avLst/>
          </a:prstGeom>
          <a:noFill/>
          <a:ln/>
        </p:spPr>
        <p:txBody>
          <a:bodyPr wrap="square" lIns="0" tIns="0" rIns="0" bIns="0" rtlCol="0" anchor="t">
            <a:normAutofit fontScale="85000" lnSpcReduction="10000"/>
          </a:bodyPr>
          <a:lstStyle/>
          <a:p>
            <a:pPr marL="0" indent="0" algn="l">
              <a:lnSpc>
                <a:spcPts val="1250"/>
              </a:lnSpc>
              <a:buNone/>
            </a:pPr>
            <a:r>
              <a:rPr lang="en-US" sz="1050" b="0" i="0" dirty="0">
                <a:solidFill>
                  <a:srgbClr val="DCE2F2"/>
                </a:solidFill>
                <a:latin typeface="Nunito Sans" pitchFamily="34" charset="0"/>
                <a:ea typeface="Nunito Sans" pitchFamily="34" charset="-122"/>
                <a:cs typeface="Nunito Sans" pitchFamily="34" charset="-120"/>
              </a:rPr>
              <a:t>Recall 82.00%  ·  Precision 96.09%</a:t>
            </a:r>
          </a:p>
        </p:txBody>
      </p:sp>
      <p:sp>
        <p:nvSpPr>
          <p:cNvPr id="139" name="Shape 139"/>
          <p:cNvSpPr/>
          <p:nvPr/>
        </p:nvSpPr>
        <p:spPr>
          <a:xfrm>
            <a:off x="609600" y="5420000"/>
            <a:ext cx="10972800" cy="409575"/>
          </a:xfrm>
          <a:prstGeom prst="roundRect">
            <a:avLst>
              <a:gd name="adj" fmla="val 27907"/>
            </a:avLst>
          </a:prstGeom>
          <a:solidFill>
            <a:srgbClr val="FFC247"/>
          </a:solidFill>
          <a:ln/>
        </p:spPr>
        <p:txBody>
          <a:bodyPr wrap="square" lIns="131623" tIns="68123" rIns="0" bIns="42723" rtlCol="0" anchor="t">
            <a:normAutofit/>
          </a:bodyPr>
          <a:lstStyle/>
          <a:p>
            <a:pPr marL="0" indent="0" algn="l">
              <a:lnSpc>
                <a:spcPts val="1625"/>
              </a:lnSpc>
              <a:buNone/>
            </a:pPr>
            <a:r>
              <a:rPr lang="en-US" sz="1300" b="1" i="0" dirty="0">
                <a:solidFill>
                  <a:srgbClr val="0E1B4D"/>
                </a:solidFill>
                <a:latin typeface="Nunito Sans" pitchFamily="34" charset="0"/>
                <a:ea typeface="Nunito Sans" pitchFamily="34" charset="-122"/>
                <a:cs typeface="Nunito Sans" pitchFamily="34" charset="-120"/>
              </a:rPr>
              <a:t>ADL fields cover medication, meals, hygiene, mobility, fluid intake, symptoms, nurse checks and family visits.</a:t>
            </a:r>
          </a:p>
        </p:txBody>
      </p:sp>
      <p:sp>
        <p:nvSpPr>
          <p:cNvPr id="39" name="Shape 36"/>
          <p:cNvSpPr/>
          <p:nvPr/>
        </p:nvSpPr>
        <p:spPr>
          <a:xfrm>
            <a:off x="0" y="6273800"/>
            <a:ext cx="12192000" cy="584200"/>
          </a:xfrm>
          <a:prstGeom prst="rect">
            <a:avLst/>
          </a:prstGeom>
          <a:solidFill>
            <a:srgbClr val="FFFFFF"/>
          </a:solidFill>
          <a:ln/>
        </p:spPr>
        <p:txBody>
          <a:bodyPr/>
          <a:lstStyle/>
          <a:p>
            <a:endParaRPr lang="en-US"/>
          </a:p>
        </p:txBody>
      </p:sp>
      <p:sp>
        <p:nvSpPr>
          <p:cNvPr id="40" name="Shape 37"/>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41" name="Image 1" descr="SLIIT Faculty of Computing logo"/>
          <p:cNvPicPr>
            <a:picLocks noChangeAspect="1"/>
          </p:cNvPicPr>
          <p:nvPr/>
        </p:nvPicPr>
        <p:blipFill>
          <a:blip r:embed="rId4"/>
          <a:srcRect t="-370" b="-370"/>
          <a:stretch/>
        </p:blipFill>
        <p:spPr>
          <a:xfrm>
            <a:off x="406400" y="6362700"/>
            <a:ext cx="2032000" cy="406400"/>
          </a:xfrm>
          <a:prstGeom prst="rect">
            <a:avLst/>
          </a:prstGeom>
        </p:spPr>
      </p:pic>
      <p:sp>
        <p:nvSpPr>
          <p:cNvPr id="42" name="Text 38"/>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43" name="Text 39"/>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7</a:t>
            </a:r>
            <a:endParaRPr lang="en-US" sz="1300" dirty="0"/>
          </a:p>
        </p:txBody>
      </p:sp>
      <p:sp>
        <p:nvSpPr>
          <p:cNvPr id="2" name="Text 0">
            <a:extLst>
              <a:ext uri="{FF2B5EF4-FFF2-40B4-BE49-F238E27FC236}">
                <a16:creationId xmlns:a16="http://schemas.microsoft.com/office/drawing/2014/main" id="{B65B0D25-AB58-27A0-4B3D-3E2C8915F8D6}"/>
              </a:ext>
            </a:extLst>
          </p:cNvPr>
          <p:cNvSpPr txBox="1">
            <a:spLocks/>
          </p:cNvSpPr>
          <p:nvPr/>
        </p:nvSpPr>
        <p:spPr>
          <a:xfrm>
            <a:off x="612775" y="337475"/>
            <a:ext cx="8184621" cy="304800"/>
          </a:xfrm>
          <a:prstGeom prst="rect">
            <a:avLst/>
          </a:prstGeom>
          <a:noFill/>
          <a:ln/>
        </p:spPr>
        <p:txBody>
          <a:bodyPr wrap="square" lIns="0" tIns="0" rIns="0" bIns="0" rtlCol="0" anchor="t">
            <a:normAutofit/>
          </a:bodyPr>
          <a:lstStyle>
            <a:lvl1pPr indent="0">
              <a:lnSpc>
                <a:spcPts val="2200"/>
              </a:lnSpc>
              <a:spcBef>
                <a:spcPct val="0"/>
              </a:spcBef>
              <a:buNone/>
              <a:defRPr lang="en-US" sz="2000" b="1" i="0" kern="0" spc="150" dirty="0">
                <a:solidFill>
                  <a:srgbClr val="0E1B4D"/>
                </a:solidFill>
                <a:latin typeface="Rubik" pitchFamily="34" charset="0"/>
                <a:ea typeface="Rubik" pitchFamily="34" charset="-122"/>
                <a:cs typeface="Rubik" pitchFamily="34" charset="-120"/>
              </a:defRPr>
            </a:lvl1pPr>
          </a:lstStyle>
          <a:p>
            <a:r>
              <a:rPr lang="en-US" dirty="0"/>
              <a:t>IT22294098 | Vithursha Prabagaran    </a:t>
            </a:r>
          </a:p>
        </p:txBody>
      </p:sp>
      <p:sp>
        <p:nvSpPr>
          <p:cNvPr id="6" name="Hero label">
            <a:extLst>
              <a:ext uri="{FF2B5EF4-FFF2-40B4-BE49-F238E27FC236}">
                <a16:creationId xmlns:a16="http://schemas.microsoft.com/office/drawing/2014/main" id="{B2B1CB0C-24C4-82A2-2BEF-EDE5A5593C78}"/>
              </a:ext>
            </a:extLst>
          </p:cNvPr>
          <p:cNvSpPr/>
          <p:nvPr/>
        </p:nvSpPr>
        <p:spPr>
          <a:xfrm>
            <a:off x="2009600" y="839850"/>
            <a:ext cx="8653800" cy="200000"/>
          </a:xfrm>
          <a:prstGeom prst="rect">
            <a:avLst/>
          </a:prstGeom>
          <a:noFill/>
          <a:ln/>
        </p:spPr>
        <p:txBody>
          <a:bodyPr wrap="square" lIns="0" tIns="0" rIns="0" bIns="0" rtlCol="0" anchor="t">
            <a:normAutofit/>
          </a:bodyPr>
          <a:lstStyle/>
          <a:p>
            <a:pPr marL="0" indent="0" algn="l">
              <a:lnSpc>
                <a:spcPts val="1500"/>
              </a:lnSpc>
              <a:buNone/>
            </a:pPr>
            <a:r>
              <a:rPr lang="en-US" sz="1100" b="1" kern="0" spc="100" dirty="0">
                <a:solidFill>
                  <a:srgbClr val="FFC247"/>
                </a:solidFill>
                <a:latin typeface="Nunito Sans" pitchFamily="34" charset="0"/>
                <a:ea typeface="Nunito Sans" pitchFamily="34" charset="-122"/>
                <a:cs typeface="Nunito Sans" pitchFamily="34" charset="-120"/>
              </a:rPr>
              <a:t>SCRIBE · ADL EXTRACTION AND REALTIME DOCUMENTATION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609600" y="238832"/>
            <a:ext cx="8184621" cy="304800"/>
          </a:xfrm>
          <a:prstGeom prst="rect">
            <a:avLst/>
          </a:prstGeom>
          <a:noFill/>
          <a:ln/>
        </p:spPr>
        <p:txBody>
          <a:bodyPr wrap="square" lIns="0" tIns="0" rIns="0" bIns="0" rtlCol="0" anchor="t">
            <a:noAutofit/>
          </a:bodyPr>
          <a:lstStyle/>
          <a:p>
            <a:pPr marL="0" indent="0" algn="l">
              <a:lnSpc>
                <a:spcPts val="2200"/>
              </a:lnSpc>
              <a:buNone/>
            </a:pPr>
            <a:r>
              <a:rPr lang="en-US" sz="2000" b="1" i="0" kern="0" spc="150" dirty="0">
                <a:solidFill>
                  <a:srgbClr val="0E1B4D"/>
                </a:solidFill>
                <a:latin typeface="Rubik" pitchFamily="34" charset="0"/>
                <a:ea typeface="Rubik" pitchFamily="34" charset="-122"/>
                <a:cs typeface="Rubik" pitchFamily="34" charset="-120"/>
              </a:rPr>
              <a:t>IT22289384 | KAUSHALYA NAGENTHRARAJA</a:t>
            </a:r>
            <a:endParaRPr lang="en-US" sz="2000" dirty="0"/>
          </a:p>
        </p:txBody>
      </p:sp>
      <p:sp>
        <p:nvSpPr>
          <p:cNvPr id="3" name="Text 1"/>
          <p:cNvSpPr/>
          <p:nvPr/>
        </p:nvSpPr>
        <p:spPr>
          <a:xfrm>
            <a:off x="8892205" y="212285"/>
            <a:ext cx="2690195" cy="332669"/>
          </a:xfrm>
          <a:prstGeom prst="roundRect">
            <a:avLst>
              <a:gd name="adj" fmla="val 50000"/>
            </a:avLst>
          </a:prstGeom>
          <a:solidFill>
            <a:srgbClr val="FFC247"/>
          </a:solidFill>
          <a:ln/>
        </p:spPr>
        <p:txBody>
          <a:bodyPr wrap="none" lIns="0" tIns="0" rIns="0" bIns="0" rtlCol="0" anchor="ctr">
            <a:noAutofit/>
          </a:bodyPr>
          <a:lstStyle/>
          <a:p>
            <a:pPr marL="0" indent="0" algn="ctr">
              <a:lnSpc>
                <a:spcPts val="1820"/>
              </a:lnSpc>
              <a:buNone/>
            </a:pPr>
            <a:r>
              <a:rPr lang="en-US" sz="1300" b="1" dirty="0">
                <a:solidFill>
                  <a:srgbClr val="0E1B4D"/>
                </a:solidFill>
                <a:latin typeface="Nunito Sans" pitchFamily="34" charset="0"/>
                <a:ea typeface="Nunito Sans" pitchFamily="34" charset="-122"/>
                <a:cs typeface="Nunito Sans" pitchFamily="34" charset="-120"/>
              </a:rPr>
              <a:t>GLOSS · Individual Component</a:t>
            </a:r>
            <a:endParaRPr lang="en-US" sz="1300" dirty="0"/>
          </a:p>
        </p:txBody>
      </p:sp>
      <p:sp>
        <p:nvSpPr>
          <p:cNvPr id="4" name="Shape 2"/>
          <p:cNvSpPr/>
          <p:nvPr/>
        </p:nvSpPr>
        <p:spPr>
          <a:xfrm>
            <a:off x="609600" y="617451"/>
            <a:ext cx="10972800" cy="1337204"/>
          </a:xfrm>
          <a:prstGeom prst="roundRect">
            <a:avLst>
              <a:gd name="adj" fmla="val 10447"/>
            </a:avLst>
          </a:prstGeom>
          <a:gradFill rotWithShape="1">
            <a:gsLst>
              <a:gs pos="0">
                <a:srgbClr val="0E1B4D"/>
              </a:gs>
              <a:gs pos="100000">
                <a:srgbClr val="23318A"/>
              </a:gs>
            </a:gsLst>
            <a:lin ang="2700000" scaled="0"/>
          </a:gradFill>
          <a:ln/>
        </p:spPr>
        <p:txBody>
          <a:bodyPr/>
          <a:lstStyle/>
          <a:p>
            <a:endParaRPr lang="en-US"/>
          </a:p>
        </p:txBody>
      </p:sp>
      <p:sp>
        <p:nvSpPr>
          <p:cNvPr id="5" name="Text 3"/>
          <p:cNvSpPr/>
          <p:nvPr/>
        </p:nvSpPr>
        <p:spPr>
          <a:xfrm>
            <a:off x="800100" y="699470"/>
            <a:ext cx="9588373" cy="238742"/>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FFC247"/>
                </a:solidFill>
                <a:latin typeface="Nunito Sans" pitchFamily="34" charset="0"/>
                <a:ea typeface="Nunito Sans" pitchFamily="34" charset="-122"/>
                <a:cs typeface="Nunito Sans" pitchFamily="34" charset="-120"/>
              </a:rPr>
              <a:t>GLOSS · CARE-SIGN TUTORING FOR CAREGIVERS</a:t>
            </a:r>
            <a:endParaRPr lang="en-US" sz="1200" dirty="0"/>
          </a:p>
        </p:txBody>
      </p:sp>
      <p:sp>
        <p:nvSpPr>
          <p:cNvPr id="6" name="Text 4"/>
          <p:cNvSpPr/>
          <p:nvPr/>
        </p:nvSpPr>
        <p:spPr>
          <a:xfrm>
            <a:off x="800100" y="950913"/>
            <a:ext cx="9588373" cy="543454"/>
          </a:xfrm>
          <a:prstGeom prst="rect">
            <a:avLst/>
          </a:prstGeom>
          <a:noFill/>
          <a:ln/>
        </p:spPr>
        <p:txBody>
          <a:bodyPr wrap="square" lIns="0" tIns="0" rIns="0" bIns="0" rtlCol="0" anchor="t">
            <a:noAutofit/>
          </a:bodyPr>
          <a:lstStyle/>
          <a:p>
            <a:pPr marL="0" indent="0" algn="l">
              <a:lnSpc>
                <a:spcPts val="2040"/>
              </a:lnSpc>
              <a:buNone/>
            </a:pPr>
            <a:r>
              <a:rPr lang="en-US" sz="1700" b="1" dirty="0">
                <a:solidFill>
                  <a:srgbClr val="FFFFFF"/>
                </a:solidFill>
                <a:latin typeface="Rubik" pitchFamily="34" charset="0"/>
                <a:ea typeface="Rubik" pitchFamily="34" charset="-122"/>
                <a:cs typeface="Rubik" pitchFamily="34" charset="-120"/>
              </a:rPr>
              <a:t>Personalized Sign Language Tutoring System for Caregivers (GLOSS)</a:t>
            </a:r>
            <a:endParaRPr lang="en-US" sz="1700" dirty="0"/>
          </a:p>
        </p:txBody>
      </p:sp>
      <p:pic>
        <p:nvPicPr>
          <p:cNvPr id="8" name="Image 0" descr="Kaushalya Nagenthraraja"/>
          <p:cNvPicPr>
            <a:picLocks noChangeAspect="1"/>
          </p:cNvPicPr>
          <p:nvPr/>
        </p:nvPicPr>
        <p:blipFill>
          <a:blip r:embed="rId3"/>
          <a:srcRect/>
          <a:stretch/>
        </p:blipFill>
        <p:spPr>
          <a:xfrm>
            <a:off x="10344150" y="778052"/>
            <a:ext cx="1016000" cy="1016000"/>
          </a:xfrm>
          <a:prstGeom prst="ellipse">
            <a:avLst/>
          </a:prstGeom>
        </p:spPr>
      </p:pic>
      <p:sp>
        <p:nvSpPr>
          <p:cNvPr id="9" name="Shape 6"/>
          <p:cNvSpPr/>
          <p:nvPr/>
        </p:nvSpPr>
        <p:spPr>
          <a:xfrm>
            <a:off x="10328275" y="762177"/>
            <a:ext cx="1047750" cy="1047750"/>
          </a:xfrm>
          <a:prstGeom prst="ellipse">
            <a:avLst/>
          </a:prstGeom>
          <a:noFill/>
          <a:ln w="31750">
            <a:solidFill>
              <a:srgbClr val="FFC247"/>
            </a:solidFill>
            <a:prstDash val="solid"/>
          </a:ln>
        </p:spPr>
        <p:txBody>
          <a:bodyPr/>
          <a:lstStyle/>
          <a:p>
            <a:endParaRPr lang="en-US"/>
          </a:p>
        </p:txBody>
      </p:sp>
      <p:sp>
        <p:nvSpPr>
          <p:cNvPr id="10" name="Shape 7"/>
          <p:cNvSpPr/>
          <p:nvPr/>
        </p:nvSpPr>
        <p:spPr>
          <a:xfrm>
            <a:off x="609600"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1" name="Text 8"/>
          <p:cNvSpPr/>
          <p:nvPr/>
        </p:nvSpPr>
        <p:spPr>
          <a:xfrm>
            <a:off x="749300" y="2126193"/>
            <a:ext cx="411057" cy="332669"/>
          </a:xfrm>
          <a:prstGeom prst="rect">
            <a:avLst/>
          </a:prstGeom>
          <a:noFill/>
          <a:ln/>
        </p:spPr>
        <p:txBody>
          <a:bodyPr wrap="square" lIns="0" tIns="0" rIns="0" bIns="0" rtlCol="0" anchor="t">
            <a:noAutofit/>
          </a:bodyPr>
          <a:lstStyle/>
          <a:p>
            <a:pPr marL="0" indent="0" algn="l">
              <a:lnSpc>
                <a:spcPts val="2420"/>
              </a:lnSpc>
              <a:buNone/>
            </a:pPr>
            <a:r>
              <a:rPr lang="en-US" sz="2200" b="1" dirty="0">
                <a:solidFill>
                  <a:srgbClr val="6B46E0"/>
                </a:solidFill>
                <a:latin typeface="Rubik" pitchFamily="34" charset="0"/>
                <a:ea typeface="Rubik" pitchFamily="34" charset="-122"/>
                <a:cs typeface="Rubik" pitchFamily="34" charset="-120"/>
              </a:rPr>
              <a:t>01</a:t>
            </a:r>
            <a:endParaRPr lang="en-US" sz="2200" dirty="0"/>
          </a:p>
        </p:txBody>
      </p:sp>
      <p:sp>
        <p:nvSpPr>
          <p:cNvPr id="12" name="Text 9"/>
          <p:cNvSpPr/>
          <p:nvPr/>
        </p:nvSpPr>
        <p:spPr>
          <a:xfrm>
            <a:off x="1180747" y="2173111"/>
            <a:ext cx="2408555" cy="238742"/>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6B46E0"/>
                </a:solidFill>
                <a:latin typeface="Nunito Sans" pitchFamily="34" charset="0"/>
                <a:ea typeface="Nunito Sans" pitchFamily="34" charset="-122"/>
                <a:cs typeface="Nunito Sans" pitchFamily="34" charset="-120"/>
              </a:rPr>
              <a:t>SIGN RECOGNITION</a:t>
            </a:r>
            <a:endParaRPr lang="en-US" sz="1200" dirty="0"/>
          </a:p>
        </p:txBody>
      </p:sp>
      <p:sp>
        <p:nvSpPr>
          <p:cNvPr id="13" name="Text 10"/>
          <p:cNvSpPr/>
          <p:nvPr/>
        </p:nvSpPr>
        <p:spPr>
          <a:xfrm>
            <a:off x="749300" y="2452601"/>
            <a:ext cx="3392339" cy="217488"/>
          </a:xfrm>
          <a:prstGeom prst="rect">
            <a:avLst/>
          </a:prstGeom>
          <a:noFill/>
          <a:ln/>
        </p:spPr>
        <p:txBody>
          <a:bodyPr wrap="square" lIns="0" tIns="0" rIns="0" bIns="0" rtlCol="0" anchor="t">
            <a:noAutofit/>
          </a:bodyPr>
          <a:lstStyle/>
          <a:p>
            <a:pPr marL="0" indent="0" algn="l">
              <a:lnSpc>
                <a:spcPts val="1520"/>
              </a:lnSpc>
              <a:buNone/>
            </a:pPr>
            <a:r>
              <a:rPr lang="en-US" sz="1322" b="1" dirty="0">
                <a:solidFill>
                  <a:srgbClr val="0E1B4D"/>
                </a:solidFill>
                <a:latin typeface="Nunito Sans" pitchFamily="34" charset="0"/>
                <a:ea typeface="Nunito Sans" pitchFamily="34" charset="-122"/>
                <a:cs typeface="Nunito Sans" pitchFamily="34" charset="-120"/>
              </a:rPr>
              <a:t>TCN + SPOTER-style ensemble</a:t>
            </a:r>
            <a:endParaRPr lang="en-US" sz="1322" dirty="0"/>
          </a:p>
        </p:txBody>
      </p:sp>
      <p:sp>
        <p:nvSpPr>
          <p:cNvPr id="14" name="Text 11"/>
          <p:cNvSpPr/>
          <p:nvPr/>
        </p:nvSpPr>
        <p:spPr>
          <a:xfrm>
            <a:off x="749300" y="2682788"/>
            <a:ext cx="3392339" cy="526344"/>
          </a:xfrm>
          <a:prstGeom prst="rect">
            <a:avLst/>
          </a:prstGeom>
          <a:noFill/>
          <a:ln/>
        </p:spPr>
        <p:txBody>
          <a:bodyPr wrap="square" lIns="0" tIns="0" rIns="0" bIns="0" rtlCol="0" anchor="t">
            <a:noAutofit/>
          </a:bodyPr>
          <a:lstStyle/>
          <a:p>
            <a:pPr marL="0" indent="0" algn="l">
              <a:lnSpc>
                <a:spcPts val="1406"/>
              </a:lnSpc>
              <a:buNone/>
            </a:pPr>
            <a:r>
              <a:rPr lang="en-US" sz="1125" dirty="0">
                <a:solidFill>
                  <a:srgbClr val="1B2A5E"/>
                </a:solidFill>
                <a:latin typeface="Nunito Sans" pitchFamily="34" charset="0"/>
                <a:ea typeface="Nunito Sans" pitchFamily="34" charset="-122"/>
                <a:cs typeface="Nunito Sans" pitchFamily="34" charset="-120"/>
              </a:rPr>
              <a:t>MediaPipe landmarks from the webcam classify 59 care signs; unsure attempts are asked again.</a:t>
            </a:r>
            <a:endParaRPr lang="en-US" sz="1125" dirty="0"/>
          </a:p>
        </p:txBody>
      </p:sp>
      <p:sp>
        <p:nvSpPr>
          <p:cNvPr id="15" name="Shape 12"/>
          <p:cNvSpPr/>
          <p:nvPr/>
        </p:nvSpPr>
        <p:spPr>
          <a:xfrm>
            <a:off x="4309533"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16" name="Text 13"/>
          <p:cNvSpPr/>
          <p:nvPr/>
        </p:nvSpPr>
        <p:spPr>
          <a:xfrm>
            <a:off x="4449233" y="2145153"/>
            <a:ext cx="461433" cy="332669"/>
          </a:xfrm>
          <a:prstGeom prst="rect">
            <a:avLst/>
          </a:prstGeom>
          <a:noFill/>
          <a:ln/>
        </p:spPr>
        <p:txBody>
          <a:bodyPr wrap="square" lIns="0" tIns="0" rIns="0" bIns="0" rtlCol="0" anchor="t">
            <a:noAutofit/>
          </a:bodyPr>
          <a:lstStyle/>
          <a:p>
            <a:pPr marL="0" indent="0" algn="l">
              <a:lnSpc>
                <a:spcPts val="2420"/>
              </a:lnSpc>
              <a:buNone/>
            </a:pPr>
            <a:r>
              <a:rPr lang="en-US" sz="2200" b="1" dirty="0">
                <a:solidFill>
                  <a:srgbClr val="6B46E0"/>
                </a:solidFill>
                <a:latin typeface="Rubik" pitchFamily="34" charset="0"/>
                <a:ea typeface="Rubik" pitchFamily="34" charset="-122"/>
                <a:cs typeface="Rubik" pitchFamily="34" charset="-120"/>
              </a:rPr>
              <a:t>02</a:t>
            </a:r>
            <a:endParaRPr lang="en-US" sz="2200" dirty="0"/>
          </a:p>
        </p:txBody>
      </p:sp>
      <p:sp>
        <p:nvSpPr>
          <p:cNvPr id="17" name="Text 14"/>
          <p:cNvSpPr/>
          <p:nvPr/>
        </p:nvSpPr>
        <p:spPr>
          <a:xfrm>
            <a:off x="4922661" y="2192074"/>
            <a:ext cx="1988185" cy="238742"/>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6B46E0"/>
                </a:solidFill>
                <a:latin typeface="Nunito Sans" pitchFamily="34" charset="0"/>
                <a:ea typeface="Nunito Sans" pitchFamily="34" charset="-122"/>
                <a:cs typeface="Nunito Sans" pitchFamily="34" charset="-120"/>
              </a:rPr>
              <a:t>EXECUTION QUALITY</a:t>
            </a:r>
            <a:endParaRPr lang="en-US" sz="1200" dirty="0"/>
          </a:p>
        </p:txBody>
      </p:sp>
      <p:sp>
        <p:nvSpPr>
          <p:cNvPr id="18" name="Text 15"/>
          <p:cNvSpPr/>
          <p:nvPr/>
        </p:nvSpPr>
        <p:spPr>
          <a:xfrm>
            <a:off x="4449233" y="2490524"/>
            <a:ext cx="3392339" cy="244475"/>
          </a:xfrm>
          <a:prstGeom prst="rect">
            <a:avLst/>
          </a:prstGeom>
          <a:noFill/>
          <a:ln/>
        </p:spPr>
        <p:txBody>
          <a:bodyPr wrap="square" lIns="0" tIns="0" rIns="0" bIns="0" rtlCol="0" anchor="t">
            <a:noAutofit/>
          </a:bodyPr>
          <a:lstStyle/>
          <a:p>
            <a:pPr marL="0" indent="0" algn="l">
              <a:lnSpc>
                <a:spcPts val="1725"/>
              </a:lnSpc>
              <a:buNone/>
            </a:pPr>
            <a:r>
              <a:rPr lang="en-US" sz="1500" b="1" dirty="0">
                <a:solidFill>
                  <a:srgbClr val="0E1B4D"/>
                </a:solidFill>
                <a:latin typeface="Nunito Sans" pitchFamily="34" charset="0"/>
                <a:ea typeface="Nunito Sans" pitchFamily="34" charset="-122"/>
                <a:cs typeface="Nunito Sans" pitchFamily="34" charset="-120"/>
              </a:rPr>
              <a:t>DTW scoring and feedback</a:t>
            </a:r>
            <a:endParaRPr lang="en-US" sz="1500" dirty="0"/>
          </a:p>
        </p:txBody>
      </p:sp>
      <p:sp>
        <p:nvSpPr>
          <p:cNvPr id="19" name="Text 16"/>
          <p:cNvSpPr/>
          <p:nvPr/>
        </p:nvSpPr>
        <p:spPr>
          <a:xfrm>
            <a:off x="4449233" y="2747699"/>
            <a:ext cx="3392339" cy="406400"/>
          </a:xfrm>
          <a:prstGeom prst="rect">
            <a:avLst/>
          </a:prstGeom>
          <a:noFill/>
          <a:ln/>
        </p:spPr>
        <p:txBody>
          <a:bodyPr wrap="square" lIns="0" tIns="0" rIns="0" bIns="0" rtlCol="0" anchor="t">
            <a:no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Compares each attempt with a reference signer and names the hand or body part to fix.</a:t>
            </a:r>
            <a:endParaRPr lang="en-US" sz="1200" dirty="0"/>
          </a:p>
        </p:txBody>
      </p:sp>
      <p:sp>
        <p:nvSpPr>
          <p:cNvPr id="20" name="Shape 17"/>
          <p:cNvSpPr/>
          <p:nvPr/>
        </p:nvSpPr>
        <p:spPr>
          <a:xfrm>
            <a:off x="8009467" y="2043553"/>
            <a:ext cx="3572933" cy="1241778"/>
          </a:xfrm>
          <a:prstGeom prst="roundRect">
            <a:avLst>
              <a:gd name="adj" fmla="val 12273"/>
            </a:avLst>
          </a:prstGeom>
          <a:solidFill>
            <a:srgbClr val="FFFFFF"/>
          </a:solidFill>
          <a:ln/>
          <a:effectLst>
            <a:outerShdw blurRad="152400" dist="50800" dir="5400000" algn="bl" rotWithShape="0">
              <a:srgbClr val="0E1B4D">
                <a:alpha val="12000"/>
              </a:srgbClr>
            </a:outerShdw>
          </a:effectLst>
        </p:spPr>
        <p:txBody>
          <a:bodyPr/>
          <a:lstStyle/>
          <a:p>
            <a:endParaRPr lang="en-US"/>
          </a:p>
        </p:txBody>
      </p:sp>
      <p:sp>
        <p:nvSpPr>
          <p:cNvPr id="21" name="Text 18"/>
          <p:cNvSpPr/>
          <p:nvPr/>
        </p:nvSpPr>
        <p:spPr>
          <a:xfrm>
            <a:off x="8149167" y="2145153"/>
            <a:ext cx="463762" cy="332669"/>
          </a:xfrm>
          <a:prstGeom prst="rect">
            <a:avLst/>
          </a:prstGeom>
          <a:noFill/>
          <a:ln/>
        </p:spPr>
        <p:txBody>
          <a:bodyPr wrap="square" lIns="0" tIns="0" rIns="0" bIns="0" rtlCol="0" anchor="t">
            <a:noAutofit/>
          </a:bodyPr>
          <a:lstStyle/>
          <a:p>
            <a:pPr marL="0" indent="0" algn="l">
              <a:lnSpc>
                <a:spcPts val="2420"/>
              </a:lnSpc>
              <a:buNone/>
            </a:pPr>
            <a:r>
              <a:rPr lang="en-US" sz="2200" b="1" dirty="0">
                <a:solidFill>
                  <a:srgbClr val="6B46E0"/>
                </a:solidFill>
                <a:latin typeface="Rubik" pitchFamily="34" charset="0"/>
                <a:ea typeface="Rubik" pitchFamily="34" charset="-122"/>
                <a:cs typeface="Rubik" pitchFamily="34" charset="-120"/>
              </a:rPr>
              <a:t>03</a:t>
            </a:r>
            <a:endParaRPr lang="en-US" sz="2200" dirty="0"/>
          </a:p>
        </p:txBody>
      </p:sp>
      <p:sp>
        <p:nvSpPr>
          <p:cNvPr id="22" name="Text 19"/>
          <p:cNvSpPr/>
          <p:nvPr/>
        </p:nvSpPr>
        <p:spPr>
          <a:xfrm>
            <a:off x="8624535" y="2192074"/>
            <a:ext cx="2237423" cy="238742"/>
          </a:xfrm>
          <a:prstGeom prst="rect">
            <a:avLst/>
          </a:prstGeom>
          <a:noFill/>
          <a:ln/>
        </p:spPr>
        <p:txBody>
          <a:bodyPr wrap="square" lIns="0" tIns="0" rIns="0" bIns="0" rtlCol="0" anchor="t">
            <a:noAutofit/>
          </a:bodyPr>
          <a:lstStyle/>
          <a:p>
            <a:pPr marL="0" indent="0" algn="l">
              <a:lnSpc>
                <a:spcPts val="1680"/>
              </a:lnSpc>
              <a:buNone/>
            </a:pPr>
            <a:r>
              <a:rPr lang="en-US" sz="1200" b="1" kern="0" spc="100" dirty="0">
                <a:solidFill>
                  <a:srgbClr val="6B46E0"/>
                </a:solidFill>
                <a:latin typeface="Nunito Sans" pitchFamily="34" charset="0"/>
                <a:ea typeface="Nunito Sans" pitchFamily="34" charset="-122"/>
                <a:cs typeface="Nunito Sans" pitchFamily="34" charset="-120"/>
              </a:rPr>
              <a:t>ADAPTIVE LEARNING</a:t>
            </a:r>
            <a:endParaRPr lang="en-US" sz="1200" dirty="0"/>
          </a:p>
        </p:txBody>
      </p:sp>
      <p:sp>
        <p:nvSpPr>
          <p:cNvPr id="23" name="Text 20"/>
          <p:cNvSpPr/>
          <p:nvPr/>
        </p:nvSpPr>
        <p:spPr>
          <a:xfrm>
            <a:off x="8149167" y="2490524"/>
            <a:ext cx="3392339" cy="244475"/>
          </a:xfrm>
          <a:prstGeom prst="rect">
            <a:avLst/>
          </a:prstGeom>
          <a:noFill/>
          <a:ln/>
        </p:spPr>
        <p:txBody>
          <a:bodyPr wrap="square" lIns="0" tIns="0" rIns="0" bIns="0" rtlCol="0" anchor="t">
            <a:noAutofit/>
          </a:bodyPr>
          <a:lstStyle/>
          <a:p>
            <a:pPr marL="0" indent="0" algn="l">
              <a:lnSpc>
                <a:spcPts val="1725"/>
              </a:lnSpc>
              <a:buNone/>
            </a:pPr>
            <a:r>
              <a:rPr lang="en-US" sz="1500" b="1" dirty="0">
                <a:solidFill>
                  <a:srgbClr val="0E1B4D"/>
                </a:solidFill>
                <a:latin typeface="Nunito Sans" pitchFamily="34" charset="0"/>
                <a:ea typeface="Nunito Sans" pitchFamily="34" charset="-122"/>
                <a:cs typeface="Nunito Sans" pitchFamily="34" charset="-120"/>
              </a:rPr>
              <a:t>Mastery per sign</a:t>
            </a:r>
            <a:endParaRPr lang="en-US" sz="1500" dirty="0"/>
          </a:p>
        </p:txBody>
      </p:sp>
      <p:sp>
        <p:nvSpPr>
          <p:cNvPr id="24" name="Text 21"/>
          <p:cNvSpPr/>
          <p:nvPr/>
        </p:nvSpPr>
        <p:spPr>
          <a:xfrm>
            <a:off x="8149167" y="2747699"/>
            <a:ext cx="3392339" cy="406400"/>
          </a:xfrm>
          <a:prstGeom prst="rect">
            <a:avLst/>
          </a:prstGeom>
          <a:noFill/>
          <a:ln/>
        </p:spPr>
        <p:txBody>
          <a:bodyPr wrap="square" lIns="0" tIns="0" rIns="0" bIns="0" rtlCol="0" anchor="t">
            <a:noAutofit/>
          </a:bodyPr>
          <a:lstStyle/>
          <a:p>
            <a:pPr marL="0" indent="0" algn="l">
              <a:lnSpc>
                <a:spcPts val="1500"/>
              </a:lnSpc>
              <a:buNone/>
            </a:pPr>
            <a:r>
              <a:rPr lang="en-US" sz="1200" dirty="0">
                <a:solidFill>
                  <a:srgbClr val="1B2A5E"/>
                </a:solidFill>
                <a:latin typeface="Nunito Sans" pitchFamily="34" charset="0"/>
                <a:ea typeface="Nunito Sans" pitchFamily="34" charset="-122"/>
                <a:cs typeface="Nunito Sans" pitchFamily="34" charset="-120"/>
              </a:rPr>
              <a:t>Perform and identify practice; repeat until mastered, then the next lesson is chosen.</a:t>
            </a:r>
            <a:endParaRPr lang="en-US" sz="1200" dirty="0"/>
          </a:p>
        </p:txBody>
      </p:sp>
      <p:sp>
        <p:nvSpPr>
          <p:cNvPr id="25" name="Shape 22"/>
          <p:cNvSpPr/>
          <p:nvPr/>
        </p:nvSpPr>
        <p:spPr>
          <a:xfrm>
            <a:off x="609600" y="3374231"/>
            <a:ext cx="2665236" cy="1082763"/>
          </a:xfrm>
          <a:prstGeom prst="roundRect">
            <a:avLst>
              <a:gd name="adj" fmla="val 10556"/>
            </a:avLst>
          </a:prstGeom>
          <a:solidFill>
            <a:srgbClr val="6B46E0"/>
          </a:solidFill>
          <a:ln/>
          <a:effectLst>
            <a:outerShdw blurRad="25400" dir="60000" algn="bl" rotWithShape="0">
              <a:srgbClr val="FFC247">
                <a:alpha val="100000"/>
              </a:srgbClr>
            </a:outerShdw>
          </a:effectLst>
        </p:spPr>
        <p:txBody>
          <a:bodyPr/>
          <a:lstStyle/>
          <a:p>
            <a:endParaRPr lang="en-US"/>
          </a:p>
        </p:txBody>
      </p:sp>
      <p:sp>
        <p:nvSpPr>
          <p:cNvPr id="26" name="Text 23"/>
          <p:cNvSpPr/>
          <p:nvPr/>
        </p:nvSpPr>
        <p:spPr>
          <a:xfrm>
            <a:off x="736600" y="3463131"/>
            <a:ext cx="2483573" cy="360627"/>
          </a:xfrm>
          <a:prstGeom prst="rect">
            <a:avLst/>
          </a:prstGeom>
          <a:noFill/>
          <a:ln/>
        </p:spPr>
        <p:txBody>
          <a:bodyPr wrap="square" lIns="0" tIns="0" rIns="0" bIns="0" rtlCol="0" anchor="t">
            <a:noAutofit/>
          </a:bodyPr>
          <a:lstStyle/>
          <a:p>
            <a:pPr marL="0" indent="0" algn="l">
              <a:lnSpc>
                <a:spcPts val="2640"/>
              </a:lnSpc>
              <a:buNone/>
            </a:pPr>
            <a:r>
              <a:rPr lang="en-US" sz="2400" b="1" dirty="0">
                <a:solidFill>
                  <a:srgbClr val="FFFFFF"/>
                </a:solidFill>
                <a:latin typeface="Rubik" pitchFamily="34" charset="0"/>
                <a:ea typeface="Rubik" pitchFamily="34" charset="-122"/>
                <a:cs typeface="Rubik" pitchFamily="34" charset="-120"/>
              </a:rPr>
              <a:t>0.7752</a:t>
            </a:r>
            <a:endParaRPr lang="en-US" sz="2400" dirty="0"/>
          </a:p>
        </p:txBody>
      </p:sp>
      <p:sp>
        <p:nvSpPr>
          <p:cNvPr id="27" name="Text 24"/>
          <p:cNvSpPr/>
          <p:nvPr/>
        </p:nvSpPr>
        <p:spPr>
          <a:xfrm>
            <a:off x="736600" y="3811057"/>
            <a:ext cx="2483573" cy="238742"/>
          </a:xfrm>
          <a:prstGeom prst="rect">
            <a:avLst/>
          </a:prstGeom>
          <a:noFill/>
          <a:ln/>
        </p:spPr>
        <p:txBody>
          <a:bodyPr wrap="square" lIns="0" tIns="0" rIns="0" bIns="0" rtlCol="0" anchor="t">
            <a:noAutofit/>
          </a:bodyPr>
          <a:lstStyle/>
          <a:p>
            <a:pPr marL="0" indent="0" algn="l">
              <a:lnSpc>
                <a:spcPts val="1680"/>
              </a:lnSpc>
              <a:buNone/>
            </a:pPr>
            <a:r>
              <a:rPr lang="en-US" sz="1200" b="1" dirty="0">
                <a:solidFill>
                  <a:srgbClr val="FFFFFF"/>
                </a:solidFill>
                <a:latin typeface="Nunito Sans" pitchFamily="34" charset="0"/>
                <a:ea typeface="Nunito Sans" pitchFamily="34" charset="-122"/>
                <a:cs typeface="Nunito Sans" pitchFamily="34" charset="-120"/>
              </a:rPr>
              <a:t>Test macro-F1</a:t>
            </a:r>
            <a:endParaRPr lang="en-US" sz="1200" dirty="0"/>
          </a:p>
        </p:txBody>
      </p:sp>
      <p:sp>
        <p:nvSpPr>
          <p:cNvPr id="28" name="Text 25"/>
          <p:cNvSpPr/>
          <p:nvPr/>
        </p:nvSpPr>
        <p:spPr>
          <a:xfrm>
            <a:off x="736600" y="4037099"/>
            <a:ext cx="2483573" cy="238742"/>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FFFFFF"/>
                </a:solidFill>
                <a:latin typeface="Nunito Sans" pitchFamily="34" charset="0"/>
                <a:ea typeface="Nunito Sans" pitchFamily="34" charset="-122"/>
                <a:cs typeface="Nunito Sans" pitchFamily="34" charset="-120"/>
              </a:rPr>
              <a:t>59 signs, 355 unseen videos</a:t>
            </a:r>
            <a:endParaRPr lang="en-US" sz="1200" dirty="0"/>
          </a:p>
        </p:txBody>
      </p:sp>
      <p:sp>
        <p:nvSpPr>
          <p:cNvPr id="29" name="Shape 26"/>
          <p:cNvSpPr/>
          <p:nvPr/>
        </p:nvSpPr>
        <p:spPr>
          <a:xfrm>
            <a:off x="3370086" y="3380581"/>
            <a:ext cx="2675114" cy="1070063"/>
          </a:xfrm>
          <a:prstGeom prst="roundRect">
            <a:avLst>
              <a:gd name="adj" fmla="val 10088"/>
            </a:avLst>
          </a:prstGeom>
          <a:solidFill>
            <a:srgbClr val="FFFFFF"/>
          </a:solidFill>
          <a:ln w="12700">
            <a:solidFill>
              <a:srgbClr val="6B46E0"/>
            </a:solidFill>
            <a:prstDash val="solid"/>
          </a:ln>
        </p:spPr>
        <p:txBody>
          <a:bodyPr/>
          <a:lstStyle/>
          <a:p>
            <a:endParaRPr lang="en-US"/>
          </a:p>
        </p:txBody>
      </p:sp>
      <p:sp>
        <p:nvSpPr>
          <p:cNvPr id="30" name="Text 27"/>
          <p:cNvSpPr/>
          <p:nvPr/>
        </p:nvSpPr>
        <p:spPr>
          <a:xfrm>
            <a:off x="3502025" y="3474420"/>
            <a:ext cx="2483573" cy="320058"/>
          </a:xfrm>
          <a:prstGeom prst="rect">
            <a:avLst/>
          </a:prstGeom>
          <a:noFill/>
          <a:ln/>
        </p:spPr>
        <p:txBody>
          <a:bodyPr wrap="square" lIns="0" tIns="0" rIns="0" bIns="0" rtlCol="0" anchor="t">
            <a:noAutofit/>
          </a:bodyPr>
          <a:lstStyle/>
          <a:p>
            <a:pPr marL="0" indent="0" algn="l">
              <a:lnSpc>
                <a:spcPts val="2318"/>
              </a:lnSpc>
              <a:buNone/>
            </a:pPr>
            <a:r>
              <a:rPr lang="en-US" sz="2108" b="1" dirty="0">
                <a:solidFill>
                  <a:srgbClr val="6B46E0"/>
                </a:solidFill>
                <a:latin typeface="Rubik" pitchFamily="34" charset="0"/>
                <a:ea typeface="Rubik" pitchFamily="34" charset="-122"/>
                <a:cs typeface="Rubik" pitchFamily="34" charset="-120"/>
              </a:rPr>
              <a:t>98.4%</a:t>
            </a:r>
            <a:endParaRPr lang="en-US" sz="2108" dirty="0"/>
          </a:p>
        </p:txBody>
      </p:sp>
      <p:sp>
        <p:nvSpPr>
          <p:cNvPr id="31" name="Text 28"/>
          <p:cNvSpPr/>
          <p:nvPr/>
        </p:nvSpPr>
        <p:spPr>
          <a:xfrm>
            <a:off x="3502025" y="3781778"/>
            <a:ext cx="2483573" cy="212813"/>
          </a:xfrm>
          <a:prstGeom prst="rect">
            <a:avLst/>
          </a:prstGeom>
          <a:noFill/>
          <a:ln/>
        </p:spPr>
        <p:txBody>
          <a:bodyPr wrap="square" lIns="0" tIns="0" rIns="0" bIns="0" rtlCol="0" anchor="t">
            <a:noAutofit/>
          </a:bodyPr>
          <a:lstStyle/>
          <a:p>
            <a:pPr marL="0" indent="0" algn="l">
              <a:lnSpc>
                <a:spcPts val="1523"/>
              </a:lnSpc>
              <a:buNone/>
            </a:pPr>
            <a:r>
              <a:rPr lang="en-US" sz="1088" b="1" dirty="0">
                <a:solidFill>
                  <a:srgbClr val="0E1B4D"/>
                </a:solidFill>
                <a:latin typeface="Nunito Sans" pitchFamily="34" charset="0"/>
                <a:ea typeface="Nunito Sans" pitchFamily="34" charset="-122"/>
                <a:cs typeface="Nunito Sans" pitchFamily="34" charset="-120"/>
              </a:rPr>
              <a:t>Correct when confident</a:t>
            </a:r>
            <a:endParaRPr lang="en-US" sz="1088" dirty="0"/>
          </a:p>
        </p:txBody>
      </p:sp>
      <p:sp>
        <p:nvSpPr>
          <p:cNvPr id="32" name="Text 29"/>
          <p:cNvSpPr/>
          <p:nvPr/>
        </p:nvSpPr>
        <p:spPr>
          <a:xfrm>
            <a:off x="3502025" y="3981890"/>
            <a:ext cx="2536825" cy="400315"/>
          </a:xfrm>
          <a:prstGeom prst="rect">
            <a:avLst/>
          </a:prstGeom>
          <a:noFill/>
          <a:ln/>
        </p:spPr>
        <p:txBody>
          <a:bodyPr wrap="square" lIns="0" tIns="0" rIns="0" bIns="0" rtlCol="0" anchor="t">
            <a:noAutofit/>
          </a:bodyPr>
          <a:lstStyle/>
          <a:p>
            <a:pPr marL="0" indent="0" algn="l">
              <a:lnSpc>
                <a:spcPts val="1638"/>
              </a:lnSpc>
              <a:buNone/>
            </a:pPr>
            <a:r>
              <a:rPr lang="en-US" sz="1170" dirty="0">
                <a:solidFill>
                  <a:srgbClr val="4B5683"/>
                </a:solidFill>
                <a:latin typeface="Nunito Sans" pitchFamily="34" charset="0"/>
                <a:ea typeface="Nunito Sans" pitchFamily="34" charset="-122"/>
                <a:cs typeface="Nunito Sans" pitchFamily="34" charset="-120"/>
              </a:rPr>
              <a:t>when confidence is ≥ 0.6</a:t>
            </a:r>
            <a:endParaRPr lang="en-US" sz="1170" dirty="0"/>
          </a:p>
        </p:txBody>
      </p:sp>
      <p:sp>
        <p:nvSpPr>
          <p:cNvPr id="33" name="Shape 30"/>
          <p:cNvSpPr/>
          <p:nvPr/>
        </p:nvSpPr>
        <p:spPr>
          <a:xfrm>
            <a:off x="6146800" y="3380581"/>
            <a:ext cx="2675114" cy="1070063"/>
          </a:xfrm>
          <a:prstGeom prst="roundRect">
            <a:avLst>
              <a:gd name="adj" fmla="val 10088"/>
            </a:avLst>
          </a:prstGeom>
          <a:solidFill>
            <a:srgbClr val="FFFFFF"/>
          </a:solidFill>
          <a:ln w="12700">
            <a:solidFill>
              <a:srgbClr val="6B46E0"/>
            </a:solidFill>
            <a:prstDash val="solid"/>
          </a:ln>
        </p:spPr>
        <p:txBody>
          <a:bodyPr/>
          <a:lstStyle/>
          <a:p>
            <a:endParaRPr lang="en-US"/>
          </a:p>
        </p:txBody>
      </p:sp>
      <p:sp>
        <p:nvSpPr>
          <p:cNvPr id="34" name="Text 31"/>
          <p:cNvSpPr/>
          <p:nvPr/>
        </p:nvSpPr>
        <p:spPr>
          <a:xfrm>
            <a:off x="6278739" y="3474420"/>
            <a:ext cx="2483573" cy="360627"/>
          </a:xfrm>
          <a:prstGeom prst="rect">
            <a:avLst/>
          </a:prstGeom>
          <a:noFill/>
          <a:ln/>
        </p:spPr>
        <p:txBody>
          <a:bodyPr wrap="square" lIns="0" tIns="0" rIns="0" bIns="0" rtlCol="0" anchor="t">
            <a:noAutofit/>
          </a:bodyPr>
          <a:lstStyle/>
          <a:p>
            <a:pPr marL="0" indent="0" algn="l">
              <a:lnSpc>
                <a:spcPts val="2640"/>
              </a:lnSpc>
              <a:buNone/>
            </a:pPr>
            <a:r>
              <a:rPr lang="en-US" sz="2400" b="1" dirty="0">
                <a:solidFill>
                  <a:srgbClr val="6B46E0"/>
                </a:solidFill>
                <a:latin typeface="Rubik" pitchFamily="34" charset="0"/>
                <a:ea typeface="Rubik" pitchFamily="34" charset="-122"/>
                <a:cs typeface="Rubik" pitchFamily="34" charset="-120"/>
              </a:rPr>
              <a:t>78.59%</a:t>
            </a:r>
            <a:endParaRPr lang="en-US" sz="2400" dirty="0"/>
          </a:p>
        </p:txBody>
      </p:sp>
      <p:sp>
        <p:nvSpPr>
          <p:cNvPr id="35" name="Text 32"/>
          <p:cNvSpPr/>
          <p:nvPr/>
        </p:nvSpPr>
        <p:spPr>
          <a:xfrm>
            <a:off x="6278739" y="3822347"/>
            <a:ext cx="2483573" cy="238742"/>
          </a:xfrm>
          <a:prstGeom prst="rect">
            <a:avLst/>
          </a:prstGeom>
          <a:noFill/>
          <a:ln/>
        </p:spPr>
        <p:txBody>
          <a:bodyPr wrap="square" lIns="0" tIns="0" rIns="0" bIns="0" rtlCol="0" anchor="t">
            <a:no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Test accuracy</a:t>
            </a:r>
            <a:endParaRPr lang="en-US" sz="1200" dirty="0"/>
          </a:p>
        </p:txBody>
      </p:sp>
      <p:sp>
        <p:nvSpPr>
          <p:cNvPr id="36" name="Text 33"/>
          <p:cNvSpPr/>
          <p:nvPr/>
        </p:nvSpPr>
        <p:spPr>
          <a:xfrm>
            <a:off x="6278739" y="4048392"/>
            <a:ext cx="2483573" cy="238742"/>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4B5683"/>
                </a:solidFill>
                <a:latin typeface="Nunito Sans" pitchFamily="34" charset="0"/>
                <a:ea typeface="Nunito Sans" pitchFamily="34" charset="-122"/>
                <a:cs typeface="Nunito Sans" pitchFamily="34" charset="-120"/>
              </a:rPr>
              <a:t>95% CI for macro-F1: 0.712–0.802</a:t>
            </a:r>
            <a:endParaRPr lang="en-US" sz="1200" dirty="0"/>
          </a:p>
        </p:txBody>
      </p:sp>
      <p:sp>
        <p:nvSpPr>
          <p:cNvPr id="37" name="Shape 34"/>
          <p:cNvSpPr/>
          <p:nvPr/>
        </p:nvSpPr>
        <p:spPr>
          <a:xfrm>
            <a:off x="8917164" y="3374231"/>
            <a:ext cx="2665236" cy="1082763"/>
          </a:xfrm>
          <a:prstGeom prst="roundRect">
            <a:avLst>
              <a:gd name="adj" fmla="val 10556"/>
            </a:avLst>
          </a:prstGeom>
          <a:solidFill>
            <a:srgbClr val="FFC247"/>
          </a:solidFill>
          <a:ln/>
          <a:effectLst>
            <a:outerShdw blurRad="25400" dir="60000" algn="bl" rotWithShape="0">
              <a:srgbClr val="6B46E0">
                <a:alpha val="100000"/>
              </a:srgbClr>
            </a:outerShdw>
          </a:effectLst>
        </p:spPr>
        <p:txBody>
          <a:bodyPr/>
          <a:lstStyle/>
          <a:p>
            <a:endParaRPr lang="en-US"/>
          </a:p>
        </p:txBody>
      </p:sp>
      <p:sp>
        <p:nvSpPr>
          <p:cNvPr id="38" name="Text 35"/>
          <p:cNvSpPr/>
          <p:nvPr/>
        </p:nvSpPr>
        <p:spPr>
          <a:xfrm>
            <a:off x="9044164" y="3463131"/>
            <a:ext cx="2483573" cy="360627"/>
          </a:xfrm>
          <a:prstGeom prst="rect">
            <a:avLst/>
          </a:prstGeom>
          <a:noFill/>
          <a:ln/>
        </p:spPr>
        <p:txBody>
          <a:bodyPr wrap="square" lIns="0" tIns="0" rIns="0" bIns="0" rtlCol="0" anchor="t">
            <a:noAutofit/>
          </a:bodyPr>
          <a:lstStyle/>
          <a:p>
            <a:pPr marL="0" indent="0" algn="l">
              <a:lnSpc>
                <a:spcPts val="2640"/>
              </a:lnSpc>
              <a:buNone/>
            </a:pPr>
            <a:r>
              <a:rPr lang="en-US" sz="2400" b="1" dirty="0">
                <a:solidFill>
                  <a:srgbClr val="0E1B4D"/>
                </a:solidFill>
                <a:latin typeface="Rubik" pitchFamily="34" charset="0"/>
                <a:ea typeface="Rubik" pitchFamily="34" charset="-122"/>
                <a:cs typeface="Rubik" pitchFamily="34" charset="-120"/>
              </a:rPr>
              <a:t>+0.039</a:t>
            </a:r>
            <a:endParaRPr lang="en-US" sz="2400" dirty="0"/>
          </a:p>
        </p:txBody>
      </p:sp>
      <p:sp>
        <p:nvSpPr>
          <p:cNvPr id="39" name="Text 36"/>
          <p:cNvSpPr/>
          <p:nvPr/>
        </p:nvSpPr>
        <p:spPr>
          <a:xfrm>
            <a:off x="9044164" y="3811057"/>
            <a:ext cx="2483573" cy="238742"/>
          </a:xfrm>
          <a:prstGeom prst="rect">
            <a:avLst/>
          </a:prstGeom>
          <a:noFill/>
          <a:ln/>
        </p:spPr>
        <p:txBody>
          <a:bodyPr wrap="square" lIns="0" tIns="0" rIns="0" bIns="0" rtlCol="0" anchor="t">
            <a:noAutofit/>
          </a:bodyPr>
          <a:lstStyle/>
          <a:p>
            <a:pPr marL="0" indent="0" algn="l">
              <a:lnSpc>
                <a:spcPts val="1680"/>
              </a:lnSpc>
              <a:buNone/>
            </a:pPr>
            <a:r>
              <a:rPr lang="en-US" sz="1200" b="1" dirty="0">
                <a:solidFill>
                  <a:srgbClr val="0E1B4D"/>
                </a:solidFill>
                <a:latin typeface="Nunito Sans" pitchFamily="34" charset="0"/>
                <a:ea typeface="Nunito Sans" pitchFamily="34" charset="-122"/>
                <a:cs typeface="Nunito Sans" pitchFamily="34" charset="-120"/>
              </a:rPr>
              <a:t>Gain over best single model</a:t>
            </a:r>
            <a:endParaRPr lang="en-US" sz="1200" dirty="0"/>
          </a:p>
        </p:txBody>
      </p:sp>
      <p:sp>
        <p:nvSpPr>
          <p:cNvPr id="40" name="Text 37"/>
          <p:cNvSpPr/>
          <p:nvPr/>
        </p:nvSpPr>
        <p:spPr>
          <a:xfrm>
            <a:off x="9044164" y="4037099"/>
            <a:ext cx="2483573" cy="238742"/>
          </a:xfrm>
          <a:prstGeom prst="rect">
            <a:avLst/>
          </a:prstGeom>
          <a:noFill/>
          <a:ln/>
        </p:spPr>
        <p:txBody>
          <a:bodyPr wrap="square" lIns="0" tIns="0" rIns="0" bIns="0" rtlCol="0" anchor="t">
            <a:noAutofit/>
          </a:bodyPr>
          <a:lstStyle/>
          <a:p>
            <a:pPr marL="0" indent="0" algn="l">
              <a:lnSpc>
                <a:spcPts val="1680"/>
              </a:lnSpc>
              <a:buNone/>
            </a:pPr>
            <a:r>
              <a:rPr lang="en-US" sz="1200" dirty="0">
                <a:solidFill>
                  <a:srgbClr val="0E1B4D"/>
                </a:solidFill>
                <a:latin typeface="Nunito Sans" pitchFamily="34" charset="0"/>
                <a:ea typeface="Nunito Sans" pitchFamily="34" charset="-122"/>
                <a:cs typeface="Nunito Sans" pitchFamily="34" charset="-120"/>
              </a:rPr>
              <a:t>95% CI +0.008 to +0.072</a:t>
            </a:r>
            <a:endParaRPr lang="en-US" sz="1200" dirty="0"/>
          </a:p>
        </p:txBody>
      </p:sp>
      <p:sp>
        <p:nvSpPr>
          <p:cNvPr id="41" name="Shape 38"/>
          <p:cNvSpPr/>
          <p:nvPr/>
        </p:nvSpPr>
        <p:spPr>
          <a:xfrm>
            <a:off x="609600" y="4545893"/>
            <a:ext cx="5486400" cy="1062390"/>
          </a:xfrm>
          <a:prstGeom prst="roundRect">
            <a:avLst>
              <a:gd name="adj" fmla="val 9563"/>
            </a:avLst>
          </a:prstGeom>
          <a:solidFill>
            <a:srgbClr val="E8F7F6"/>
          </a:solidFill>
          <a:ln/>
        </p:spPr>
        <p:txBody>
          <a:bodyPr/>
          <a:lstStyle/>
          <a:p>
            <a:endParaRPr lang="en-US"/>
          </a:p>
        </p:txBody>
      </p:sp>
      <p:sp>
        <p:nvSpPr>
          <p:cNvPr id="42" name="Shape 39"/>
          <p:cNvSpPr/>
          <p:nvPr/>
        </p:nvSpPr>
        <p:spPr>
          <a:xfrm>
            <a:off x="609600" y="4545893"/>
            <a:ext cx="3572933" cy="1062390"/>
          </a:xfrm>
          <a:custGeom>
            <a:avLst/>
            <a:gdLst/>
            <a:ahLst/>
            <a:cxnLst/>
            <a:rect l="l" t="t" r="r" b="b"/>
            <a:pathLst>
              <a:path w="3572933" h="1062390">
                <a:moveTo>
                  <a:pt x="101600" y="1062390"/>
                </a:moveTo>
                <a:lnTo>
                  <a:pt x="101600" y="1062390"/>
                </a:lnTo>
                <a:arcTo wR="101600" hR="101600" stAng="5400000" swAng="5400000"/>
                <a:lnTo>
                  <a:pt x="0" y="101600"/>
                </a:lnTo>
                <a:arcTo wR="101600" hR="101600" stAng="10800000" swAng="5400000"/>
                <a:lnTo>
                  <a:pt x="101600" y="0"/>
                </a:lnTo>
                <a:arcTo wR="50800" hR="101600" stAng="16200000" swAng="-5400000"/>
                <a:lnTo>
                  <a:pt x="50800" y="960790"/>
                </a:lnTo>
                <a:arcTo wR="50800" hR="101600" stAng="10800000" swAng="-5400000"/>
                <a:close/>
              </a:path>
            </a:pathLst>
          </a:custGeom>
          <a:solidFill>
            <a:srgbClr val="0A7F7C"/>
          </a:solidFill>
          <a:ln/>
        </p:spPr>
        <p:txBody>
          <a:bodyPr/>
          <a:lstStyle/>
          <a:p>
            <a:endParaRPr lang="en-US"/>
          </a:p>
        </p:txBody>
      </p:sp>
      <p:sp>
        <p:nvSpPr>
          <p:cNvPr id="43" name="Text 40"/>
          <p:cNvSpPr/>
          <p:nvPr/>
        </p:nvSpPr>
        <p:spPr>
          <a:xfrm>
            <a:off x="787400" y="4634793"/>
            <a:ext cx="3366177" cy="228688"/>
          </a:xfrm>
          <a:prstGeom prst="rect">
            <a:avLst/>
          </a:prstGeom>
          <a:noFill/>
          <a:ln/>
        </p:spPr>
        <p:txBody>
          <a:bodyPr wrap="square" lIns="0" tIns="0" rIns="0" bIns="0" rtlCol="0" anchor="t">
            <a:noAutofit/>
          </a:bodyPr>
          <a:lstStyle/>
          <a:p>
            <a:pPr marL="0" indent="0" algn="l">
              <a:lnSpc>
                <a:spcPts val="1621"/>
              </a:lnSpc>
              <a:buNone/>
            </a:pPr>
            <a:r>
              <a:rPr lang="en-US" sz="1158" b="1" dirty="0">
                <a:solidFill>
                  <a:srgbClr val="06504E"/>
                </a:solidFill>
                <a:latin typeface="Nunito Sans" pitchFamily="34" charset="0"/>
                <a:ea typeface="Nunito Sans" pitchFamily="34" charset="-122"/>
                <a:cs typeface="Nunito Sans" pitchFamily="34" charset="-120"/>
              </a:rPr>
              <a:t>Caregiver feedback</a:t>
            </a:r>
            <a:endParaRPr lang="en-US" sz="1158" dirty="0"/>
          </a:p>
        </p:txBody>
      </p:sp>
      <p:sp>
        <p:nvSpPr>
          <p:cNvPr id="44" name="Text 41"/>
          <p:cNvSpPr/>
          <p:nvPr/>
        </p:nvSpPr>
        <p:spPr>
          <a:xfrm>
            <a:off x="886349" y="4876186"/>
            <a:ext cx="3259609" cy="668602"/>
          </a:xfrm>
          <a:prstGeom prst="rect">
            <a:avLst/>
          </a:prstGeom>
          <a:noFill/>
          <a:ln/>
        </p:spPr>
        <p:txBody>
          <a:bodyPr wrap="square" lIns="0" tIns="0" rIns="0" bIns="0" rtlCol="0" anchor="t">
            <a:noAutofit/>
          </a:bodyPr>
          <a:lstStyle/>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Practice screens good for testing memory</a:t>
            </a:r>
            <a:endParaRPr lang="en-US" sz="1181" dirty="0"/>
          </a:p>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Localise to Sri Lankan Sign Language</a:t>
            </a:r>
            <a:endParaRPr lang="en-US" sz="1181" dirty="0"/>
          </a:p>
          <a:p>
            <a:pPr marL="155051" indent="-155051" algn="l">
              <a:lnSpc>
                <a:spcPts val="1418"/>
              </a:lnSpc>
              <a:buSzPct val="100000"/>
              <a:buChar char="•"/>
            </a:pPr>
            <a:r>
              <a:rPr lang="en-US" sz="1181" dirty="0">
                <a:solidFill>
                  <a:srgbClr val="1B2A5E"/>
                </a:solidFill>
                <a:latin typeface="Nunito Sans" pitchFamily="34" charset="0"/>
                <a:ea typeface="Nunito Sans" pitchFamily="34" charset="-122"/>
                <a:cs typeface="Nunito Sans" pitchFamily="34" charset="-120"/>
              </a:rPr>
              <a:t>Supervisors also see the progress</a:t>
            </a:r>
            <a:endParaRPr lang="en-US" sz="1181" dirty="0"/>
          </a:p>
        </p:txBody>
      </p:sp>
      <p:sp>
        <p:nvSpPr>
          <p:cNvPr id="49" name="Shape 46"/>
          <p:cNvSpPr/>
          <p:nvPr/>
        </p:nvSpPr>
        <p:spPr>
          <a:xfrm>
            <a:off x="6484745" y="4534165"/>
            <a:ext cx="4985657" cy="1062390"/>
          </a:xfrm>
          <a:prstGeom prst="roundRect">
            <a:avLst>
              <a:gd name="adj" fmla="val 9563"/>
            </a:avLst>
          </a:prstGeom>
          <a:solidFill>
            <a:srgbClr val="ECE6FF"/>
          </a:solidFill>
          <a:ln/>
        </p:spPr>
        <p:txBody>
          <a:bodyPr/>
          <a:lstStyle/>
          <a:p>
            <a:endParaRPr lang="en-US" dirty="0"/>
          </a:p>
        </p:txBody>
      </p:sp>
      <p:sp>
        <p:nvSpPr>
          <p:cNvPr id="50" name="Shape 47"/>
          <p:cNvSpPr/>
          <p:nvPr/>
        </p:nvSpPr>
        <p:spPr>
          <a:xfrm>
            <a:off x="6372749" y="4545893"/>
            <a:ext cx="5209651" cy="1062390"/>
          </a:xfrm>
          <a:custGeom>
            <a:avLst/>
            <a:gdLst/>
            <a:ahLst/>
            <a:cxnLst/>
            <a:rect l="l" t="t" r="r" b="b"/>
            <a:pathLst>
              <a:path w="3572933" h="1062390">
                <a:moveTo>
                  <a:pt x="101600" y="1062390"/>
                </a:moveTo>
                <a:lnTo>
                  <a:pt x="101600" y="1062390"/>
                </a:lnTo>
                <a:arcTo wR="101600" hR="101600" stAng="5400000" swAng="5400000"/>
                <a:lnTo>
                  <a:pt x="0" y="101600"/>
                </a:lnTo>
                <a:arcTo wR="101600" hR="101600" stAng="10800000" swAng="5400000"/>
                <a:lnTo>
                  <a:pt x="101600" y="0"/>
                </a:lnTo>
                <a:arcTo wR="50800" hR="101600" stAng="16200000" swAng="-5400000"/>
                <a:lnTo>
                  <a:pt x="50800" y="960790"/>
                </a:lnTo>
                <a:arcTo wR="50800" hR="101600" stAng="10800000" swAng="-5400000"/>
                <a:close/>
              </a:path>
            </a:pathLst>
          </a:custGeom>
          <a:solidFill>
            <a:srgbClr val="6B46E0"/>
          </a:solidFill>
          <a:ln/>
        </p:spPr>
        <p:txBody>
          <a:bodyPr/>
          <a:lstStyle/>
          <a:p>
            <a:endParaRPr lang="en-US"/>
          </a:p>
        </p:txBody>
      </p:sp>
      <p:sp>
        <p:nvSpPr>
          <p:cNvPr id="51" name="Text 48"/>
          <p:cNvSpPr/>
          <p:nvPr/>
        </p:nvSpPr>
        <p:spPr>
          <a:xfrm>
            <a:off x="6718893" y="4626526"/>
            <a:ext cx="3366177" cy="256469"/>
          </a:xfrm>
          <a:prstGeom prst="rect">
            <a:avLst/>
          </a:prstGeom>
          <a:noFill/>
          <a:ln/>
        </p:spPr>
        <p:txBody>
          <a:bodyPr wrap="square" lIns="0" tIns="0" rIns="0" bIns="0" rtlCol="0" anchor="t">
            <a:noAutofit/>
          </a:bodyPr>
          <a:lstStyle/>
          <a:p>
            <a:pPr marL="0" indent="0" algn="l">
              <a:lnSpc>
                <a:spcPts val="1820"/>
              </a:lnSpc>
              <a:buNone/>
            </a:pPr>
            <a:r>
              <a:rPr lang="en-US" sz="1300" b="1" dirty="0">
                <a:solidFill>
                  <a:srgbClr val="3B2290"/>
                </a:solidFill>
                <a:latin typeface="Nunito Sans" pitchFamily="34" charset="0"/>
                <a:ea typeface="Nunito Sans" pitchFamily="34" charset="-122"/>
                <a:cs typeface="Nunito Sans" pitchFamily="34" charset="-120"/>
              </a:rPr>
              <a:t>Future improvements</a:t>
            </a:r>
            <a:endParaRPr lang="en-US" sz="1300" dirty="0"/>
          </a:p>
        </p:txBody>
      </p:sp>
      <p:sp>
        <p:nvSpPr>
          <p:cNvPr id="52" name="Text 49"/>
          <p:cNvSpPr/>
          <p:nvPr/>
        </p:nvSpPr>
        <p:spPr>
          <a:xfrm>
            <a:off x="6825319" y="4866744"/>
            <a:ext cx="3259751" cy="573881"/>
          </a:xfrm>
          <a:prstGeom prst="rect">
            <a:avLst/>
          </a:prstGeom>
          <a:noFill/>
          <a:ln/>
        </p:spPr>
        <p:txBody>
          <a:bodyPr wrap="square" lIns="0" tIns="0" rIns="0" bIns="0" rtlCol="0" anchor="t">
            <a:noAutofit/>
          </a:bodyPr>
          <a:lstStyle/>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Sri Lankan Sign Language version</a:t>
            </a:r>
            <a:endParaRPr lang="en-US" sz="1200" dirty="0"/>
          </a:p>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Signer-independent evaluation</a:t>
            </a:r>
            <a:endParaRPr lang="en-US" sz="1200" dirty="0"/>
          </a:p>
          <a:p>
            <a:pPr marL="155194" indent="-155194" algn="l">
              <a:lnSpc>
                <a:spcPts val="1440"/>
              </a:lnSpc>
              <a:buSzPct val="100000"/>
              <a:buChar char="•"/>
            </a:pPr>
            <a:r>
              <a:rPr lang="en-US" sz="1200" dirty="0">
                <a:solidFill>
                  <a:srgbClr val="1B2A5E"/>
                </a:solidFill>
                <a:latin typeface="Nunito Sans" pitchFamily="34" charset="0"/>
                <a:ea typeface="Nunito Sans" pitchFamily="34" charset="-122"/>
                <a:cs typeface="Nunito Sans" pitchFamily="34" charset="-120"/>
              </a:rPr>
              <a:t>Fully live, real-time recognition</a:t>
            </a:r>
            <a:endParaRPr lang="en-US" sz="1200" dirty="0"/>
          </a:p>
        </p:txBody>
      </p:sp>
      <p:sp>
        <p:nvSpPr>
          <p:cNvPr id="53" name="Shape 50"/>
          <p:cNvSpPr/>
          <p:nvPr/>
        </p:nvSpPr>
        <p:spPr>
          <a:xfrm>
            <a:off x="609600" y="5697184"/>
            <a:ext cx="10972800" cy="360715"/>
          </a:xfrm>
          <a:prstGeom prst="roundRect">
            <a:avLst>
              <a:gd name="adj" fmla="val 28166"/>
            </a:avLst>
          </a:prstGeom>
          <a:solidFill>
            <a:srgbClr val="FFC247"/>
          </a:solidFill>
          <a:ln/>
        </p:spPr>
        <p:txBody>
          <a:bodyPr/>
          <a:lstStyle/>
          <a:p>
            <a:endParaRPr lang="en-US"/>
          </a:p>
        </p:txBody>
      </p:sp>
      <p:sp>
        <p:nvSpPr>
          <p:cNvPr id="54" name="Text 51"/>
          <p:cNvSpPr/>
          <p:nvPr/>
        </p:nvSpPr>
        <p:spPr>
          <a:xfrm>
            <a:off x="749300" y="5773384"/>
            <a:ext cx="11014202" cy="233715"/>
          </a:xfrm>
          <a:prstGeom prst="rect">
            <a:avLst/>
          </a:prstGeom>
          <a:noFill/>
          <a:ln/>
        </p:spPr>
        <p:txBody>
          <a:bodyPr wrap="square" lIns="0" tIns="0" rIns="0" bIns="0" rtlCol="0" anchor="t">
            <a:noAutofit/>
          </a:bodyPr>
          <a:lstStyle/>
          <a:p>
            <a:r>
              <a:rPr lang="en-US" sz="1200" b="1" dirty="0"/>
              <a:t>A sign tutor made for caregivers: it checks your sign, tells you what to fix, and asks you to try again when it isn’t sure.</a:t>
            </a:r>
            <a:endParaRPr lang="en-US" sz="1194" b="1" dirty="0"/>
          </a:p>
        </p:txBody>
      </p:sp>
      <p:sp>
        <p:nvSpPr>
          <p:cNvPr id="55" name="Shape 52"/>
          <p:cNvSpPr/>
          <p:nvPr/>
        </p:nvSpPr>
        <p:spPr>
          <a:xfrm>
            <a:off x="0" y="6273800"/>
            <a:ext cx="12192000" cy="584200"/>
          </a:xfrm>
          <a:prstGeom prst="rect">
            <a:avLst/>
          </a:prstGeom>
          <a:solidFill>
            <a:srgbClr val="FFFFFF"/>
          </a:solidFill>
          <a:ln/>
        </p:spPr>
        <p:txBody>
          <a:bodyPr/>
          <a:lstStyle/>
          <a:p>
            <a:endParaRPr lang="en-US"/>
          </a:p>
        </p:txBody>
      </p:sp>
      <p:sp>
        <p:nvSpPr>
          <p:cNvPr id="56" name="Shape 53"/>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57" name="Image 1" descr="SLIIT Faculty of Computing logo"/>
          <p:cNvPicPr>
            <a:picLocks noChangeAspect="1"/>
          </p:cNvPicPr>
          <p:nvPr/>
        </p:nvPicPr>
        <p:blipFill>
          <a:blip r:embed="rId4"/>
          <a:srcRect t="-370" b="-370"/>
          <a:stretch/>
        </p:blipFill>
        <p:spPr>
          <a:xfrm>
            <a:off x="406400" y="6362700"/>
            <a:ext cx="2032000" cy="406400"/>
          </a:xfrm>
          <a:prstGeom prst="rect">
            <a:avLst/>
          </a:prstGeom>
        </p:spPr>
      </p:pic>
      <p:sp>
        <p:nvSpPr>
          <p:cNvPr id="58" name="Text 54"/>
          <p:cNvSpPr/>
          <p:nvPr/>
        </p:nvSpPr>
        <p:spPr>
          <a:xfrm>
            <a:off x="4133850" y="6408471"/>
            <a:ext cx="3924300" cy="309827"/>
          </a:xfrm>
          <a:prstGeom prst="rect">
            <a:avLst/>
          </a:prstGeom>
          <a:noFill/>
          <a:ln/>
        </p:spPr>
        <p:txBody>
          <a:bodyPr wrap="square" lIns="0" tIns="0" rIns="0" bIns="0" rtlCol="0" anchor="t">
            <a:no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59" name="Text 55"/>
          <p:cNvSpPr/>
          <p:nvPr/>
        </p:nvSpPr>
        <p:spPr>
          <a:xfrm>
            <a:off x="8384540" y="6449132"/>
            <a:ext cx="3401060" cy="256469"/>
          </a:xfrm>
          <a:prstGeom prst="rect">
            <a:avLst/>
          </a:prstGeom>
          <a:noFill/>
          <a:ln/>
        </p:spPr>
        <p:txBody>
          <a:bodyPr wrap="square" lIns="0" tIns="0" rIns="0" bIns="0" rtlCol="0" anchor="t">
            <a:no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4F6F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600" y="254000"/>
            <a:ext cx="8332346" cy="374650"/>
          </a:xfrm>
          <a:prstGeom prst="rect">
            <a:avLst/>
          </a:prstGeom>
          <a:noFill/>
          <a:ln/>
        </p:spPr>
        <p:txBody>
          <a:bodyPr wrap="square" lIns="0" tIns="0" rIns="0" bIns="0" rtlCol="0" anchor="t">
            <a:normAutofit/>
          </a:bodyPr>
          <a:lstStyle/>
          <a:p>
            <a:pPr marL="0" indent="0" algn="l">
              <a:lnSpc>
                <a:spcPts val="2750"/>
              </a:lnSpc>
              <a:buNone/>
            </a:pPr>
            <a:r>
              <a:rPr lang="en-US" sz="2500" b="1" i="0" dirty="0">
                <a:solidFill>
                  <a:srgbClr val="0E1B4D"/>
                </a:solidFill>
                <a:latin typeface="Rubik" pitchFamily="34" charset="0"/>
                <a:ea typeface="Rubik" pitchFamily="34" charset="-122"/>
                <a:cs typeface="Rubik" pitchFamily="34" charset="-120"/>
              </a:rPr>
              <a:t>Industry Visits: Learning from the Care Sector</a:t>
            </a:r>
            <a:endParaRPr lang="en-US" sz="2500" dirty="0"/>
          </a:p>
        </p:txBody>
      </p:sp>
      <p:sp>
        <p:nvSpPr>
          <p:cNvPr id="3" name="Text 1"/>
          <p:cNvSpPr/>
          <p:nvPr/>
        </p:nvSpPr>
        <p:spPr>
          <a:xfrm>
            <a:off x="8941946" y="271111"/>
            <a:ext cx="2640454" cy="314942"/>
          </a:xfrm>
          <a:prstGeom prst="roundRect">
            <a:avLst>
              <a:gd name="adj" fmla="val 50000"/>
            </a:avLst>
          </a:prstGeom>
          <a:solidFill>
            <a:srgbClr val="FFC247"/>
          </a:solidFill>
          <a:ln/>
        </p:spPr>
        <p:txBody>
          <a:bodyPr wrap="none" lIns="0" tIns="0" rIns="0" bIns="0" rtlCol="0" anchor="ctr">
            <a:normAutofit/>
          </a:bodyPr>
          <a:lstStyle/>
          <a:p>
            <a:pPr marL="0" indent="0" algn="ctr">
              <a:lnSpc>
                <a:spcPts val="1680"/>
              </a:lnSpc>
              <a:buNone/>
            </a:pPr>
            <a:r>
              <a:rPr lang="en-US" sz="1200" b="1" dirty="0">
                <a:solidFill>
                  <a:srgbClr val="0E1B4D"/>
                </a:solidFill>
                <a:latin typeface="Nunito Sans" pitchFamily="34" charset="0"/>
                <a:ea typeface="Nunito Sans" pitchFamily="34" charset="-122"/>
                <a:cs typeface="Nunito Sans" pitchFamily="34" charset="-120"/>
              </a:rPr>
              <a:t>3 organisations · 3 signed letters</a:t>
            </a:r>
            <a:endParaRPr lang="en-US" sz="1200" dirty="0"/>
          </a:p>
        </p:txBody>
      </p:sp>
      <p:sp>
        <p:nvSpPr>
          <p:cNvPr id="4" name="Shape 2"/>
          <p:cNvSpPr/>
          <p:nvPr/>
        </p:nvSpPr>
        <p:spPr>
          <a:xfrm>
            <a:off x="609600" y="704850"/>
            <a:ext cx="2113227" cy="76200"/>
          </a:xfrm>
          <a:prstGeom prst="roundRect">
            <a:avLst>
              <a:gd name="adj" fmla="val 50000"/>
            </a:avLst>
          </a:prstGeom>
          <a:solidFill>
            <a:srgbClr val="1B2A5E"/>
          </a:solidFill>
          <a:ln/>
        </p:spPr>
        <p:txBody>
          <a:bodyPr/>
          <a:lstStyle/>
          <a:p>
            <a:endParaRPr lang="en-US"/>
          </a:p>
        </p:txBody>
      </p:sp>
      <p:sp>
        <p:nvSpPr>
          <p:cNvPr id="5" name="Text 3"/>
          <p:cNvSpPr/>
          <p:nvPr/>
        </p:nvSpPr>
        <p:spPr>
          <a:xfrm>
            <a:off x="609600" y="819150"/>
            <a:ext cx="217662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A5E"/>
                </a:solidFill>
                <a:latin typeface="Nunito Sans" pitchFamily="34" charset="0"/>
                <a:ea typeface="Nunito Sans" pitchFamily="34" charset="-122"/>
                <a:cs typeface="Nunito Sans" pitchFamily="34" charset="-120"/>
              </a:rPr>
              <a:t>27 Nov, 10 Dec 2025</a:t>
            </a:r>
            <a:endParaRPr lang="en-US" sz="1300" dirty="0"/>
          </a:p>
        </p:txBody>
      </p:sp>
      <p:sp>
        <p:nvSpPr>
          <p:cNvPr id="6" name="Text 4"/>
          <p:cNvSpPr/>
          <p:nvPr/>
        </p:nvSpPr>
        <p:spPr>
          <a:xfrm>
            <a:off x="609600" y="1088320"/>
            <a:ext cx="2176624"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Supervisor: topic refinement</a:t>
            </a:r>
            <a:endParaRPr lang="en-US" sz="1200" dirty="0"/>
          </a:p>
        </p:txBody>
      </p:sp>
      <p:sp>
        <p:nvSpPr>
          <p:cNvPr id="7" name="Shape 5"/>
          <p:cNvSpPr/>
          <p:nvPr/>
        </p:nvSpPr>
        <p:spPr>
          <a:xfrm>
            <a:off x="2824427" y="704850"/>
            <a:ext cx="2113315" cy="76200"/>
          </a:xfrm>
          <a:prstGeom prst="roundRect">
            <a:avLst>
              <a:gd name="adj" fmla="val 50000"/>
            </a:avLst>
          </a:prstGeom>
          <a:solidFill>
            <a:srgbClr val="3B6FE0"/>
          </a:solidFill>
          <a:ln/>
        </p:spPr>
        <p:txBody>
          <a:bodyPr/>
          <a:lstStyle/>
          <a:p>
            <a:endParaRPr lang="en-US"/>
          </a:p>
        </p:txBody>
      </p:sp>
      <p:sp>
        <p:nvSpPr>
          <p:cNvPr id="8" name="Text 6"/>
          <p:cNvSpPr/>
          <p:nvPr/>
        </p:nvSpPr>
        <p:spPr>
          <a:xfrm>
            <a:off x="2824427" y="819150"/>
            <a:ext cx="2176715"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B6FE0"/>
                </a:solidFill>
                <a:latin typeface="Nunito Sans" pitchFamily="34" charset="0"/>
                <a:ea typeface="Nunito Sans" pitchFamily="34" charset="-122"/>
                <a:cs typeface="Nunito Sans" pitchFamily="34" charset="-120"/>
              </a:rPr>
              <a:t>Jan to Feb 2026</a:t>
            </a:r>
            <a:endParaRPr lang="en-US" sz="1300" dirty="0"/>
          </a:p>
        </p:txBody>
      </p:sp>
      <p:sp>
        <p:nvSpPr>
          <p:cNvPr id="9" name="Text 7"/>
          <p:cNvSpPr/>
          <p:nvPr/>
        </p:nvSpPr>
        <p:spPr>
          <a:xfrm>
            <a:off x="2824427" y="1088320"/>
            <a:ext cx="2176715"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External supervisor: daily care work</a:t>
            </a:r>
            <a:endParaRPr lang="en-US" sz="1200" dirty="0"/>
          </a:p>
        </p:txBody>
      </p:sp>
      <p:sp>
        <p:nvSpPr>
          <p:cNvPr id="10" name="Shape 8"/>
          <p:cNvSpPr/>
          <p:nvPr/>
        </p:nvSpPr>
        <p:spPr>
          <a:xfrm>
            <a:off x="5039342" y="704850"/>
            <a:ext cx="2113227" cy="76200"/>
          </a:xfrm>
          <a:prstGeom prst="roundRect">
            <a:avLst>
              <a:gd name="adj" fmla="val 50000"/>
            </a:avLst>
          </a:prstGeom>
          <a:solidFill>
            <a:srgbClr val="0A7F7C"/>
          </a:solidFill>
          <a:ln/>
        </p:spPr>
        <p:txBody>
          <a:bodyPr/>
          <a:lstStyle/>
          <a:p>
            <a:endParaRPr lang="en-US"/>
          </a:p>
        </p:txBody>
      </p:sp>
      <p:sp>
        <p:nvSpPr>
          <p:cNvPr id="11" name="Text 9"/>
          <p:cNvSpPr/>
          <p:nvPr/>
        </p:nvSpPr>
        <p:spPr>
          <a:xfrm>
            <a:off x="5039342" y="819150"/>
            <a:ext cx="217662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A7F7C"/>
                </a:solidFill>
                <a:latin typeface="Nunito Sans" pitchFamily="34" charset="0"/>
                <a:ea typeface="Nunito Sans" pitchFamily="34" charset="-122"/>
                <a:cs typeface="Nunito Sans" pitchFamily="34" charset="-120"/>
              </a:rPr>
              <a:t> Apr to Oct 2026</a:t>
            </a:r>
            <a:endParaRPr lang="en-US" sz="1300" dirty="0"/>
          </a:p>
        </p:txBody>
      </p:sp>
      <p:sp>
        <p:nvSpPr>
          <p:cNvPr id="12" name="Text 10"/>
          <p:cNvSpPr/>
          <p:nvPr/>
        </p:nvSpPr>
        <p:spPr>
          <a:xfrm>
            <a:off x="5039342" y="1088320"/>
            <a:ext cx="2176624"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Love and Care Elder Home: visit and UAT</a:t>
            </a:r>
            <a:endParaRPr lang="en-US" sz="1200" dirty="0"/>
          </a:p>
        </p:txBody>
      </p:sp>
      <p:sp>
        <p:nvSpPr>
          <p:cNvPr id="13" name="Shape 11"/>
          <p:cNvSpPr/>
          <p:nvPr/>
        </p:nvSpPr>
        <p:spPr>
          <a:xfrm>
            <a:off x="7254170" y="704850"/>
            <a:ext cx="2113315" cy="76200"/>
          </a:xfrm>
          <a:prstGeom prst="roundRect">
            <a:avLst>
              <a:gd name="adj" fmla="val 50000"/>
            </a:avLst>
          </a:prstGeom>
          <a:solidFill>
            <a:srgbClr val="C8304B"/>
          </a:solidFill>
          <a:ln/>
        </p:spPr>
        <p:txBody>
          <a:bodyPr/>
          <a:lstStyle/>
          <a:p>
            <a:endParaRPr lang="en-US"/>
          </a:p>
        </p:txBody>
      </p:sp>
      <p:sp>
        <p:nvSpPr>
          <p:cNvPr id="14" name="Text 12"/>
          <p:cNvSpPr/>
          <p:nvPr/>
        </p:nvSpPr>
        <p:spPr>
          <a:xfrm>
            <a:off x="7254170" y="819150"/>
            <a:ext cx="2176715"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8304B"/>
                </a:solidFill>
                <a:latin typeface="Nunito Sans" pitchFamily="34" charset="0"/>
                <a:ea typeface="Nunito Sans" pitchFamily="34" charset="-122"/>
                <a:cs typeface="Nunito Sans" pitchFamily="34" charset="-120"/>
              </a:rPr>
              <a:t> Sep 2026</a:t>
            </a:r>
            <a:endParaRPr lang="en-US" sz="1300" dirty="0"/>
          </a:p>
        </p:txBody>
      </p:sp>
      <p:sp>
        <p:nvSpPr>
          <p:cNvPr id="15" name="Text 13"/>
          <p:cNvSpPr/>
          <p:nvPr/>
        </p:nvSpPr>
        <p:spPr>
          <a:xfrm>
            <a:off x="7254170" y="1088320"/>
            <a:ext cx="2176715"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Remark Elder Care: strain interview</a:t>
            </a:r>
            <a:endParaRPr lang="en-US" sz="1200" dirty="0"/>
          </a:p>
        </p:txBody>
      </p:sp>
      <p:sp>
        <p:nvSpPr>
          <p:cNvPr id="16" name="Shape 14"/>
          <p:cNvSpPr/>
          <p:nvPr/>
        </p:nvSpPr>
        <p:spPr>
          <a:xfrm>
            <a:off x="9469085" y="704850"/>
            <a:ext cx="2113315" cy="76200"/>
          </a:xfrm>
          <a:prstGeom prst="roundRect">
            <a:avLst>
              <a:gd name="adj" fmla="val 50000"/>
            </a:avLst>
          </a:prstGeom>
          <a:solidFill>
            <a:srgbClr val="6B46E0"/>
          </a:solidFill>
          <a:ln/>
        </p:spPr>
        <p:txBody>
          <a:bodyPr/>
          <a:lstStyle/>
          <a:p>
            <a:endParaRPr lang="en-US"/>
          </a:p>
        </p:txBody>
      </p:sp>
      <p:sp>
        <p:nvSpPr>
          <p:cNvPr id="17" name="Text 15"/>
          <p:cNvSpPr/>
          <p:nvPr/>
        </p:nvSpPr>
        <p:spPr>
          <a:xfrm>
            <a:off x="9469085" y="819150"/>
            <a:ext cx="2176715"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B46E0"/>
                </a:solidFill>
                <a:latin typeface="Nunito Sans" pitchFamily="34" charset="0"/>
                <a:ea typeface="Nunito Sans" pitchFamily="34" charset="-122"/>
                <a:cs typeface="Nunito Sans" pitchFamily="34" charset="-120"/>
              </a:rPr>
              <a:t> Apr and Oct 2026</a:t>
            </a:r>
            <a:endParaRPr lang="en-US" sz="1300" dirty="0"/>
          </a:p>
        </p:txBody>
      </p:sp>
      <p:sp>
        <p:nvSpPr>
          <p:cNvPr id="18" name="Text 16"/>
          <p:cNvSpPr/>
          <p:nvPr/>
        </p:nvSpPr>
        <p:spPr>
          <a:xfrm>
            <a:off x="9469085" y="1088320"/>
            <a:ext cx="2176715"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CCHSS: how sign language is taught</a:t>
            </a:r>
            <a:endParaRPr lang="en-US" sz="1200" dirty="0"/>
          </a:p>
        </p:txBody>
      </p:sp>
      <p:sp>
        <p:nvSpPr>
          <p:cNvPr id="19" name="Shape 17"/>
          <p:cNvSpPr/>
          <p:nvPr/>
        </p:nvSpPr>
        <p:spPr>
          <a:xfrm>
            <a:off x="612775" y="1558748"/>
            <a:ext cx="3549650" cy="2646451"/>
          </a:xfrm>
          <a:prstGeom prst="roundRect">
            <a:avLst>
              <a:gd name="adj" fmla="val 4679"/>
            </a:avLst>
          </a:prstGeom>
          <a:solidFill>
            <a:srgbClr val="FFFFFF"/>
          </a:solidFill>
          <a:ln w="6350">
            <a:solidFill>
              <a:srgbClr val="DCE2F2"/>
            </a:solidFill>
            <a:prstDash val="solid"/>
          </a:ln>
        </p:spPr>
        <p:txBody>
          <a:bodyPr/>
          <a:lstStyle/>
          <a:p>
            <a:endParaRPr lang="en-US"/>
          </a:p>
        </p:txBody>
      </p:sp>
      <p:sp>
        <p:nvSpPr>
          <p:cNvPr id="20" name="Text 18"/>
          <p:cNvSpPr/>
          <p:nvPr/>
        </p:nvSpPr>
        <p:spPr>
          <a:xfrm>
            <a:off x="742244" y="1675518"/>
            <a:ext cx="3389432" cy="229835"/>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0A7F7C"/>
                </a:solidFill>
                <a:latin typeface="Nunito Sans" pitchFamily="34" charset="0"/>
                <a:ea typeface="Nunito Sans" pitchFamily="34" charset="-122"/>
                <a:cs typeface="Nunito Sans" pitchFamily="34" charset="-120"/>
              </a:rPr>
              <a:t>Love and Care Elder Home</a:t>
            </a:r>
            <a:endParaRPr lang="en-US" sz="1400" dirty="0"/>
          </a:p>
        </p:txBody>
      </p:sp>
      <p:sp>
        <p:nvSpPr>
          <p:cNvPr id="21" name="Text 19"/>
          <p:cNvSpPr/>
          <p:nvPr/>
        </p:nvSpPr>
        <p:spPr>
          <a:xfrm>
            <a:off x="742244" y="1943453"/>
            <a:ext cx="3389432"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683"/>
                </a:solidFill>
                <a:latin typeface="Nunito Sans" pitchFamily="34" charset="0"/>
                <a:ea typeface="Nunito Sans" pitchFamily="34" charset="-122"/>
                <a:cs typeface="Nunito Sans" pitchFamily="34" charset="-120"/>
              </a:rPr>
              <a:t>2 Apr 2026 · repeat visits to Aug</a:t>
            </a:r>
            <a:endParaRPr lang="en-US" sz="1200" dirty="0"/>
          </a:p>
        </p:txBody>
      </p:sp>
      <p:pic>
        <p:nvPicPr>
          <p:cNvPr id="22" name="Image 0" descr="Signed visit letter from Love and Care Elder Home"/>
          <p:cNvPicPr>
            <a:picLocks noChangeAspect="1"/>
          </p:cNvPicPr>
          <p:nvPr/>
        </p:nvPicPr>
        <p:blipFill>
          <a:blip r:embed="rId3"/>
          <a:srcRect l="182" r="182"/>
          <a:stretch/>
        </p:blipFill>
        <p:spPr>
          <a:xfrm>
            <a:off x="748594" y="2226645"/>
            <a:ext cx="1193800" cy="1651000"/>
          </a:xfrm>
          <a:prstGeom prst="roundRect">
            <a:avLst>
              <a:gd name="adj" fmla="val 3723"/>
            </a:avLst>
          </a:prstGeom>
        </p:spPr>
      </p:pic>
      <p:sp>
        <p:nvSpPr>
          <p:cNvPr id="23" name="Shape 20"/>
          <p:cNvSpPr/>
          <p:nvPr/>
        </p:nvSpPr>
        <p:spPr>
          <a:xfrm>
            <a:off x="745419" y="2223470"/>
            <a:ext cx="1200150" cy="1657350"/>
          </a:xfrm>
          <a:prstGeom prst="roundRect">
            <a:avLst>
              <a:gd name="adj" fmla="val 3968"/>
            </a:avLst>
          </a:prstGeom>
          <a:noFill/>
          <a:ln w="6350">
            <a:solidFill>
              <a:srgbClr val="DCE2F2"/>
            </a:solidFill>
            <a:prstDash val="solid"/>
          </a:ln>
        </p:spPr>
        <p:txBody>
          <a:bodyPr/>
          <a:lstStyle/>
          <a:p>
            <a:endParaRPr lang="en-US"/>
          </a:p>
        </p:txBody>
      </p:sp>
      <p:sp>
        <p:nvSpPr>
          <p:cNvPr id="24" name="Text 21"/>
          <p:cNvSpPr/>
          <p:nvPr/>
        </p:nvSpPr>
        <p:spPr>
          <a:xfrm>
            <a:off x="2149150" y="2220295"/>
            <a:ext cx="1935663" cy="16891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User acceptance testing of CareSense</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Handwritten care records reviewed</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Staff welcomed prompt, reliable alerts</a:t>
            </a:r>
            <a:endParaRPr lang="en-US" sz="1200" dirty="0"/>
          </a:p>
        </p:txBody>
      </p:sp>
      <p:sp>
        <p:nvSpPr>
          <p:cNvPr id="25" name="Shape 22"/>
          <p:cNvSpPr/>
          <p:nvPr/>
        </p:nvSpPr>
        <p:spPr>
          <a:xfrm>
            <a:off x="4321175" y="1558748"/>
            <a:ext cx="3549650" cy="2646451"/>
          </a:xfrm>
          <a:prstGeom prst="roundRect">
            <a:avLst>
              <a:gd name="adj" fmla="val 4679"/>
            </a:avLst>
          </a:prstGeom>
          <a:solidFill>
            <a:srgbClr val="FFFFFF"/>
          </a:solidFill>
          <a:ln w="6350">
            <a:solidFill>
              <a:srgbClr val="DCE2F2"/>
            </a:solidFill>
            <a:prstDash val="solid"/>
          </a:ln>
        </p:spPr>
        <p:txBody>
          <a:bodyPr/>
          <a:lstStyle/>
          <a:p>
            <a:endParaRPr lang="en-US"/>
          </a:p>
        </p:txBody>
      </p:sp>
      <p:sp>
        <p:nvSpPr>
          <p:cNvPr id="26" name="Text 23"/>
          <p:cNvSpPr/>
          <p:nvPr/>
        </p:nvSpPr>
        <p:spPr>
          <a:xfrm>
            <a:off x="4450645" y="1675518"/>
            <a:ext cx="3389432" cy="229835"/>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C8304B"/>
                </a:solidFill>
                <a:latin typeface="Nunito Sans" pitchFamily="34" charset="0"/>
                <a:ea typeface="Nunito Sans" pitchFamily="34" charset="-122"/>
                <a:cs typeface="Nunito Sans" pitchFamily="34" charset="-120"/>
              </a:rPr>
              <a:t>Remark Elder Care</a:t>
            </a:r>
            <a:endParaRPr lang="en-US" sz="1400" dirty="0"/>
          </a:p>
        </p:txBody>
      </p:sp>
      <p:sp>
        <p:nvSpPr>
          <p:cNvPr id="27" name="Text 24"/>
          <p:cNvSpPr/>
          <p:nvPr/>
        </p:nvSpPr>
        <p:spPr>
          <a:xfrm>
            <a:off x="4450645" y="1943453"/>
            <a:ext cx="3389432"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683"/>
                </a:solidFill>
                <a:latin typeface="Nunito Sans" pitchFamily="34" charset="0"/>
                <a:ea typeface="Nunito Sans" pitchFamily="34" charset="-122"/>
                <a:cs typeface="Nunito Sans" pitchFamily="34" charset="-120"/>
              </a:rPr>
              <a:t>7 Apr 2026 · PULSE walkthrough in Aug</a:t>
            </a:r>
            <a:endParaRPr lang="en-US" sz="1200" dirty="0"/>
          </a:p>
        </p:txBody>
      </p:sp>
      <p:pic>
        <p:nvPicPr>
          <p:cNvPr id="28" name="Image 1" descr="Signed visit letter from Remark Elder Care"/>
          <p:cNvPicPr>
            <a:picLocks noChangeAspect="1"/>
          </p:cNvPicPr>
          <p:nvPr/>
        </p:nvPicPr>
        <p:blipFill>
          <a:blip r:embed="rId4"/>
          <a:srcRect l="580" r="580"/>
          <a:stretch/>
        </p:blipFill>
        <p:spPr>
          <a:xfrm>
            <a:off x="4456995" y="2226645"/>
            <a:ext cx="1193800" cy="1651000"/>
          </a:xfrm>
          <a:prstGeom prst="roundRect">
            <a:avLst>
              <a:gd name="adj" fmla="val 3723"/>
            </a:avLst>
          </a:prstGeom>
        </p:spPr>
      </p:pic>
      <p:sp>
        <p:nvSpPr>
          <p:cNvPr id="29" name="Shape 25"/>
          <p:cNvSpPr/>
          <p:nvPr/>
        </p:nvSpPr>
        <p:spPr>
          <a:xfrm>
            <a:off x="4453820" y="2223470"/>
            <a:ext cx="1200150" cy="1657350"/>
          </a:xfrm>
          <a:prstGeom prst="roundRect">
            <a:avLst>
              <a:gd name="adj" fmla="val 3968"/>
            </a:avLst>
          </a:prstGeom>
          <a:noFill/>
          <a:ln w="6350">
            <a:solidFill>
              <a:srgbClr val="DCE2F2"/>
            </a:solidFill>
            <a:prstDash val="solid"/>
          </a:ln>
        </p:spPr>
        <p:txBody>
          <a:bodyPr/>
          <a:lstStyle/>
          <a:p>
            <a:endParaRPr lang="en-US"/>
          </a:p>
        </p:txBody>
      </p:sp>
      <p:sp>
        <p:nvSpPr>
          <p:cNvPr id="30" name="Text 26"/>
          <p:cNvSpPr/>
          <p:nvPr/>
        </p:nvSpPr>
        <p:spPr>
          <a:xfrm>
            <a:off x="5857551" y="2220295"/>
            <a:ext cx="1935663" cy="16891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Group interview with the Chairperson</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Caregiver strain and substitute cover</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Early signs of Parkinson’s discussed</a:t>
            </a:r>
            <a:endParaRPr lang="en-US" sz="1200" dirty="0"/>
          </a:p>
        </p:txBody>
      </p:sp>
      <p:sp>
        <p:nvSpPr>
          <p:cNvPr id="31" name="Shape 27"/>
          <p:cNvSpPr/>
          <p:nvPr/>
        </p:nvSpPr>
        <p:spPr>
          <a:xfrm>
            <a:off x="8029575" y="1558748"/>
            <a:ext cx="3549650" cy="2646451"/>
          </a:xfrm>
          <a:prstGeom prst="roundRect">
            <a:avLst>
              <a:gd name="adj" fmla="val 4679"/>
            </a:avLst>
          </a:prstGeom>
          <a:solidFill>
            <a:srgbClr val="FFFFFF"/>
          </a:solidFill>
          <a:ln w="6350">
            <a:solidFill>
              <a:srgbClr val="DCE2F2"/>
            </a:solidFill>
            <a:prstDash val="solid"/>
          </a:ln>
        </p:spPr>
        <p:txBody>
          <a:bodyPr/>
          <a:lstStyle/>
          <a:p>
            <a:endParaRPr lang="en-US"/>
          </a:p>
        </p:txBody>
      </p:sp>
      <p:sp>
        <p:nvSpPr>
          <p:cNvPr id="32" name="Text 28"/>
          <p:cNvSpPr/>
          <p:nvPr/>
        </p:nvSpPr>
        <p:spPr>
          <a:xfrm>
            <a:off x="8159045" y="1675518"/>
            <a:ext cx="3389432" cy="434269"/>
          </a:xfrm>
          <a:prstGeom prst="rect">
            <a:avLst/>
          </a:prstGeom>
          <a:noFill/>
          <a:ln/>
        </p:spPr>
        <p:txBody>
          <a:bodyPr wrap="square" lIns="0" tIns="0" rIns="0" bIns="0" rtlCol="0" anchor="t">
            <a:normAutofit/>
          </a:bodyPr>
          <a:lstStyle/>
          <a:p>
            <a:pPr marL="0" indent="0" algn="l">
              <a:lnSpc>
                <a:spcPts val="1610"/>
              </a:lnSpc>
              <a:buNone/>
            </a:pPr>
            <a:r>
              <a:rPr lang="en-US" sz="1400" b="1" dirty="0">
                <a:solidFill>
                  <a:srgbClr val="6B46E0"/>
                </a:solidFill>
                <a:latin typeface="Nunito Sans" pitchFamily="34" charset="0"/>
                <a:ea typeface="Nunito Sans" pitchFamily="34" charset="-122"/>
                <a:cs typeface="Nunito Sans" pitchFamily="34" charset="-120"/>
              </a:rPr>
              <a:t>Colombo Caregiver and Health Science School</a:t>
            </a:r>
            <a:endParaRPr lang="en-US" sz="1400" dirty="0"/>
          </a:p>
        </p:txBody>
      </p:sp>
      <p:sp>
        <p:nvSpPr>
          <p:cNvPr id="33" name="Text 29"/>
          <p:cNvSpPr/>
          <p:nvPr/>
        </p:nvSpPr>
        <p:spPr>
          <a:xfrm>
            <a:off x="8159045" y="2147888"/>
            <a:ext cx="3389432" cy="238742"/>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B5683"/>
                </a:solidFill>
                <a:latin typeface="Nunito Sans" pitchFamily="34" charset="0"/>
                <a:ea typeface="Nunito Sans" pitchFamily="34" charset="-122"/>
                <a:cs typeface="Nunito Sans" pitchFamily="34" charset="-120"/>
              </a:rPr>
              <a:t>22 Apr 2026 · CCHSS</a:t>
            </a:r>
            <a:endParaRPr lang="en-US" sz="1200" dirty="0"/>
          </a:p>
        </p:txBody>
      </p:sp>
      <p:pic>
        <p:nvPicPr>
          <p:cNvPr id="34" name="Image 2" descr="Signed visit letter from the Colombo Caregiver and Health Science School"/>
          <p:cNvPicPr>
            <a:picLocks noChangeAspect="1"/>
          </p:cNvPicPr>
          <p:nvPr/>
        </p:nvPicPr>
        <p:blipFill>
          <a:blip r:embed="rId5"/>
          <a:srcRect l="1776" r="1776"/>
          <a:stretch/>
        </p:blipFill>
        <p:spPr>
          <a:xfrm>
            <a:off x="8165395" y="2431080"/>
            <a:ext cx="1193800" cy="1651000"/>
          </a:xfrm>
          <a:prstGeom prst="roundRect">
            <a:avLst>
              <a:gd name="adj" fmla="val 3723"/>
            </a:avLst>
          </a:prstGeom>
        </p:spPr>
      </p:pic>
      <p:sp>
        <p:nvSpPr>
          <p:cNvPr id="35" name="Shape 30"/>
          <p:cNvSpPr/>
          <p:nvPr/>
        </p:nvSpPr>
        <p:spPr>
          <a:xfrm>
            <a:off x="8162220" y="2427905"/>
            <a:ext cx="1200150" cy="1657350"/>
          </a:xfrm>
          <a:prstGeom prst="roundRect">
            <a:avLst>
              <a:gd name="adj" fmla="val 3968"/>
            </a:avLst>
          </a:prstGeom>
          <a:noFill/>
          <a:ln w="6350">
            <a:solidFill>
              <a:srgbClr val="DCE2F2"/>
            </a:solidFill>
            <a:prstDash val="solid"/>
          </a:ln>
        </p:spPr>
        <p:txBody>
          <a:bodyPr/>
          <a:lstStyle/>
          <a:p>
            <a:endParaRPr lang="en-US"/>
          </a:p>
        </p:txBody>
      </p:sp>
      <p:sp>
        <p:nvSpPr>
          <p:cNvPr id="36" name="Text 31"/>
          <p:cNvSpPr/>
          <p:nvPr/>
        </p:nvSpPr>
        <p:spPr>
          <a:xfrm>
            <a:off x="9565951" y="2424730"/>
            <a:ext cx="1935663" cy="1689100"/>
          </a:xfrm>
          <a:prstGeom prst="rect">
            <a:avLst/>
          </a:prstGeom>
          <a:noFill/>
          <a:ln/>
        </p:spPr>
        <p:txBody>
          <a:bodyPr wrap="square" lIns="0" tIns="0" rIns="0" bIns="0" rtlCol="0" anchor="t">
            <a:normAutofit/>
          </a:bodyPr>
          <a:lstStyle/>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Site visit with a sign-language tutor</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Course structure and caregiver training</a:t>
            </a:r>
            <a:endParaRPr lang="en-US" sz="1200" dirty="0"/>
          </a:p>
          <a:p>
            <a:pPr marL="155194" indent="-155194" algn="l">
              <a:lnSpc>
                <a:spcPts val="1500"/>
              </a:lnSpc>
              <a:buSzPct val="100000"/>
              <a:buChar char="•"/>
            </a:pPr>
            <a:r>
              <a:rPr lang="en-US" sz="1200" dirty="0">
                <a:solidFill>
                  <a:srgbClr val="1B2A5E"/>
                </a:solidFill>
                <a:latin typeface="Nunito Sans" pitchFamily="34" charset="0"/>
                <a:ea typeface="Nunito Sans" pitchFamily="34" charset="-122"/>
                <a:cs typeface="Nunito Sans" pitchFamily="34" charset="-120"/>
              </a:rPr>
              <a:t>Led to our fixed 59-sign vocabulary</a:t>
            </a:r>
            <a:endParaRPr lang="en-US" sz="1200" dirty="0"/>
          </a:p>
        </p:txBody>
      </p:sp>
      <p:sp>
        <p:nvSpPr>
          <p:cNvPr id="37" name="Text 32"/>
          <p:cNvSpPr/>
          <p:nvPr/>
        </p:nvSpPr>
        <p:spPr>
          <a:xfrm>
            <a:off x="609600" y="4309974"/>
            <a:ext cx="1130198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1B4D"/>
                </a:solidFill>
                <a:latin typeface="Nunito Sans" pitchFamily="34" charset="0"/>
                <a:ea typeface="Nunito Sans" pitchFamily="34" charset="-122"/>
                <a:cs typeface="Nunito Sans" pitchFamily="34" charset="-120"/>
              </a:rPr>
              <a:t>On-site moments</a:t>
            </a:r>
            <a:endParaRPr lang="en-US" sz="1300" dirty="0"/>
          </a:p>
        </p:txBody>
      </p:sp>
      <p:pic>
        <p:nvPicPr>
          <p:cNvPr id="38" name="Image 3" descr="Love and Care Home for Elders and Children Day Care signboard"/>
          <p:cNvPicPr>
            <a:picLocks noChangeAspect="1"/>
          </p:cNvPicPr>
          <p:nvPr/>
        </p:nvPicPr>
        <p:blipFill>
          <a:blip r:embed="rId6"/>
          <a:srcRect t="36903" b="22618"/>
          <a:stretch/>
        </p:blipFill>
        <p:spPr>
          <a:xfrm>
            <a:off x="609600" y="4642644"/>
            <a:ext cx="1765300" cy="952500"/>
          </a:xfrm>
          <a:prstGeom prst="roundRect">
            <a:avLst>
              <a:gd name="adj" fmla="val 8000"/>
            </a:avLst>
          </a:prstGeom>
        </p:spPr>
      </p:pic>
      <p:sp>
        <p:nvSpPr>
          <p:cNvPr id="39" name="Text 33"/>
          <p:cNvSpPr/>
          <p:nvPr/>
        </p:nvSpPr>
        <p:spPr>
          <a:xfrm>
            <a:off x="609600" y="5633244"/>
            <a:ext cx="1818259"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Love and Care entrance</a:t>
            </a:r>
            <a:endParaRPr lang="en-US" sz="1200" dirty="0"/>
          </a:p>
        </p:txBody>
      </p:sp>
      <p:pic>
        <p:nvPicPr>
          <p:cNvPr id="40" name="Image 4" descr="Residents seated in a care home lounge with faces blurred"/>
          <p:cNvPicPr>
            <a:picLocks noChangeAspect="1"/>
          </p:cNvPicPr>
          <p:nvPr/>
        </p:nvPicPr>
        <p:blipFill>
          <a:blip r:embed="rId7"/>
          <a:srcRect t="14029" b="14029"/>
          <a:stretch/>
        </p:blipFill>
        <p:spPr>
          <a:xfrm>
            <a:off x="2451100" y="4642644"/>
            <a:ext cx="1765300" cy="952500"/>
          </a:xfrm>
          <a:prstGeom prst="roundRect">
            <a:avLst>
              <a:gd name="adj" fmla="val 8000"/>
            </a:avLst>
          </a:prstGeom>
        </p:spPr>
      </p:pic>
      <p:sp>
        <p:nvSpPr>
          <p:cNvPr id="41" name="Text 34"/>
          <p:cNvSpPr/>
          <p:nvPr/>
        </p:nvSpPr>
        <p:spPr>
          <a:xfrm>
            <a:off x="2451100" y="5633244"/>
            <a:ext cx="181825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Residents’ lounge, faces blurred</a:t>
            </a:r>
            <a:endParaRPr lang="en-US" sz="1200" dirty="0"/>
          </a:p>
        </p:txBody>
      </p:sp>
      <p:pic>
        <p:nvPicPr>
          <p:cNvPr id="42" name="Image 5" descr="Group members receiving a signed visit letter from a nurse"/>
          <p:cNvPicPr>
            <a:picLocks noChangeAspect="1"/>
          </p:cNvPicPr>
          <p:nvPr/>
        </p:nvPicPr>
        <p:blipFill>
          <a:blip r:embed="rId8"/>
          <a:srcRect t="2069" b="2069"/>
          <a:stretch/>
        </p:blipFill>
        <p:spPr>
          <a:xfrm>
            <a:off x="4292600" y="4642644"/>
            <a:ext cx="1765300" cy="952500"/>
          </a:xfrm>
          <a:prstGeom prst="roundRect">
            <a:avLst>
              <a:gd name="adj" fmla="val 8000"/>
            </a:avLst>
          </a:prstGeom>
        </p:spPr>
      </p:pic>
      <p:sp>
        <p:nvSpPr>
          <p:cNvPr id="43" name="Text 35"/>
          <p:cNvSpPr/>
          <p:nvPr/>
        </p:nvSpPr>
        <p:spPr>
          <a:xfrm>
            <a:off x="4292600" y="5633244"/>
            <a:ext cx="181825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Team receives a visit letter</a:t>
            </a:r>
            <a:endParaRPr lang="en-US" sz="1200" dirty="0"/>
          </a:p>
        </p:txBody>
      </p:sp>
      <p:pic>
        <p:nvPicPr>
          <p:cNvPr id="44" name="Image 6" descr="Group members listening to a trainer in a caregiver training room"/>
          <p:cNvPicPr>
            <a:picLocks noChangeAspect="1"/>
          </p:cNvPicPr>
          <p:nvPr/>
        </p:nvPicPr>
        <p:blipFill>
          <a:blip r:embed="rId9"/>
          <a:srcRect t="14038" b="14038"/>
          <a:stretch/>
        </p:blipFill>
        <p:spPr>
          <a:xfrm>
            <a:off x="6134100" y="4642644"/>
            <a:ext cx="1765300" cy="952500"/>
          </a:xfrm>
          <a:prstGeom prst="roundRect">
            <a:avLst>
              <a:gd name="adj" fmla="val 8000"/>
            </a:avLst>
          </a:prstGeom>
        </p:spPr>
      </p:pic>
      <p:sp>
        <p:nvSpPr>
          <p:cNvPr id="45" name="Text 36"/>
          <p:cNvSpPr/>
          <p:nvPr/>
        </p:nvSpPr>
        <p:spPr>
          <a:xfrm>
            <a:off x="6134100" y="5633244"/>
            <a:ext cx="181825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CCHSS training room briefing</a:t>
            </a:r>
            <a:endParaRPr lang="en-US" sz="1200" dirty="0"/>
          </a:p>
        </p:txBody>
      </p:sp>
      <p:pic>
        <p:nvPicPr>
          <p:cNvPr id="46" name="Image 7" descr="Trainer explaining the practical training area"/>
          <p:cNvPicPr>
            <a:picLocks noChangeAspect="1"/>
          </p:cNvPicPr>
          <p:nvPr/>
        </p:nvPicPr>
        <p:blipFill>
          <a:blip r:embed="rId10"/>
          <a:srcRect t="32737" b="26785"/>
          <a:stretch/>
        </p:blipFill>
        <p:spPr>
          <a:xfrm>
            <a:off x="7975600" y="4642644"/>
            <a:ext cx="1765300" cy="952500"/>
          </a:xfrm>
          <a:prstGeom prst="roundRect">
            <a:avLst>
              <a:gd name="adj" fmla="val 8000"/>
            </a:avLst>
          </a:prstGeom>
        </p:spPr>
      </p:pic>
      <p:sp>
        <p:nvSpPr>
          <p:cNvPr id="47" name="Text 37"/>
          <p:cNvSpPr/>
          <p:nvPr/>
        </p:nvSpPr>
        <p:spPr>
          <a:xfrm>
            <a:off x="7975600" y="5633244"/>
            <a:ext cx="181825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CCHSS practical training area</a:t>
            </a:r>
            <a:endParaRPr lang="en-US" sz="1200" dirty="0"/>
          </a:p>
        </p:txBody>
      </p:sp>
      <p:pic>
        <p:nvPicPr>
          <p:cNvPr id="48" name="Image 8" descr="Training beds with care mannequins"/>
          <p:cNvPicPr>
            <a:picLocks noChangeAspect="1"/>
          </p:cNvPicPr>
          <p:nvPr/>
        </p:nvPicPr>
        <p:blipFill>
          <a:blip r:embed="rId11"/>
          <a:srcRect t="47626" b="11906"/>
          <a:stretch/>
        </p:blipFill>
        <p:spPr>
          <a:xfrm>
            <a:off x="9817100" y="4642644"/>
            <a:ext cx="1765300" cy="952500"/>
          </a:xfrm>
          <a:prstGeom prst="roundRect">
            <a:avLst>
              <a:gd name="adj" fmla="val 8000"/>
            </a:avLst>
          </a:prstGeom>
        </p:spPr>
      </p:pic>
      <p:sp>
        <p:nvSpPr>
          <p:cNvPr id="49" name="Text 38"/>
          <p:cNvSpPr/>
          <p:nvPr/>
        </p:nvSpPr>
        <p:spPr>
          <a:xfrm>
            <a:off x="9817100" y="5633244"/>
            <a:ext cx="181825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Mannequin beds for care practice</a:t>
            </a:r>
            <a:endParaRPr lang="en-US" sz="1200" dirty="0"/>
          </a:p>
        </p:txBody>
      </p:sp>
      <p:sp>
        <p:nvSpPr>
          <p:cNvPr id="50" name="Shape 39"/>
          <p:cNvSpPr/>
          <p:nvPr/>
        </p:nvSpPr>
        <p:spPr>
          <a:xfrm>
            <a:off x="0" y="6273800"/>
            <a:ext cx="12192000" cy="584200"/>
          </a:xfrm>
          <a:prstGeom prst="rect">
            <a:avLst/>
          </a:prstGeom>
          <a:solidFill>
            <a:srgbClr val="FFFFFF"/>
          </a:solidFill>
          <a:ln/>
        </p:spPr>
        <p:txBody>
          <a:bodyPr/>
          <a:lstStyle/>
          <a:p>
            <a:endParaRPr lang="en-US"/>
          </a:p>
        </p:txBody>
      </p:sp>
      <p:sp>
        <p:nvSpPr>
          <p:cNvPr id="51" name="Shape 40"/>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52" name="Image 9" descr="SLIIT Faculty of Computing logo"/>
          <p:cNvPicPr>
            <a:picLocks noChangeAspect="1"/>
          </p:cNvPicPr>
          <p:nvPr/>
        </p:nvPicPr>
        <p:blipFill>
          <a:blip r:embed="rId12"/>
          <a:srcRect t="-370" b="-370"/>
          <a:stretch/>
        </p:blipFill>
        <p:spPr>
          <a:xfrm>
            <a:off x="406400" y="6362700"/>
            <a:ext cx="2032000" cy="406400"/>
          </a:xfrm>
          <a:prstGeom prst="rect">
            <a:avLst/>
          </a:prstGeom>
        </p:spPr>
      </p:pic>
      <p:sp>
        <p:nvSpPr>
          <p:cNvPr id="53" name="Text 41"/>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54" name="Text 42"/>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4</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E1B4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09600" y="254000"/>
            <a:ext cx="5088784" cy="388585"/>
          </a:xfrm>
          <a:prstGeom prst="rect">
            <a:avLst/>
          </a:prstGeom>
          <a:noFill/>
          <a:ln/>
        </p:spPr>
        <p:txBody>
          <a:bodyPr wrap="square" lIns="0" tIns="0" rIns="0" bIns="0" rtlCol="0" anchor="t">
            <a:normAutofit/>
          </a:bodyPr>
          <a:lstStyle/>
          <a:p>
            <a:pPr marL="0" indent="0" algn="l">
              <a:lnSpc>
                <a:spcPts val="2860"/>
              </a:lnSpc>
              <a:buNone/>
            </a:pPr>
            <a:r>
              <a:rPr lang="en-US" sz="2600" b="1" i="0" dirty="0">
                <a:solidFill>
                  <a:srgbClr val="FFFFFF"/>
                </a:solidFill>
                <a:latin typeface="Rubik" pitchFamily="34" charset="0"/>
                <a:ea typeface="Rubik" pitchFamily="34" charset="-122"/>
                <a:cs typeface="Rubik" pitchFamily="34" charset="-120"/>
              </a:rPr>
              <a:t>User Testing Journey Map</a:t>
            </a:r>
            <a:endParaRPr lang="en-US" sz="2600" dirty="0"/>
          </a:p>
        </p:txBody>
      </p:sp>
      <p:sp>
        <p:nvSpPr>
          <p:cNvPr id="3" name="Text 1"/>
          <p:cNvSpPr/>
          <p:nvPr/>
        </p:nvSpPr>
        <p:spPr>
          <a:xfrm>
            <a:off x="8026753" y="278076"/>
            <a:ext cx="3555647" cy="314942"/>
          </a:xfrm>
          <a:prstGeom prst="roundRect">
            <a:avLst>
              <a:gd name="adj" fmla="val 50000"/>
            </a:avLst>
          </a:prstGeom>
          <a:solidFill>
            <a:srgbClr val="FFC247"/>
          </a:solidFill>
          <a:ln/>
        </p:spPr>
        <p:txBody>
          <a:bodyPr wrap="none" lIns="0" tIns="0" rIns="0" bIns="0" rtlCol="0" anchor="ctr">
            <a:normAutofit/>
          </a:bodyPr>
          <a:lstStyle/>
          <a:p>
            <a:pPr marL="0" indent="0" algn="ctr">
              <a:lnSpc>
                <a:spcPts val="1680"/>
              </a:lnSpc>
              <a:buNone/>
            </a:pPr>
            <a:r>
              <a:rPr lang="en-US" sz="1200" b="1" dirty="0">
                <a:solidFill>
                  <a:srgbClr val="0E1B4D"/>
                </a:solidFill>
                <a:latin typeface="Nunito Sans" pitchFamily="34" charset="0"/>
                <a:ea typeface="Nunito Sans" pitchFamily="34" charset="-122"/>
                <a:cs typeface="Nunito Sans" pitchFamily="34" charset="-120"/>
              </a:rPr>
              <a:t>User acceptance testing with care-home staff</a:t>
            </a:r>
            <a:endParaRPr lang="en-US" sz="1200" dirty="0"/>
          </a:p>
        </p:txBody>
      </p:sp>
      <p:sp>
        <p:nvSpPr>
          <p:cNvPr id="4" name="Shape 2"/>
          <p:cNvSpPr/>
          <p:nvPr/>
        </p:nvSpPr>
        <p:spPr>
          <a:xfrm>
            <a:off x="609600" y="718784"/>
            <a:ext cx="1930400" cy="1381566"/>
          </a:xfrm>
          <a:prstGeom prst="roundRect">
            <a:avLst>
              <a:gd name="adj" fmla="val 8273"/>
            </a:avLst>
          </a:prstGeom>
          <a:solidFill>
            <a:srgbClr val="ECE6FF"/>
          </a:solidFill>
          <a:ln/>
        </p:spPr>
        <p:txBody>
          <a:bodyPr/>
          <a:lstStyle/>
          <a:p>
            <a:endParaRPr lang="en-US"/>
          </a:p>
        </p:txBody>
      </p:sp>
      <p:pic>
        <p:nvPicPr>
          <p:cNvPr id="5" name="Image 0" descr="Users"/>
          <p:cNvPicPr>
            <a:picLocks noChangeAspect="1"/>
          </p:cNvPicPr>
          <p:nvPr/>
        </p:nvPicPr>
        <p:blipFill>
          <a:blip r:embed="rId3"/>
          <a:srcRect/>
          <a:stretch/>
        </p:blipFill>
        <p:spPr>
          <a:xfrm>
            <a:off x="723900" y="820384"/>
            <a:ext cx="279400" cy="279400"/>
          </a:xfrm>
          <a:prstGeom prst="rect">
            <a:avLst/>
          </a:prstGeom>
        </p:spPr>
      </p:pic>
      <p:sp>
        <p:nvSpPr>
          <p:cNvPr id="6" name="Text 3"/>
          <p:cNvSpPr/>
          <p:nvPr/>
        </p:nvSpPr>
        <p:spPr>
          <a:xfrm>
            <a:off x="723900" y="1150584"/>
            <a:ext cx="1752854" cy="27428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B2290"/>
                </a:solidFill>
                <a:latin typeface="Nunito Sans" pitchFamily="34" charset="0"/>
                <a:ea typeface="Nunito Sans" pitchFamily="34" charset="-122"/>
                <a:cs typeface="Nunito Sans" pitchFamily="34" charset="-120"/>
              </a:rPr>
              <a:t>1 · Meet</a:t>
            </a:r>
            <a:endParaRPr lang="en-US" sz="1400" dirty="0"/>
          </a:p>
        </p:txBody>
      </p:sp>
      <p:sp>
        <p:nvSpPr>
          <p:cNvPr id="7" name="Text 4"/>
          <p:cNvSpPr/>
          <p:nvPr/>
        </p:nvSpPr>
        <p:spPr>
          <a:xfrm>
            <a:off x="723900" y="1450271"/>
            <a:ext cx="1752854"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Introduced CareSense to staff, caregivers and trainees</a:t>
            </a:r>
            <a:endParaRPr lang="en-US" sz="1200" dirty="0"/>
          </a:p>
        </p:txBody>
      </p:sp>
      <p:pic>
        <p:nvPicPr>
          <p:cNvPr id="8" name="Image 1" descr="arrow-right"/>
          <p:cNvPicPr>
            <a:picLocks noChangeAspect="1"/>
          </p:cNvPicPr>
          <p:nvPr/>
        </p:nvPicPr>
        <p:blipFill>
          <a:blip r:embed="rId4"/>
          <a:srcRect/>
          <a:stretch/>
        </p:blipFill>
        <p:spPr>
          <a:xfrm>
            <a:off x="2590800" y="1333323"/>
            <a:ext cx="228600" cy="152400"/>
          </a:xfrm>
          <a:prstGeom prst="rect">
            <a:avLst/>
          </a:prstGeom>
        </p:spPr>
      </p:pic>
      <p:sp>
        <p:nvSpPr>
          <p:cNvPr id="9" name="Shape 5"/>
          <p:cNvSpPr/>
          <p:nvPr/>
        </p:nvSpPr>
        <p:spPr>
          <a:xfrm>
            <a:off x="2870200" y="718784"/>
            <a:ext cx="1930400" cy="1381566"/>
          </a:xfrm>
          <a:prstGeom prst="roundRect">
            <a:avLst>
              <a:gd name="adj" fmla="val 8273"/>
            </a:avLst>
          </a:prstGeom>
          <a:solidFill>
            <a:srgbClr val="E1EBFF"/>
          </a:solidFill>
          <a:ln/>
        </p:spPr>
        <p:txBody>
          <a:bodyPr/>
          <a:lstStyle/>
          <a:p>
            <a:endParaRPr lang="en-US"/>
          </a:p>
        </p:txBody>
      </p:sp>
      <p:pic>
        <p:nvPicPr>
          <p:cNvPr id="10" name="Image 2" descr="Play"/>
          <p:cNvPicPr>
            <a:picLocks noChangeAspect="1"/>
          </p:cNvPicPr>
          <p:nvPr/>
        </p:nvPicPr>
        <p:blipFill>
          <a:blip r:embed="rId5"/>
          <a:srcRect/>
          <a:stretch/>
        </p:blipFill>
        <p:spPr>
          <a:xfrm>
            <a:off x="2984500" y="820384"/>
            <a:ext cx="279400" cy="279400"/>
          </a:xfrm>
          <a:prstGeom prst="rect">
            <a:avLst/>
          </a:prstGeom>
        </p:spPr>
      </p:pic>
      <p:sp>
        <p:nvSpPr>
          <p:cNvPr id="11" name="Text 6"/>
          <p:cNvSpPr/>
          <p:nvPr/>
        </p:nvSpPr>
        <p:spPr>
          <a:xfrm>
            <a:off x="2984500" y="1150584"/>
            <a:ext cx="1752854" cy="27428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3F94"/>
                </a:solidFill>
                <a:latin typeface="Nunito Sans" pitchFamily="34" charset="0"/>
                <a:ea typeface="Nunito Sans" pitchFamily="34" charset="-122"/>
                <a:cs typeface="Nunito Sans" pitchFamily="34" charset="-120"/>
              </a:rPr>
              <a:t>2 · Demo</a:t>
            </a:r>
            <a:endParaRPr lang="en-US" sz="1400" dirty="0"/>
          </a:p>
        </p:txBody>
      </p:sp>
      <p:sp>
        <p:nvSpPr>
          <p:cNvPr id="12" name="Text 7"/>
          <p:cNvSpPr/>
          <p:nvPr/>
        </p:nvSpPr>
        <p:spPr>
          <a:xfrm>
            <a:off x="2984500" y="1450271"/>
            <a:ext cx="1752854"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Walked through PULSE, SENTRY, SCRIBE and GLOSS screens</a:t>
            </a:r>
            <a:endParaRPr lang="en-US" sz="1200" dirty="0"/>
          </a:p>
        </p:txBody>
      </p:sp>
      <p:pic>
        <p:nvPicPr>
          <p:cNvPr id="13" name="Image 3" descr="arrow-right"/>
          <p:cNvPicPr>
            <a:picLocks noChangeAspect="1"/>
          </p:cNvPicPr>
          <p:nvPr/>
        </p:nvPicPr>
        <p:blipFill>
          <a:blip r:embed="rId4"/>
          <a:srcRect/>
          <a:stretch/>
        </p:blipFill>
        <p:spPr>
          <a:xfrm>
            <a:off x="4851400" y="1333323"/>
            <a:ext cx="228600" cy="152400"/>
          </a:xfrm>
          <a:prstGeom prst="rect">
            <a:avLst/>
          </a:prstGeom>
        </p:spPr>
      </p:pic>
      <p:sp>
        <p:nvSpPr>
          <p:cNvPr id="14" name="Shape 8"/>
          <p:cNvSpPr/>
          <p:nvPr/>
        </p:nvSpPr>
        <p:spPr>
          <a:xfrm>
            <a:off x="5130800" y="718784"/>
            <a:ext cx="1930400" cy="1381566"/>
          </a:xfrm>
          <a:prstGeom prst="roundRect">
            <a:avLst>
              <a:gd name="adj" fmla="val 8273"/>
            </a:avLst>
          </a:prstGeom>
          <a:solidFill>
            <a:srgbClr val="DDF6F3"/>
          </a:solidFill>
          <a:ln/>
        </p:spPr>
        <p:txBody>
          <a:bodyPr/>
          <a:lstStyle/>
          <a:p>
            <a:endParaRPr lang="en-US"/>
          </a:p>
        </p:txBody>
      </p:sp>
      <p:pic>
        <p:nvPicPr>
          <p:cNvPr id="15" name="Image 4" descr="Tool"/>
          <p:cNvPicPr>
            <a:picLocks noChangeAspect="1"/>
          </p:cNvPicPr>
          <p:nvPr/>
        </p:nvPicPr>
        <p:blipFill>
          <a:blip r:embed="rId6"/>
          <a:srcRect/>
          <a:stretch/>
        </p:blipFill>
        <p:spPr>
          <a:xfrm>
            <a:off x="5245100" y="820384"/>
            <a:ext cx="279400" cy="279400"/>
          </a:xfrm>
          <a:prstGeom prst="rect">
            <a:avLst/>
          </a:prstGeom>
        </p:spPr>
      </p:pic>
      <p:sp>
        <p:nvSpPr>
          <p:cNvPr id="16" name="Text 9"/>
          <p:cNvSpPr/>
          <p:nvPr/>
        </p:nvSpPr>
        <p:spPr>
          <a:xfrm>
            <a:off x="5245100" y="1150584"/>
            <a:ext cx="1752854" cy="27428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6504E"/>
                </a:solidFill>
                <a:latin typeface="Nunito Sans" pitchFamily="34" charset="0"/>
                <a:ea typeface="Nunito Sans" pitchFamily="34" charset="-122"/>
                <a:cs typeface="Nunito Sans" pitchFamily="34" charset="-120"/>
              </a:rPr>
              <a:t>3 · Try</a:t>
            </a:r>
            <a:endParaRPr lang="en-US" sz="1400" dirty="0"/>
          </a:p>
        </p:txBody>
      </p:sp>
      <p:sp>
        <p:nvSpPr>
          <p:cNvPr id="17" name="Text 10"/>
          <p:cNvSpPr/>
          <p:nvPr/>
        </p:nvSpPr>
        <p:spPr>
          <a:xfrm>
            <a:off x="5245100" y="1450271"/>
            <a:ext cx="1752854"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Users tried webcam, voice and dashboards hands-on</a:t>
            </a:r>
            <a:endParaRPr lang="en-US" sz="1200" dirty="0"/>
          </a:p>
        </p:txBody>
      </p:sp>
      <p:pic>
        <p:nvPicPr>
          <p:cNvPr id="18" name="Image 5" descr="arrow-right"/>
          <p:cNvPicPr>
            <a:picLocks noChangeAspect="1"/>
          </p:cNvPicPr>
          <p:nvPr/>
        </p:nvPicPr>
        <p:blipFill>
          <a:blip r:embed="rId4"/>
          <a:srcRect/>
          <a:stretch/>
        </p:blipFill>
        <p:spPr>
          <a:xfrm>
            <a:off x="7112000" y="1333323"/>
            <a:ext cx="228600" cy="152400"/>
          </a:xfrm>
          <a:prstGeom prst="rect">
            <a:avLst/>
          </a:prstGeom>
        </p:spPr>
      </p:pic>
      <p:sp>
        <p:nvSpPr>
          <p:cNvPr id="19" name="Shape 11"/>
          <p:cNvSpPr/>
          <p:nvPr/>
        </p:nvSpPr>
        <p:spPr>
          <a:xfrm>
            <a:off x="7391400" y="810155"/>
            <a:ext cx="1930400" cy="1198739"/>
          </a:xfrm>
          <a:prstGeom prst="roundRect">
            <a:avLst>
              <a:gd name="adj" fmla="val 9535"/>
            </a:avLst>
          </a:prstGeom>
          <a:solidFill>
            <a:srgbClr val="FFF0DC"/>
          </a:solidFill>
          <a:ln/>
        </p:spPr>
        <p:txBody>
          <a:bodyPr/>
          <a:lstStyle/>
          <a:p>
            <a:endParaRPr lang="en-US"/>
          </a:p>
        </p:txBody>
      </p:sp>
      <p:pic>
        <p:nvPicPr>
          <p:cNvPr id="20" name="Image 6" descr="Chat"/>
          <p:cNvPicPr>
            <a:picLocks noChangeAspect="1"/>
          </p:cNvPicPr>
          <p:nvPr/>
        </p:nvPicPr>
        <p:blipFill>
          <a:blip r:embed="rId7"/>
          <a:srcRect/>
          <a:stretch/>
        </p:blipFill>
        <p:spPr>
          <a:xfrm>
            <a:off x="7505700" y="911755"/>
            <a:ext cx="279400" cy="279400"/>
          </a:xfrm>
          <a:prstGeom prst="rect">
            <a:avLst/>
          </a:prstGeom>
        </p:spPr>
      </p:pic>
      <p:sp>
        <p:nvSpPr>
          <p:cNvPr id="21" name="Text 12"/>
          <p:cNvSpPr/>
          <p:nvPr/>
        </p:nvSpPr>
        <p:spPr>
          <a:xfrm>
            <a:off x="7505700" y="1241955"/>
            <a:ext cx="1752854" cy="27428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B3803"/>
                </a:solidFill>
                <a:latin typeface="Nunito Sans" pitchFamily="34" charset="0"/>
                <a:ea typeface="Nunito Sans" pitchFamily="34" charset="-122"/>
                <a:cs typeface="Nunito Sans" pitchFamily="34" charset="-120"/>
              </a:rPr>
              <a:t>4 · Feedback</a:t>
            </a:r>
            <a:endParaRPr lang="en-US" sz="1400" dirty="0"/>
          </a:p>
        </p:txBody>
      </p:sp>
      <p:sp>
        <p:nvSpPr>
          <p:cNvPr id="22" name="Text 13"/>
          <p:cNvSpPr/>
          <p:nvPr/>
        </p:nvSpPr>
        <p:spPr>
          <a:xfrm>
            <a:off x="7505700" y="1541639"/>
            <a:ext cx="1752854"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Heard what felt useful, unclear or missing</a:t>
            </a:r>
            <a:endParaRPr lang="en-US" sz="1200" dirty="0"/>
          </a:p>
        </p:txBody>
      </p:sp>
      <p:pic>
        <p:nvPicPr>
          <p:cNvPr id="23" name="Image 7" descr="arrow-right"/>
          <p:cNvPicPr>
            <a:picLocks noChangeAspect="1"/>
          </p:cNvPicPr>
          <p:nvPr/>
        </p:nvPicPr>
        <p:blipFill>
          <a:blip r:embed="rId4"/>
          <a:srcRect/>
          <a:stretch/>
        </p:blipFill>
        <p:spPr>
          <a:xfrm>
            <a:off x="9372600" y="1333323"/>
            <a:ext cx="228600" cy="152400"/>
          </a:xfrm>
          <a:prstGeom prst="rect">
            <a:avLst/>
          </a:prstGeom>
        </p:spPr>
      </p:pic>
      <p:sp>
        <p:nvSpPr>
          <p:cNvPr id="24" name="Shape 14"/>
          <p:cNvSpPr/>
          <p:nvPr/>
        </p:nvSpPr>
        <p:spPr>
          <a:xfrm>
            <a:off x="9652000" y="810155"/>
            <a:ext cx="1930400" cy="1198739"/>
          </a:xfrm>
          <a:prstGeom prst="roundRect">
            <a:avLst>
              <a:gd name="adj" fmla="val 9535"/>
            </a:avLst>
          </a:prstGeom>
          <a:solidFill>
            <a:srgbClr val="FFE7EB"/>
          </a:solidFill>
          <a:ln/>
        </p:spPr>
        <p:txBody>
          <a:bodyPr/>
          <a:lstStyle/>
          <a:p>
            <a:endParaRPr lang="en-US"/>
          </a:p>
        </p:txBody>
      </p:sp>
      <p:pic>
        <p:nvPicPr>
          <p:cNvPr id="25" name="Image 8" descr="Lightbulb"/>
          <p:cNvPicPr>
            <a:picLocks noChangeAspect="1"/>
          </p:cNvPicPr>
          <p:nvPr/>
        </p:nvPicPr>
        <p:blipFill>
          <a:blip r:embed="rId8"/>
          <a:srcRect/>
          <a:stretch/>
        </p:blipFill>
        <p:spPr>
          <a:xfrm>
            <a:off x="9766300" y="911755"/>
            <a:ext cx="279400" cy="279400"/>
          </a:xfrm>
          <a:prstGeom prst="rect">
            <a:avLst/>
          </a:prstGeom>
        </p:spPr>
      </p:pic>
      <p:sp>
        <p:nvSpPr>
          <p:cNvPr id="26" name="Text 15"/>
          <p:cNvSpPr/>
          <p:nvPr/>
        </p:nvSpPr>
        <p:spPr>
          <a:xfrm>
            <a:off x="9766300" y="1241955"/>
            <a:ext cx="1752854" cy="27428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7A1A2B"/>
                </a:solidFill>
                <a:latin typeface="Nunito Sans" pitchFamily="34" charset="0"/>
                <a:ea typeface="Nunito Sans" pitchFamily="34" charset="-122"/>
                <a:cs typeface="Nunito Sans" pitchFamily="34" charset="-120"/>
              </a:rPr>
              <a:t>5 · Refine</a:t>
            </a:r>
            <a:endParaRPr lang="en-US" sz="1400" dirty="0"/>
          </a:p>
        </p:txBody>
      </p:sp>
      <p:sp>
        <p:nvSpPr>
          <p:cNvPr id="27" name="Text 16"/>
          <p:cNvSpPr/>
          <p:nvPr/>
        </p:nvSpPr>
        <p:spPr>
          <a:xfrm>
            <a:off x="9766300" y="1541639"/>
            <a:ext cx="1752854"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Turned each comment into a design change</a:t>
            </a:r>
            <a:endParaRPr lang="en-US" sz="1200" dirty="0"/>
          </a:p>
        </p:txBody>
      </p:sp>
      <p:pic>
        <p:nvPicPr>
          <p:cNvPr id="28" name="Image 9" descr="Group members with a family and a child in a wheelchair after a testing session, faces partly blurred"/>
          <p:cNvPicPr>
            <a:picLocks noChangeAspect="1"/>
          </p:cNvPicPr>
          <p:nvPr/>
        </p:nvPicPr>
        <p:blipFill>
          <a:blip r:embed="rId9"/>
          <a:srcRect/>
          <a:stretch/>
        </p:blipFill>
        <p:spPr>
          <a:xfrm>
            <a:off x="609600" y="2201952"/>
            <a:ext cx="3175000" cy="2381250"/>
          </a:xfrm>
          <a:prstGeom prst="roundRect">
            <a:avLst>
              <a:gd name="adj" fmla="val 4267"/>
            </a:avLst>
          </a:prstGeom>
        </p:spPr>
      </p:pic>
      <p:pic>
        <p:nvPicPr>
          <p:cNvPr id="29" name="Image 10" descr="Team member pointing at the laptop while a webcam on a tripod records a user"/>
          <p:cNvPicPr>
            <a:picLocks noChangeAspect="1"/>
          </p:cNvPicPr>
          <p:nvPr/>
        </p:nvPicPr>
        <p:blipFill>
          <a:blip r:embed="rId10"/>
          <a:srcRect t="15310" b="20295"/>
          <a:stretch/>
        </p:blipFill>
        <p:spPr>
          <a:xfrm>
            <a:off x="3860800" y="2201952"/>
            <a:ext cx="1308100" cy="1149350"/>
          </a:xfrm>
          <a:prstGeom prst="roundRect">
            <a:avLst>
              <a:gd name="adj" fmla="val 6630"/>
            </a:avLst>
          </a:prstGeom>
        </p:spPr>
      </p:pic>
      <p:pic>
        <p:nvPicPr>
          <p:cNvPr id="30" name="Image 11" descr="Team member guiding a user through the CareSense dashboard"/>
          <p:cNvPicPr>
            <a:picLocks noChangeAspect="1"/>
          </p:cNvPicPr>
          <p:nvPr/>
        </p:nvPicPr>
        <p:blipFill>
          <a:blip r:embed="rId11"/>
          <a:srcRect t="30346" b="20231"/>
          <a:stretch/>
        </p:blipFill>
        <p:spPr>
          <a:xfrm>
            <a:off x="5245100" y="2201952"/>
            <a:ext cx="1308100" cy="1149350"/>
          </a:xfrm>
          <a:prstGeom prst="roundRect">
            <a:avLst>
              <a:gd name="adj" fmla="val 6630"/>
            </a:avLst>
          </a:prstGeom>
        </p:spPr>
      </p:pic>
      <p:pic>
        <p:nvPicPr>
          <p:cNvPr id="31" name="Image 12" descr="User wearing a headset trying the voice module on a laptop"/>
          <p:cNvPicPr>
            <a:picLocks noChangeAspect="1"/>
          </p:cNvPicPr>
          <p:nvPr/>
        </p:nvPicPr>
        <p:blipFill>
          <a:blip r:embed="rId12"/>
          <a:srcRect t="41602" b="17829"/>
          <a:stretch/>
        </p:blipFill>
        <p:spPr>
          <a:xfrm>
            <a:off x="3860800" y="3430677"/>
            <a:ext cx="1308100" cy="1149350"/>
          </a:xfrm>
          <a:prstGeom prst="roundRect">
            <a:avLst>
              <a:gd name="adj" fmla="val 6630"/>
            </a:avLst>
          </a:prstGeom>
        </p:spPr>
      </p:pic>
      <p:pic>
        <p:nvPicPr>
          <p:cNvPr id="32" name="Image 13" descr="Team member showing the platform on a laptop to a user, face blurred"/>
          <p:cNvPicPr>
            <a:picLocks noChangeAspect="1"/>
          </p:cNvPicPr>
          <p:nvPr/>
        </p:nvPicPr>
        <p:blipFill>
          <a:blip r:embed="rId13"/>
          <a:srcRect t="25304" b="25304"/>
          <a:stretch/>
        </p:blipFill>
        <p:spPr>
          <a:xfrm>
            <a:off x="5245100" y="3430677"/>
            <a:ext cx="1308100" cy="1149350"/>
          </a:xfrm>
          <a:prstGeom prst="roundRect">
            <a:avLst>
              <a:gd name="adj" fmla="val 6630"/>
            </a:avLst>
          </a:prstGeom>
        </p:spPr>
      </p:pic>
      <p:sp>
        <p:nvSpPr>
          <p:cNvPr id="33" name="Text 17"/>
          <p:cNvSpPr/>
          <p:nvPr/>
        </p:nvSpPr>
        <p:spPr>
          <a:xfrm>
            <a:off x="609600" y="4659402"/>
            <a:ext cx="6121908"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D5DCFF"/>
                </a:solidFill>
                <a:latin typeface="Nunito Sans" pitchFamily="34" charset="0"/>
                <a:ea typeface="Nunito Sans" pitchFamily="34" charset="-122"/>
                <a:cs typeface="Nunito Sans" pitchFamily="34" charset="-120"/>
              </a:rPr>
              <a:t>Hands-on user acceptance testing at the care home: users try CareSense on a laptop with webcam and voice.</a:t>
            </a:r>
            <a:endParaRPr lang="en-US" sz="1200" dirty="0"/>
          </a:p>
        </p:txBody>
      </p:sp>
      <p:sp>
        <p:nvSpPr>
          <p:cNvPr id="34" name="Shape 18"/>
          <p:cNvSpPr/>
          <p:nvPr/>
        </p:nvSpPr>
        <p:spPr>
          <a:xfrm>
            <a:off x="609600" y="5101255"/>
            <a:ext cx="1930400" cy="863424"/>
          </a:xfrm>
          <a:prstGeom prst="roundRect">
            <a:avLst>
              <a:gd name="adj" fmla="val 11767"/>
            </a:avLst>
          </a:prstGeom>
          <a:solidFill>
            <a:srgbClr val="FFFFFF"/>
          </a:solidFill>
          <a:ln/>
        </p:spPr>
        <p:txBody>
          <a:bodyPr/>
          <a:lstStyle/>
          <a:p>
            <a:endParaRPr lang="en-US"/>
          </a:p>
        </p:txBody>
      </p:sp>
      <p:sp>
        <p:nvSpPr>
          <p:cNvPr id="35" name="Text 19"/>
          <p:cNvSpPr/>
          <p:nvPr/>
        </p:nvSpPr>
        <p:spPr>
          <a:xfrm>
            <a:off x="711200" y="5190155"/>
            <a:ext cx="1779016"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C8304B"/>
                </a:solidFill>
                <a:latin typeface="Rubik" pitchFamily="34" charset="0"/>
                <a:ea typeface="Rubik" pitchFamily="34" charset="-122"/>
                <a:cs typeface="Rubik" pitchFamily="34" charset="-120"/>
              </a:rPr>
              <a:t>4 / 4</a:t>
            </a:r>
            <a:endParaRPr lang="en-US" sz="2200" dirty="0"/>
          </a:p>
        </p:txBody>
      </p:sp>
      <p:sp>
        <p:nvSpPr>
          <p:cNvPr id="36" name="Text 20"/>
          <p:cNvSpPr/>
          <p:nvPr/>
        </p:nvSpPr>
        <p:spPr>
          <a:xfrm>
            <a:off x="711200" y="5510126"/>
            <a:ext cx="1779016"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modules reviewed by stakeholders</a:t>
            </a:r>
            <a:endParaRPr lang="en-US" sz="1200" dirty="0"/>
          </a:p>
        </p:txBody>
      </p:sp>
      <p:sp>
        <p:nvSpPr>
          <p:cNvPr id="37" name="Shape 21"/>
          <p:cNvSpPr/>
          <p:nvPr/>
        </p:nvSpPr>
        <p:spPr>
          <a:xfrm>
            <a:off x="2616200" y="5101255"/>
            <a:ext cx="1930400" cy="863424"/>
          </a:xfrm>
          <a:prstGeom prst="roundRect">
            <a:avLst>
              <a:gd name="adj" fmla="val 11767"/>
            </a:avLst>
          </a:prstGeom>
          <a:solidFill>
            <a:srgbClr val="FFFFFF"/>
          </a:solidFill>
          <a:ln/>
        </p:spPr>
        <p:txBody>
          <a:bodyPr/>
          <a:lstStyle/>
          <a:p>
            <a:endParaRPr lang="en-US"/>
          </a:p>
        </p:txBody>
      </p:sp>
      <p:sp>
        <p:nvSpPr>
          <p:cNvPr id="38" name="Text 22"/>
          <p:cNvSpPr/>
          <p:nvPr/>
        </p:nvSpPr>
        <p:spPr>
          <a:xfrm>
            <a:off x="2717800" y="5190155"/>
            <a:ext cx="1779016"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0A7F7C"/>
                </a:solidFill>
                <a:latin typeface="Rubik" pitchFamily="34" charset="0"/>
                <a:ea typeface="Rubik" pitchFamily="34" charset="-122"/>
                <a:cs typeface="Rubik" pitchFamily="34" charset="-120"/>
              </a:rPr>
              <a:t>200</a:t>
            </a:r>
            <a:endParaRPr lang="en-US" sz="2200" dirty="0"/>
          </a:p>
        </p:txBody>
      </p:sp>
      <p:sp>
        <p:nvSpPr>
          <p:cNvPr id="39" name="Text 23"/>
          <p:cNvSpPr/>
          <p:nvPr/>
        </p:nvSpPr>
        <p:spPr>
          <a:xfrm>
            <a:off x="2717800" y="5510126"/>
            <a:ext cx="1779016"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safety labels checked by a caregiver</a:t>
            </a:r>
            <a:endParaRPr lang="en-US" sz="1200" dirty="0"/>
          </a:p>
        </p:txBody>
      </p:sp>
      <p:sp>
        <p:nvSpPr>
          <p:cNvPr id="40" name="Shape 24"/>
          <p:cNvSpPr/>
          <p:nvPr/>
        </p:nvSpPr>
        <p:spPr>
          <a:xfrm>
            <a:off x="4622800" y="5101255"/>
            <a:ext cx="1930400" cy="863424"/>
          </a:xfrm>
          <a:prstGeom prst="roundRect">
            <a:avLst>
              <a:gd name="adj" fmla="val 11767"/>
            </a:avLst>
          </a:prstGeom>
          <a:solidFill>
            <a:srgbClr val="FFFFFF"/>
          </a:solidFill>
          <a:ln/>
        </p:spPr>
        <p:txBody>
          <a:bodyPr/>
          <a:lstStyle/>
          <a:p>
            <a:endParaRPr lang="en-US"/>
          </a:p>
        </p:txBody>
      </p:sp>
      <p:sp>
        <p:nvSpPr>
          <p:cNvPr id="41" name="Text 25"/>
          <p:cNvSpPr/>
          <p:nvPr/>
        </p:nvSpPr>
        <p:spPr>
          <a:xfrm>
            <a:off x="4724400" y="5190155"/>
            <a:ext cx="1779016" cy="332669"/>
          </a:xfrm>
          <a:prstGeom prst="rect">
            <a:avLst/>
          </a:prstGeom>
          <a:noFill/>
          <a:ln/>
        </p:spPr>
        <p:txBody>
          <a:bodyPr wrap="square" lIns="0" tIns="0" rIns="0" bIns="0" rtlCol="0" anchor="t">
            <a:normAutofit/>
          </a:bodyPr>
          <a:lstStyle/>
          <a:p>
            <a:pPr marL="0" indent="0" algn="l">
              <a:lnSpc>
                <a:spcPts val="2420"/>
              </a:lnSpc>
              <a:buNone/>
            </a:pPr>
            <a:r>
              <a:rPr lang="en-US" sz="2200" b="1" dirty="0">
                <a:solidFill>
                  <a:srgbClr val="6B46E0"/>
                </a:solidFill>
                <a:latin typeface="Rubik" pitchFamily="34" charset="0"/>
                <a:ea typeface="Rubik" pitchFamily="34" charset="-122"/>
                <a:cs typeface="Rubik" pitchFamily="34" charset="-120"/>
              </a:rPr>
              <a:t>3</a:t>
            </a:r>
            <a:endParaRPr lang="en-US" sz="2200" dirty="0"/>
          </a:p>
        </p:txBody>
      </p:sp>
      <p:sp>
        <p:nvSpPr>
          <p:cNvPr id="42" name="Text 26"/>
          <p:cNvSpPr/>
          <p:nvPr/>
        </p:nvSpPr>
        <p:spPr>
          <a:xfrm>
            <a:off x="4724400" y="5510126"/>
            <a:ext cx="1779016"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partner organisations gave feedback</a:t>
            </a:r>
            <a:endParaRPr lang="en-US" sz="1200" dirty="0"/>
          </a:p>
        </p:txBody>
      </p:sp>
      <p:sp>
        <p:nvSpPr>
          <p:cNvPr id="43" name="Text 27"/>
          <p:cNvSpPr/>
          <p:nvPr/>
        </p:nvSpPr>
        <p:spPr>
          <a:xfrm>
            <a:off x="6705600" y="2201952"/>
            <a:ext cx="502310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C247"/>
                </a:solidFill>
                <a:latin typeface="Rubik" pitchFamily="34" charset="0"/>
                <a:ea typeface="Rubik" pitchFamily="34" charset="-122"/>
                <a:cs typeface="Rubik" pitchFamily="34" charset="-120"/>
              </a:rPr>
              <a:t>What users said, what we changed</a:t>
            </a:r>
            <a:endParaRPr lang="en-US" sz="1500" dirty="0"/>
          </a:p>
        </p:txBody>
      </p:sp>
      <p:sp>
        <p:nvSpPr>
          <p:cNvPr id="44" name="Shape 28"/>
          <p:cNvSpPr/>
          <p:nvPr/>
        </p:nvSpPr>
        <p:spPr>
          <a:xfrm>
            <a:off x="6705600" y="2532152"/>
            <a:ext cx="4876800" cy="713581"/>
          </a:xfrm>
          <a:prstGeom prst="roundRect">
            <a:avLst>
              <a:gd name="adj" fmla="val 12458"/>
            </a:avLst>
          </a:prstGeom>
          <a:solidFill>
            <a:srgbClr val="FFFFFF"/>
          </a:solidFill>
          <a:ln/>
        </p:spPr>
        <p:txBody>
          <a:bodyPr/>
          <a:lstStyle/>
          <a:p>
            <a:endParaRPr lang="en-US"/>
          </a:p>
        </p:txBody>
      </p:sp>
      <p:sp>
        <p:nvSpPr>
          <p:cNvPr id="45" name="Shape 29"/>
          <p:cNvSpPr/>
          <p:nvPr/>
        </p:nvSpPr>
        <p:spPr>
          <a:xfrm>
            <a:off x="6705600" y="2532152"/>
            <a:ext cx="4876800" cy="713581"/>
          </a:xfrm>
          <a:custGeom>
            <a:avLst/>
            <a:gdLst/>
            <a:ahLst/>
            <a:cxnLst/>
            <a:rect l="l" t="t" r="r" b="b"/>
            <a:pathLst>
              <a:path w="4876800" h="713581">
                <a:moveTo>
                  <a:pt x="88900" y="713581"/>
                </a:moveTo>
                <a:lnTo>
                  <a:pt x="88900" y="713581"/>
                </a:lnTo>
                <a:arcTo wR="88900" hR="88900" stAng="5400000" swAng="5400000"/>
                <a:lnTo>
                  <a:pt x="0" y="88900"/>
                </a:lnTo>
                <a:arcTo wR="88900" hR="88900" stAng="10800000" swAng="5400000"/>
                <a:lnTo>
                  <a:pt x="88900" y="0"/>
                </a:lnTo>
                <a:arcTo wR="38100" hR="88900" stAng="16200000" swAng="-5400000"/>
                <a:lnTo>
                  <a:pt x="50800" y="624681"/>
                </a:lnTo>
                <a:arcTo wR="38100" hR="88900" stAng="10800000" swAng="-5400000"/>
                <a:close/>
              </a:path>
            </a:pathLst>
          </a:custGeom>
          <a:solidFill>
            <a:srgbClr val="C8304B"/>
          </a:solidFill>
          <a:ln/>
        </p:spPr>
        <p:txBody>
          <a:bodyPr/>
          <a:lstStyle/>
          <a:p>
            <a:endParaRPr lang="en-US"/>
          </a:p>
        </p:txBody>
      </p:sp>
      <p:sp>
        <p:nvSpPr>
          <p:cNvPr id="46" name="Text 30"/>
          <p:cNvSpPr/>
          <p:nvPr/>
        </p:nvSpPr>
        <p:spPr>
          <a:xfrm>
            <a:off x="6858000" y="2756870"/>
            <a:ext cx="667456" cy="264142"/>
          </a:xfrm>
          <a:custGeom>
            <a:avLst/>
            <a:gdLst/>
            <a:ahLst/>
            <a:cxnLst/>
            <a:rect l="l" t="t" r="r" b="b"/>
            <a:pathLst>
              <a:path w="667456" h="264142">
                <a:moveTo>
                  <a:pt x="132071" y="0"/>
                </a:moveTo>
                <a:lnTo>
                  <a:pt x="535384" y="0"/>
                </a:lnTo>
                <a:arcTo wR="132071" hR="132071" stAng="16200000" swAng="5400000"/>
                <a:lnTo>
                  <a:pt x="667456" y="132071"/>
                </a:lnTo>
                <a:arcTo wR="132071" hR="132071" stAng="0" swAng="5400000"/>
                <a:lnTo>
                  <a:pt x="132071" y="264142"/>
                </a:lnTo>
                <a:arcTo wR="132071" hR="132071" stAng="5400000" swAng="5400000"/>
                <a:lnTo>
                  <a:pt x="0" y="132071"/>
                </a:lnTo>
                <a:arcTo wR="132071" hR="132071" stAng="10800000" swAng="5400000"/>
                <a:close/>
              </a:path>
            </a:pathLst>
          </a:custGeom>
          <a:solidFill>
            <a:srgbClr val="C8304B"/>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Nunito Sans" pitchFamily="34" charset="0"/>
                <a:ea typeface="Nunito Sans" pitchFamily="34" charset="-122"/>
                <a:cs typeface="Nunito Sans" pitchFamily="34" charset="-120"/>
              </a:rPr>
              <a:t>PULSE</a:t>
            </a:r>
            <a:endParaRPr lang="en-US" sz="1200" dirty="0"/>
          </a:p>
        </p:txBody>
      </p:sp>
      <p:sp>
        <p:nvSpPr>
          <p:cNvPr id="47" name="Text 31"/>
          <p:cNvSpPr/>
          <p:nvPr/>
        </p:nvSpPr>
        <p:spPr>
          <a:xfrm>
            <a:off x="7601655" y="2608352"/>
            <a:ext cx="3995519"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Cover should reflect skill mix, shifts and minimum staffing; get consent first</a:t>
            </a:r>
            <a:endParaRPr lang="en-US" sz="1200" dirty="0"/>
          </a:p>
        </p:txBody>
      </p:sp>
      <p:sp>
        <p:nvSpPr>
          <p:cNvPr id="48" name="Text 32"/>
          <p:cNvSpPr/>
          <p:nvPr/>
        </p:nvSpPr>
        <p:spPr>
          <a:xfrm>
            <a:off x="7601655" y="2986705"/>
            <a:ext cx="3995519" cy="208227"/>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C8304B"/>
                </a:solidFill>
                <a:latin typeface="Nunito Sans" pitchFamily="34" charset="0"/>
                <a:ea typeface="Nunito Sans" pitchFamily="34" charset="-122"/>
                <a:cs typeface="Nunito Sans" pitchFamily="34" charset="-120"/>
              </a:rPr>
              <a:t>Change: pilot requirements and module wording</a:t>
            </a:r>
            <a:endParaRPr lang="en-US" sz="1200" dirty="0"/>
          </a:p>
        </p:txBody>
      </p:sp>
      <p:sp>
        <p:nvSpPr>
          <p:cNvPr id="49" name="Shape 33"/>
          <p:cNvSpPr/>
          <p:nvPr/>
        </p:nvSpPr>
        <p:spPr>
          <a:xfrm>
            <a:off x="6705600" y="3309234"/>
            <a:ext cx="4876800" cy="713581"/>
          </a:xfrm>
          <a:prstGeom prst="roundRect">
            <a:avLst>
              <a:gd name="adj" fmla="val 12458"/>
            </a:avLst>
          </a:prstGeom>
          <a:solidFill>
            <a:srgbClr val="FFFFFF"/>
          </a:solidFill>
          <a:ln/>
        </p:spPr>
        <p:txBody>
          <a:bodyPr/>
          <a:lstStyle/>
          <a:p>
            <a:endParaRPr lang="en-US"/>
          </a:p>
        </p:txBody>
      </p:sp>
      <p:sp>
        <p:nvSpPr>
          <p:cNvPr id="50" name="Shape 34"/>
          <p:cNvSpPr/>
          <p:nvPr/>
        </p:nvSpPr>
        <p:spPr>
          <a:xfrm>
            <a:off x="6705600" y="3309234"/>
            <a:ext cx="4876800" cy="713581"/>
          </a:xfrm>
          <a:custGeom>
            <a:avLst/>
            <a:gdLst/>
            <a:ahLst/>
            <a:cxnLst/>
            <a:rect l="l" t="t" r="r" b="b"/>
            <a:pathLst>
              <a:path w="4876800" h="713581">
                <a:moveTo>
                  <a:pt x="88900" y="713581"/>
                </a:moveTo>
                <a:lnTo>
                  <a:pt x="88900" y="713581"/>
                </a:lnTo>
                <a:arcTo wR="88900" hR="88900" stAng="5400000" swAng="5400000"/>
                <a:lnTo>
                  <a:pt x="0" y="88900"/>
                </a:lnTo>
                <a:arcTo wR="88900" hR="88900" stAng="10800000" swAng="5400000"/>
                <a:lnTo>
                  <a:pt x="88900" y="0"/>
                </a:lnTo>
                <a:arcTo wR="38100" hR="88900" stAng="16200000" swAng="-5400000"/>
                <a:lnTo>
                  <a:pt x="50800" y="624681"/>
                </a:lnTo>
                <a:arcTo wR="38100" hR="88900" stAng="10800000" swAng="-5400000"/>
                <a:close/>
              </a:path>
            </a:pathLst>
          </a:custGeom>
          <a:solidFill>
            <a:srgbClr val="B45F06"/>
          </a:solidFill>
          <a:ln/>
        </p:spPr>
        <p:txBody>
          <a:bodyPr/>
          <a:lstStyle/>
          <a:p>
            <a:endParaRPr lang="en-US"/>
          </a:p>
        </p:txBody>
      </p:sp>
      <p:sp>
        <p:nvSpPr>
          <p:cNvPr id="51" name="Text 35"/>
          <p:cNvSpPr/>
          <p:nvPr/>
        </p:nvSpPr>
        <p:spPr>
          <a:xfrm>
            <a:off x="6858000" y="3533952"/>
            <a:ext cx="779727" cy="264142"/>
          </a:xfrm>
          <a:custGeom>
            <a:avLst/>
            <a:gdLst/>
            <a:ahLst/>
            <a:cxnLst/>
            <a:rect l="l" t="t" r="r" b="b"/>
            <a:pathLst>
              <a:path w="779727" h="264142">
                <a:moveTo>
                  <a:pt x="132071" y="0"/>
                </a:moveTo>
                <a:lnTo>
                  <a:pt x="647656" y="0"/>
                </a:lnTo>
                <a:arcTo wR="132071" hR="132071" stAng="16200000" swAng="5400000"/>
                <a:lnTo>
                  <a:pt x="779727" y="132071"/>
                </a:lnTo>
                <a:arcTo wR="132071" hR="132071" stAng="0" swAng="5400000"/>
                <a:lnTo>
                  <a:pt x="132071" y="264142"/>
                </a:lnTo>
                <a:arcTo wR="132071" hR="132071" stAng="5400000" swAng="5400000"/>
                <a:lnTo>
                  <a:pt x="0" y="132071"/>
                </a:lnTo>
                <a:arcTo wR="132071" hR="132071" stAng="10800000" swAng="5400000"/>
                <a:close/>
              </a:path>
            </a:pathLst>
          </a:custGeom>
          <a:solidFill>
            <a:srgbClr val="B45F06"/>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Nunito Sans" pitchFamily="34" charset="0"/>
                <a:ea typeface="Nunito Sans" pitchFamily="34" charset="-122"/>
                <a:cs typeface="Nunito Sans" pitchFamily="34" charset="-120"/>
              </a:rPr>
              <a:t>SENTRY</a:t>
            </a:r>
            <a:endParaRPr lang="en-US" sz="1200" dirty="0"/>
          </a:p>
        </p:txBody>
      </p:sp>
      <p:sp>
        <p:nvSpPr>
          <p:cNvPr id="52" name="Text 36"/>
          <p:cNvSpPr/>
          <p:nvPr/>
        </p:nvSpPr>
        <p:spPr>
          <a:xfrm>
            <a:off x="7713927" y="3385434"/>
            <a:ext cx="3879879"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Welcomed prompt, reliable fall alerts</a:t>
            </a:r>
            <a:endParaRPr lang="en-US" sz="1200" dirty="0"/>
          </a:p>
        </p:txBody>
      </p:sp>
      <p:sp>
        <p:nvSpPr>
          <p:cNvPr id="53" name="Text 37"/>
          <p:cNvSpPr/>
          <p:nvPr/>
        </p:nvSpPr>
        <p:spPr>
          <a:xfrm>
            <a:off x="7713927" y="3580960"/>
            <a:ext cx="3879879" cy="391054"/>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B45F06"/>
                </a:solidFill>
                <a:latin typeface="Nunito Sans" pitchFamily="34" charset="0"/>
                <a:ea typeface="Nunito Sans" pitchFamily="34" charset="-122"/>
                <a:cs typeface="Nunito Sans" pitchFamily="34" charset="-120"/>
              </a:rPr>
              <a:t>Change: 3 simple alert states and acknowledgement</a:t>
            </a:r>
            <a:endParaRPr lang="en-US" sz="1200" dirty="0"/>
          </a:p>
        </p:txBody>
      </p:sp>
      <p:sp>
        <p:nvSpPr>
          <p:cNvPr id="54" name="Shape 38"/>
          <p:cNvSpPr/>
          <p:nvPr/>
        </p:nvSpPr>
        <p:spPr>
          <a:xfrm>
            <a:off x="6705600" y="4086315"/>
            <a:ext cx="4876800" cy="530754"/>
          </a:xfrm>
          <a:prstGeom prst="roundRect">
            <a:avLst>
              <a:gd name="adj" fmla="val 16750"/>
            </a:avLst>
          </a:prstGeom>
          <a:solidFill>
            <a:srgbClr val="FFFFFF"/>
          </a:solidFill>
          <a:ln/>
        </p:spPr>
        <p:txBody>
          <a:bodyPr/>
          <a:lstStyle/>
          <a:p>
            <a:endParaRPr lang="en-US"/>
          </a:p>
        </p:txBody>
      </p:sp>
      <p:sp>
        <p:nvSpPr>
          <p:cNvPr id="55" name="Shape 39"/>
          <p:cNvSpPr/>
          <p:nvPr/>
        </p:nvSpPr>
        <p:spPr>
          <a:xfrm>
            <a:off x="6705600" y="4086315"/>
            <a:ext cx="4876800" cy="530754"/>
          </a:xfrm>
          <a:custGeom>
            <a:avLst/>
            <a:gdLst/>
            <a:ahLst/>
            <a:cxnLst/>
            <a:rect l="l" t="t" r="r" b="b"/>
            <a:pathLst>
              <a:path w="4876800" h="530754">
                <a:moveTo>
                  <a:pt x="88900" y="530754"/>
                </a:moveTo>
                <a:lnTo>
                  <a:pt x="88900" y="530754"/>
                </a:lnTo>
                <a:arcTo wR="88900" hR="88900" stAng="5400000" swAng="5400000"/>
                <a:lnTo>
                  <a:pt x="0" y="88900"/>
                </a:lnTo>
                <a:arcTo wR="88900" hR="88900" stAng="10800000" swAng="5400000"/>
                <a:lnTo>
                  <a:pt x="88900" y="0"/>
                </a:lnTo>
                <a:arcTo wR="38100" hR="88900" stAng="16200000" swAng="-5400000"/>
                <a:lnTo>
                  <a:pt x="50800" y="441854"/>
                </a:lnTo>
                <a:arcTo wR="38100" hR="88900" stAng="10800000" swAng="-5400000"/>
                <a:close/>
              </a:path>
            </a:pathLst>
          </a:custGeom>
          <a:solidFill>
            <a:srgbClr val="0A7F7C"/>
          </a:solidFill>
          <a:ln/>
        </p:spPr>
        <p:txBody>
          <a:bodyPr/>
          <a:lstStyle/>
          <a:p>
            <a:endParaRPr lang="en-US"/>
          </a:p>
        </p:txBody>
      </p:sp>
      <p:sp>
        <p:nvSpPr>
          <p:cNvPr id="56" name="Text 40"/>
          <p:cNvSpPr/>
          <p:nvPr/>
        </p:nvSpPr>
        <p:spPr>
          <a:xfrm>
            <a:off x="6858000" y="4219575"/>
            <a:ext cx="728927" cy="264142"/>
          </a:xfrm>
          <a:custGeom>
            <a:avLst/>
            <a:gdLst/>
            <a:ahLst/>
            <a:cxnLst/>
            <a:rect l="l" t="t" r="r" b="b"/>
            <a:pathLst>
              <a:path w="728927" h="264142">
                <a:moveTo>
                  <a:pt x="132071" y="0"/>
                </a:moveTo>
                <a:lnTo>
                  <a:pt x="596856" y="0"/>
                </a:lnTo>
                <a:arcTo wR="132071" hR="132071" stAng="16200000" swAng="5400000"/>
                <a:lnTo>
                  <a:pt x="728927" y="132071"/>
                </a:lnTo>
                <a:arcTo wR="132071" hR="132071" stAng="0" swAng="5400000"/>
                <a:lnTo>
                  <a:pt x="132071" y="264142"/>
                </a:lnTo>
                <a:arcTo wR="132071" hR="132071" stAng="5400000" swAng="5400000"/>
                <a:lnTo>
                  <a:pt x="0" y="132071"/>
                </a:lnTo>
                <a:arcTo wR="132071" hR="132071" stAng="10800000" swAng="5400000"/>
                <a:close/>
              </a:path>
            </a:pathLst>
          </a:custGeom>
          <a:solidFill>
            <a:srgbClr val="0A7F7C"/>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Nunito Sans" pitchFamily="34" charset="0"/>
                <a:ea typeface="Nunito Sans" pitchFamily="34" charset="-122"/>
                <a:cs typeface="Nunito Sans" pitchFamily="34" charset="-120"/>
              </a:rPr>
              <a:t>SCRIBE</a:t>
            </a:r>
            <a:endParaRPr lang="en-US" sz="1200" dirty="0"/>
          </a:p>
        </p:txBody>
      </p:sp>
      <p:sp>
        <p:nvSpPr>
          <p:cNvPr id="57" name="Text 41"/>
          <p:cNvSpPr/>
          <p:nvPr/>
        </p:nvSpPr>
        <p:spPr>
          <a:xfrm>
            <a:off x="7663127" y="4162515"/>
            <a:ext cx="3932203"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Questions about long, multi-sentence recordings</a:t>
            </a:r>
            <a:endParaRPr lang="en-US" sz="1200" dirty="0"/>
          </a:p>
        </p:txBody>
      </p:sp>
      <p:sp>
        <p:nvSpPr>
          <p:cNvPr id="58" name="Text 42"/>
          <p:cNvSpPr/>
          <p:nvPr/>
        </p:nvSpPr>
        <p:spPr>
          <a:xfrm>
            <a:off x="7663127" y="4358041"/>
            <a:ext cx="3932203" cy="208227"/>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0A7F7C"/>
                </a:solidFill>
                <a:latin typeface="Nunito Sans" pitchFamily="34" charset="0"/>
                <a:ea typeface="Nunito Sans" pitchFamily="34" charset="-122"/>
                <a:cs typeface="Nunito Sans" pitchFamily="34" charset="-120"/>
              </a:rPr>
              <a:t>Change: audio chunking and sentence splitting</a:t>
            </a:r>
            <a:endParaRPr lang="en-US" sz="1200" dirty="0"/>
          </a:p>
        </p:txBody>
      </p:sp>
      <p:sp>
        <p:nvSpPr>
          <p:cNvPr id="59" name="Shape 43"/>
          <p:cNvSpPr/>
          <p:nvPr/>
        </p:nvSpPr>
        <p:spPr>
          <a:xfrm>
            <a:off x="6705600" y="4680567"/>
            <a:ext cx="4876800" cy="713581"/>
          </a:xfrm>
          <a:prstGeom prst="roundRect">
            <a:avLst>
              <a:gd name="adj" fmla="val 12458"/>
            </a:avLst>
          </a:prstGeom>
          <a:solidFill>
            <a:srgbClr val="FFFFFF"/>
          </a:solidFill>
          <a:ln/>
        </p:spPr>
        <p:txBody>
          <a:bodyPr/>
          <a:lstStyle/>
          <a:p>
            <a:endParaRPr lang="en-US"/>
          </a:p>
        </p:txBody>
      </p:sp>
      <p:sp>
        <p:nvSpPr>
          <p:cNvPr id="60" name="Shape 44"/>
          <p:cNvSpPr/>
          <p:nvPr/>
        </p:nvSpPr>
        <p:spPr>
          <a:xfrm>
            <a:off x="6705600" y="4680567"/>
            <a:ext cx="4876800" cy="713581"/>
          </a:xfrm>
          <a:custGeom>
            <a:avLst/>
            <a:gdLst/>
            <a:ahLst/>
            <a:cxnLst/>
            <a:rect l="l" t="t" r="r" b="b"/>
            <a:pathLst>
              <a:path w="4876800" h="713581">
                <a:moveTo>
                  <a:pt x="88900" y="713581"/>
                </a:moveTo>
                <a:lnTo>
                  <a:pt x="88900" y="713581"/>
                </a:lnTo>
                <a:arcTo wR="88900" hR="88900" stAng="5400000" swAng="5400000"/>
                <a:lnTo>
                  <a:pt x="0" y="88900"/>
                </a:lnTo>
                <a:arcTo wR="88900" hR="88900" stAng="10800000" swAng="5400000"/>
                <a:lnTo>
                  <a:pt x="88900" y="0"/>
                </a:lnTo>
                <a:arcTo wR="38100" hR="88900" stAng="16200000" swAng="-5400000"/>
                <a:lnTo>
                  <a:pt x="50800" y="624681"/>
                </a:lnTo>
                <a:arcTo wR="38100" hR="88900" stAng="10800000" swAng="-5400000"/>
                <a:close/>
              </a:path>
            </a:pathLst>
          </a:custGeom>
          <a:solidFill>
            <a:srgbClr val="6B46E0"/>
          </a:solidFill>
          <a:ln/>
        </p:spPr>
        <p:txBody>
          <a:bodyPr/>
          <a:lstStyle/>
          <a:p>
            <a:endParaRPr lang="en-US"/>
          </a:p>
        </p:txBody>
      </p:sp>
      <p:sp>
        <p:nvSpPr>
          <p:cNvPr id="61" name="Text 45"/>
          <p:cNvSpPr/>
          <p:nvPr/>
        </p:nvSpPr>
        <p:spPr>
          <a:xfrm>
            <a:off x="6858000" y="4905288"/>
            <a:ext cx="689063" cy="264142"/>
          </a:xfrm>
          <a:custGeom>
            <a:avLst/>
            <a:gdLst/>
            <a:ahLst/>
            <a:cxnLst/>
            <a:rect l="l" t="t" r="r" b="b"/>
            <a:pathLst>
              <a:path w="689063" h="264142">
                <a:moveTo>
                  <a:pt x="132071" y="0"/>
                </a:moveTo>
                <a:lnTo>
                  <a:pt x="556992" y="0"/>
                </a:lnTo>
                <a:arcTo wR="132071" hR="132071" stAng="16200000" swAng="5400000"/>
                <a:lnTo>
                  <a:pt x="689063" y="132071"/>
                </a:lnTo>
                <a:arcTo wR="132071" hR="132071" stAng="0" swAng="5400000"/>
                <a:lnTo>
                  <a:pt x="132071" y="264142"/>
                </a:lnTo>
                <a:arcTo wR="132071" hR="132071" stAng="5400000" swAng="5400000"/>
                <a:lnTo>
                  <a:pt x="0" y="132071"/>
                </a:lnTo>
                <a:arcTo wR="132071" hR="132071" stAng="10800000" swAng="5400000"/>
                <a:close/>
              </a:path>
            </a:pathLst>
          </a:custGeom>
          <a:solidFill>
            <a:srgbClr val="6B46E0"/>
          </a:solidFill>
          <a:ln/>
        </p:spPr>
        <p:txBody>
          <a:bodyPr wrap="none" lIns="0" tIns="0" rIns="0" bIns="0" rtlCol="0" anchor="ctr">
            <a:normAutofit/>
          </a:bodyPr>
          <a:lstStyle/>
          <a:p>
            <a:pPr marL="0" indent="0" algn="ctr">
              <a:lnSpc>
                <a:spcPts val="1680"/>
              </a:lnSpc>
              <a:buNone/>
            </a:pPr>
            <a:r>
              <a:rPr lang="en-US" sz="1200" b="1" dirty="0">
                <a:solidFill>
                  <a:srgbClr val="FFFFFF"/>
                </a:solidFill>
                <a:latin typeface="Nunito Sans" pitchFamily="34" charset="0"/>
                <a:ea typeface="Nunito Sans" pitchFamily="34" charset="-122"/>
                <a:cs typeface="Nunito Sans" pitchFamily="34" charset="-120"/>
              </a:rPr>
              <a:t>GLOSS</a:t>
            </a:r>
            <a:endParaRPr lang="en-US" sz="1200" dirty="0"/>
          </a:p>
        </p:txBody>
      </p:sp>
      <p:sp>
        <p:nvSpPr>
          <p:cNvPr id="62" name="Text 46"/>
          <p:cNvSpPr/>
          <p:nvPr/>
        </p:nvSpPr>
        <p:spPr>
          <a:xfrm>
            <a:off x="7623263" y="4756767"/>
            <a:ext cx="3973263" cy="208227"/>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1B2A5E"/>
                </a:solidFill>
                <a:latin typeface="Nunito Sans" pitchFamily="34" charset="0"/>
                <a:ea typeface="Nunito Sans" pitchFamily="34" charset="-122"/>
                <a:cs typeface="Nunito Sans" pitchFamily="34" charset="-120"/>
              </a:rPr>
              <a:t>Skills fade after training; signing speeds differ</a:t>
            </a:r>
            <a:endParaRPr lang="en-US" sz="1200" dirty="0"/>
          </a:p>
        </p:txBody>
      </p:sp>
      <p:sp>
        <p:nvSpPr>
          <p:cNvPr id="63" name="Text 47"/>
          <p:cNvSpPr/>
          <p:nvPr/>
        </p:nvSpPr>
        <p:spPr>
          <a:xfrm>
            <a:off x="7623263" y="4952296"/>
            <a:ext cx="3973263" cy="391054"/>
          </a:xfrm>
          <a:prstGeom prst="rect">
            <a:avLst/>
          </a:prstGeom>
          <a:noFill/>
          <a:ln/>
        </p:spPr>
        <p:txBody>
          <a:bodyPr wrap="square" lIns="0" tIns="0" rIns="0" bIns="0" rtlCol="0" anchor="t">
            <a:normAutofit/>
          </a:bodyPr>
          <a:lstStyle/>
          <a:p>
            <a:pPr marL="0" indent="0" algn="l">
              <a:lnSpc>
                <a:spcPts val="1440"/>
              </a:lnSpc>
              <a:buNone/>
            </a:pPr>
            <a:r>
              <a:rPr lang="en-US" sz="1200" b="1" dirty="0">
                <a:solidFill>
                  <a:srgbClr val="6B46E0"/>
                </a:solidFill>
                <a:latin typeface="Nunito Sans" pitchFamily="34" charset="0"/>
                <a:ea typeface="Nunito Sans" pitchFamily="34" charset="-122"/>
                <a:cs typeface="Nunito Sans" pitchFamily="34" charset="-120"/>
              </a:rPr>
              <a:t>Change: 59 signs, repeat until mastered, DTW scoring</a:t>
            </a:r>
            <a:endParaRPr lang="en-US" sz="1200" dirty="0"/>
          </a:p>
        </p:txBody>
      </p:sp>
      <p:sp>
        <p:nvSpPr>
          <p:cNvPr id="64" name="Shape 48"/>
          <p:cNvSpPr/>
          <p:nvPr/>
        </p:nvSpPr>
        <p:spPr>
          <a:xfrm>
            <a:off x="0" y="6273800"/>
            <a:ext cx="12192000" cy="584200"/>
          </a:xfrm>
          <a:prstGeom prst="rect">
            <a:avLst/>
          </a:prstGeom>
          <a:solidFill>
            <a:srgbClr val="FFFFFF"/>
          </a:solidFill>
          <a:ln/>
        </p:spPr>
        <p:txBody>
          <a:bodyPr/>
          <a:lstStyle/>
          <a:p>
            <a:endParaRPr lang="en-US"/>
          </a:p>
        </p:txBody>
      </p:sp>
      <p:sp>
        <p:nvSpPr>
          <p:cNvPr id="65" name="Shape 49"/>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66" name="Image 14" descr="SLIIT Faculty of Computing logo"/>
          <p:cNvPicPr>
            <a:picLocks noChangeAspect="1"/>
          </p:cNvPicPr>
          <p:nvPr/>
        </p:nvPicPr>
        <p:blipFill>
          <a:blip r:embed="rId14"/>
          <a:srcRect t="-370" b="-370"/>
          <a:stretch/>
        </p:blipFill>
        <p:spPr>
          <a:xfrm>
            <a:off x="406400" y="6362700"/>
            <a:ext cx="2032000" cy="406400"/>
          </a:xfrm>
          <a:prstGeom prst="rect">
            <a:avLst/>
          </a:prstGeom>
        </p:spPr>
      </p:pic>
      <p:sp>
        <p:nvSpPr>
          <p:cNvPr id="67" name="Text 50"/>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68" name="Text 51"/>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5</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A1440"/>
              </a:gs>
              <a:gs pos="58000">
                <a:srgbClr val="16276B"/>
              </a:gs>
              <a:gs pos="100000">
                <a:srgbClr val="3A1F7A"/>
              </a:gs>
            </a:gsLst>
            <a:lin ang="2700000" scaled="0"/>
          </a:gradFill>
          <a:ln/>
        </p:spPr>
        <p:txBody>
          <a:bodyPr/>
          <a:lstStyle/>
          <a:p>
            <a:endParaRPr lang="en-US" dirty="0"/>
          </a:p>
        </p:txBody>
      </p:sp>
      <p:sp>
        <p:nvSpPr>
          <p:cNvPr id="3" name="Shape 1"/>
          <p:cNvSpPr/>
          <p:nvPr/>
        </p:nvSpPr>
        <p:spPr>
          <a:xfrm>
            <a:off x="6350000" y="381000"/>
            <a:ext cx="5715000" cy="5588000"/>
          </a:xfrm>
          <a:prstGeom prst="rect">
            <a:avLst/>
          </a:prstGeom>
          <a:gradFill rotWithShape="1">
            <a:gsLst>
              <a:gs pos="0">
                <a:srgbClr val="FFC247">
                  <a:alpha val="35000"/>
                </a:srgbClr>
              </a:gs>
              <a:gs pos="100000">
                <a:srgbClr val="FFC247">
                  <a:alpha val="0"/>
                </a:srgbClr>
              </a:gs>
            </a:gsLst>
            <a:path path="circle">
              <a:fillToRect l="50000" t="50000" r="50000" b="50000"/>
            </a:path>
          </a:gradFill>
          <a:ln/>
        </p:spPr>
        <p:txBody>
          <a:bodyPr/>
          <a:lstStyle/>
          <a:p>
            <a:endParaRPr lang="en-US"/>
          </a:p>
        </p:txBody>
      </p:sp>
      <p:sp>
        <p:nvSpPr>
          <p:cNvPr id="4" name="Text 2"/>
          <p:cNvSpPr/>
          <p:nvPr/>
        </p:nvSpPr>
        <p:spPr>
          <a:xfrm>
            <a:off x="609600" y="851694"/>
            <a:ext cx="6802120"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E0D2"/>
                </a:solidFill>
                <a:latin typeface="Nunito Sans" pitchFamily="34" charset="0"/>
                <a:ea typeface="Nunito Sans" pitchFamily="34" charset="-122"/>
                <a:cs typeface="Nunito Sans" pitchFamily="34" charset="-120"/>
              </a:rPr>
              <a:t>PUBLICATION MILESTONE</a:t>
            </a:r>
            <a:endParaRPr lang="en-US" sz="1200" dirty="0"/>
          </a:p>
        </p:txBody>
      </p:sp>
      <p:sp>
        <p:nvSpPr>
          <p:cNvPr id="5" name="Text 3"/>
          <p:cNvSpPr>
            <a:spLocks noGrp="1"/>
          </p:cNvSpPr>
          <p:nvPr>
            <p:ph type="title"/>
          </p:nvPr>
        </p:nvSpPr>
        <p:spPr>
          <a:xfrm>
            <a:off x="609600" y="1192036"/>
            <a:ext cx="3878424" cy="444500"/>
          </a:xfrm>
          <a:prstGeom prst="rect">
            <a:avLst/>
          </a:prstGeom>
          <a:noFill/>
          <a:ln/>
        </p:spPr>
        <p:txBody>
          <a:bodyPr wrap="square" lIns="0" tIns="0" rIns="0" bIns="0" rtlCol="0" anchor="t">
            <a:normAutofit fontScale="90000"/>
          </a:bodyPr>
          <a:lstStyle/>
          <a:p>
            <a:pPr marL="0" indent="0" algn="l">
              <a:lnSpc>
                <a:spcPts val="3300"/>
              </a:lnSpc>
              <a:buNone/>
            </a:pPr>
            <a:r>
              <a:rPr lang="en-US" sz="3000" b="1" i="0" dirty="0">
                <a:solidFill>
                  <a:srgbClr val="FFFFFF"/>
                </a:solidFill>
                <a:latin typeface="Rubik" pitchFamily="34" charset="0"/>
                <a:ea typeface="Rubik" pitchFamily="34" charset="-122"/>
                <a:cs typeface="Rubik" pitchFamily="34" charset="-120"/>
              </a:rPr>
              <a:t>Our Research Paper Is </a:t>
            </a:r>
            <a:r>
              <a:rPr lang="en-US" sz="3000" b="1" i="0" dirty="0">
                <a:solidFill>
                  <a:srgbClr val="FFC247"/>
                </a:solidFill>
                <a:latin typeface="Rubik" pitchFamily="34" charset="0"/>
                <a:ea typeface="Rubik" pitchFamily="34" charset="-122"/>
                <a:cs typeface="Rubik" pitchFamily="34" charset="-120"/>
              </a:rPr>
              <a:t>Accepted</a:t>
            </a:r>
            <a:endParaRPr lang="en-US" sz="3000" dirty="0"/>
          </a:p>
        </p:txBody>
      </p:sp>
      <p:sp>
        <p:nvSpPr>
          <p:cNvPr id="7" name="Shape 5"/>
          <p:cNvSpPr/>
          <p:nvPr/>
        </p:nvSpPr>
        <p:spPr>
          <a:xfrm>
            <a:off x="609600" y="2241020"/>
            <a:ext cx="6604000" cy="1036197"/>
          </a:xfrm>
          <a:prstGeom prst="roundRect">
            <a:avLst>
              <a:gd name="adj" fmla="val 12256"/>
            </a:avLst>
          </a:prstGeom>
          <a:solidFill>
            <a:srgbClr val="FFFFFF">
              <a:alpha val="12000"/>
            </a:srgbClr>
          </a:solidFill>
          <a:ln/>
        </p:spPr>
        <p:txBody>
          <a:bodyPr/>
          <a:lstStyle/>
          <a:p>
            <a:endParaRPr lang="en-US"/>
          </a:p>
        </p:txBody>
      </p:sp>
      <p:sp>
        <p:nvSpPr>
          <p:cNvPr id="8" name="Text 6"/>
          <p:cNvSpPr/>
          <p:nvPr/>
        </p:nvSpPr>
        <p:spPr>
          <a:xfrm>
            <a:off x="774700" y="2368020"/>
            <a:ext cx="6462014" cy="238742"/>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4FE0D2"/>
                </a:solidFill>
                <a:latin typeface="Nunito Sans" pitchFamily="34" charset="0"/>
                <a:ea typeface="Nunito Sans" pitchFamily="34" charset="-122"/>
                <a:cs typeface="Nunito Sans" pitchFamily="34" charset="-120"/>
              </a:rPr>
              <a:t>PAPER ID · ICSCDS-0291</a:t>
            </a:r>
            <a:endParaRPr lang="en-US" sz="1200" dirty="0"/>
          </a:p>
        </p:txBody>
      </p:sp>
      <p:sp>
        <p:nvSpPr>
          <p:cNvPr id="9" name="Text 7"/>
          <p:cNvSpPr/>
          <p:nvPr/>
        </p:nvSpPr>
        <p:spPr>
          <a:xfrm>
            <a:off x="774700" y="2632165"/>
            <a:ext cx="6462014" cy="543454"/>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FFFFF"/>
                </a:solidFill>
                <a:latin typeface="Rubik" pitchFamily="34" charset="0"/>
                <a:ea typeface="Rubik" pitchFamily="34" charset="-122"/>
                <a:cs typeface="Rubik" pitchFamily="34" charset="-120"/>
              </a:rPr>
              <a:t>Multimodal AI Framework for Intelligent Caregiver Support and Patient Safety in Care Facilities</a:t>
            </a:r>
            <a:endParaRPr lang="en-US" sz="1700" dirty="0"/>
          </a:p>
        </p:txBody>
      </p:sp>
      <p:pic>
        <p:nvPicPr>
          <p:cNvPr id="10" name="Image 0" descr="Globe"/>
          <p:cNvPicPr>
            <a:picLocks noChangeAspect="1"/>
          </p:cNvPicPr>
          <p:nvPr/>
        </p:nvPicPr>
        <p:blipFill>
          <a:blip r:embed="rId3"/>
          <a:srcRect/>
          <a:stretch/>
        </p:blipFill>
        <p:spPr>
          <a:xfrm>
            <a:off x="609600" y="3483592"/>
            <a:ext cx="254000" cy="254000"/>
          </a:xfrm>
          <a:prstGeom prst="rect">
            <a:avLst/>
          </a:prstGeom>
        </p:spPr>
      </p:pic>
      <p:sp>
        <p:nvSpPr>
          <p:cNvPr id="11" name="Text 8"/>
          <p:cNvSpPr/>
          <p:nvPr/>
        </p:nvSpPr>
        <p:spPr>
          <a:xfrm>
            <a:off x="965200" y="3404217"/>
            <a:ext cx="6435852" cy="438150"/>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FFFFF"/>
                </a:solidFill>
                <a:latin typeface="Nunito Sans" pitchFamily="34" charset="0"/>
                <a:ea typeface="Nunito Sans" pitchFamily="34" charset="-122"/>
                <a:cs typeface="Nunito Sans" pitchFamily="34" charset="-120"/>
              </a:rPr>
              <a:t>4th International Conference on Sustainable Computing and Data Communication Systems (ICSCDS 2026)</a:t>
            </a:r>
            <a:endParaRPr lang="en-US" sz="1300" dirty="0"/>
          </a:p>
        </p:txBody>
      </p:sp>
      <p:pic>
        <p:nvPicPr>
          <p:cNvPr id="12" name="Image 1" descr="Clock"/>
          <p:cNvPicPr>
            <a:picLocks noChangeAspect="1"/>
          </p:cNvPicPr>
          <p:nvPr/>
        </p:nvPicPr>
        <p:blipFill>
          <a:blip r:embed="rId4"/>
          <a:srcRect/>
          <a:stretch/>
        </p:blipFill>
        <p:spPr>
          <a:xfrm>
            <a:off x="609600" y="3943967"/>
            <a:ext cx="254000" cy="254000"/>
          </a:xfrm>
          <a:prstGeom prst="rect">
            <a:avLst/>
          </a:prstGeom>
        </p:spPr>
      </p:pic>
      <p:sp>
        <p:nvSpPr>
          <p:cNvPr id="13" name="Text 9"/>
          <p:cNvSpPr/>
          <p:nvPr/>
        </p:nvSpPr>
        <p:spPr>
          <a:xfrm>
            <a:off x="965200" y="3967780"/>
            <a:ext cx="6435852"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FFFFF"/>
                </a:solidFill>
                <a:latin typeface="Nunito Sans" pitchFamily="34" charset="0"/>
                <a:ea typeface="Nunito Sans" pitchFamily="34" charset="-122"/>
                <a:cs typeface="Nunito Sans" pitchFamily="34" charset="-120"/>
              </a:rPr>
              <a:t>15–17 December 2026, Shree Venkateshwara Hi-tech Engineering College, India</a:t>
            </a:r>
            <a:endParaRPr lang="en-US" sz="1300" dirty="0"/>
          </a:p>
        </p:txBody>
      </p:sp>
      <p:pic>
        <p:nvPicPr>
          <p:cNvPr id="14" name="Image 2" descr="Verified"/>
          <p:cNvPicPr>
            <a:picLocks noChangeAspect="1"/>
          </p:cNvPicPr>
          <p:nvPr/>
        </p:nvPicPr>
        <p:blipFill>
          <a:blip r:embed="rId5"/>
          <a:srcRect/>
          <a:stretch/>
        </p:blipFill>
        <p:spPr>
          <a:xfrm>
            <a:off x="609600" y="4324967"/>
            <a:ext cx="254000" cy="254000"/>
          </a:xfrm>
          <a:prstGeom prst="rect">
            <a:avLst/>
          </a:prstGeom>
        </p:spPr>
      </p:pic>
      <p:sp>
        <p:nvSpPr>
          <p:cNvPr id="15" name="Text 10"/>
          <p:cNvSpPr/>
          <p:nvPr/>
        </p:nvSpPr>
        <p:spPr>
          <a:xfrm>
            <a:off x="965200" y="4348780"/>
            <a:ext cx="6435852" cy="231775"/>
          </a:xfrm>
          <a:prstGeom prst="rect">
            <a:avLst/>
          </a:prstGeom>
          <a:noFill/>
          <a:ln/>
        </p:spPr>
        <p:txBody>
          <a:bodyPr wrap="square" lIns="0" tIns="0" rIns="0" bIns="0" rtlCol="0" anchor="t">
            <a:normAutofit/>
          </a:bodyPr>
          <a:lstStyle/>
          <a:p>
            <a:pPr marL="0" indent="0" algn="l">
              <a:lnSpc>
                <a:spcPts val="1625"/>
              </a:lnSpc>
              <a:buNone/>
            </a:pPr>
            <a:r>
              <a:rPr lang="en-US" sz="1300" dirty="0">
                <a:solidFill>
                  <a:srgbClr val="FFFFFF"/>
                </a:solidFill>
                <a:latin typeface="Nunito Sans" pitchFamily="34" charset="0"/>
                <a:ea typeface="Nunito Sans" pitchFamily="34" charset="-122"/>
                <a:cs typeface="Nunito Sans" pitchFamily="34" charset="-120"/>
              </a:rPr>
              <a:t>Accepted for presentation and publication in IEEE conference proceedings</a:t>
            </a:r>
            <a:endParaRPr lang="en-US" sz="1300" dirty="0"/>
          </a:p>
        </p:txBody>
      </p:sp>
      <p:sp>
        <p:nvSpPr>
          <p:cNvPr id="16" name="Text 11"/>
          <p:cNvSpPr/>
          <p:nvPr/>
        </p:nvSpPr>
        <p:spPr>
          <a:xfrm>
            <a:off x="609600" y="4705967"/>
            <a:ext cx="6802120" cy="421569"/>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C9D3FF"/>
                </a:solidFill>
                <a:latin typeface="Nunito Sans" pitchFamily="34" charset="0"/>
                <a:ea typeface="Nunito Sans" pitchFamily="34" charset="-122"/>
                <a:cs typeface="Nunito Sans" pitchFamily="34" charset="-120"/>
              </a:rPr>
              <a:t>Authors: Dayana Priyadharshani Kumar, Harishalinee Elangovan, Vithursha Prabagaran, Kaushalya Nagenthraraja, Samadhi Rathnayake, Samantha Thelijjagoda</a:t>
            </a:r>
            <a:endParaRPr lang="en-US" sz="1200" dirty="0"/>
          </a:p>
        </p:txBody>
      </p:sp>
      <p:sp>
        <p:nvSpPr>
          <p:cNvPr id="18" name="Shape 13"/>
          <p:cNvSpPr/>
          <p:nvPr/>
        </p:nvSpPr>
        <p:spPr>
          <a:xfrm>
            <a:off x="7518400" y="520700"/>
            <a:ext cx="4064000" cy="5270500"/>
          </a:xfrm>
          <a:prstGeom prst="roundRect">
            <a:avLst>
              <a:gd name="adj" fmla="val 2500"/>
            </a:avLst>
          </a:prstGeom>
          <a:solidFill>
            <a:srgbClr val="FFFFFF"/>
          </a:solidFill>
          <a:ln/>
          <a:effectLst>
            <a:outerShdw blurRad="381000" dir="60000" algn="bl" rotWithShape="0">
              <a:srgbClr val="FFC247">
                <a:alpha val="60000"/>
              </a:srgbClr>
            </a:outerShdw>
          </a:effectLst>
        </p:spPr>
        <p:txBody>
          <a:bodyPr/>
          <a:lstStyle/>
          <a:p>
            <a:endParaRPr lang="en-US"/>
          </a:p>
        </p:txBody>
      </p:sp>
      <p:pic>
        <p:nvPicPr>
          <p:cNvPr id="19" name="Image 3" descr="ICSCDS-2026 acceptance letter for paper ICSCDS-0291, decision: acceptance with major revision"/>
          <p:cNvPicPr>
            <a:picLocks noChangeAspect="1"/>
          </p:cNvPicPr>
          <p:nvPr/>
        </p:nvPicPr>
        <p:blipFill>
          <a:blip r:embed="rId6"/>
          <a:srcRect t="-202" b="-202"/>
          <a:stretch/>
        </p:blipFill>
        <p:spPr>
          <a:xfrm>
            <a:off x="7556500" y="558800"/>
            <a:ext cx="3987800" cy="5194300"/>
          </a:xfrm>
          <a:prstGeom prst="roundRect">
            <a:avLst>
              <a:gd name="adj" fmla="val 1592"/>
            </a:avLst>
          </a:prstGeom>
        </p:spPr>
      </p:pic>
      <p:sp>
        <p:nvSpPr>
          <p:cNvPr id="20" name="Shape 14"/>
          <p:cNvSpPr/>
          <p:nvPr/>
        </p:nvSpPr>
        <p:spPr>
          <a:xfrm>
            <a:off x="7537450" y="539750"/>
            <a:ext cx="4025900" cy="5232400"/>
          </a:xfrm>
          <a:prstGeom prst="roundRect">
            <a:avLst>
              <a:gd name="adj" fmla="val 2050"/>
            </a:avLst>
          </a:prstGeom>
          <a:noFill/>
          <a:ln w="38100">
            <a:solidFill>
              <a:srgbClr val="FFC247"/>
            </a:solidFill>
            <a:prstDash val="solid"/>
          </a:ln>
        </p:spPr>
        <p:txBody>
          <a:bodyPr/>
          <a:lstStyle/>
          <a:p>
            <a:endParaRPr lang="en-US"/>
          </a:p>
        </p:txBody>
      </p:sp>
      <p:sp>
        <p:nvSpPr>
          <p:cNvPr id="21" name="Text 15"/>
          <p:cNvSpPr/>
          <p:nvPr/>
        </p:nvSpPr>
        <p:spPr>
          <a:xfrm rot="21240000">
            <a:off x="7051680" y="323849"/>
            <a:ext cx="1714500" cy="393700"/>
          </a:xfrm>
          <a:custGeom>
            <a:avLst/>
            <a:gdLst/>
            <a:ahLst/>
            <a:cxnLst/>
            <a:rect l="l" t="t" r="r" b="b"/>
            <a:pathLst>
              <a:path w="1714500" h="393700">
                <a:moveTo>
                  <a:pt x="196850" y="0"/>
                </a:moveTo>
                <a:lnTo>
                  <a:pt x="1517650" y="0"/>
                </a:lnTo>
                <a:arcTo wR="196850" hR="196850" stAng="16200000" swAng="5400000"/>
                <a:lnTo>
                  <a:pt x="1714500" y="196850"/>
                </a:lnTo>
                <a:arcTo wR="196850" hR="196850" stAng="0" swAng="5400000"/>
                <a:lnTo>
                  <a:pt x="196850" y="393700"/>
                </a:lnTo>
                <a:arcTo wR="196850" hR="196850" stAng="5400000" swAng="5400000"/>
                <a:lnTo>
                  <a:pt x="0" y="196850"/>
                </a:lnTo>
                <a:arcTo wR="196850" hR="196850" stAng="10800000" swAng="5400000"/>
                <a:close/>
              </a:path>
            </a:pathLst>
          </a:custGeom>
          <a:solidFill>
            <a:srgbClr val="1FA463"/>
          </a:solidFill>
          <a:ln/>
          <a:effectLst>
            <a:outerShdw blurRad="127000" dist="50800" dir="5400000" algn="bl" rotWithShape="0">
              <a:srgbClr val="000000">
                <a:alpha val="40000"/>
              </a:srgbClr>
            </a:outerShdw>
          </a:effectLst>
        </p:spPr>
        <p:txBody>
          <a:bodyPr wrap="square" lIns="0" tIns="63500" rIns="0" bIns="38100" rtlCol="0" anchor="t">
            <a:normAutofit/>
          </a:bodyPr>
          <a:lstStyle/>
          <a:p>
            <a:pPr marL="0" indent="0" algn="ctr">
              <a:lnSpc>
                <a:spcPts val="2100"/>
              </a:lnSpc>
              <a:buNone/>
            </a:pPr>
            <a:r>
              <a:rPr lang="en-US" sz="1500" b="1" kern="0" spc="100" dirty="0">
                <a:solidFill>
                  <a:srgbClr val="FFFFFF"/>
                </a:solidFill>
                <a:latin typeface="Nunito Sans" pitchFamily="34" charset="0"/>
                <a:ea typeface="Nunito Sans" pitchFamily="34" charset="-122"/>
                <a:cs typeface="Nunito Sans" pitchFamily="34" charset="-120"/>
              </a:rPr>
              <a:t>ACCEPTED</a:t>
            </a:r>
            <a:endParaRPr lang="en-US" sz="1500" dirty="0"/>
          </a:p>
        </p:txBody>
      </p:sp>
      <p:sp>
        <p:nvSpPr>
          <p:cNvPr id="22" name="Shape 16"/>
          <p:cNvSpPr/>
          <p:nvPr/>
        </p:nvSpPr>
        <p:spPr>
          <a:xfrm>
            <a:off x="0" y="6273800"/>
            <a:ext cx="12192000" cy="584200"/>
          </a:xfrm>
          <a:prstGeom prst="rect">
            <a:avLst/>
          </a:prstGeom>
          <a:solidFill>
            <a:srgbClr val="FFFFFF"/>
          </a:solidFill>
          <a:ln/>
        </p:spPr>
        <p:txBody>
          <a:bodyPr/>
          <a:lstStyle/>
          <a:p>
            <a:endParaRPr lang="en-US"/>
          </a:p>
        </p:txBody>
      </p:sp>
      <p:sp>
        <p:nvSpPr>
          <p:cNvPr id="23" name="Shape 17"/>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24" name="Image 4" descr="SLIIT Faculty of Computing logo"/>
          <p:cNvPicPr>
            <a:picLocks noChangeAspect="1"/>
          </p:cNvPicPr>
          <p:nvPr/>
        </p:nvPicPr>
        <p:blipFill>
          <a:blip r:embed="rId7"/>
          <a:srcRect t="-370" b="-370"/>
          <a:stretch/>
        </p:blipFill>
        <p:spPr>
          <a:xfrm>
            <a:off x="406400" y="6362700"/>
            <a:ext cx="2032000" cy="406400"/>
          </a:xfrm>
          <a:prstGeom prst="rect">
            <a:avLst/>
          </a:prstGeom>
        </p:spPr>
      </p:pic>
      <p:sp>
        <p:nvSpPr>
          <p:cNvPr id="25" name="Text 18"/>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26" name="Text 19"/>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7</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609600" y="254000"/>
            <a:ext cx="7454459" cy="374650"/>
          </a:xfrm>
          <a:prstGeom prst="rect">
            <a:avLst/>
          </a:prstGeom>
          <a:noFill/>
          <a:ln/>
        </p:spPr>
        <p:txBody>
          <a:bodyPr wrap="square" lIns="0" tIns="0" rIns="0" bIns="0" rtlCol="0" anchor="t">
            <a:normAutofit/>
          </a:bodyPr>
          <a:lstStyle/>
          <a:p>
            <a:pPr marL="0" indent="0" algn="l">
              <a:lnSpc>
                <a:spcPts val="2750"/>
              </a:lnSpc>
              <a:buNone/>
            </a:pPr>
            <a:r>
              <a:rPr lang="en-US" sz="2500" b="1" i="0" dirty="0">
                <a:solidFill>
                  <a:srgbClr val="0E1B4D"/>
                </a:solidFill>
                <a:latin typeface="Rubik" pitchFamily="34" charset="0"/>
                <a:ea typeface="Rubik" pitchFamily="34" charset="-122"/>
                <a:cs typeface="Rubik" pitchFamily="34" charset="-120"/>
              </a:rPr>
              <a:t>Validated Results and Research Outputs</a:t>
            </a:r>
            <a:endParaRPr lang="en-US" sz="2500" dirty="0"/>
          </a:p>
        </p:txBody>
      </p:sp>
      <p:sp>
        <p:nvSpPr>
          <p:cNvPr id="3" name="Text 1"/>
          <p:cNvSpPr/>
          <p:nvPr/>
        </p:nvSpPr>
        <p:spPr>
          <a:xfrm>
            <a:off x="8064059" y="271109"/>
            <a:ext cx="3518341" cy="314942"/>
          </a:xfrm>
          <a:prstGeom prst="roundRect">
            <a:avLst>
              <a:gd name="adj" fmla="val 50000"/>
            </a:avLst>
          </a:prstGeom>
          <a:solidFill>
            <a:srgbClr val="FFC247"/>
          </a:solidFill>
          <a:ln/>
        </p:spPr>
        <p:txBody>
          <a:bodyPr wrap="none" lIns="0" tIns="0" rIns="0" bIns="0" rtlCol="0" anchor="ctr">
            <a:normAutofit/>
          </a:bodyPr>
          <a:lstStyle/>
          <a:p>
            <a:pPr marL="0" indent="0" algn="ctr">
              <a:lnSpc>
                <a:spcPts val="1680"/>
              </a:lnSpc>
              <a:buNone/>
            </a:pPr>
            <a:r>
              <a:rPr lang="en-US" sz="1200" b="1" dirty="0">
                <a:solidFill>
                  <a:srgbClr val="0E1B4D"/>
                </a:solidFill>
                <a:latin typeface="Nunito Sans" pitchFamily="34" charset="0"/>
                <a:ea typeface="Nunito Sans" pitchFamily="34" charset="-122"/>
                <a:cs typeface="Nunito Sans" pitchFamily="34" charset="-120"/>
              </a:rPr>
              <a:t>Tested on data kept apart from development</a:t>
            </a:r>
            <a:endParaRPr lang="en-US" sz="1200" dirty="0"/>
          </a:p>
        </p:txBody>
      </p:sp>
      <p:sp>
        <p:nvSpPr>
          <p:cNvPr id="4" name="Shape 2"/>
          <p:cNvSpPr/>
          <p:nvPr/>
        </p:nvSpPr>
        <p:spPr>
          <a:xfrm>
            <a:off x="609600" y="704850"/>
            <a:ext cx="2647950" cy="1330766"/>
          </a:xfrm>
          <a:prstGeom prst="roundRect">
            <a:avLst>
              <a:gd name="adj" fmla="val 9543"/>
            </a:avLst>
          </a:prstGeom>
          <a:solidFill>
            <a:srgbClr val="C8304B"/>
          </a:solidFill>
          <a:ln/>
        </p:spPr>
        <p:txBody>
          <a:bodyPr/>
          <a:lstStyle/>
          <a:p>
            <a:endParaRPr lang="en-US"/>
          </a:p>
        </p:txBody>
      </p:sp>
      <p:sp>
        <p:nvSpPr>
          <p:cNvPr id="5" name="Text 3"/>
          <p:cNvSpPr/>
          <p:nvPr/>
        </p:nvSpPr>
        <p:spPr>
          <a:xfrm>
            <a:off x="749300" y="819150"/>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PULSE</a:t>
            </a:r>
            <a:endParaRPr lang="en-US" sz="1200" dirty="0"/>
          </a:p>
        </p:txBody>
      </p:sp>
      <p:sp>
        <p:nvSpPr>
          <p:cNvPr id="6" name="Text 4"/>
          <p:cNvSpPr/>
          <p:nvPr/>
        </p:nvSpPr>
        <p:spPr>
          <a:xfrm>
            <a:off x="749300" y="1070592"/>
            <a:ext cx="2439607" cy="472369"/>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0.72</a:t>
            </a:r>
            <a:endParaRPr lang="en-US" sz="3200" dirty="0"/>
          </a:p>
        </p:txBody>
      </p:sp>
      <p:sp>
        <p:nvSpPr>
          <p:cNvPr id="7" name="Text 5"/>
          <p:cNvSpPr/>
          <p:nvPr/>
        </p:nvSpPr>
        <p:spPr>
          <a:xfrm>
            <a:off x="749300" y="1555663"/>
            <a:ext cx="2439607"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ROC AUC, 27 unseen caregivers, 1,406 assessments</a:t>
            </a:r>
            <a:endParaRPr lang="en-US" sz="1200" dirty="0"/>
          </a:p>
        </p:txBody>
      </p:sp>
      <p:sp>
        <p:nvSpPr>
          <p:cNvPr id="8" name="Shape 6"/>
          <p:cNvSpPr/>
          <p:nvPr/>
        </p:nvSpPr>
        <p:spPr>
          <a:xfrm>
            <a:off x="3384550" y="704850"/>
            <a:ext cx="2647950" cy="1330766"/>
          </a:xfrm>
          <a:prstGeom prst="roundRect">
            <a:avLst>
              <a:gd name="adj" fmla="val 9543"/>
            </a:avLst>
          </a:prstGeom>
          <a:solidFill>
            <a:srgbClr val="B45F06"/>
          </a:solidFill>
          <a:ln/>
        </p:spPr>
        <p:txBody>
          <a:bodyPr/>
          <a:lstStyle/>
          <a:p>
            <a:endParaRPr lang="en-US"/>
          </a:p>
        </p:txBody>
      </p:sp>
      <p:sp>
        <p:nvSpPr>
          <p:cNvPr id="9" name="Text 7"/>
          <p:cNvSpPr/>
          <p:nvPr/>
        </p:nvSpPr>
        <p:spPr>
          <a:xfrm>
            <a:off x="3524250" y="819150"/>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SENTRY</a:t>
            </a:r>
            <a:endParaRPr lang="en-US" sz="1200" dirty="0"/>
          </a:p>
        </p:txBody>
      </p:sp>
      <p:sp>
        <p:nvSpPr>
          <p:cNvPr id="10" name="Text 8"/>
          <p:cNvSpPr/>
          <p:nvPr/>
        </p:nvSpPr>
        <p:spPr>
          <a:xfrm>
            <a:off x="3524250" y="1070592"/>
            <a:ext cx="2439607" cy="472369"/>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92.3%</a:t>
            </a:r>
            <a:endParaRPr lang="en-US" sz="3200" dirty="0"/>
          </a:p>
        </p:txBody>
      </p:sp>
      <p:sp>
        <p:nvSpPr>
          <p:cNvPr id="11" name="Text 9"/>
          <p:cNvSpPr/>
          <p:nvPr/>
        </p:nvSpPr>
        <p:spPr>
          <a:xfrm>
            <a:off x="3524250" y="1555663"/>
            <a:ext cx="2439607"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sensitivity, 1.28% false alarm rate, AUC 0.98</a:t>
            </a:r>
            <a:endParaRPr lang="en-US" sz="1200" dirty="0"/>
          </a:p>
        </p:txBody>
      </p:sp>
      <p:sp>
        <p:nvSpPr>
          <p:cNvPr id="12" name="Shape 10"/>
          <p:cNvSpPr/>
          <p:nvPr/>
        </p:nvSpPr>
        <p:spPr>
          <a:xfrm>
            <a:off x="6159500" y="704850"/>
            <a:ext cx="2647950" cy="1330766"/>
          </a:xfrm>
          <a:prstGeom prst="roundRect">
            <a:avLst>
              <a:gd name="adj" fmla="val 9543"/>
            </a:avLst>
          </a:prstGeom>
          <a:solidFill>
            <a:srgbClr val="0A7F7C"/>
          </a:solidFill>
          <a:ln/>
        </p:spPr>
        <p:txBody>
          <a:bodyPr/>
          <a:lstStyle/>
          <a:p>
            <a:endParaRPr lang="en-US"/>
          </a:p>
        </p:txBody>
      </p:sp>
      <p:sp>
        <p:nvSpPr>
          <p:cNvPr id="13" name="Text 11"/>
          <p:cNvSpPr/>
          <p:nvPr/>
        </p:nvSpPr>
        <p:spPr>
          <a:xfrm>
            <a:off x="6299200" y="819150"/>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SCRIBE</a:t>
            </a:r>
            <a:endParaRPr lang="en-US" sz="1200" dirty="0"/>
          </a:p>
        </p:txBody>
      </p:sp>
      <p:sp>
        <p:nvSpPr>
          <p:cNvPr id="14" name="Text 12"/>
          <p:cNvSpPr/>
          <p:nvPr/>
        </p:nvSpPr>
        <p:spPr>
          <a:xfrm>
            <a:off x="6299200" y="1070592"/>
            <a:ext cx="2439607" cy="472369"/>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15.5%</a:t>
            </a:r>
            <a:endParaRPr lang="en-US" sz="3200" dirty="0"/>
          </a:p>
        </p:txBody>
      </p:sp>
      <p:sp>
        <p:nvSpPr>
          <p:cNvPr id="15" name="Text 13"/>
          <p:cNvSpPr/>
          <p:nvPr/>
        </p:nvSpPr>
        <p:spPr>
          <a:xfrm>
            <a:off x="6299200" y="1555663"/>
            <a:ext cx="2439607" cy="391054"/>
          </a:xfrm>
          <a:prstGeom prst="rect">
            <a:avLst/>
          </a:prstGeom>
          <a:noFill/>
          <a:ln/>
        </p:spPr>
        <p:txBody>
          <a:bodyPr wrap="square" lIns="0" tIns="0" rIns="0" bIns="0" rtlCol="0" anchor="t">
            <a:normAutofit/>
          </a:bodyPr>
          <a:lstStyle/>
          <a:p>
            <a:pPr>
              <a:lnSpc>
                <a:spcPts val="1440"/>
              </a:lnSpc>
            </a:pPr>
            <a:r>
              <a:rPr lang="en-US" sz="1200" dirty="0">
                <a:solidFill>
                  <a:srgbClr val="FFFFFF"/>
                </a:solidFill>
                <a:latin typeface="Nunito Sans" pitchFamily="34" charset="0"/>
                <a:ea typeface="Nunito Sans" pitchFamily="34" charset="-122"/>
                <a:cs typeface="Nunito Sans" pitchFamily="34" charset="-120"/>
              </a:rPr>
              <a:t>WER 26.13% → 15.57%</a:t>
            </a:r>
          </a:p>
          <a:p>
            <a:pPr>
              <a:lnSpc>
                <a:spcPts val="1440"/>
              </a:lnSpc>
            </a:pPr>
            <a:r>
              <a:rPr lang="en-US" sz="1200" dirty="0">
                <a:solidFill>
                  <a:srgbClr val="FFFFFF"/>
                </a:solidFill>
                <a:latin typeface="Nunito Sans" pitchFamily="34" charset="0"/>
              </a:rPr>
              <a:t>(zero-shot → </a:t>
            </a:r>
            <a:r>
              <a:rPr lang="en-US" sz="1200" dirty="0" err="1">
                <a:solidFill>
                  <a:srgbClr val="FFFFFF"/>
                </a:solidFill>
                <a:latin typeface="Nunito Sans" pitchFamily="34" charset="0"/>
              </a:rPr>
              <a:t>LoRA</a:t>
            </a:r>
            <a:r>
              <a:rPr lang="en-US" sz="1200" dirty="0">
                <a:solidFill>
                  <a:srgbClr val="FFFFFF"/>
                </a:solidFill>
                <a:latin typeface="Nunito Sans" pitchFamily="34" charset="0"/>
              </a:rPr>
              <a:t>)</a:t>
            </a:r>
          </a:p>
        </p:txBody>
      </p:sp>
      <p:sp>
        <p:nvSpPr>
          <p:cNvPr id="16" name="Shape 14"/>
          <p:cNvSpPr/>
          <p:nvPr/>
        </p:nvSpPr>
        <p:spPr>
          <a:xfrm>
            <a:off x="8934450" y="704850"/>
            <a:ext cx="2647950" cy="1330766"/>
          </a:xfrm>
          <a:prstGeom prst="roundRect">
            <a:avLst>
              <a:gd name="adj" fmla="val 9543"/>
            </a:avLst>
          </a:prstGeom>
          <a:solidFill>
            <a:srgbClr val="6B46E0"/>
          </a:solidFill>
          <a:ln/>
        </p:spPr>
        <p:txBody>
          <a:bodyPr/>
          <a:lstStyle/>
          <a:p>
            <a:endParaRPr lang="en-US"/>
          </a:p>
        </p:txBody>
      </p:sp>
      <p:sp>
        <p:nvSpPr>
          <p:cNvPr id="17" name="Text 15"/>
          <p:cNvSpPr/>
          <p:nvPr/>
        </p:nvSpPr>
        <p:spPr>
          <a:xfrm>
            <a:off x="9074150" y="819150"/>
            <a:ext cx="2439607" cy="238742"/>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FFFF"/>
                </a:solidFill>
                <a:latin typeface="Nunito Sans" pitchFamily="34" charset="0"/>
                <a:ea typeface="Nunito Sans" pitchFamily="34" charset="-122"/>
                <a:cs typeface="Nunito Sans" pitchFamily="34" charset="-120"/>
              </a:rPr>
              <a:t>GLOSS</a:t>
            </a:r>
            <a:endParaRPr lang="en-US" sz="1200" dirty="0"/>
          </a:p>
        </p:txBody>
      </p:sp>
      <p:sp>
        <p:nvSpPr>
          <p:cNvPr id="18" name="Text 16"/>
          <p:cNvSpPr/>
          <p:nvPr/>
        </p:nvSpPr>
        <p:spPr>
          <a:xfrm>
            <a:off x="9074150" y="1070592"/>
            <a:ext cx="2439607" cy="472369"/>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FFF"/>
                </a:solidFill>
                <a:latin typeface="Rubik" pitchFamily="34" charset="0"/>
                <a:ea typeface="Rubik" pitchFamily="34" charset="-122"/>
                <a:cs typeface="Rubik" pitchFamily="34" charset="-120"/>
              </a:rPr>
              <a:t>0.78</a:t>
            </a:r>
            <a:endParaRPr lang="en-US" sz="3200" dirty="0"/>
          </a:p>
        </p:txBody>
      </p:sp>
      <p:sp>
        <p:nvSpPr>
          <p:cNvPr id="19" name="Text 17"/>
          <p:cNvSpPr/>
          <p:nvPr/>
        </p:nvSpPr>
        <p:spPr>
          <a:xfrm>
            <a:off x="9074150" y="1555663"/>
            <a:ext cx="2439607"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FFFFFF"/>
                </a:solidFill>
                <a:latin typeface="Nunito Sans" pitchFamily="34" charset="0"/>
                <a:ea typeface="Nunito Sans" pitchFamily="34" charset="-122"/>
                <a:cs typeface="Nunito Sans" pitchFamily="34" charset="-120"/>
              </a:rPr>
              <a:t>macro-F1; 98.4% of confident calls correct</a:t>
            </a:r>
            <a:endParaRPr lang="en-US" sz="1200" dirty="0"/>
          </a:p>
        </p:txBody>
      </p:sp>
      <p:sp>
        <p:nvSpPr>
          <p:cNvPr id="20" name="Shape 18"/>
          <p:cNvSpPr/>
          <p:nvPr/>
        </p:nvSpPr>
        <p:spPr>
          <a:xfrm>
            <a:off x="539750" y="2379446"/>
            <a:ext cx="6343650" cy="2482146"/>
          </a:xfrm>
          <a:prstGeom prst="roundRect">
            <a:avLst>
              <a:gd name="adj" fmla="val 4594"/>
            </a:avLst>
          </a:prstGeom>
          <a:solidFill>
            <a:srgbClr val="FFFFFF"/>
          </a:solidFill>
          <a:ln w="6350">
            <a:solidFill>
              <a:srgbClr val="DCE2F2"/>
            </a:solidFill>
            <a:prstDash val="solid"/>
          </a:ln>
        </p:spPr>
        <p:txBody>
          <a:bodyPr/>
          <a:lstStyle/>
          <a:p>
            <a:endParaRPr lang="en-US"/>
          </a:p>
        </p:txBody>
      </p:sp>
      <p:sp>
        <p:nvSpPr>
          <p:cNvPr id="21" name="Text 19"/>
          <p:cNvSpPr/>
          <p:nvPr/>
        </p:nvSpPr>
        <p:spPr>
          <a:xfrm>
            <a:off x="793821" y="2594153"/>
            <a:ext cx="6162604" cy="244475"/>
          </a:xfrm>
          <a:prstGeom prst="rect">
            <a:avLst/>
          </a:prstGeom>
          <a:noFill/>
          <a:ln/>
        </p:spPr>
        <p:txBody>
          <a:bodyPr wrap="square" lIns="0" tIns="0" rIns="0" bIns="0" rtlCol="0" anchor="t">
            <a:normAutofit/>
          </a:bodyPr>
          <a:lstStyle/>
          <a:p>
            <a:pPr marL="0" indent="0" algn="l">
              <a:lnSpc>
                <a:spcPts val="1725"/>
              </a:lnSpc>
              <a:buNone/>
            </a:pPr>
            <a:r>
              <a:rPr lang="en-US" sz="1500" b="1" dirty="0">
                <a:solidFill>
                  <a:srgbClr val="0E1B4D"/>
                </a:solidFill>
                <a:latin typeface="Rubik" pitchFamily="34" charset="0"/>
                <a:ea typeface="Rubik" pitchFamily="34" charset="-122"/>
                <a:cs typeface="Rubik" pitchFamily="34" charset="-120"/>
              </a:rPr>
              <a:t>Common limitations</a:t>
            </a:r>
            <a:endParaRPr lang="en-US" sz="1500" dirty="0"/>
          </a:p>
        </p:txBody>
      </p:sp>
      <p:sp>
        <p:nvSpPr>
          <p:cNvPr id="22" name="Text 20"/>
          <p:cNvSpPr/>
          <p:nvPr/>
        </p:nvSpPr>
        <p:spPr>
          <a:xfrm>
            <a:off x="793821" y="3089894"/>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B45F06"/>
          </a:solidFill>
          <a:ln/>
        </p:spPr>
        <p:txBody>
          <a:bodyPr wrap="square" lIns="0" tIns="0" rIns="0" bIns="0" rtlCol="0" anchor="t">
            <a:normAutofit/>
          </a:bodyPr>
          <a:lstStyle/>
          <a:p>
            <a:pPr marL="0" indent="0" algn="ctr">
              <a:lnSpc>
                <a:spcPts val="1804"/>
              </a:lnSpc>
              <a:buNone/>
            </a:pPr>
            <a:r>
              <a:rPr lang="en-US" sz="1100" b="1" dirty="0">
                <a:solidFill>
                  <a:srgbClr val="FFFFFF"/>
                </a:solidFill>
                <a:latin typeface="Nunito Sans" pitchFamily="34" charset="0"/>
                <a:ea typeface="Nunito Sans" pitchFamily="34" charset="-122"/>
                <a:cs typeface="Nunito Sans" pitchFamily="34" charset="-120"/>
              </a:rPr>
              <a:t>1</a:t>
            </a:r>
            <a:endParaRPr lang="en-US" sz="1100" dirty="0"/>
          </a:p>
        </p:txBody>
      </p:sp>
      <p:sp>
        <p:nvSpPr>
          <p:cNvPr id="23" name="Text 21"/>
          <p:cNvSpPr/>
          <p:nvPr/>
        </p:nvSpPr>
        <p:spPr>
          <a:xfrm>
            <a:off x="1111321" y="3089894"/>
            <a:ext cx="2616200" cy="22348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E1B4D"/>
                </a:solidFill>
                <a:latin typeface="Nunito Sans" pitchFamily="34" charset="0"/>
                <a:ea typeface="Nunito Sans" pitchFamily="34" charset="-122"/>
                <a:cs typeface="Nunito Sans" pitchFamily="34" charset="-120"/>
              </a:rPr>
              <a:t>Public and de-identified data</a:t>
            </a:r>
            <a:endParaRPr lang="en-US" sz="1300" dirty="0"/>
          </a:p>
        </p:txBody>
      </p:sp>
      <p:sp>
        <p:nvSpPr>
          <p:cNvPr id="24" name="Text 22"/>
          <p:cNvSpPr/>
          <p:nvPr/>
        </p:nvSpPr>
        <p:spPr>
          <a:xfrm>
            <a:off x="1111321" y="3300678"/>
            <a:ext cx="2616200" cy="573881"/>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Models were trained on existing datasets, so results may shift on new data</a:t>
            </a:r>
            <a:endParaRPr lang="en-US" sz="1200" dirty="0"/>
          </a:p>
        </p:txBody>
      </p:sp>
      <p:sp>
        <p:nvSpPr>
          <p:cNvPr id="25" name="Text 23"/>
          <p:cNvSpPr/>
          <p:nvPr/>
        </p:nvSpPr>
        <p:spPr>
          <a:xfrm>
            <a:off x="3778322" y="3089894"/>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B45F06"/>
          </a:solidFill>
          <a:ln/>
        </p:spPr>
        <p:txBody>
          <a:bodyPr wrap="square" lIns="0" tIns="0" rIns="0" bIns="0" rtlCol="0" anchor="t">
            <a:normAutofit/>
          </a:bodyPr>
          <a:lstStyle/>
          <a:p>
            <a:pPr marL="0" indent="0" algn="ctr">
              <a:lnSpc>
                <a:spcPts val="1804"/>
              </a:lnSpc>
              <a:buNone/>
            </a:pPr>
            <a:r>
              <a:rPr lang="en-US" sz="1100" b="1" dirty="0">
                <a:solidFill>
                  <a:srgbClr val="FFFFFF"/>
                </a:solidFill>
                <a:latin typeface="Nunito Sans" pitchFamily="34" charset="0"/>
                <a:ea typeface="Nunito Sans" pitchFamily="34" charset="-122"/>
                <a:cs typeface="Nunito Sans" pitchFamily="34" charset="-120"/>
              </a:rPr>
              <a:t>2</a:t>
            </a:r>
            <a:endParaRPr lang="en-US" sz="1100" dirty="0"/>
          </a:p>
        </p:txBody>
      </p:sp>
      <p:sp>
        <p:nvSpPr>
          <p:cNvPr id="26" name="Text 24"/>
          <p:cNvSpPr/>
          <p:nvPr/>
        </p:nvSpPr>
        <p:spPr>
          <a:xfrm>
            <a:off x="4095822" y="3089894"/>
            <a:ext cx="2616200" cy="22348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E1B4D"/>
                </a:solidFill>
                <a:latin typeface="Nunito Sans" pitchFamily="34" charset="0"/>
                <a:ea typeface="Nunito Sans" pitchFamily="34" charset="-122"/>
                <a:cs typeface="Nunito Sans" pitchFamily="34" charset="-120"/>
              </a:rPr>
              <a:t>Small samples</a:t>
            </a:r>
            <a:endParaRPr lang="en-US" sz="1300" dirty="0"/>
          </a:p>
        </p:txBody>
      </p:sp>
      <p:sp>
        <p:nvSpPr>
          <p:cNvPr id="27" name="Text 25"/>
          <p:cNvSpPr/>
          <p:nvPr/>
        </p:nvSpPr>
        <p:spPr>
          <a:xfrm>
            <a:off x="4095822" y="3300678"/>
            <a:ext cx="2616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Wide confidence intervals; larger samples will narrow them</a:t>
            </a:r>
            <a:endParaRPr lang="en-US" sz="1200" dirty="0"/>
          </a:p>
        </p:txBody>
      </p:sp>
      <p:sp>
        <p:nvSpPr>
          <p:cNvPr id="28" name="Text 26"/>
          <p:cNvSpPr/>
          <p:nvPr/>
        </p:nvSpPr>
        <p:spPr>
          <a:xfrm>
            <a:off x="793821" y="3976159"/>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B45F06"/>
          </a:solidFill>
          <a:ln/>
        </p:spPr>
        <p:txBody>
          <a:bodyPr wrap="square" lIns="0" tIns="0" rIns="0" bIns="0" rtlCol="0" anchor="t">
            <a:normAutofit/>
          </a:bodyPr>
          <a:lstStyle/>
          <a:p>
            <a:pPr marL="0" indent="0" algn="ctr">
              <a:lnSpc>
                <a:spcPts val="1804"/>
              </a:lnSpc>
              <a:buNone/>
            </a:pPr>
            <a:r>
              <a:rPr lang="en-US" sz="1100" b="1" dirty="0">
                <a:solidFill>
                  <a:srgbClr val="FFFFFF"/>
                </a:solidFill>
                <a:latin typeface="Nunito Sans" pitchFamily="34" charset="0"/>
                <a:ea typeface="Nunito Sans" pitchFamily="34" charset="-122"/>
                <a:cs typeface="Nunito Sans" pitchFamily="34" charset="-120"/>
              </a:rPr>
              <a:t>3</a:t>
            </a:r>
            <a:endParaRPr lang="en-US" sz="1100" dirty="0"/>
          </a:p>
        </p:txBody>
      </p:sp>
      <p:sp>
        <p:nvSpPr>
          <p:cNvPr id="29" name="Text 27"/>
          <p:cNvSpPr/>
          <p:nvPr/>
        </p:nvSpPr>
        <p:spPr>
          <a:xfrm>
            <a:off x="1111321" y="3976159"/>
            <a:ext cx="2616200" cy="22348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E1B4D"/>
                </a:solidFill>
                <a:latin typeface="Nunito Sans" pitchFamily="34" charset="0"/>
                <a:ea typeface="Nunito Sans" pitchFamily="34" charset="-122"/>
                <a:cs typeface="Nunito Sans" pitchFamily="34" charset="-120"/>
              </a:rPr>
              <a:t>Limited labels and thresholds</a:t>
            </a:r>
            <a:endParaRPr lang="en-US" sz="1300" dirty="0"/>
          </a:p>
        </p:txBody>
      </p:sp>
      <p:sp>
        <p:nvSpPr>
          <p:cNvPr id="30" name="Text 28"/>
          <p:cNvSpPr/>
          <p:nvPr/>
        </p:nvSpPr>
        <p:spPr>
          <a:xfrm>
            <a:off x="1111321" y="4186943"/>
            <a:ext cx="2616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Self-reported ratings and small test sets shaped labels and cut-offs</a:t>
            </a:r>
            <a:endParaRPr lang="en-US" sz="1200" dirty="0"/>
          </a:p>
        </p:txBody>
      </p:sp>
      <p:sp>
        <p:nvSpPr>
          <p:cNvPr id="31" name="Text 29"/>
          <p:cNvSpPr/>
          <p:nvPr/>
        </p:nvSpPr>
        <p:spPr>
          <a:xfrm>
            <a:off x="3778322" y="3976159"/>
            <a:ext cx="228600" cy="228600"/>
          </a:xfrm>
          <a:custGeom>
            <a:avLst/>
            <a:gdLst/>
            <a:ahLst/>
            <a:cxnLst/>
            <a:rect l="l" t="t" r="r" b="b"/>
            <a:pathLst>
              <a:path w="228600" h="228600">
                <a:moveTo>
                  <a:pt x="114300" y="0"/>
                </a:moveTo>
                <a:lnTo>
                  <a:pt x="114300" y="0"/>
                </a:lnTo>
                <a:arcTo wR="114300" hR="114300" stAng="16200000" swAng="5400000"/>
                <a:lnTo>
                  <a:pt x="228600" y="114300"/>
                </a:lnTo>
                <a:arcTo wR="114300" hR="114300" stAng="0" swAng="5400000"/>
                <a:lnTo>
                  <a:pt x="114300" y="228600"/>
                </a:lnTo>
                <a:arcTo wR="114300" hR="114300" stAng="5400000" swAng="5400000"/>
                <a:lnTo>
                  <a:pt x="0" y="114300"/>
                </a:lnTo>
                <a:arcTo wR="114300" hR="114300" stAng="10800000" swAng="5400000"/>
                <a:close/>
              </a:path>
            </a:pathLst>
          </a:custGeom>
          <a:solidFill>
            <a:srgbClr val="B45F06"/>
          </a:solidFill>
          <a:ln/>
        </p:spPr>
        <p:txBody>
          <a:bodyPr wrap="square" lIns="0" tIns="0" rIns="0" bIns="0" rtlCol="0" anchor="t">
            <a:normAutofit/>
          </a:bodyPr>
          <a:lstStyle/>
          <a:p>
            <a:pPr marL="0" indent="0" algn="ctr">
              <a:lnSpc>
                <a:spcPts val="1804"/>
              </a:lnSpc>
              <a:buNone/>
            </a:pPr>
            <a:r>
              <a:rPr lang="en-US" sz="1100" b="1" dirty="0">
                <a:solidFill>
                  <a:srgbClr val="FFFFFF"/>
                </a:solidFill>
                <a:latin typeface="Nunito Sans" pitchFamily="34" charset="0"/>
                <a:ea typeface="Nunito Sans" pitchFamily="34" charset="-122"/>
                <a:cs typeface="Nunito Sans" pitchFamily="34" charset="-120"/>
              </a:rPr>
              <a:t>4</a:t>
            </a:r>
            <a:endParaRPr lang="en-US" sz="1100" dirty="0"/>
          </a:p>
        </p:txBody>
      </p:sp>
      <p:sp>
        <p:nvSpPr>
          <p:cNvPr id="35" name="Text 33"/>
          <p:cNvSpPr/>
          <p:nvPr/>
        </p:nvSpPr>
        <p:spPr>
          <a:xfrm>
            <a:off x="4095822" y="3959667"/>
            <a:ext cx="2616200" cy="223485"/>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0E1B4D"/>
                </a:solidFill>
                <a:latin typeface="Nunito Sans" pitchFamily="34" charset="0"/>
                <a:ea typeface="Nunito Sans" pitchFamily="34" charset="-122"/>
                <a:cs typeface="Nunito Sans" pitchFamily="34" charset="-120"/>
              </a:rPr>
              <a:t>Advisory use only</a:t>
            </a:r>
            <a:endParaRPr lang="en-US" sz="1300" dirty="0"/>
          </a:p>
        </p:txBody>
      </p:sp>
      <p:sp>
        <p:nvSpPr>
          <p:cNvPr id="36" name="Text 34"/>
          <p:cNvSpPr/>
          <p:nvPr/>
        </p:nvSpPr>
        <p:spPr>
          <a:xfrm>
            <a:off x="4057723" y="4154841"/>
            <a:ext cx="2616200" cy="391054"/>
          </a:xfrm>
          <a:prstGeom prst="rect">
            <a:avLst/>
          </a:prstGeom>
          <a:noFill/>
          <a:ln/>
        </p:spPr>
        <p:txBody>
          <a:bodyPr wrap="square" lIns="0" tIns="0" rIns="0" bIns="0" rtlCol="0" anchor="t">
            <a:normAutofit/>
          </a:bodyPr>
          <a:lstStyle/>
          <a:p>
            <a:pPr marL="0" indent="0" algn="l">
              <a:lnSpc>
                <a:spcPts val="1440"/>
              </a:lnSpc>
              <a:buNone/>
            </a:pPr>
            <a:r>
              <a:rPr lang="en-US" sz="1200" dirty="0">
                <a:solidFill>
                  <a:srgbClr val="4B5683"/>
                </a:solidFill>
                <a:latin typeface="Nunito Sans" pitchFamily="34" charset="0"/>
                <a:ea typeface="Nunito Sans" pitchFamily="34" charset="-122"/>
                <a:cs typeface="Nunito Sans" pitchFamily="34" charset="-120"/>
              </a:rPr>
              <a:t>Not a medical device; a person decides every action</a:t>
            </a:r>
            <a:endParaRPr lang="en-US" sz="1200" dirty="0"/>
          </a:p>
        </p:txBody>
      </p:sp>
      <p:sp>
        <p:nvSpPr>
          <p:cNvPr id="40" name="Shape 38"/>
          <p:cNvSpPr/>
          <p:nvPr/>
        </p:nvSpPr>
        <p:spPr>
          <a:xfrm>
            <a:off x="7112000" y="2137215"/>
            <a:ext cx="4470400" cy="2977974"/>
          </a:xfrm>
          <a:prstGeom prst="roundRect">
            <a:avLst>
              <a:gd name="adj" fmla="val 4691"/>
            </a:avLst>
          </a:prstGeom>
          <a:solidFill>
            <a:srgbClr val="0E1B4D"/>
          </a:solidFill>
          <a:ln/>
        </p:spPr>
        <p:txBody>
          <a:bodyPr/>
          <a:lstStyle/>
          <a:p>
            <a:endParaRPr lang="en-US"/>
          </a:p>
        </p:txBody>
      </p:sp>
      <p:sp>
        <p:nvSpPr>
          <p:cNvPr id="41" name="Text 39"/>
          <p:cNvSpPr/>
          <p:nvPr/>
        </p:nvSpPr>
        <p:spPr>
          <a:xfrm>
            <a:off x="8025342" y="2264215"/>
            <a:ext cx="2643717" cy="256469"/>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FFC247"/>
                </a:solidFill>
                <a:latin typeface="Nunito Sans" pitchFamily="34" charset="0"/>
                <a:ea typeface="Nunito Sans" pitchFamily="34" charset="-122"/>
                <a:cs typeface="Nunito Sans" pitchFamily="34" charset="-120"/>
              </a:rPr>
              <a:t>Research output in progress</a:t>
            </a:r>
            <a:endParaRPr lang="en-US" sz="1300" dirty="0"/>
          </a:p>
        </p:txBody>
      </p:sp>
      <p:pic>
        <p:nvPicPr>
          <p:cNvPr id="42" name="Image 0" descr="Online journal paper writing session with the supervisor and group members"/>
          <p:cNvPicPr>
            <a:picLocks noChangeAspect="1"/>
          </p:cNvPicPr>
          <p:nvPr/>
        </p:nvPicPr>
        <p:blipFill>
          <a:blip r:embed="rId3"/>
          <a:srcRect t="32" b="32"/>
          <a:stretch/>
        </p:blipFill>
        <p:spPr>
          <a:xfrm>
            <a:off x="7569200" y="2558786"/>
            <a:ext cx="3556000" cy="2000250"/>
          </a:xfrm>
          <a:prstGeom prst="roundRect">
            <a:avLst>
              <a:gd name="adj" fmla="val 3175"/>
            </a:avLst>
          </a:prstGeom>
        </p:spPr>
      </p:pic>
      <p:sp>
        <p:nvSpPr>
          <p:cNvPr id="43" name="Text 40"/>
          <p:cNvSpPr/>
          <p:nvPr/>
        </p:nvSpPr>
        <p:spPr>
          <a:xfrm>
            <a:off x="7175754" y="4622536"/>
            <a:ext cx="4342892" cy="391054"/>
          </a:xfrm>
          <a:prstGeom prst="rect">
            <a:avLst/>
          </a:prstGeom>
          <a:noFill/>
          <a:ln/>
        </p:spPr>
        <p:txBody>
          <a:bodyPr wrap="square" lIns="0" tIns="0" rIns="0" bIns="0" rtlCol="0" anchor="t">
            <a:normAutofit/>
          </a:bodyPr>
          <a:lstStyle/>
          <a:p>
            <a:pPr marL="0" indent="0" algn="ctr">
              <a:lnSpc>
                <a:spcPts val="1440"/>
              </a:lnSpc>
              <a:buNone/>
            </a:pPr>
            <a:r>
              <a:rPr lang="en-US" sz="1200" dirty="0">
                <a:solidFill>
                  <a:srgbClr val="FFFFFF"/>
                </a:solidFill>
                <a:latin typeface="Nunito Sans" pitchFamily="34" charset="0"/>
                <a:ea typeface="Nunito Sans" pitchFamily="34" charset="-122"/>
                <a:cs typeface="Nunito Sans" pitchFamily="34" charset="-120"/>
              </a:rPr>
              <a:t>Journal paper writing session with our supervisor, 8 Sep 2026</a:t>
            </a:r>
            <a:endParaRPr lang="en-US" sz="1200" dirty="0"/>
          </a:p>
        </p:txBody>
      </p:sp>
      <p:sp>
        <p:nvSpPr>
          <p:cNvPr id="44" name="Text 41"/>
          <p:cNvSpPr/>
          <p:nvPr/>
        </p:nvSpPr>
        <p:spPr>
          <a:xfrm>
            <a:off x="609600" y="5216789"/>
            <a:ext cx="10972800" cy="409575"/>
          </a:xfrm>
          <a:prstGeom prst="roundRect">
            <a:avLst>
              <a:gd name="adj" fmla="val 27907"/>
            </a:avLst>
          </a:prstGeom>
          <a:solidFill>
            <a:srgbClr val="FFC247"/>
          </a:solidFill>
          <a:ln/>
        </p:spPr>
        <p:txBody>
          <a:bodyPr wrap="square" lIns="131623" tIns="68123" rIns="0" bIns="42723" rtlCol="0" anchor="t">
            <a:normAutofit/>
          </a:bodyPr>
          <a:lstStyle/>
          <a:p>
            <a:pPr marL="0" indent="0" algn="l">
              <a:lnSpc>
                <a:spcPts val="1625"/>
              </a:lnSpc>
              <a:buNone/>
            </a:pPr>
            <a:r>
              <a:rPr lang="en-US" sz="1300" b="1" dirty="0">
                <a:solidFill>
                  <a:srgbClr val="0E1B4D"/>
                </a:solidFill>
                <a:latin typeface="Nunito Sans" pitchFamily="34" charset="0"/>
                <a:ea typeface="Nunito Sans" pitchFamily="34" charset="-122"/>
                <a:cs typeface="Nunito Sans" pitchFamily="34" charset="-120"/>
              </a:rPr>
              <a:t>Every output is advice to a person. Next steps: ethics approval and a field pilot.</a:t>
            </a:r>
            <a:endParaRPr lang="en-US" sz="1300" dirty="0"/>
          </a:p>
        </p:txBody>
      </p:sp>
      <p:sp>
        <p:nvSpPr>
          <p:cNvPr id="45" name="Shape 42"/>
          <p:cNvSpPr/>
          <p:nvPr/>
        </p:nvSpPr>
        <p:spPr>
          <a:xfrm>
            <a:off x="0" y="6273800"/>
            <a:ext cx="12192000" cy="584200"/>
          </a:xfrm>
          <a:prstGeom prst="rect">
            <a:avLst/>
          </a:prstGeom>
          <a:solidFill>
            <a:srgbClr val="FFFFFF"/>
          </a:solidFill>
          <a:ln/>
        </p:spPr>
        <p:txBody>
          <a:bodyPr/>
          <a:lstStyle/>
          <a:p>
            <a:endParaRPr lang="en-US"/>
          </a:p>
        </p:txBody>
      </p:sp>
      <p:sp>
        <p:nvSpPr>
          <p:cNvPr id="46" name="Shape 43"/>
          <p:cNvSpPr/>
          <p:nvPr/>
        </p:nvSpPr>
        <p:spPr>
          <a:xfrm>
            <a:off x="0" y="6286500"/>
            <a:ext cx="12192000" cy="0"/>
          </a:xfrm>
          <a:prstGeom prst="line">
            <a:avLst/>
          </a:prstGeom>
          <a:noFill/>
          <a:ln w="25400">
            <a:solidFill>
              <a:srgbClr val="FFC247"/>
            </a:solidFill>
            <a:prstDash val="solid"/>
          </a:ln>
        </p:spPr>
        <p:txBody>
          <a:bodyPr/>
          <a:lstStyle/>
          <a:p>
            <a:endParaRPr lang="en-US"/>
          </a:p>
        </p:txBody>
      </p:sp>
      <p:pic>
        <p:nvPicPr>
          <p:cNvPr id="47" name="Image 1" descr="SLIIT Faculty of Computing logo"/>
          <p:cNvPicPr>
            <a:picLocks noChangeAspect="1"/>
          </p:cNvPicPr>
          <p:nvPr/>
        </p:nvPicPr>
        <p:blipFill>
          <a:blip r:embed="rId4"/>
          <a:srcRect t="-370" b="-370"/>
          <a:stretch/>
        </p:blipFill>
        <p:spPr>
          <a:xfrm>
            <a:off x="406400" y="6362700"/>
            <a:ext cx="2032000" cy="406400"/>
          </a:xfrm>
          <a:prstGeom prst="rect">
            <a:avLst/>
          </a:prstGeom>
        </p:spPr>
      </p:pic>
      <p:sp>
        <p:nvSpPr>
          <p:cNvPr id="48" name="Text 44"/>
          <p:cNvSpPr/>
          <p:nvPr/>
        </p:nvSpPr>
        <p:spPr>
          <a:xfrm>
            <a:off x="4133850" y="6408474"/>
            <a:ext cx="3924300" cy="309827"/>
          </a:xfrm>
          <a:prstGeom prst="rect">
            <a:avLst/>
          </a:prstGeom>
          <a:noFill/>
          <a:ln/>
        </p:spPr>
        <p:txBody>
          <a:bodyPr wrap="square" lIns="0" tIns="0" rIns="0" bIns="0" rtlCol="0" anchor="t">
            <a:normAutofit/>
          </a:bodyPr>
          <a:lstStyle/>
          <a:p>
            <a:pPr marL="0" indent="0" algn="ctr">
              <a:lnSpc>
                <a:spcPts val="2240"/>
              </a:lnSpc>
              <a:buNone/>
            </a:pPr>
            <a:r>
              <a:rPr lang="en-US" sz="1600" b="1" kern="0" spc="100" dirty="0">
                <a:solidFill>
                  <a:srgbClr val="0E1B4D"/>
                </a:solidFill>
                <a:latin typeface="Nunito Sans" pitchFamily="34" charset="0"/>
                <a:ea typeface="Nunito Sans" pitchFamily="34" charset="-122"/>
                <a:cs typeface="Nunito Sans" pitchFamily="34" charset="-120"/>
              </a:rPr>
              <a:t>R26-DS-010</a:t>
            </a:r>
            <a:endParaRPr lang="en-US" sz="1600" dirty="0"/>
          </a:p>
        </p:txBody>
      </p:sp>
      <p:sp>
        <p:nvSpPr>
          <p:cNvPr id="49" name="Text 45"/>
          <p:cNvSpPr/>
          <p:nvPr/>
        </p:nvSpPr>
        <p:spPr>
          <a:xfrm>
            <a:off x="8384540" y="6449132"/>
            <a:ext cx="3401060" cy="256469"/>
          </a:xfrm>
          <a:prstGeom prst="rect">
            <a:avLst/>
          </a:prstGeom>
          <a:noFill/>
          <a:ln/>
        </p:spPr>
        <p:txBody>
          <a:bodyPr wrap="square" lIns="0" tIns="0" rIns="0" bIns="0" rtlCol="0" anchor="t">
            <a:normAutofit/>
          </a:bodyPr>
          <a:lstStyle/>
          <a:p>
            <a:pPr marL="0" indent="0" algn="r">
              <a:lnSpc>
                <a:spcPts val="1820"/>
              </a:lnSpc>
              <a:buNone/>
            </a:pPr>
            <a:r>
              <a:rPr lang="en-US" sz="1300" b="1" dirty="0">
                <a:solidFill>
                  <a:srgbClr val="0E1B4D"/>
                </a:solidFill>
                <a:latin typeface="Nunito Sans" pitchFamily="34" charset="0"/>
                <a:ea typeface="Nunito Sans" pitchFamily="34" charset="-122"/>
                <a:cs typeface="Nunito Sans" pitchFamily="34" charset="-120"/>
              </a:rPr>
              <a:t>21 October 2026 · 6</a:t>
            </a:r>
            <a:endParaRPr lang="en-US" sz="1300" dirty="0"/>
          </a:p>
        </p:txBody>
      </p:sp>
    </p:spTree>
  </p:cSld>
  <p:clrMapOvr>
    <a:masterClrMapping/>
  </p:clrMapOvr>
</p:sld>
</file>

<file path=ppt/theme/theme1.xml><?xml version="1.0" encoding="utf-8"?>
<a:theme xmlns:a="http://schemas.openxmlformats.org/drawingml/2006/main" name="CareSense Final Viva (R26-DS-010)">
  <a:themeElements>
    <a:clrScheme name="CareSense Final Viva (R26-DS-010)">
      <a:dk1>
        <a:srgbClr val="0E1B4D"/>
      </a:dk1>
      <a:lt1>
        <a:srgbClr val="F4F6FC"/>
      </a:lt1>
      <a:dk2>
        <a:srgbClr val="485279"/>
      </a:dk2>
      <a:lt2>
        <a:srgbClr val="DDE0EB"/>
      </a:lt2>
      <a:accent1>
        <a:srgbClr val="4B5683"/>
      </a:accent1>
      <a:accent2>
        <a:srgbClr val="FFC247"/>
      </a:accent2>
      <a:accent3>
        <a:srgbClr val="0A7F7C"/>
      </a:accent3>
      <a:accent4>
        <a:srgbClr val="C8304B"/>
      </a:accent4>
      <a:accent5>
        <a:srgbClr val="6B46E0"/>
      </a:accent5>
      <a:accent6>
        <a:srgbClr val="B45F06"/>
      </a:accent6>
      <a:hlink>
        <a:srgbClr val="0563C1"/>
      </a:hlink>
      <a:folHlink>
        <a:srgbClr val="954F72"/>
      </a:folHlink>
    </a:clrScheme>
    <a:fontScheme name="CareSense Final Viva (R26-DS-010)">
      <a:majorFont>
        <a:latin typeface="Rubi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3025</Words>
  <Application>Microsoft Office PowerPoint</Application>
  <PresentationFormat>Widescreen</PresentationFormat>
  <Paragraphs>378</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Nunito Sans</vt:lpstr>
      <vt:lpstr>Rubik</vt:lpstr>
      <vt:lpstr>CareSense Final Viva (R26-DS-010)</vt:lpstr>
      <vt:lpstr>Multimodal Computational Intelligence for Enhancing Caregiver Performance and Care Delivery</vt:lpstr>
      <vt:lpstr>Panel Feedback and Our Solutions</vt:lpstr>
      <vt:lpstr>PowerPoint Presentation</vt:lpstr>
      <vt:lpstr>IT22178640 | DAYANA PRIYADHARSHANI KUMAR</vt:lpstr>
      <vt:lpstr>IT22057488 | HARISHALINEE ELANGOVAN</vt:lpstr>
      <vt:lpstr>PowerPoint Presentation</vt:lpstr>
      <vt:lpstr>IT22289384 | KAUSHALYA NAGENTHRARAJA</vt:lpstr>
      <vt:lpstr>Industry Visits: Learning from the Care Sector</vt:lpstr>
      <vt:lpstr>User Testing Journey Map</vt:lpstr>
      <vt:lpstr>Our Research Paper Is Accepted</vt:lpstr>
      <vt:lpstr>Validated Results and Research Outputs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CareSense Final Viva (R26-DS-010)</dc:title>
  <dc:subject/>
  <dc:creator>User</dc:creator>
  <cp:lastModifiedBy>DAYANA K. it22178640</cp:lastModifiedBy>
  <cp:revision>12</cp:revision>
  <dcterms:created xsi:type="dcterms:W3CDTF">2026-10-20T16:29:55Z</dcterms:created>
  <dcterms:modified xsi:type="dcterms:W3CDTF">2026-10-20T17:32:41Z</dcterms:modified>
</cp:coreProperties>
</file>