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97" r:id="rId5"/>
    <p:sldId id="337" r:id="rId6"/>
    <p:sldId id="343" r:id="rId7"/>
    <p:sldId id="264" r:id="rId8"/>
    <p:sldId id="320" r:id="rId9"/>
    <p:sldId id="321" r:id="rId10"/>
    <p:sldId id="345" r:id="rId11"/>
    <p:sldId id="322" r:id="rId12"/>
    <p:sldId id="346" r:id="rId13"/>
    <p:sldId id="347" r:id="rId14"/>
    <p:sldId id="331" r:id="rId15"/>
    <p:sldId id="323" r:id="rId16"/>
    <p:sldId id="324" r:id="rId17"/>
    <p:sldId id="300" r:id="rId18"/>
    <p:sldId id="328" r:id="rId19"/>
    <p:sldId id="329" r:id="rId20"/>
    <p:sldId id="348" r:id="rId21"/>
    <p:sldId id="349" r:id="rId22"/>
    <p:sldId id="350" r:id="rId23"/>
    <p:sldId id="351" r:id="rId24"/>
    <p:sldId id="303" r:id="rId25"/>
    <p:sldId id="332" r:id="rId26"/>
    <p:sldId id="333" r:id="rId27"/>
    <p:sldId id="306" r:id="rId28"/>
    <p:sldId id="307" r:id="rId29"/>
    <p:sldId id="352" r:id="rId30"/>
    <p:sldId id="353" r:id="rId31"/>
    <p:sldId id="354" r:id="rId32"/>
    <p:sldId id="355" r:id="rId33"/>
    <p:sldId id="308" r:id="rId34"/>
    <p:sldId id="309" r:id="rId35"/>
    <p:sldId id="310" r:id="rId36"/>
    <p:sldId id="312" r:id="rId37"/>
    <p:sldId id="314" r:id="rId38"/>
    <p:sldId id="356" r:id="rId39"/>
    <p:sldId id="360" r:id="rId40"/>
    <p:sldId id="361" r:id="rId41"/>
    <p:sldId id="362" r:id="rId42"/>
    <p:sldId id="318" r:id="rId43"/>
    <p:sldId id="326" r:id="rId44"/>
    <p:sldId id="315" r:id="rId45"/>
    <p:sldId id="338" r:id="rId46"/>
    <p:sldId id="340" r:id="rId47"/>
    <p:sldId id="344" r:id="rId48"/>
    <p:sldId id="339" r:id="rId49"/>
    <p:sldId id="334" r:id="rId50"/>
    <p:sldId id="336" r:id="rId51"/>
    <p:sldId id="341" r:id="rId52"/>
    <p:sldId id="34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2"/>
    <a:srgbClr val="E8E9EB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82" d="100"/>
          <a:sy n="82" d="100"/>
        </p:scale>
        <p:origin x="4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3/20/2026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86634"/>
            <a:ext cx="10363200" cy="14700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dirty="0"/>
              <a:t>Multimodal Computational Intelligence for Enhancing Caregiver Performance and Care Delivery</a:t>
            </a:r>
            <a:endParaRPr lang="en-US" sz="3700" dirty="0"/>
          </a:p>
          <a:p>
            <a:pPr>
              <a:lnSpc>
                <a:spcPct val="90000"/>
              </a:lnSpc>
            </a:pPr>
            <a:endParaRPr lang="en-US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2350373"/>
            <a:ext cx="8534400" cy="1752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R26-DS-010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8B0DA-9759-E10C-F7E3-1284BDB8DA58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C3193-A3A0-5891-5BBA-6F5F63A04235}"/>
              </a:ext>
            </a:extLst>
          </p:cNvPr>
          <p:cNvSpPr txBox="1"/>
          <p:nvPr/>
        </p:nvSpPr>
        <p:spPr>
          <a:xfrm>
            <a:off x="10886" y="5413301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dirty="0"/>
              <a:t>Main Supervisor : Prof. Samantha </a:t>
            </a:r>
            <a:r>
              <a:rPr lang="en-US" sz="1400" dirty="0" err="1"/>
              <a:t>Thelijjagoda</a:t>
            </a:r>
            <a:r>
              <a:rPr lang="en-US" sz="1400" dirty="0"/>
              <a:t> 	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dirty="0"/>
              <a:t>Co – Supervisor : Mr. Samadhi Rathnayake 	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dirty="0"/>
              <a:t>External Supervisor :  Mr. Velu Sivakumar 	</a:t>
            </a: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783833-8483-FAA0-5A78-6D5F07429469}"/>
              </a:ext>
            </a:extLst>
          </p:cNvPr>
          <p:cNvSpPr txBox="1"/>
          <p:nvPr/>
        </p:nvSpPr>
        <p:spPr>
          <a:xfrm>
            <a:off x="609600" y="1530796"/>
            <a:ext cx="82296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b="1" dirty="0">
                <a:solidFill>
                  <a:srgbClr val="0F2742"/>
                </a:solidFill>
                <a:latin typeface="Aptos" pitchFamily="34" charset="0"/>
              </a:rPr>
              <a:t>1. Real-World Problem</a:t>
            </a:r>
            <a:br>
              <a:rPr lang="en-US" sz="1400" dirty="0">
                <a:solidFill>
                  <a:srgbClr val="0F2742"/>
                </a:solidFill>
                <a:latin typeface="Aptos" pitchFamily="34" charset="0"/>
              </a:rPr>
            </a:br>
            <a:r>
              <a:rPr lang="en-US" sz="1400" dirty="0">
                <a:solidFill>
                  <a:srgbClr val="0F2742"/>
                </a:solidFill>
                <a:latin typeface="Aptos" pitchFamily="34" charset="0"/>
              </a:rPr>
              <a:t>Caregivers face high workload, communication barriers, delayed documentation, and patient fall risks, leading to burnout, lower care quality, and inefficient service delivery.</a:t>
            </a:r>
          </a:p>
          <a:p>
            <a:pPr>
              <a:buSzPct val="100000"/>
            </a:pPr>
            <a:endParaRPr lang="en-US" sz="1400" dirty="0">
              <a:solidFill>
                <a:srgbClr val="0F2742"/>
              </a:solidFill>
              <a:latin typeface="Aptos" pitchFamily="34" charset="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0F2742"/>
                </a:solidFill>
                <a:latin typeface="Aptos" pitchFamily="34" charset="0"/>
              </a:rPr>
              <a:t>2. Supporting Evidence</a:t>
            </a:r>
            <a:br>
              <a:rPr lang="en-US" sz="1400" dirty="0">
                <a:solidFill>
                  <a:srgbClr val="0F2742"/>
                </a:solidFill>
                <a:latin typeface="Aptos" pitchFamily="34" charset="0"/>
              </a:rPr>
            </a:br>
            <a:r>
              <a:rPr lang="en-US" sz="1400" dirty="0">
                <a:solidFill>
                  <a:srgbClr val="0F2742"/>
                </a:solidFill>
                <a:latin typeface="Aptos" pitchFamily="34" charset="0"/>
              </a:rPr>
              <a:t>Healthcare studies report that patient falls are a major hospital injury cause, manual documentation consumes caregiver time, and burnout negatively affects workforce performance.</a:t>
            </a:r>
          </a:p>
          <a:p>
            <a:pPr>
              <a:buSzPct val="100000"/>
            </a:pPr>
            <a:endParaRPr lang="en-US" sz="1400" dirty="0">
              <a:solidFill>
                <a:srgbClr val="0F2742"/>
              </a:solidFill>
              <a:latin typeface="Aptos" pitchFamily="34" charset="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0F2742"/>
                </a:solidFill>
                <a:latin typeface="Aptos" pitchFamily="34" charset="0"/>
              </a:rPr>
              <a:t>3. Limitations of Existing Solutions</a:t>
            </a:r>
            <a:br>
              <a:rPr lang="en-US" sz="1400" dirty="0">
                <a:solidFill>
                  <a:srgbClr val="0F2742"/>
                </a:solidFill>
                <a:latin typeface="Aptos" pitchFamily="34" charset="0"/>
              </a:rPr>
            </a:br>
            <a:r>
              <a:rPr lang="en-US" sz="1400" dirty="0">
                <a:solidFill>
                  <a:srgbClr val="0F2742"/>
                </a:solidFill>
                <a:latin typeface="Aptos" pitchFamily="34" charset="0"/>
              </a:rPr>
              <a:t>Current systems are mostly isolated and static, with limited integration of workforce analytics, patient monitoring, documentation automation, and communication support.</a:t>
            </a:r>
          </a:p>
          <a:p>
            <a:pPr>
              <a:buSzPct val="100000"/>
            </a:pPr>
            <a:endParaRPr lang="en-US" b="1" dirty="0">
              <a:solidFill>
                <a:srgbClr val="0F2742"/>
              </a:solidFill>
              <a:latin typeface="Aptos" pitchFamily="34" charset="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0F2742"/>
                </a:solidFill>
                <a:latin typeface="Aptos" pitchFamily="34" charset="0"/>
              </a:rPr>
              <a:t>4. Proposed Solution</a:t>
            </a:r>
            <a:br>
              <a:rPr lang="en-US" sz="1400" dirty="0">
                <a:solidFill>
                  <a:srgbClr val="0F2742"/>
                </a:solidFill>
                <a:latin typeface="Aptos" pitchFamily="34" charset="0"/>
              </a:rPr>
            </a:br>
            <a:r>
              <a:rPr lang="en-US" sz="1400" dirty="0">
                <a:solidFill>
                  <a:srgbClr val="0F2742"/>
                </a:solidFill>
                <a:latin typeface="Aptos" pitchFamily="34" charset="0"/>
              </a:rPr>
              <a:t>A multimodal computational intelligence platform integrating computer vision, speech processing, machine learning, and explainable AI to support caregivers, automate tasks, and improve decision-making.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68579E-EE16-07C0-3787-A3A0320D058D}"/>
              </a:ext>
            </a:extLst>
          </p:cNvPr>
          <p:cNvSpPr txBox="1">
            <a:spLocks/>
          </p:cNvSpPr>
          <p:nvPr/>
        </p:nvSpPr>
        <p:spPr>
          <a:xfrm>
            <a:off x="762000" y="289560"/>
            <a:ext cx="1036320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/>
              <a:t>Multimodal Computational Intelligence for Enhancing Caregiver Performance and Care Delivery</a:t>
            </a: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08168-9B6E-A5CE-FA54-002EB4BF8A8C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63B06-5C94-0B91-65B0-AE9C85E5B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550" y="3637413"/>
            <a:ext cx="5353050" cy="292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28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FBC52-56E7-1A4B-9289-9EDD9D650BAE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S010_VIDEO">
            <a:hlinkClick r:id="" action="ppaction://media"/>
            <a:extLst>
              <a:ext uri="{FF2B5EF4-FFF2-40B4-BE49-F238E27FC236}">
                <a16:creationId xmlns:a16="http://schemas.microsoft.com/office/drawing/2014/main" id="{060AE19A-2EC4-603C-72D8-2AC24A69F6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9644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241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07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00585"/>
            <a:ext cx="10363200" cy="755426"/>
          </a:xfrm>
        </p:spPr>
        <p:txBody>
          <a:bodyPr>
            <a:normAutofit fontScale="90000"/>
          </a:bodyPr>
          <a:lstStyle/>
          <a:p>
            <a:r>
              <a:rPr lang="en-US" dirty="0"/>
              <a:t>IT22178640 | DAYANA PRIYADHARSHANI KUMAR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297516"/>
            <a:ext cx="11201400" cy="173484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Component 01: AI-Assisted Caregiver Workforce Deterioration Detection and Adaptive Workload Redistribution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B1B0E-3A95-38D8-C68C-389F644DF9F9}"/>
              </a:ext>
            </a:extLst>
          </p:cNvPr>
          <p:cNvSpPr/>
          <p:nvPr/>
        </p:nvSpPr>
        <p:spPr>
          <a:xfrm>
            <a:off x="10134600" y="533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A89E3-8522-DA69-3B2E-9188FFE0A90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2821-E469-EA7D-D0E5-61759A7B13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>
            <a:fillRect/>
          </a:stretch>
        </p:blipFill>
        <p:spPr>
          <a:xfrm>
            <a:off x="10067901" y="495300"/>
            <a:ext cx="2114598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1DA4CFDF-BB2B-05FE-2892-F9A654882028}"/>
              </a:ext>
            </a:extLst>
          </p:cNvPr>
          <p:cNvSpPr/>
          <p:nvPr/>
        </p:nvSpPr>
        <p:spPr>
          <a:xfrm>
            <a:off x="658368" y="1501731"/>
            <a:ext cx="59893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1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layer: </a:t>
            </a:r>
            <a:r>
              <a:rPr lang="en-US" sz="1510" dirty="0">
                <a:solidFill>
                  <a:srgbClr val="1F2937"/>
                </a:solidFill>
                <a:latin typeface="Aptos" pitchFamily="34" charset="0"/>
              </a:rPr>
              <a:t>Adds workforce intelligence to the overall caregiving solution.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C5D4CA7-44EE-1DC7-F1C3-1141AE9DC31F}"/>
              </a:ext>
            </a:extLst>
          </p:cNvPr>
          <p:cNvSpPr/>
          <p:nvPr/>
        </p:nvSpPr>
        <p:spPr>
          <a:xfrm>
            <a:off x="658368" y="2242496"/>
            <a:ext cx="59893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1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detection: </a:t>
            </a:r>
            <a:r>
              <a:rPr lang="en-US" sz="15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schedules, workload, events, and reflections into emerging risk signals.</a:t>
            </a:r>
            <a:endParaRPr lang="en-US" sz="151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2BA109B-6DEF-3529-0EF8-667E82868279}"/>
              </a:ext>
            </a:extLst>
          </p:cNvPr>
          <p:cNvSpPr/>
          <p:nvPr/>
        </p:nvSpPr>
        <p:spPr>
          <a:xfrm>
            <a:off x="658368" y="3057525"/>
            <a:ext cx="59893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228600" indent="-228600">
              <a:buSzPct val="100000"/>
              <a:buChar char="•"/>
            </a:pPr>
            <a:r>
              <a:rPr lang="en-US" sz="151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Cross-component value: </a:t>
            </a:r>
            <a:r>
              <a:rPr lang="en-US" sz="1600" dirty="0">
                <a:solidFill>
                  <a:srgbClr val="1F2937"/>
                </a:solidFill>
                <a:latin typeface="Aptos" pitchFamily="34" charset="0"/>
              </a:rPr>
              <a:t>Integrates voice-log signals and caregiver activity patterns to better understand workforce deterioration risk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8F41D15-3A1C-8A31-E6C6-488DB5E8B570}"/>
              </a:ext>
            </a:extLst>
          </p:cNvPr>
          <p:cNvSpPr/>
          <p:nvPr/>
        </p:nvSpPr>
        <p:spPr>
          <a:xfrm>
            <a:off x="658368" y="3871489"/>
            <a:ext cx="59893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1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support: </a:t>
            </a:r>
            <a:r>
              <a:rPr lang="en-US" sz="15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supervisors decide when workload should be redistributed, not only observed.</a:t>
            </a:r>
            <a:endParaRPr lang="en-US" sz="151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6A58224-A9E5-5A25-9DAE-984D3C8988F7}"/>
              </a:ext>
            </a:extLst>
          </p:cNvPr>
          <p:cNvSpPr/>
          <p:nvPr/>
        </p:nvSpPr>
        <p:spPr>
          <a:xfrm>
            <a:off x="658368" y="4666597"/>
            <a:ext cx="59893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1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Explainability: </a:t>
            </a:r>
            <a:r>
              <a:rPr lang="en-US" sz="15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case narratives that justify why a caregiver pattern is becoming unsafe.</a:t>
            </a:r>
            <a:endParaRPr lang="en-US" sz="151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D43903A-7D84-5FDC-9945-2D0AEA366A12}"/>
              </a:ext>
            </a:extLst>
          </p:cNvPr>
          <p:cNvSpPr/>
          <p:nvPr/>
        </p:nvSpPr>
        <p:spPr>
          <a:xfrm>
            <a:off x="658368" y="5450508"/>
            <a:ext cx="59893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1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impact: </a:t>
            </a:r>
            <a:r>
              <a:rPr lang="en-US" sz="15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caregiver performance continuity, fairness, and care-delivery stability.</a:t>
            </a:r>
            <a:endParaRPr lang="en-US" sz="151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5DFC78E8-D123-7B02-7270-2C29656A5683}"/>
              </a:ext>
            </a:extLst>
          </p:cNvPr>
          <p:cNvSpPr/>
          <p:nvPr/>
        </p:nvSpPr>
        <p:spPr>
          <a:xfrm>
            <a:off x="937260" y="993632"/>
            <a:ext cx="5775960" cy="41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 to the Overall Solution</a:t>
            </a: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5AD3F-132B-FB41-F535-2045F19632A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E4AB3B0F-2E6D-610A-49D5-171021D0F7FF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7BEEBD-E174-3FCC-11AD-B36801027EA0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928D49-AAD9-12DD-737E-F8938B472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971373"/>
            <a:ext cx="9086178" cy="495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B694AD07-09F0-6547-1C4F-C9EBD61C5906}"/>
              </a:ext>
            </a:extLst>
          </p:cNvPr>
          <p:cNvSpPr/>
          <p:nvPr/>
        </p:nvSpPr>
        <p:spPr>
          <a:xfrm>
            <a:off x="658368" y="1613037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problem: </a:t>
            </a: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Caregiver deterioration develops gradually through unstable schedules, overload, and poor recovery.</a:t>
            </a:r>
            <a:endParaRPr lang="en-US" sz="15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50087FF-4C5E-7231-6B59-D34D2F6DFAFE}"/>
              </a:ext>
            </a:extLst>
          </p:cNvPr>
          <p:cNvSpPr/>
          <p:nvPr/>
        </p:nvSpPr>
        <p:spPr>
          <a:xfrm>
            <a:off x="658368" y="2310063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solutions: </a:t>
            </a: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Surveys, dashboards, staffing ratios, and generic wellbeing advice are usually static snapshots.</a:t>
            </a:r>
            <a:endParaRPr lang="en-US" sz="15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5409CF7-0A82-4C10-C1B7-011108CF1B54}"/>
              </a:ext>
            </a:extLst>
          </p:cNvPr>
          <p:cNvSpPr/>
          <p:nvPr/>
        </p:nvSpPr>
        <p:spPr>
          <a:xfrm>
            <a:off x="658368" y="3115818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gap: </a:t>
            </a: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rarely model sequence effects, team structure, or fairness across repeated assignments.</a:t>
            </a:r>
            <a:endParaRPr lang="en-US" sz="15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2805CD7-8925-E0CB-02C9-C12202979AF2}"/>
              </a:ext>
            </a:extLst>
          </p:cNvPr>
          <p:cNvSpPr/>
          <p:nvPr/>
        </p:nvSpPr>
        <p:spPr>
          <a:xfrm>
            <a:off x="658368" y="3900410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1: </a:t>
            </a: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dynamic personal baseline learns what is normal for each caregiver before flagging deviation.</a:t>
            </a:r>
            <a:endParaRPr lang="en-US" sz="15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0089063-7A07-EF19-3ED9-66285370B183}"/>
              </a:ext>
            </a:extLst>
          </p:cNvPr>
          <p:cNvSpPr/>
          <p:nvPr/>
        </p:nvSpPr>
        <p:spPr>
          <a:xfrm>
            <a:off x="658368" y="4652053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2: </a:t>
            </a: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risk memory distinguishes one difficult shift from persistent accumulated strain.</a:t>
            </a:r>
            <a:endParaRPr lang="en-US" sz="15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DB428E4-222A-87BA-F402-905E568DA7FC}"/>
              </a:ext>
            </a:extLst>
          </p:cNvPr>
          <p:cNvSpPr/>
          <p:nvPr/>
        </p:nvSpPr>
        <p:spPr>
          <a:xfrm>
            <a:off x="658368" y="5433872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3: </a:t>
            </a: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Graph-based reasoning supports explainable and fair workload redistribution instead of score-only alerts.</a:t>
            </a:r>
            <a:endParaRPr lang="en-US" sz="15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DB31F760-81F3-7C84-F92C-BBA353A14B0B}"/>
              </a:ext>
            </a:extLst>
          </p:cNvPr>
          <p:cNvSpPr/>
          <p:nvPr/>
        </p:nvSpPr>
        <p:spPr>
          <a:xfrm>
            <a:off x="7680960" y="1847088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E7EDF4"/>
          </a:solidFill>
          <a:ln w="12700">
            <a:solidFill>
              <a:srgbClr val="E7EDF4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16D5C70-5447-F5E0-C37D-363C4984845F}"/>
              </a:ext>
            </a:extLst>
          </p:cNvPr>
          <p:cNvSpPr/>
          <p:nvPr/>
        </p:nvSpPr>
        <p:spPr>
          <a:xfrm>
            <a:off x="7754112" y="1956816"/>
            <a:ext cx="159105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</a:rPr>
              <a:t>Existing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</a:rPr>
              <a:t>practice</a:t>
            </a:r>
            <a:endParaRPr lang="en-US" sz="15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F0398C9-46BE-8DF6-795D-C5ADCAE6FD89}"/>
              </a:ext>
            </a:extLst>
          </p:cNvPr>
          <p:cNvSpPr/>
          <p:nvPr/>
        </p:nvSpPr>
        <p:spPr>
          <a:xfrm>
            <a:off x="9646920" y="2029968"/>
            <a:ext cx="502920" cy="347472"/>
          </a:xfrm>
          <a:prstGeom prst="chevron">
            <a:avLst/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EC5B505-75D9-0697-6172-7E72BD14AE32}"/>
              </a:ext>
            </a:extLst>
          </p:cNvPr>
          <p:cNvSpPr/>
          <p:nvPr/>
        </p:nvSpPr>
        <p:spPr>
          <a:xfrm>
            <a:off x="10241280" y="184708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DDF3F2"/>
          </a:solidFill>
          <a:ln w="12700">
            <a:solidFill>
              <a:srgbClr val="DDF3F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3124087-CA8F-76C1-96C2-C11965510ED8}"/>
              </a:ext>
            </a:extLst>
          </p:cNvPr>
          <p:cNvSpPr/>
          <p:nvPr/>
        </p:nvSpPr>
        <p:spPr>
          <a:xfrm>
            <a:off x="10314432" y="1956816"/>
            <a:ext cx="127101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</a:rPr>
              <a:t>Proposed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</a:rPr>
              <a:t>module</a:t>
            </a:r>
            <a:endParaRPr lang="en-US" sz="15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4915833-C2E0-701F-6012-C1F9A5ECBC46}"/>
              </a:ext>
            </a:extLst>
          </p:cNvPr>
          <p:cNvSpPr/>
          <p:nvPr/>
        </p:nvSpPr>
        <p:spPr>
          <a:xfrm>
            <a:off x="7635240" y="288036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7EDF4"/>
          </a:solidFill>
          <a:ln w="12700">
            <a:solidFill>
              <a:srgbClr val="E7EDF4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CD3F3B9-763E-C7ED-2B01-A22634F62E3B}"/>
              </a:ext>
            </a:extLst>
          </p:cNvPr>
          <p:cNvSpPr/>
          <p:nvPr/>
        </p:nvSpPr>
        <p:spPr>
          <a:xfrm>
            <a:off x="7708392" y="2990088"/>
            <a:ext cx="163677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Static snapshot</a:t>
            </a:r>
            <a:endParaRPr lang="en-US" sz="12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0F009DE0-4C40-60B8-5AD0-B2117E03F8B4}"/>
              </a:ext>
            </a:extLst>
          </p:cNvPr>
          <p:cNvSpPr/>
          <p:nvPr/>
        </p:nvSpPr>
        <p:spPr>
          <a:xfrm>
            <a:off x="7635240" y="3749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7EDF4"/>
          </a:solidFill>
          <a:ln w="12700">
            <a:solidFill>
              <a:srgbClr val="E7EDF4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FBCC821-B29C-B881-3A26-1013A6D27E50}"/>
              </a:ext>
            </a:extLst>
          </p:cNvPr>
          <p:cNvSpPr/>
          <p:nvPr/>
        </p:nvSpPr>
        <p:spPr>
          <a:xfrm>
            <a:off x="7708392" y="3858768"/>
            <a:ext cx="163677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Generic advice</a:t>
            </a:r>
            <a:endParaRPr lang="en-US" sz="12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087EA73-3E39-9C1E-48F3-9F2D97FED4C8}"/>
              </a:ext>
            </a:extLst>
          </p:cNvPr>
          <p:cNvSpPr/>
          <p:nvPr/>
        </p:nvSpPr>
        <p:spPr>
          <a:xfrm>
            <a:off x="7635240" y="461772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7EDF4"/>
          </a:solidFill>
          <a:ln w="12700">
            <a:solidFill>
              <a:srgbClr val="E7EDF4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7CA1069-1237-AA6A-E41B-E19235BA80F0}"/>
              </a:ext>
            </a:extLst>
          </p:cNvPr>
          <p:cNvSpPr/>
          <p:nvPr/>
        </p:nvSpPr>
        <p:spPr>
          <a:xfrm>
            <a:off x="7708392" y="4727448"/>
            <a:ext cx="163677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Caregiver-only view</a:t>
            </a:r>
            <a:endParaRPr lang="en-US" sz="12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823C31BD-3439-E398-340A-D9A818DB6F10}"/>
              </a:ext>
            </a:extLst>
          </p:cNvPr>
          <p:cNvSpPr/>
          <p:nvPr/>
        </p:nvSpPr>
        <p:spPr>
          <a:xfrm>
            <a:off x="10077217" y="288691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55F5F9E-83B2-373A-851A-693ED8F10E54}"/>
              </a:ext>
            </a:extLst>
          </p:cNvPr>
          <p:cNvSpPr/>
          <p:nvPr/>
        </p:nvSpPr>
        <p:spPr>
          <a:xfrm>
            <a:off x="10150369" y="2996638"/>
            <a:ext cx="163677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Trajectory detection</a:t>
            </a:r>
            <a:endParaRPr lang="en-US" sz="12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DF9142B6-4E7A-CEB6-0C84-ACB2027AE739}"/>
              </a:ext>
            </a:extLst>
          </p:cNvPr>
          <p:cNvSpPr/>
          <p:nvPr/>
        </p:nvSpPr>
        <p:spPr>
          <a:xfrm>
            <a:off x="10077217" y="375559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6C2A18B8-6FEC-C78A-C821-0A0119E4EAD3}"/>
              </a:ext>
            </a:extLst>
          </p:cNvPr>
          <p:cNvSpPr/>
          <p:nvPr/>
        </p:nvSpPr>
        <p:spPr>
          <a:xfrm>
            <a:off x="10150369" y="3865318"/>
            <a:ext cx="163677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Explainable cases</a:t>
            </a:r>
            <a:endParaRPr lang="en-US" sz="12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3E96AF27-496E-A8F8-1B7E-E6F2C1FF440E}"/>
              </a:ext>
            </a:extLst>
          </p:cNvPr>
          <p:cNvSpPr/>
          <p:nvPr/>
        </p:nvSpPr>
        <p:spPr>
          <a:xfrm>
            <a:off x="10077217" y="462427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EE2D488-5F8A-F8FE-DE87-74BAC2DC00E8}"/>
              </a:ext>
            </a:extLst>
          </p:cNvPr>
          <p:cNvSpPr/>
          <p:nvPr/>
        </p:nvSpPr>
        <p:spPr>
          <a:xfrm>
            <a:off x="10150369" y="4733998"/>
            <a:ext cx="163677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Fair redistribution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71C21B-AF68-EAC1-775F-4915EC2A93F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B93F24-0BF7-E20B-A9B6-40E4E05A7949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1862D7E6-65D6-DBBE-9CB3-B4A9D9ABC87E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7EBC0E30-F628-6D9B-AAF7-9774F8475F36}"/>
              </a:ext>
            </a:extLst>
          </p:cNvPr>
          <p:cNvSpPr/>
          <p:nvPr/>
        </p:nvSpPr>
        <p:spPr>
          <a:xfrm>
            <a:off x="937260" y="109078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 and Novelty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424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FE57FB-FCA8-1F35-C783-33F008F31001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C6CE51-3DB6-6B5C-4461-9B6644222138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4F12C-06B3-EA0B-652B-CA7FFBE2FE42}"/>
              </a:ext>
            </a:extLst>
          </p:cNvPr>
          <p:cNvSpPr txBox="1"/>
          <p:nvPr/>
        </p:nvSpPr>
        <p:spPr>
          <a:xfrm>
            <a:off x="855306" y="1737623"/>
            <a:ext cx="7845956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Design a web-based AI-assisted system to support caregivers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Detect early patterns of workforce deterioration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Enable adaptive workload redistribution using data-driven insights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Utilize behavioral, temporal, and relational data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Evaluate performance using prediction accuracy and decision-support effectiveness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Complete design, development, and evaluation within the project timeline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6D04078-2E5D-0252-30E7-2B9DB71BE918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14DD2-410B-82E1-505C-50C9D20BC6ED}"/>
              </a:ext>
            </a:extLst>
          </p:cNvPr>
          <p:cNvSpPr txBox="1"/>
          <p:nvPr/>
        </p:nvSpPr>
        <p:spPr>
          <a:xfrm>
            <a:off x="877077" y="1119704"/>
            <a:ext cx="6526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Objective</a:t>
            </a:r>
            <a:endParaRPr lang="en-US" sz="2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67BC409-7107-4F3C-1611-5EFFE0A4801F}"/>
              </a:ext>
            </a:extLst>
          </p:cNvPr>
          <p:cNvSpPr/>
          <p:nvPr/>
        </p:nvSpPr>
        <p:spPr>
          <a:xfrm>
            <a:off x="8701262" y="1472447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C13EFF9-9AAD-78BC-2A60-D3D63BA97D12}"/>
              </a:ext>
            </a:extLst>
          </p:cNvPr>
          <p:cNvSpPr/>
          <p:nvPr/>
        </p:nvSpPr>
        <p:spPr>
          <a:xfrm>
            <a:off x="8774414" y="1582175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67F0A61-F126-5BAD-2FF1-A659D335C72D}"/>
              </a:ext>
            </a:extLst>
          </p:cNvPr>
          <p:cNvSpPr/>
          <p:nvPr/>
        </p:nvSpPr>
        <p:spPr>
          <a:xfrm>
            <a:off x="8701262" y="2322839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5CAA791B-1E4A-3912-9131-0B376456B806}"/>
              </a:ext>
            </a:extLst>
          </p:cNvPr>
          <p:cNvSpPr/>
          <p:nvPr/>
        </p:nvSpPr>
        <p:spPr>
          <a:xfrm>
            <a:off x="8774414" y="2432567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0BF63125-3920-BAD3-06AE-5B85233860AE}"/>
              </a:ext>
            </a:extLst>
          </p:cNvPr>
          <p:cNvSpPr/>
          <p:nvPr/>
        </p:nvSpPr>
        <p:spPr>
          <a:xfrm>
            <a:off x="8701262" y="3173231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9479DF65-22F3-893E-3618-119D49A2E952}"/>
              </a:ext>
            </a:extLst>
          </p:cNvPr>
          <p:cNvSpPr/>
          <p:nvPr/>
        </p:nvSpPr>
        <p:spPr>
          <a:xfrm>
            <a:off x="8774414" y="3282959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B81C10AE-6C56-60CE-0CC5-0E504FCA471D}"/>
              </a:ext>
            </a:extLst>
          </p:cNvPr>
          <p:cNvSpPr/>
          <p:nvPr/>
        </p:nvSpPr>
        <p:spPr>
          <a:xfrm>
            <a:off x="8701262" y="4023623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FDEF4172-44F0-896D-137D-87F8632DD5CD}"/>
              </a:ext>
            </a:extLst>
          </p:cNvPr>
          <p:cNvSpPr/>
          <p:nvPr/>
        </p:nvSpPr>
        <p:spPr>
          <a:xfrm>
            <a:off x="8774414" y="4133351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DF4031EB-5899-1DA6-BD88-AC4370AC5B7E}"/>
              </a:ext>
            </a:extLst>
          </p:cNvPr>
          <p:cNvSpPr/>
          <p:nvPr/>
        </p:nvSpPr>
        <p:spPr>
          <a:xfrm>
            <a:off x="8701262" y="4874015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BADFDC83-BF17-1546-D4B4-424734278DEC}"/>
              </a:ext>
            </a:extLst>
          </p:cNvPr>
          <p:cNvSpPr/>
          <p:nvPr/>
        </p:nvSpPr>
        <p:spPr>
          <a:xfrm>
            <a:off x="8774414" y="4983743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66E5DDF0-52F8-8966-57B9-0375EAAAA321}"/>
              </a:ext>
            </a:extLst>
          </p:cNvPr>
          <p:cNvSpPr/>
          <p:nvPr/>
        </p:nvSpPr>
        <p:spPr>
          <a:xfrm>
            <a:off x="9753600" y="1581369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EE55288-4812-2B92-53A2-2EE7CFE8F716}"/>
              </a:ext>
            </a:extLst>
          </p:cNvPr>
          <p:cNvSpPr/>
          <p:nvPr/>
        </p:nvSpPr>
        <p:spPr>
          <a:xfrm>
            <a:off x="9762930" y="2562339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B583DC4-9EBC-AF5B-F360-FDB4EC077E1E}"/>
              </a:ext>
            </a:extLst>
          </p:cNvPr>
          <p:cNvSpPr/>
          <p:nvPr/>
        </p:nvSpPr>
        <p:spPr>
          <a:xfrm>
            <a:off x="9753600" y="336467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DC8B227-2B4E-78A3-2BB4-9A754018D064}"/>
              </a:ext>
            </a:extLst>
          </p:cNvPr>
          <p:cNvSpPr/>
          <p:nvPr/>
        </p:nvSpPr>
        <p:spPr>
          <a:xfrm>
            <a:off x="9806473" y="4210055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6C4A5EF9-B4BA-049B-CE35-7CA26394CCAB}"/>
              </a:ext>
            </a:extLst>
          </p:cNvPr>
          <p:cNvSpPr/>
          <p:nvPr/>
        </p:nvSpPr>
        <p:spPr>
          <a:xfrm>
            <a:off x="9806473" y="505355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5299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FB103F-E693-FDAD-F20B-0CA82448B537}"/>
              </a:ext>
            </a:extLst>
          </p:cNvPr>
          <p:cNvSpPr/>
          <p:nvPr/>
        </p:nvSpPr>
        <p:spPr>
          <a:xfrm>
            <a:off x="873967" y="1352585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Sub-Objective - </a:t>
            </a:r>
            <a:r>
              <a:rPr lang="en-US" sz="2400" b="1" dirty="0">
                <a:solidFill>
                  <a:srgbClr val="1F2937"/>
                </a:solidFill>
                <a:latin typeface="Aptos" pitchFamily="34" charset="0"/>
              </a:rPr>
              <a:t>1: Workload &amp; Behavioral Feature Modeling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63F210D-AB3E-7558-68DF-C2F3728B8D4C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40660EA-50C9-DD9C-E7F2-2D1146DB332F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547F92B-10B9-519E-6CB7-574779E1CA19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4EDD023-9EB6-67C7-96A7-45D6B87064AB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A8D04F8-F227-7391-E76A-E8F83DF52819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286FF6E-2407-775E-B086-34DDAF2C83EC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86C04D35-523F-08AD-EE6C-09CA9F6254CF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378D51F1-5661-2529-07D2-489A0625AD60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3E59B27-4B9D-F555-44CB-C771522279C9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76CA8E3D-C4BF-2FCF-0B73-F1B0DDC781D7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3325090F-D176-ED0E-F739-2B8916995C7E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E973E795-6C97-251D-4C87-7F0F1FCA5783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4B1EC2F0-D302-5666-E53C-D2C08DB71697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970E21B-3338-490E-3606-FC28C0872A2B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EAED2A14-17A1-3BE2-9552-A5FF50D9473F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5C1835-19E4-3D15-AD20-727010C450E2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18915C-C373-9A46-D5E0-EDBFA0181419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F7CECEFD-481D-2DEB-0A2F-C056C1655AFB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959134-B6C5-4D0B-86C5-54128473B07E}"/>
              </a:ext>
            </a:extLst>
          </p:cNvPr>
          <p:cNvSpPr txBox="1"/>
          <p:nvPr/>
        </p:nvSpPr>
        <p:spPr>
          <a:xfrm>
            <a:off x="838200" y="1810216"/>
            <a:ext cx="7924800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Specific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Develop a module to identify and model caregiver workload and behavioral indicators.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Measurable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Compute metrics such as workload index, recovery time, strain levels, and schedule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Achievable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Use available operational and behavioral data to construct feature models.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Relevant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Address key factors contributing to caregiver burnout and workload imbalance.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Time-bound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Complete feature modeling within the system development phase.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39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872A-3B10-2434-14C9-7AAAE9C4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72071-BE88-90B0-BE85-E42988C38D5C}"/>
              </a:ext>
            </a:extLst>
          </p:cNvPr>
          <p:cNvSpPr/>
          <p:nvPr/>
        </p:nvSpPr>
        <p:spPr>
          <a:xfrm>
            <a:off x="873967" y="1352585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Sub-Objective - </a:t>
            </a: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2</a:t>
            </a:r>
            <a:r>
              <a:rPr lang="en-US" sz="2400" b="1" dirty="0">
                <a:solidFill>
                  <a:srgbClr val="1F2937"/>
                </a:solidFill>
                <a:latin typeface="Aptos" pitchFamily="34" charset="0"/>
              </a:rPr>
              <a:t>: </a:t>
            </a: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Personalized Behavioral Profiles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C1275378-A21A-3E5F-C9F9-ABAD2C439455}"/>
              </a:ext>
            </a:extLst>
          </p:cNvPr>
          <p:cNvSpPr/>
          <p:nvPr/>
        </p:nvSpPr>
        <p:spPr>
          <a:xfrm>
            <a:off x="8546064" y="1769625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3D50066-25D7-AE2A-1333-D1DD9665E26C}"/>
              </a:ext>
            </a:extLst>
          </p:cNvPr>
          <p:cNvSpPr/>
          <p:nvPr/>
        </p:nvSpPr>
        <p:spPr>
          <a:xfrm>
            <a:off x="8619216" y="1879353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5E4D21FD-29EA-A53F-D0CF-845BD9C8D61A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DB339FBF-3EC0-A1BD-9D31-5BD821426472}"/>
              </a:ext>
            </a:extLst>
          </p:cNvPr>
          <p:cNvSpPr/>
          <p:nvPr/>
        </p:nvSpPr>
        <p:spPr>
          <a:xfrm>
            <a:off x="8546064" y="2620017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2D58BD5-AD8E-47E7-DA86-81E43FDF3186}"/>
              </a:ext>
            </a:extLst>
          </p:cNvPr>
          <p:cNvSpPr/>
          <p:nvPr/>
        </p:nvSpPr>
        <p:spPr>
          <a:xfrm>
            <a:off x="8619216" y="2729745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A360AC0D-6929-2FE4-3F61-CEB0A69E79FD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B74296B-055A-6D72-0996-979AC048BBEA}"/>
              </a:ext>
            </a:extLst>
          </p:cNvPr>
          <p:cNvSpPr/>
          <p:nvPr/>
        </p:nvSpPr>
        <p:spPr>
          <a:xfrm>
            <a:off x="8546064" y="3470409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571E6EE-860C-EA6B-5095-C82D669C400C}"/>
              </a:ext>
            </a:extLst>
          </p:cNvPr>
          <p:cNvSpPr/>
          <p:nvPr/>
        </p:nvSpPr>
        <p:spPr>
          <a:xfrm>
            <a:off x="8619216" y="3580137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77CAAC9-DF43-5BB7-A87B-8E34E4FFB027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29BF695-5846-B358-FEA0-31F98402B718}"/>
              </a:ext>
            </a:extLst>
          </p:cNvPr>
          <p:cNvSpPr/>
          <p:nvPr/>
        </p:nvSpPr>
        <p:spPr>
          <a:xfrm>
            <a:off x="8546064" y="4320801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2845489C-8029-7EF4-1DB1-8A30BE87678C}"/>
              </a:ext>
            </a:extLst>
          </p:cNvPr>
          <p:cNvSpPr/>
          <p:nvPr/>
        </p:nvSpPr>
        <p:spPr>
          <a:xfrm>
            <a:off x="8619216" y="4430529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CAA359DA-941E-12F5-3361-45C3FBFFEE52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1BBB86B0-29B9-EA96-687A-45FB59B7B7F9}"/>
              </a:ext>
            </a:extLst>
          </p:cNvPr>
          <p:cNvSpPr/>
          <p:nvPr/>
        </p:nvSpPr>
        <p:spPr>
          <a:xfrm>
            <a:off x="8546064" y="5171193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C7A8FDC9-7990-81D6-C1C4-05C5BF9FCFA9}"/>
              </a:ext>
            </a:extLst>
          </p:cNvPr>
          <p:cNvSpPr/>
          <p:nvPr/>
        </p:nvSpPr>
        <p:spPr>
          <a:xfrm>
            <a:off x="8619216" y="5280921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BF156B7-5E08-3D8F-3509-561653BFD7FC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D645BD-DB59-40F4-FA46-260660112F0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229700-4A6B-846E-ACB0-023E13270B8D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C5371333-F2C3-693D-DDCD-F0BBA4DDE8C8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AB74B4-4D25-507C-B0EE-E96C7AE1A1D0}"/>
              </a:ext>
            </a:extLst>
          </p:cNvPr>
          <p:cNvSpPr txBox="1"/>
          <p:nvPr/>
        </p:nvSpPr>
        <p:spPr>
          <a:xfrm>
            <a:off x="762000" y="2063197"/>
            <a:ext cx="7924800" cy="3073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Specific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Build dynamic, individualized behavioral profiles for each caregiver.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Measurable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Evaluate deviation scores between current behavior and baseline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Achievable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Apply machine learning techniques for adaptive profile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Relevant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Improve detection accuracy by capturing individual variability.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Time-bound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Implement and test during the model training phase.</a:t>
            </a:r>
          </a:p>
        </p:txBody>
      </p:sp>
    </p:spTree>
    <p:extLst>
      <p:ext uri="{BB962C8B-B14F-4D97-AF65-F5344CB8AC3E}">
        <p14:creationId xmlns:p14="http://schemas.microsoft.com/office/powerpoint/2010/main" val="72053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F533-8FC6-506D-936B-24294043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82BBC2-6F1D-BFB2-4D16-ED6777E860C0}"/>
              </a:ext>
            </a:extLst>
          </p:cNvPr>
          <p:cNvSpPr/>
          <p:nvPr/>
        </p:nvSpPr>
        <p:spPr>
          <a:xfrm>
            <a:off x="873967" y="1352585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Sub-Objective - </a:t>
            </a: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</a:t>
            </a:r>
            <a:r>
              <a:rPr lang="en-US" sz="2400" b="1" dirty="0">
                <a:solidFill>
                  <a:srgbClr val="1F2937"/>
                </a:solidFill>
                <a:latin typeface="Aptos" pitchFamily="34" charset="0"/>
              </a:rPr>
              <a:t>: </a:t>
            </a: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Temporal Pattern &amp; Risk Modeling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86E7F151-00CA-87B5-6D26-400793EBF298}"/>
              </a:ext>
            </a:extLst>
          </p:cNvPr>
          <p:cNvSpPr/>
          <p:nvPr/>
        </p:nvSpPr>
        <p:spPr>
          <a:xfrm>
            <a:off x="9246077" y="199870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3897147-AE08-3A4B-645A-D75B77115898}"/>
              </a:ext>
            </a:extLst>
          </p:cNvPr>
          <p:cNvSpPr/>
          <p:nvPr/>
        </p:nvSpPr>
        <p:spPr>
          <a:xfrm>
            <a:off x="9319229" y="210843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2EF2423-FF74-DA97-6E72-D3BD779F5D46}"/>
              </a:ext>
            </a:extLst>
          </p:cNvPr>
          <p:cNvSpPr/>
          <p:nvPr/>
        </p:nvSpPr>
        <p:spPr>
          <a:xfrm>
            <a:off x="10285134" y="21074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FD24435B-A104-45BF-38C8-20143BD0AC88}"/>
              </a:ext>
            </a:extLst>
          </p:cNvPr>
          <p:cNvSpPr/>
          <p:nvPr/>
        </p:nvSpPr>
        <p:spPr>
          <a:xfrm>
            <a:off x="9246077" y="284910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22F5E5A-738B-9163-B5F7-62937F84846A}"/>
              </a:ext>
            </a:extLst>
          </p:cNvPr>
          <p:cNvSpPr/>
          <p:nvPr/>
        </p:nvSpPr>
        <p:spPr>
          <a:xfrm>
            <a:off x="9319229" y="295882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4340CF7-E9E7-0164-E4D8-7067A24DD8FE}"/>
              </a:ext>
            </a:extLst>
          </p:cNvPr>
          <p:cNvSpPr/>
          <p:nvPr/>
        </p:nvSpPr>
        <p:spPr>
          <a:xfrm>
            <a:off x="10294464" y="308844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9D8D7E00-2052-4683-954D-9B3AFC17252E}"/>
              </a:ext>
            </a:extLst>
          </p:cNvPr>
          <p:cNvSpPr/>
          <p:nvPr/>
        </p:nvSpPr>
        <p:spPr>
          <a:xfrm>
            <a:off x="9246077" y="369949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1875329-C7C3-DC51-0B39-20D507669068}"/>
              </a:ext>
            </a:extLst>
          </p:cNvPr>
          <p:cNvSpPr/>
          <p:nvPr/>
        </p:nvSpPr>
        <p:spPr>
          <a:xfrm>
            <a:off x="9319229" y="380922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40E2160-619A-E507-FED5-CD8AC144ACD7}"/>
              </a:ext>
            </a:extLst>
          </p:cNvPr>
          <p:cNvSpPr/>
          <p:nvPr/>
        </p:nvSpPr>
        <p:spPr>
          <a:xfrm>
            <a:off x="10285134" y="3890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CBC053C8-5C4D-0885-2ECE-7F41E938F5AC}"/>
              </a:ext>
            </a:extLst>
          </p:cNvPr>
          <p:cNvSpPr/>
          <p:nvPr/>
        </p:nvSpPr>
        <p:spPr>
          <a:xfrm>
            <a:off x="9246077" y="454988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2D2E0B7-2850-1E6B-3E97-2166978724C1}"/>
              </a:ext>
            </a:extLst>
          </p:cNvPr>
          <p:cNvSpPr/>
          <p:nvPr/>
        </p:nvSpPr>
        <p:spPr>
          <a:xfrm>
            <a:off x="9319229" y="465961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C8C8003-5439-EB64-BEE1-C2BCA8BE9FF8}"/>
              </a:ext>
            </a:extLst>
          </p:cNvPr>
          <p:cNvSpPr/>
          <p:nvPr/>
        </p:nvSpPr>
        <p:spPr>
          <a:xfrm>
            <a:off x="10338007" y="473616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2FFC67EA-8013-2A85-0764-3B73C21B2EC6}"/>
              </a:ext>
            </a:extLst>
          </p:cNvPr>
          <p:cNvSpPr/>
          <p:nvPr/>
        </p:nvSpPr>
        <p:spPr>
          <a:xfrm>
            <a:off x="9246077" y="540027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B3E5EA1-D157-F871-A525-B62501051442}"/>
              </a:ext>
            </a:extLst>
          </p:cNvPr>
          <p:cNvSpPr/>
          <p:nvPr/>
        </p:nvSpPr>
        <p:spPr>
          <a:xfrm>
            <a:off x="9319229" y="551000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02EDC3D-B4E1-D830-CF24-4F7A976B6D65}"/>
              </a:ext>
            </a:extLst>
          </p:cNvPr>
          <p:cNvSpPr/>
          <p:nvPr/>
        </p:nvSpPr>
        <p:spPr>
          <a:xfrm>
            <a:off x="10338007" y="557965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ED87C7-021B-6D70-E583-2B0BDE07C7DD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3CF577-7B43-B4B8-F5A1-8571B7F00D63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179B7E44-FC31-0223-9B43-E39DB6FFEFFB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4FF72F6-6EC0-1DC2-3C36-4DE8E50C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65" y="2226232"/>
            <a:ext cx="8546064" cy="3531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90" b="1" dirty="0">
                <a:solidFill>
                  <a:srgbClr val="1F2937"/>
                </a:solidFill>
                <a:latin typeface="Aptos" pitchFamily="34" charset="0"/>
              </a:rPr>
              <a:t>Specific</a:t>
            </a:r>
            <a:r>
              <a:rPr lang="en-US" altLang="en-US" sz="1490" dirty="0">
                <a:solidFill>
                  <a:srgbClr val="1F2937"/>
                </a:solidFill>
                <a:latin typeface="Aptos" pitchFamily="34" charset="0"/>
              </a:rPr>
              <a:t>: Develop a system to analyze workload trends and model risk accumulation over time.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90" b="1" dirty="0">
                <a:solidFill>
                  <a:srgbClr val="1F2937"/>
                </a:solidFill>
                <a:latin typeface="Aptos" pitchFamily="34" charset="0"/>
              </a:rPr>
              <a:t>Measurable</a:t>
            </a:r>
            <a:r>
              <a:rPr lang="en-US" altLang="en-US" sz="1490" dirty="0">
                <a:solidFill>
                  <a:srgbClr val="1F2937"/>
                </a:solidFill>
                <a:latin typeface="Aptos" pitchFamily="34" charset="0"/>
              </a:rPr>
              <a:t>: Assess temporal pattern detection accuracy and risk progression trends.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90" b="1" dirty="0">
                <a:solidFill>
                  <a:srgbClr val="1F2937"/>
                </a:solidFill>
                <a:latin typeface="Aptos" pitchFamily="34" charset="0"/>
              </a:rPr>
              <a:t>Achievable</a:t>
            </a:r>
            <a:r>
              <a:rPr lang="en-US" altLang="en-US" sz="1490" dirty="0">
                <a:solidFill>
                  <a:srgbClr val="1F2937"/>
                </a:solidFill>
                <a:latin typeface="Aptos" pitchFamily="34" charset="0"/>
              </a:rPr>
              <a:t>: Use time-series analysis and sequential data modeling techniques.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90" b="1" dirty="0">
                <a:solidFill>
                  <a:srgbClr val="1F2937"/>
                </a:solidFill>
                <a:latin typeface="Aptos" pitchFamily="34" charset="0"/>
              </a:rPr>
              <a:t>Relevant</a:t>
            </a:r>
            <a:r>
              <a:rPr lang="en-US" altLang="en-US" sz="1490" dirty="0">
                <a:solidFill>
                  <a:srgbClr val="1F2937"/>
                </a:solidFill>
                <a:latin typeface="Aptos" pitchFamily="34" charset="0"/>
              </a:rPr>
              <a:t>: Overcome limitations of static, snapshot-based analysis methods.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90" b="1" dirty="0">
                <a:solidFill>
                  <a:srgbClr val="1F2937"/>
                </a:solidFill>
                <a:latin typeface="Aptos" pitchFamily="34" charset="0"/>
              </a:rPr>
              <a:t>Time-bound</a:t>
            </a:r>
            <a:r>
              <a:rPr lang="en-US" altLang="en-US" sz="1490" dirty="0">
                <a:solidFill>
                  <a:srgbClr val="1F2937"/>
                </a:solidFill>
                <a:latin typeface="Aptos" pitchFamily="34" charset="0"/>
              </a:rPr>
              <a:t>: Complete implementation within the modeling and evaluation phase.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90" dirty="0">
              <a:solidFill>
                <a:srgbClr val="1F2937"/>
              </a:solidFill>
              <a:latin typeface="Apto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2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Generated image: Workforce intelligence framework for caregiver support">
            <a:extLst>
              <a:ext uri="{FF2B5EF4-FFF2-40B4-BE49-F238E27FC236}">
                <a16:creationId xmlns:a16="http://schemas.microsoft.com/office/drawing/2014/main" id="{93D7AB4A-C272-09E4-D250-BBAEA61483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D903F-165E-4D49-B313-DA36DADBB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6" b="8889"/>
          <a:stretch>
            <a:fillRect/>
          </a:stretch>
        </p:blipFill>
        <p:spPr>
          <a:xfrm>
            <a:off x="1276350" y="1295400"/>
            <a:ext cx="9639300" cy="49086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031BD-A67F-AEF4-5415-40A1DF9D69C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AF6D04D-3C58-4879-E311-A08E332C69F7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F13701C-9C3D-4F00-13EF-BA2E87BBCCB0}"/>
              </a:ext>
            </a:extLst>
          </p:cNvPr>
          <p:cNvSpPr/>
          <p:nvPr/>
        </p:nvSpPr>
        <p:spPr>
          <a:xfrm>
            <a:off x="4267200" y="809897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System Overview Diagram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F6F6A-F6B6-9EA4-5C93-23A332817F8B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</p:spTree>
    <p:extLst>
      <p:ext uri="{BB962C8B-B14F-4D97-AF65-F5344CB8AC3E}">
        <p14:creationId xmlns:p14="http://schemas.microsoft.com/office/powerpoint/2010/main" val="16411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C017C-2009-0204-5F7A-B65CAF23D217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9174734-89F4-EAE3-09CF-B88AD1339727}"/>
              </a:ext>
            </a:extLst>
          </p:cNvPr>
          <p:cNvSpPr/>
          <p:nvPr/>
        </p:nvSpPr>
        <p:spPr>
          <a:xfrm>
            <a:off x="749808" y="1417320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EB3F97E-F489-E31C-2822-D791910E9839}"/>
              </a:ext>
            </a:extLst>
          </p:cNvPr>
          <p:cNvSpPr/>
          <p:nvPr/>
        </p:nvSpPr>
        <p:spPr>
          <a:xfrm>
            <a:off x="822960" y="1527048"/>
            <a:ext cx="15453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knowledge</a:t>
            </a:r>
            <a:endParaRPr lang="en-US" sz="13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09A538D-3430-3FC6-7AAA-43D591D6CB10}"/>
              </a:ext>
            </a:extLst>
          </p:cNvPr>
          <p:cNvSpPr/>
          <p:nvPr/>
        </p:nvSpPr>
        <p:spPr>
          <a:xfrm>
            <a:off x="2551176" y="1700784"/>
            <a:ext cx="237744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EB623B0-F052-82F3-CD31-3EE2B4D2445C}"/>
              </a:ext>
            </a:extLst>
          </p:cNvPr>
          <p:cNvSpPr/>
          <p:nvPr/>
        </p:nvSpPr>
        <p:spPr>
          <a:xfrm>
            <a:off x="2962656" y="1417320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BC92B63-750A-CF99-F068-CBFA85200FFC}"/>
              </a:ext>
            </a:extLst>
          </p:cNvPr>
          <p:cNvSpPr/>
          <p:nvPr/>
        </p:nvSpPr>
        <p:spPr>
          <a:xfrm>
            <a:off x="3035808" y="1527048"/>
            <a:ext cx="15453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Multimodal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features</a:t>
            </a:r>
            <a:endParaRPr lang="en-US" sz="13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F35F9F8-ECB7-19F6-B295-E51A803AF274}"/>
              </a:ext>
            </a:extLst>
          </p:cNvPr>
          <p:cNvSpPr/>
          <p:nvPr/>
        </p:nvSpPr>
        <p:spPr>
          <a:xfrm>
            <a:off x="4764024" y="1700784"/>
            <a:ext cx="237744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DE4CA5E-A337-3233-412A-CA319B89E1F1}"/>
              </a:ext>
            </a:extLst>
          </p:cNvPr>
          <p:cNvSpPr/>
          <p:nvPr/>
        </p:nvSpPr>
        <p:spPr>
          <a:xfrm>
            <a:off x="5175504" y="1417320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4C83FF"/>
          </a:solidFill>
          <a:ln w="12700">
            <a:solidFill>
              <a:srgbClr val="4C83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0326F04-2D3D-6B0C-C51A-AD4996E6823F}"/>
              </a:ext>
            </a:extLst>
          </p:cNvPr>
          <p:cNvSpPr/>
          <p:nvPr/>
        </p:nvSpPr>
        <p:spPr>
          <a:xfrm>
            <a:off x="5248656" y="1527048"/>
            <a:ext cx="15453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Temporal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memory</a:t>
            </a:r>
            <a:endParaRPr lang="en-US" sz="13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630B525-73CA-181A-82BA-FF7B2C122315}"/>
              </a:ext>
            </a:extLst>
          </p:cNvPr>
          <p:cNvSpPr/>
          <p:nvPr/>
        </p:nvSpPr>
        <p:spPr>
          <a:xfrm>
            <a:off x="6976872" y="1700784"/>
            <a:ext cx="237744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E4FA441-142F-3839-6C64-296B751FE9F2}"/>
              </a:ext>
            </a:extLst>
          </p:cNvPr>
          <p:cNvSpPr/>
          <p:nvPr/>
        </p:nvSpPr>
        <p:spPr>
          <a:xfrm>
            <a:off x="7388352" y="1417320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617A9F2-F161-FAAC-B7B7-7B1C30A34FD3}"/>
              </a:ext>
            </a:extLst>
          </p:cNvPr>
          <p:cNvSpPr/>
          <p:nvPr/>
        </p:nvSpPr>
        <p:spPr>
          <a:xfrm>
            <a:off x="7461504" y="1527048"/>
            <a:ext cx="15453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Graph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XAI</a:t>
            </a:r>
            <a:endParaRPr lang="en-US" sz="13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145159B-818F-697D-6783-41CD02A2314D}"/>
              </a:ext>
            </a:extLst>
          </p:cNvPr>
          <p:cNvSpPr/>
          <p:nvPr/>
        </p:nvSpPr>
        <p:spPr>
          <a:xfrm>
            <a:off x="9189720" y="1700784"/>
            <a:ext cx="237744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1EC5207-487A-2A92-21E0-8182461E41D2}"/>
              </a:ext>
            </a:extLst>
          </p:cNvPr>
          <p:cNvSpPr/>
          <p:nvPr/>
        </p:nvSpPr>
        <p:spPr>
          <a:xfrm>
            <a:off x="9601200" y="1417320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18CDE97-C8FF-A864-5A25-397ED946E317}"/>
              </a:ext>
            </a:extLst>
          </p:cNvPr>
          <p:cNvSpPr/>
          <p:nvPr/>
        </p:nvSpPr>
        <p:spPr>
          <a:xfrm>
            <a:off x="9674352" y="1527048"/>
            <a:ext cx="15453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2"/>
                </a:solidFill>
              </a:rPr>
              <a:t>Decision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742"/>
                </a:solidFill>
              </a:rPr>
              <a:t>output</a:t>
            </a:r>
            <a:endParaRPr lang="en-US" sz="13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063CDDE3-CE34-2AAB-A857-95E63F558B21}"/>
              </a:ext>
            </a:extLst>
          </p:cNvPr>
          <p:cNvSpPr/>
          <p:nvPr/>
        </p:nvSpPr>
        <p:spPr>
          <a:xfrm>
            <a:off x="658368" y="2608777"/>
            <a:ext cx="1097280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knowledge: </a:t>
            </a: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Caregiver workflow, staffing fairness, patient dependency, recovery gaps, and emergency-heavy contexts.</a:t>
            </a:r>
            <a:endParaRPr lang="en-US" sz="148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575C1F32-7819-D923-9FDB-B9E673B79B8B}"/>
              </a:ext>
            </a:extLst>
          </p:cNvPr>
          <p:cNvSpPr/>
          <p:nvPr/>
        </p:nvSpPr>
        <p:spPr>
          <a:xfrm>
            <a:off x="668258" y="3242761"/>
            <a:ext cx="1097280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base: </a:t>
            </a: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feature engineering from schedules, workload, event logs, and short self-reflections.</a:t>
            </a:r>
            <a:endParaRPr lang="en-US" sz="148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3602BBEE-24C1-5A0E-060B-BF032650CD0D}"/>
              </a:ext>
            </a:extLst>
          </p:cNvPr>
          <p:cNvSpPr/>
          <p:nvPr/>
        </p:nvSpPr>
        <p:spPr>
          <a:xfrm>
            <a:off x="668258" y="3860342"/>
            <a:ext cx="1097280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layer: </a:t>
            </a: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modeling and accumulation/decay logic capture emerging deterioration trajectories.</a:t>
            </a:r>
            <a:endParaRPr lang="en-US" sz="148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C0B23CE9-70B7-2EA1-02FC-A9FD769B6C06}"/>
              </a:ext>
            </a:extLst>
          </p:cNvPr>
          <p:cNvSpPr/>
          <p:nvPr/>
        </p:nvSpPr>
        <p:spPr>
          <a:xfrm>
            <a:off x="668258" y="4450080"/>
            <a:ext cx="1097280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layer: </a:t>
            </a: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modeling represents caregiver–shift–team–ward relationships for structural reasoning.</a:t>
            </a:r>
            <a:endParaRPr lang="en-US" sz="148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A3BC0C24-61BF-838E-DF37-F79B72E9195D}"/>
              </a:ext>
            </a:extLst>
          </p:cNvPr>
          <p:cNvSpPr/>
          <p:nvPr/>
        </p:nvSpPr>
        <p:spPr>
          <a:xfrm>
            <a:off x="658368" y="5018582"/>
            <a:ext cx="1097280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technologies: </a:t>
            </a: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ML, sequence learning, explainable AI, and noise-robust learning such as co-teaching.</a:t>
            </a:r>
            <a:endParaRPr lang="en-US" sz="148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3B57EBD7-29D3-F9DF-40B4-9B71A7267076}"/>
              </a:ext>
            </a:extLst>
          </p:cNvPr>
          <p:cNvSpPr/>
          <p:nvPr/>
        </p:nvSpPr>
        <p:spPr>
          <a:xfrm>
            <a:off x="658368" y="5597702"/>
            <a:ext cx="10972800" cy="57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output: </a:t>
            </a: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caregiver insights plus supervisor-facing intervention cases and redistribution options.</a:t>
            </a:r>
            <a:endParaRPr lang="en-US" sz="148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556B2B33-B53D-42AC-38F9-1E405E6168B8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049534-18F5-E25A-1486-F8D95252E9E3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</p:spTree>
    <p:extLst>
      <p:ext uri="{BB962C8B-B14F-4D97-AF65-F5344CB8AC3E}">
        <p14:creationId xmlns:p14="http://schemas.microsoft.com/office/powerpoint/2010/main" val="332021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02315D-EDC4-A23A-C88E-4AB4F3F442C6}"/>
              </a:ext>
            </a:extLst>
          </p:cNvPr>
          <p:cNvSpPr/>
          <p:nvPr/>
        </p:nvSpPr>
        <p:spPr>
          <a:xfrm>
            <a:off x="926592" y="106921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Validation, Data Strategy, and Implementation Details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69EC3725-06B8-7A62-F4A7-DEFFB3B12F63}"/>
              </a:ext>
            </a:extLst>
          </p:cNvPr>
          <p:cNvSpPr/>
          <p:nvPr/>
        </p:nvSpPr>
        <p:spPr>
          <a:xfrm>
            <a:off x="658368" y="1353312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plan: </a:t>
            </a:r>
            <a:r>
              <a:rPr lang="en-US" sz="14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proposed model against static scoring, simple workload rules, or non-temporal baselines.</a:t>
            </a:r>
            <a:endParaRPr lang="en-US" sz="147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D4C4163-2AFB-8155-7822-E1A4D3A90136}"/>
              </a:ext>
            </a:extLst>
          </p:cNvPr>
          <p:cNvSpPr/>
          <p:nvPr/>
        </p:nvSpPr>
        <p:spPr>
          <a:xfrm>
            <a:off x="658368" y="2146554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criteria: </a:t>
            </a:r>
            <a:r>
              <a:rPr lang="en-US" sz="14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Early-risk detection quality, explanation usefulness, fairness, and reassignment feasibility.</a:t>
            </a:r>
            <a:endParaRPr lang="en-US" sz="147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4E3E55C-0C1E-F027-986D-ABA85303C092}"/>
              </a:ext>
            </a:extLst>
          </p:cNvPr>
          <p:cNvSpPr/>
          <p:nvPr/>
        </p:nvSpPr>
        <p:spPr>
          <a:xfrm>
            <a:off x="658368" y="2939796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strategy: </a:t>
            </a:r>
            <a:r>
              <a:rPr lang="en-US" sz="14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data is ideal; public benchmark datasets can validate sub-modules when live data is limited.</a:t>
            </a:r>
            <a:endParaRPr lang="en-US" sz="147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72C1FA6-F127-90C3-34B4-FE798AC1F5DC}"/>
              </a:ext>
            </a:extLst>
          </p:cNvPr>
          <p:cNvSpPr/>
          <p:nvPr/>
        </p:nvSpPr>
        <p:spPr>
          <a:xfrm>
            <a:off x="658368" y="3733038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Security: </a:t>
            </a:r>
            <a:r>
              <a:rPr lang="en-US" sz="14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de-identification, role-based access, minimal retention, and protected storage for sensitive records.</a:t>
            </a:r>
            <a:endParaRPr lang="en-US" sz="147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981AA54-790D-F672-C25B-463B41FE7846}"/>
              </a:ext>
            </a:extLst>
          </p:cNvPr>
          <p:cNvSpPr/>
          <p:nvPr/>
        </p:nvSpPr>
        <p:spPr>
          <a:xfrm>
            <a:off x="658368" y="4526280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flow: </a:t>
            </a:r>
            <a:r>
              <a:rPr lang="en-US" sz="14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data → build profile → detect risk → explain case → suggest redistribution.</a:t>
            </a:r>
            <a:endParaRPr lang="en-US" sz="147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EEC24FA-39BE-96B0-1455-1DA6BBAC5FE7}"/>
              </a:ext>
            </a:extLst>
          </p:cNvPr>
          <p:cNvSpPr/>
          <p:nvPr/>
        </p:nvSpPr>
        <p:spPr>
          <a:xfrm>
            <a:off x="658368" y="5319522"/>
            <a:ext cx="6446520" cy="7429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Dependencies: </a:t>
            </a:r>
            <a:r>
              <a:rPr lang="en-US" sz="14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authentication, common data store, and integration points with video, sign-language, and voice-logbook modules.</a:t>
            </a:r>
            <a:endParaRPr lang="en-US" sz="147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3D3A674D-45F1-F423-C6AE-2987E1709EFA}"/>
              </a:ext>
            </a:extLst>
          </p:cNvPr>
          <p:cNvSpPr/>
          <p:nvPr/>
        </p:nvSpPr>
        <p:spPr>
          <a:xfrm>
            <a:off x="7818120" y="173736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4BC27F5-67DF-BEB7-E537-EB216FA48F66}"/>
              </a:ext>
            </a:extLst>
          </p:cNvPr>
          <p:cNvSpPr/>
          <p:nvPr/>
        </p:nvSpPr>
        <p:spPr>
          <a:xfrm>
            <a:off x="7891272" y="1847088"/>
            <a:ext cx="319125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1. Data ingest</a:t>
            </a:r>
            <a:endParaRPr lang="en-US" sz="15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D8CA1C9-E74F-FDCE-912B-0788B90B2E6C}"/>
              </a:ext>
            </a:extLst>
          </p:cNvPr>
          <p:cNvSpPr/>
          <p:nvPr/>
        </p:nvSpPr>
        <p:spPr>
          <a:xfrm rot="5400000">
            <a:off x="9345168" y="2395728"/>
            <a:ext cx="320040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B7B89BB-EFB4-FF47-632C-8C63855F639C}"/>
              </a:ext>
            </a:extLst>
          </p:cNvPr>
          <p:cNvSpPr/>
          <p:nvPr/>
        </p:nvSpPr>
        <p:spPr>
          <a:xfrm>
            <a:off x="7818120" y="269748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4C83FF"/>
          </a:solidFill>
          <a:ln w="12700">
            <a:solidFill>
              <a:srgbClr val="4C83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8AAD65F-9CDA-3D9B-E9EC-F0F6E25D66A5}"/>
              </a:ext>
            </a:extLst>
          </p:cNvPr>
          <p:cNvSpPr/>
          <p:nvPr/>
        </p:nvSpPr>
        <p:spPr>
          <a:xfrm>
            <a:off x="7891272" y="2807208"/>
            <a:ext cx="319125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2. Personal profile</a:t>
            </a:r>
            <a:endParaRPr lang="en-US" sz="15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E13E507A-9BEE-BF8B-AA3A-9181B87E3AC9}"/>
              </a:ext>
            </a:extLst>
          </p:cNvPr>
          <p:cNvSpPr/>
          <p:nvPr/>
        </p:nvSpPr>
        <p:spPr>
          <a:xfrm rot="5400000">
            <a:off x="9345168" y="3355848"/>
            <a:ext cx="320040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8D7B0670-832D-FED5-4C5C-290CF3C583CF}"/>
              </a:ext>
            </a:extLst>
          </p:cNvPr>
          <p:cNvSpPr/>
          <p:nvPr/>
        </p:nvSpPr>
        <p:spPr>
          <a:xfrm>
            <a:off x="7818120" y="365760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AB1D9E6C-D3F0-0652-3DE9-D13D5EDF53FE}"/>
              </a:ext>
            </a:extLst>
          </p:cNvPr>
          <p:cNvSpPr/>
          <p:nvPr/>
        </p:nvSpPr>
        <p:spPr>
          <a:xfrm>
            <a:off x="7891272" y="3767328"/>
            <a:ext cx="319125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</a:rPr>
              <a:t>3. Temporal + graph reasoning</a:t>
            </a:r>
            <a:endParaRPr lang="en-US" sz="143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46102EA2-86E8-FA62-BF7D-D53EC66CDC0E}"/>
              </a:ext>
            </a:extLst>
          </p:cNvPr>
          <p:cNvSpPr/>
          <p:nvPr/>
        </p:nvSpPr>
        <p:spPr>
          <a:xfrm rot="5400000">
            <a:off x="9345168" y="4315968"/>
            <a:ext cx="320040" cy="164592"/>
          </a:xfrm>
          <a:prstGeom prst="chevron">
            <a:avLst/>
          </a:prstGeom>
          <a:solidFill>
            <a:srgbClr val="C8D7E1"/>
          </a:solidFill>
          <a:ln w="12700">
            <a:solidFill>
              <a:srgbClr val="C8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0152FE2-3675-6A8D-3AE3-68AB445CD8FA}"/>
              </a:ext>
            </a:extLst>
          </p:cNvPr>
          <p:cNvSpPr/>
          <p:nvPr/>
        </p:nvSpPr>
        <p:spPr>
          <a:xfrm>
            <a:off x="7818120" y="461772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7403BEC-6F97-CEC7-88E6-443C646361E6}"/>
              </a:ext>
            </a:extLst>
          </p:cNvPr>
          <p:cNvSpPr/>
          <p:nvPr/>
        </p:nvSpPr>
        <p:spPr>
          <a:xfrm>
            <a:off x="7891272" y="4727448"/>
            <a:ext cx="319125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</a:rPr>
              <a:t>4. Explanation + action</a:t>
            </a:r>
            <a:endParaRPr lang="en-US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B37C0-B363-1CCB-6C90-39FF88889DA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898ED1A4-9E4D-A151-91BC-6F4FBAD320FB}"/>
              </a:ext>
            </a:extLst>
          </p:cNvPr>
          <p:cNvSpPr/>
          <p:nvPr/>
        </p:nvSpPr>
        <p:spPr>
          <a:xfrm>
            <a:off x="937260" y="374158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AI-Assisted Caregiver Workforce Deterioration Detection and Adaptive Workload Redistribution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AA92E6-9C86-2AE1-BE43-08087C52497E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IT22178640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DAYANA PRIYADHARSHANI KUMAR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</p:spTree>
    <p:extLst>
      <p:ext uri="{BB962C8B-B14F-4D97-AF65-F5344CB8AC3E}">
        <p14:creationId xmlns:p14="http://schemas.microsoft.com/office/powerpoint/2010/main" val="271353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82EE-3F11-AC8E-8301-8D4999FB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44D8C-5E62-A017-1784-56836B02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80" y="1400585"/>
            <a:ext cx="10363200" cy="755426"/>
          </a:xfrm>
        </p:spPr>
        <p:txBody>
          <a:bodyPr>
            <a:normAutofit/>
          </a:bodyPr>
          <a:lstStyle/>
          <a:p>
            <a:r>
              <a:rPr lang="en-US" sz="3600" dirty="0"/>
              <a:t>IT22057488 | HARISHALINEE ELANGOVAN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E5C942-447E-0197-F5ED-2A658AB48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868" y="3594513"/>
            <a:ext cx="10363200" cy="2308448"/>
          </a:xfrm>
        </p:spPr>
        <p:txBody>
          <a:bodyPr>
            <a:normAutofit/>
          </a:bodyPr>
          <a:lstStyle/>
          <a:p>
            <a:endParaRPr lang="en-US" sz="3200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Component 02: Edge-Enabled Skeletal Movement Analysis System for Real-Time Patient Fall Prediction</a:t>
            </a:r>
          </a:p>
          <a:p>
            <a:endParaRPr lang="en-US" sz="2800" dirty="0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898989"/>
              </a:solidFill>
              <a:ea typeface="Cambri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753BF-233F-4C8E-12B1-6CBC12EC973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63C37B-385F-4A48-0AEF-0F6440BB9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38"/>
          <a:stretch>
            <a:fillRect/>
          </a:stretch>
        </p:blipFill>
        <p:spPr>
          <a:xfrm>
            <a:off x="9521339" y="611925"/>
            <a:ext cx="2391261" cy="21939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2CFFE1F-E6E8-FD8D-0C0C-5350F77E57C8}"/>
              </a:ext>
            </a:extLst>
          </p:cNvPr>
          <p:cNvSpPr/>
          <p:nvPr/>
        </p:nvSpPr>
        <p:spPr>
          <a:xfrm>
            <a:off x="2895600" y="6492875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IT22057488 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b="1" dirty="0">
                <a:solidFill>
                  <a:schemeClr val="tx1"/>
                </a:solidFill>
              </a:rPr>
              <a:t>HARISHALINEE ELANGOVAN 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</p:spTree>
    <p:extLst>
      <p:ext uri="{BB962C8B-B14F-4D97-AF65-F5344CB8AC3E}">
        <p14:creationId xmlns:p14="http://schemas.microsoft.com/office/powerpoint/2010/main" val="184892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7E753-44E2-CA64-4920-D5FC8B82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79EB26D-4333-7DEC-9A59-3A010BABCA2A}"/>
              </a:ext>
            </a:extLst>
          </p:cNvPr>
          <p:cNvSpPr/>
          <p:nvPr/>
        </p:nvSpPr>
        <p:spPr>
          <a:xfrm>
            <a:off x="658368" y="1501731"/>
            <a:ext cx="5989320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 fontScale="92500"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GB" sz="1600" b="1" noProof="0" dirty="0">
                <a:solidFill>
                  <a:srgbClr val="001132"/>
                </a:solidFill>
                <a:ea typeface="+mn-lt"/>
                <a:cs typeface="+mn-lt"/>
              </a:rPr>
              <a:t>Real-time monitoring</a:t>
            </a:r>
            <a:r>
              <a:rPr lang="en-GB" sz="1600" noProof="0" dirty="0">
                <a:ea typeface="+mn-lt"/>
                <a:cs typeface="+mn-lt"/>
              </a:rPr>
              <a:t>: Continuously analyses patient movement using skeletal pose estimation to detect instability in real time.</a:t>
            </a:r>
            <a:endParaRPr lang="en-GB" sz="1600" noProof="0" dirty="0">
              <a:ea typeface="Cambria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43F0C7F-41C5-3659-5DBE-85A908A7FBE1}"/>
              </a:ext>
            </a:extLst>
          </p:cNvPr>
          <p:cNvSpPr/>
          <p:nvPr/>
        </p:nvSpPr>
        <p:spPr>
          <a:xfrm>
            <a:off x="658368" y="2408913"/>
            <a:ext cx="5989320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GB" sz="1500" b="1" noProof="0" dirty="0">
                <a:solidFill>
                  <a:srgbClr val="001132"/>
                </a:solidFill>
                <a:ea typeface="+mn-lt"/>
                <a:cs typeface="+mn-lt"/>
              </a:rPr>
              <a:t>Privacy-preserving analysis</a:t>
            </a:r>
            <a:r>
              <a:rPr lang="en-GB" sz="1500" noProof="0" dirty="0">
                <a:solidFill>
                  <a:srgbClr val="0F2742"/>
                </a:solidFill>
                <a:ea typeface="+mn-lt"/>
                <a:cs typeface="+mn-lt"/>
              </a:rPr>
              <a:t>: Converts video into anonymous skeletal joint data and deletes raw footage to ensure patient privacy.</a:t>
            </a:r>
            <a:endParaRPr lang="en-GB" sz="1500" b="1" noProof="0" dirty="0">
              <a:solidFill>
                <a:srgbClr val="0F2742"/>
              </a:solidFill>
              <a:latin typeface="Aptos"/>
              <a:ea typeface="Cambria"/>
            </a:endParaRPr>
          </a:p>
          <a:p>
            <a:pPr marL="228600" indent="-228600">
              <a:buSzPct val="100000"/>
              <a:buFontTx/>
              <a:buChar char="•"/>
            </a:pPr>
            <a:endParaRPr lang="en-GB" sz="1500" b="1" noProof="0" dirty="0">
              <a:solidFill>
                <a:srgbClr val="0F2742"/>
              </a:solidFill>
              <a:latin typeface="Aptos"/>
              <a:ea typeface="Cambria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A306870-F7E9-6D37-7142-7F2594321FF1}"/>
              </a:ext>
            </a:extLst>
          </p:cNvPr>
          <p:cNvSpPr/>
          <p:nvPr/>
        </p:nvSpPr>
        <p:spPr>
          <a:xfrm>
            <a:off x="658368" y="3250868"/>
            <a:ext cx="5989320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GB" sz="1600" b="1" noProof="0" dirty="0">
                <a:solidFill>
                  <a:srgbClr val="001132"/>
                </a:solidFill>
                <a:ea typeface="+mn-lt"/>
                <a:cs typeface="+mn-lt"/>
              </a:rPr>
              <a:t>False alarm reduction</a:t>
            </a:r>
            <a:r>
              <a:rPr lang="en-GB" sz="1600" noProof="0" dirty="0">
                <a:solidFill>
                  <a:srgbClr val="001132"/>
                </a:solidFill>
                <a:ea typeface="+mn-lt"/>
                <a:cs typeface="+mn-lt"/>
              </a:rPr>
              <a:t>: </a:t>
            </a:r>
            <a:r>
              <a:rPr lang="en-GB" sz="1500" noProof="0" dirty="0">
                <a:solidFill>
                  <a:srgbClr val="001132"/>
                </a:solidFill>
                <a:ea typeface="+mn-lt"/>
                <a:cs typeface="+mn-lt"/>
              </a:rPr>
              <a:t>Differentiates normal movements from actual fall risk behaviour to minimize unnecessary alerts.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2CA14A1-07B3-B844-7588-3AD66946F222}"/>
              </a:ext>
            </a:extLst>
          </p:cNvPr>
          <p:cNvSpPr/>
          <p:nvPr/>
        </p:nvSpPr>
        <p:spPr>
          <a:xfrm>
            <a:off x="658368" y="4224056"/>
            <a:ext cx="5989320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GB" sz="1500" b="1" noProof="0" dirty="0">
                <a:solidFill>
                  <a:srgbClr val="001132"/>
                </a:solidFill>
                <a:ea typeface="+mn-lt"/>
                <a:cs typeface="+mn-lt"/>
              </a:rPr>
              <a:t>Immediate caregiver alerts</a:t>
            </a:r>
            <a:r>
              <a:rPr lang="en-GB" sz="1500" noProof="0" dirty="0">
                <a:solidFill>
                  <a:srgbClr val="001132"/>
                </a:solidFill>
                <a:ea typeface="+mn-lt"/>
                <a:cs typeface="+mn-lt"/>
              </a:rPr>
              <a:t>: Triggers multi-sensory mobile notifications (audio and vibration) when a high-risk event is predicted.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997D7DE-E222-AB8B-8753-9F1AFEDA5772}"/>
              </a:ext>
            </a:extLst>
          </p:cNvPr>
          <p:cNvSpPr/>
          <p:nvPr/>
        </p:nvSpPr>
        <p:spPr>
          <a:xfrm>
            <a:off x="658368" y="5144269"/>
            <a:ext cx="5989320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GB" sz="1500" b="1" noProof="0" dirty="0">
                <a:solidFill>
                  <a:srgbClr val="1F2937"/>
                </a:solidFill>
                <a:ea typeface="+mn-lt"/>
                <a:cs typeface="+mn-lt"/>
              </a:rPr>
              <a:t>Explainable event visualization</a:t>
            </a:r>
            <a:r>
              <a:rPr lang="en-GB" sz="1500" noProof="0" dirty="0">
                <a:solidFill>
                  <a:srgbClr val="1F2937"/>
                </a:solidFill>
                <a:ea typeface="+mn-lt"/>
                <a:cs typeface="+mn-lt"/>
              </a:rPr>
              <a:t>: Provides a 5-second skeletal replay with an instability heatmap to help caregivers understand where the fall risk occurred.</a:t>
            </a:r>
            <a:endParaRPr lang="en-GB" sz="1500" noProof="0" dirty="0">
              <a:ea typeface="+mn-lt"/>
              <a:cs typeface="+mn-lt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7174CC5-0646-86AE-BC78-A9D355ECD43D}"/>
              </a:ext>
            </a:extLst>
          </p:cNvPr>
          <p:cNvSpPr/>
          <p:nvPr/>
        </p:nvSpPr>
        <p:spPr>
          <a:xfrm>
            <a:off x="937260" y="1074784"/>
            <a:ext cx="5775960" cy="41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noProof="0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 to the Overall Solution</a:t>
            </a:r>
            <a:endParaRPr lang="en-GB" sz="24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747B9D-EADC-FE21-7BD2-C20D217AC49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0D1CFBC-B780-CA8C-09B9-69F98B609626}"/>
              </a:ext>
            </a:extLst>
          </p:cNvPr>
          <p:cNvSpPr/>
          <p:nvPr/>
        </p:nvSpPr>
        <p:spPr>
          <a:xfrm>
            <a:off x="906780" y="415709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b="1" noProof="0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DF32E-F176-28ED-ED4E-E3E19A906C3F}"/>
              </a:ext>
            </a:extLst>
          </p:cNvPr>
          <p:cNvSpPr/>
          <p:nvPr/>
        </p:nvSpPr>
        <p:spPr>
          <a:xfrm>
            <a:off x="2895600" y="6492875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b="1" noProof="0" dirty="0">
                <a:solidFill>
                  <a:schemeClr val="tx1"/>
                </a:solidFill>
              </a:rPr>
              <a:t>IT22057488 </a:t>
            </a:r>
            <a:r>
              <a:rPr lang="en-GB" sz="1800" noProof="0" dirty="0">
                <a:solidFill>
                  <a:schemeClr val="tx1"/>
                </a:solidFill>
              </a:rPr>
              <a:t>| </a:t>
            </a:r>
            <a:r>
              <a:rPr lang="en-GB" b="1" noProof="0" dirty="0">
                <a:solidFill>
                  <a:schemeClr val="tx1"/>
                </a:solidFill>
              </a:rPr>
              <a:t>HARISHALINEE ELANGOVAN </a:t>
            </a:r>
            <a:r>
              <a:rPr lang="en-GB" sz="1800" noProof="0" dirty="0">
                <a:solidFill>
                  <a:schemeClr val="tx1"/>
                </a:solidFill>
              </a:rPr>
              <a:t>|   </a:t>
            </a:r>
            <a:r>
              <a:rPr lang="en-GB" noProof="0" dirty="0">
                <a:solidFill>
                  <a:schemeClr val="tx1"/>
                </a:solidFill>
              </a:rPr>
              <a:t>R26-DS-010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7FAAB8-7F0A-00C9-4ACE-84F801AB0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075056"/>
            <a:ext cx="4625340" cy="252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6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96E24-A688-7F65-B672-70C20EA2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6C08F9AB-FDAC-3706-A3FB-E659E44653E8}"/>
              </a:ext>
            </a:extLst>
          </p:cNvPr>
          <p:cNvSpPr/>
          <p:nvPr/>
        </p:nvSpPr>
        <p:spPr>
          <a:xfrm>
            <a:off x="803216" y="1618423"/>
            <a:ext cx="10875128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Core problem: </a:t>
            </a:r>
            <a:r>
              <a:rPr lang="en-US" sz="1500" dirty="0">
                <a:solidFill>
                  <a:srgbClr val="0F2742"/>
                </a:solidFill>
                <a:ea typeface="+mn-lt"/>
                <a:cs typeface="+mn-lt"/>
              </a:rPr>
              <a:t>Patient falls in healthcare environments often occur suddenly and without early warning, leading to injuries and delayed caregiver response.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478DBD4-EF9B-4968-44D5-8A1D4855AF43}"/>
              </a:ext>
            </a:extLst>
          </p:cNvPr>
          <p:cNvSpPr/>
          <p:nvPr/>
        </p:nvSpPr>
        <p:spPr>
          <a:xfrm>
            <a:off x="783472" y="2363258"/>
            <a:ext cx="10875128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Existing solutions</a:t>
            </a:r>
            <a:r>
              <a:rPr lang="en-US" sz="1500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00" dirty="0">
                <a:solidFill>
                  <a:srgbClr val="0F2742"/>
                </a:solidFill>
                <a:ea typeface="+mn-lt"/>
                <a:cs typeface="+mn-lt"/>
              </a:rPr>
              <a:t>Traditional monitoring systems detect falls only after they happen or rely on video surveillance that raises privacy concerns.</a:t>
            </a:r>
          </a:p>
          <a:p>
            <a:pPr marL="228600" indent="-228600">
              <a:buSzPct val="100000"/>
              <a:buChar char="•"/>
            </a:pPr>
            <a:endParaRPr lang="en-US" sz="1500" b="1" dirty="0">
              <a:solidFill>
                <a:srgbClr val="0F2742"/>
              </a:solidFill>
              <a:latin typeface="Aptos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A76CBA5-94DF-ED20-AF33-6F3C3E04FBD3}"/>
              </a:ext>
            </a:extLst>
          </p:cNvPr>
          <p:cNvSpPr/>
          <p:nvPr/>
        </p:nvSpPr>
        <p:spPr>
          <a:xfrm>
            <a:off x="783472" y="3057525"/>
            <a:ext cx="11126588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Main gap: </a:t>
            </a:r>
            <a:r>
              <a:rPr lang="en-US" sz="1500" dirty="0">
                <a:solidFill>
                  <a:srgbClr val="0F2742"/>
                </a:solidFill>
                <a:ea typeface="+mn-lt"/>
                <a:cs typeface="+mn-lt"/>
              </a:rPr>
              <a:t>Most systems cannot analyze human movement patterns over time to distinguish normal movement from real fall risk while maintaining patient privacy.</a:t>
            </a:r>
          </a:p>
          <a:p>
            <a:pPr marL="228600" indent="-228600">
              <a:buSzPct val="100000"/>
              <a:buChar char="•"/>
            </a:pPr>
            <a:endParaRPr lang="en-US" sz="1500" b="1" dirty="0">
              <a:solidFill>
                <a:srgbClr val="0F2742"/>
              </a:solidFill>
              <a:latin typeface="Apto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56FAF21-0390-C77F-E7D7-44D261BED2E1}"/>
              </a:ext>
            </a:extLst>
          </p:cNvPr>
          <p:cNvSpPr/>
          <p:nvPr/>
        </p:nvSpPr>
        <p:spPr>
          <a:xfrm>
            <a:off x="783472" y="3781809"/>
            <a:ext cx="10760828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Novelty 1: </a:t>
            </a:r>
            <a:r>
              <a:rPr lang="en-US" sz="1500" dirty="0">
                <a:solidFill>
                  <a:srgbClr val="0F2742"/>
                </a:solidFill>
                <a:ea typeface="+mn-lt"/>
                <a:cs typeface="+mn-lt"/>
              </a:rPr>
              <a:t>A privacy-preserving skeletal monitoring approach converts patient video into anonymous joint coordinates while immediately deleting raw footage.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89BFDB4-833F-FE7E-6F02-0D2757E87CFF}"/>
              </a:ext>
            </a:extLst>
          </p:cNvPr>
          <p:cNvSpPr/>
          <p:nvPr/>
        </p:nvSpPr>
        <p:spPr>
          <a:xfrm>
            <a:off x="783472" y="4676276"/>
            <a:ext cx="10760828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Novelty 2: </a:t>
            </a:r>
            <a:r>
              <a:rPr lang="en-US" sz="1500" dirty="0">
                <a:solidFill>
                  <a:srgbClr val="0F2742"/>
                </a:solidFill>
                <a:ea typeface="+mn-lt"/>
                <a:cs typeface="+mn-lt"/>
              </a:rPr>
              <a:t>Edge-based real-time analysis processes patient movement locally without cloud dependency, reducing latency and improving reliability.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6B491EE-2425-4EEB-3E3C-64ED02C4570F}"/>
              </a:ext>
            </a:extLst>
          </p:cNvPr>
          <p:cNvSpPr/>
          <p:nvPr/>
        </p:nvSpPr>
        <p:spPr>
          <a:xfrm>
            <a:off x="783472" y="5604469"/>
            <a:ext cx="10875128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  <a:ea typeface="Aptos" pitchFamily="34" charset="-122"/>
                <a:cs typeface="Aptos" pitchFamily="34" charset="-120"/>
              </a:rPr>
              <a:t>Novelty 3: </a:t>
            </a:r>
            <a:r>
              <a:rPr lang="en-US" sz="1500" dirty="0">
                <a:solidFill>
                  <a:srgbClr val="0F2742"/>
                </a:solidFill>
                <a:ea typeface="+mn-lt"/>
                <a:cs typeface="+mn-lt"/>
              </a:rPr>
              <a:t>ST-GCN-based motion prediction analyzes skeletal movement patterns to predict potential falls early and trigger caregiver alerts.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81C9F7-A70B-8DA6-E1AA-B67D2A7B5C8B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0E4763-3822-E212-1D47-3D7CDA206D71}"/>
              </a:ext>
            </a:extLst>
          </p:cNvPr>
          <p:cNvSpPr/>
          <p:nvPr/>
        </p:nvSpPr>
        <p:spPr>
          <a:xfrm>
            <a:off x="2871271" y="667484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IT22057488 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b="1">
                <a:solidFill>
                  <a:schemeClr val="tx1"/>
                </a:solidFill>
              </a:rPr>
              <a:t>HARISHALINEE ELANGOVAN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R26-DS-010</a:t>
            </a:r>
          </a:p>
          <a:p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1DAF9EE4-2D91-C7DC-E29E-F3FBDFE728D8}"/>
              </a:ext>
            </a:extLst>
          </p:cNvPr>
          <p:cNvSpPr/>
          <p:nvPr/>
        </p:nvSpPr>
        <p:spPr>
          <a:xfrm>
            <a:off x="937260" y="568493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23028C5B-AD52-6B4A-51C1-A550743E3899}"/>
              </a:ext>
            </a:extLst>
          </p:cNvPr>
          <p:cNvSpPr/>
          <p:nvPr/>
        </p:nvSpPr>
        <p:spPr>
          <a:xfrm>
            <a:off x="937260" y="119756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 and Novelty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039037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D1E5-9110-DA6C-2DF2-361A7164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C96481-F9B3-A8C9-6F94-F298852B9AC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CF464-3C22-604F-109E-C89659D68F6A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IT22057488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HARISHALINEE ELANGOVAN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09051-55B8-92B5-0BF6-00A7C1884907}"/>
              </a:ext>
            </a:extLst>
          </p:cNvPr>
          <p:cNvSpPr txBox="1"/>
          <p:nvPr/>
        </p:nvSpPr>
        <p:spPr>
          <a:xfrm>
            <a:off x="855306" y="1737623"/>
            <a:ext cx="784595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Design and develop an </a:t>
            </a:r>
            <a:r>
              <a:rPr lang="en-US" sz="1600" b="1" dirty="0">
                <a:latin typeface="Aptos" panose="020B0004020202020204" pitchFamily="34" charset="0"/>
              </a:rPr>
              <a:t>edge-enabled skeletal movement analysis system</a:t>
            </a:r>
            <a:r>
              <a:rPr lang="en-US" sz="1600" dirty="0">
                <a:latin typeface="Aptos" panose="020B0004020202020204" pitchFamily="34" charset="0"/>
              </a:rPr>
              <a:t> to detect and predict patient falls in real time using pose estimation and deep learning techniques.</a:t>
            </a:r>
            <a:endParaRPr lang="en-US" sz="160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Capture patient movement using a camera and extract skeletal joint data for privacy-preserving analysis.</a:t>
            </a:r>
            <a:endParaRPr lang="en-US" sz="1600" dirty="0">
              <a:solidFill>
                <a:srgbClr val="1F2937"/>
              </a:solidFill>
              <a:latin typeface="Aptos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</a:rPr>
              <a:t>I</a:t>
            </a:r>
            <a:r>
              <a:rPr lang="en-US" sz="1600" dirty="0">
                <a:latin typeface="Aptos" panose="020B0004020202020204" pitchFamily="34" charset="0"/>
              </a:rPr>
              <a:t>dentify high-risk fall patterns by analyzing </a:t>
            </a:r>
            <a:r>
              <a:rPr lang="en-US" sz="1600" dirty="0" err="1">
                <a:latin typeface="Aptos" panose="020B0004020202020204" pitchFamily="34" charset="0"/>
              </a:rPr>
              <a:t>spatio</a:t>
            </a:r>
            <a:r>
              <a:rPr lang="en-US" sz="1600" dirty="0">
                <a:latin typeface="Aptos" panose="020B0004020202020204" pitchFamily="34" charset="0"/>
              </a:rPr>
              <a:t>-temporal relationships between body joints.</a:t>
            </a:r>
            <a:endParaRPr lang="en-US" sz="160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Enable real-time fall prediction and alert generation to support timely caregiver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Evaluate system performance using accuracy, latency, and false alarm rate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Complete system design, implementation, and evaluation within the defined project timeline.</a:t>
            </a:r>
          </a:p>
          <a:p>
            <a:endParaRPr lang="en-US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4E34418-7743-537D-1489-6C05C648237F}"/>
              </a:ext>
            </a:extLst>
          </p:cNvPr>
          <p:cNvSpPr/>
          <p:nvPr/>
        </p:nvSpPr>
        <p:spPr>
          <a:xfrm>
            <a:off x="839755" y="672153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70F37-F86B-B48C-7345-1217902CA76C}"/>
              </a:ext>
            </a:extLst>
          </p:cNvPr>
          <p:cNvSpPr txBox="1"/>
          <p:nvPr/>
        </p:nvSpPr>
        <p:spPr>
          <a:xfrm>
            <a:off x="877077" y="1119704"/>
            <a:ext cx="6526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Objective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1A1AD-5B11-7A50-645F-0EDB6B0DC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06" r="53944"/>
          <a:stretch>
            <a:fillRect/>
          </a:stretch>
        </p:blipFill>
        <p:spPr>
          <a:xfrm>
            <a:off x="9220200" y="726310"/>
            <a:ext cx="2286000" cy="578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2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C51B-7FB2-4DC2-E69D-3D3E98F0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3933EF-96F0-FCB3-37DB-5B5921564615}"/>
              </a:ext>
            </a:extLst>
          </p:cNvPr>
          <p:cNvSpPr/>
          <p:nvPr/>
        </p:nvSpPr>
        <p:spPr>
          <a:xfrm>
            <a:off x="873967" y="1352585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SG" sz="2400" b="1" dirty="0">
                <a:solidFill>
                  <a:srgbClr val="001132"/>
                </a:solidFill>
                <a:latin typeface="Aptos Display" panose="020B0004020202020204" pitchFamily="34" charset="0"/>
              </a:rPr>
              <a:t>Sub-Objective 1: Skeletal Data Extraction Module</a:t>
            </a:r>
            <a:endParaRPr lang="en-US" sz="2400" b="1" dirty="0">
              <a:solidFill>
                <a:srgbClr val="001132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4E30A76-E6CB-6C02-06A9-6F4319851FAB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B8F77E-B28D-A4CB-541F-0F993C0FE072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FCE475-4CF4-126B-9912-A63398613D11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IT22057488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HARISHALINEE ELANGOVAN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E27810FE-8784-A982-1124-766B6C80F797}"/>
              </a:ext>
            </a:extLst>
          </p:cNvPr>
          <p:cNvSpPr/>
          <p:nvPr/>
        </p:nvSpPr>
        <p:spPr>
          <a:xfrm>
            <a:off x="838200" y="690490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0C8A74-A8EE-12BF-507C-96B61868EA90}"/>
              </a:ext>
            </a:extLst>
          </p:cNvPr>
          <p:cNvSpPr txBox="1"/>
          <p:nvPr/>
        </p:nvSpPr>
        <p:spPr>
          <a:xfrm>
            <a:off x="706575" y="2035618"/>
            <a:ext cx="7924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Specific:</a:t>
            </a:r>
            <a:r>
              <a:rPr lang="en-US" sz="1600" dirty="0">
                <a:latin typeface="Aptos" panose="020B0004020202020204" pitchFamily="34" charset="0"/>
              </a:rPr>
              <a:t> Develop a real-time pose estimation module to extract skeletal joint coordinates from patient video streams using computer vision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Measurable:</a:t>
            </a:r>
            <a:r>
              <a:rPr lang="en-US" sz="1600" dirty="0">
                <a:latin typeface="Aptos" panose="020B0004020202020204" pitchFamily="34" charset="0"/>
              </a:rPr>
              <a:t> Achieve accurate detection of key body joints with real-time processing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Achievable:</a:t>
            </a:r>
            <a:r>
              <a:rPr lang="en-US" sz="1600" dirty="0">
                <a:latin typeface="Aptos" panose="020B0004020202020204" pitchFamily="34" charset="0"/>
              </a:rPr>
              <a:t> Utilize existing frameworks such as </a:t>
            </a:r>
            <a:r>
              <a:rPr lang="en-US" sz="1600" dirty="0" err="1">
                <a:latin typeface="Aptos" panose="020B0004020202020204" pitchFamily="34" charset="0"/>
              </a:rPr>
              <a:t>MediaPipe</a:t>
            </a:r>
            <a:r>
              <a:rPr lang="en-US" sz="1600" dirty="0">
                <a:latin typeface="Aptos" panose="020B0004020202020204" pitchFamily="34" charset="0"/>
              </a:rPr>
              <a:t> Pose and optimized image processing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Relevant:</a:t>
            </a:r>
            <a:r>
              <a:rPr lang="en-US" sz="1600" dirty="0">
                <a:latin typeface="Aptos" panose="020B0004020202020204" pitchFamily="34" charset="0"/>
              </a:rPr>
              <a:t> Enables privacy-preserving monitoring by converting raw video into skeletal representations.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Time-bound:</a:t>
            </a:r>
            <a:r>
              <a:rPr lang="en-US" sz="1600" dirty="0">
                <a:latin typeface="Aptos" panose="020B0004020202020204" pitchFamily="34" charset="0"/>
              </a:rPr>
              <a:t> Complete implementation and validation during the initial development phase</a:t>
            </a: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0FBF9B-5737-22E3-9811-19C799621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06" r="53944"/>
          <a:stretch>
            <a:fillRect/>
          </a:stretch>
        </p:blipFill>
        <p:spPr>
          <a:xfrm>
            <a:off x="9587205" y="959164"/>
            <a:ext cx="2061066" cy="521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7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C0DD-71CA-7AA3-6456-2A40A2CC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153EF0-E452-57A9-6BC1-8EDF8D204FC1}"/>
              </a:ext>
            </a:extLst>
          </p:cNvPr>
          <p:cNvSpPr/>
          <p:nvPr/>
        </p:nvSpPr>
        <p:spPr>
          <a:xfrm>
            <a:off x="873967" y="1352585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1132"/>
                </a:solidFill>
                <a:latin typeface="Aptos Display" panose="020B0004020202020204" pitchFamily="34" charset="0"/>
              </a:rPr>
              <a:t>Sub-Objective 2: Fall Prediction Model Development</a:t>
            </a: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01725C22-9BD1-5CE0-2CF2-264D2EA7B70A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EA3B88-6E0A-10CE-D765-7C84652C7DB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302F57-6144-456F-60BA-667088C98332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IT22057488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HARISHALINEE ELANGOVAN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5A2B515-AE55-065A-7188-CF997825C65A}"/>
              </a:ext>
            </a:extLst>
          </p:cNvPr>
          <p:cNvSpPr/>
          <p:nvPr/>
        </p:nvSpPr>
        <p:spPr>
          <a:xfrm>
            <a:off x="838200" y="690490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857ED6-FB63-4554-DD19-89BF32A49B51}"/>
              </a:ext>
            </a:extLst>
          </p:cNvPr>
          <p:cNvSpPr txBox="1"/>
          <p:nvPr/>
        </p:nvSpPr>
        <p:spPr>
          <a:xfrm>
            <a:off x="706575" y="2035618"/>
            <a:ext cx="7924800" cy="376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Specific:</a:t>
            </a:r>
            <a:r>
              <a:rPr lang="en-US" sz="1600" dirty="0">
                <a:latin typeface="Aptos" panose="020B0004020202020204" pitchFamily="34" charset="0"/>
              </a:rPr>
              <a:t> Develop a deep learning model using ST-GCN to analyze </a:t>
            </a:r>
            <a:r>
              <a:rPr lang="en-US" sz="1600" dirty="0" err="1">
                <a:latin typeface="Aptos" panose="020B0004020202020204" pitchFamily="34" charset="0"/>
              </a:rPr>
              <a:t>spatio</a:t>
            </a:r>
            <a:r>
              <a:rPr lang="en-US" sz="1600" dirty="0">
                <a:latin typeface="Aptos" panose="020B0004020202020204" pitchFamily="34" charset="0"/>
              </a:rPr>
              <a:t>-temporal skeletal data for fall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Measurable:</a:t>
            </a:r>
            <a:r>
              <a:rPr lang="en-US" sz="1600" dirty="0">
                <a:latin typeface="Aptos" panose="020B0004020202020204" pitchFamily="34" charset="0"/>
              </a:rPr>
              <a:t> Achieve high prediction performance with accuracy &gt;90% and reduced false alarm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Achievable:</a:t>
            </a:r>
            <a:r>
              <a:rPr lang="en-US" sz="1600" dirty="0">
                <a:latin typeface="Aptos" panose="020B0004020202020204" pitchFamily="34" charset="0"/>
              </a:rPr>
              <a:t> Leverage existing skeleton-based HAR models and publicly available datasets for training and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Relevant:</a:t>
            </a:r>
            <a:r>
              <a:rPr lang="en-US" sz="1600" dirty="0">
                <a:latin typeface="Aptos" panose="020B0004020202020204" pitchFamily="34" charset="0"/>
              </a:rPr>
              <a:t> Directly supports accurate identification of high-risk fall events in healthcare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Time-bound:</a:t>
            </a:r>
            <a:r>
              <a:rPr lang="en-US" sz="1600" dirty="0">
                <a:latin typeface="Aptos" panose="020B0004020202020204" pitchFamily="34" charset="0"/>
              </a:rPr>
              <a:t> Complete model training, testing, and optimization during the core development phase.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CEB1C5-229E-4FB1-AF32-F6957FE92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06" r="53944"/>
          <a:stretch>
            <a:fillRect/>
          </a:stretch>
        </p:blipFill>
        <p:spPr>
          <a:xfrm>
            <a:off x="9587205" y="959164"/>
            <a:ext cx="2061066" cy="521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5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8C86-4856-D901-F9F2-403BEAD4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670846-9657-0C0F-5993-6900CDFCE78A}"/>
              </a:ext>
            </a:extLst>
          </p:cNvPr>
          <p:cNvSpPr/>
          <p:nvPr/>
        </p:nvSpPr>
        <p:spPr>
          <a:xfrm>
            <a:off x="873967" y="1352585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1132"/>
                </a:solidFill>
                <a:latin typeface="Aptos Display" panose="020B0004020202020204" pitchFamily="34" charset="0"/>
              </a:rPr>
              <a:t>Sub-Objective 3: Edge-Based Real-Time Alert System</a:t>
            </a: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10B031E-FDD4-8C82-80F0-74C8A3D819DC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D89406-E2D1-DD36-1712-A109D351B34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2671E1-A84A-C5AA-3342-09C115B1668E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IT22057488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1" dirty="0">
                <a:solidFill>
                  <a:schemeClr val="tx1"/>
                </a:solidFill>
              </a:rPr>
              <a:t>HARISHALINEE ELANGOVAN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FDA7865D-C1E2-F15F-ADCE-B8BCF2941D6F}"/>
              </a:ext>
            </a:extLst>
          </p:cNvPr>
          <p:cNvSpPr/>
          <p:nvPr/>
        </p:nvSpPr>
        <p:spPr>
          <a:xfrm>
            <a:off x="838200" y="690490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214579-F62F-7112-9DD3-64AE7B3D72F9}"/>
              </a:ext>
            </a:extLst>
          </p:cNvPr>
          <p:cNvSpPr txBox="1"/>
          <p:nvPr/>
        </p:nvSpPr>
        <p:spPr>
          <a:xfrm>
            <a:off x="706575" y="2035618"/>
            <a:ext cx="7924800" cy="352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Specific:</a:t>
            </a:r>
            <a:r>
              <a:rPr lang="en-US" sz="1600" dirty="0"/>
              <a:t> Design and implement a real-time alert system integrated with edge computing to notify caregivers upon detecting fall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Measurable:</a:t>
            </a:r>
            <a:r>
              <a:rPr lang="en-US" sz="1600" dirty="0"/>
              <a:t> Ensure system latency is below 1–2 seconds for real-time response and alert delivery.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Achievable:</a:t>
            </a:r>
            <a:r>
              <a:rPr lang="en-US" sz="1600" dirty="0"/>
              <a:t> Deploy the system on local devices (e.g., laptops or edge nodes) without reliance on cloud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Relevant:</a:t>
            </a:r>
            <a:r>
              <a:rPr lang="en-US" sz="1600" dirty="0"/>
              <a:t> Improves response time and enhances patient safety in critical situations.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Time-bound:</a:t>
            </a:r>
            <a:r>
              <a:rPr lang="en-US" sz="1600" dirty="0"/>
              <a:t> Complete system integration, testing, and deployment before final evaluation phase.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470F97-7C34-F546-BBAA-6C6A605F7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06" r="53944"/>
          <a:stretch>
            <a:fillRect/>
          </a:stretch>
        </p:blipFill>
        <p:spPr>
          <a:xfrm>
            <a:off x="9587205" y="959164"/>
            <a:ext cx="2061066" cy="521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0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3728-1CA8-D84D-C079-202D939CA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3BD877-9C36-A42F-1EEF-10E10A0164C9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C4FB881B-73B7-9197-235F-96A44D08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5" t="20270" r="2592" b="15800"/>
          <a:stretch>
            <a:fillRect/>
          </a:stretch>
        </p:blipFill>
        <p:spPr>
          <a:xfrm>
            <a:off x="84629" y="1066800"/>
            <a:ext cx="12022741" cy="495242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368CBE7-01AE-1947-7700-A1CE592EAB3E}"/>
              </a:ext>
            </a:extLst>
          </p:cNvPr>
          <p:cNvSpPr/>
          <p:nvPr/>
        </p:nvSpPr>
        <p:spPr>
          <a:xfrm>
            <a:off x="1143000" y="609600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C3302A-E275-031B-2096-A9D6A427A2D6}"/>
              </a:ext>
            </a:extLst>
          </p:cNvPr>
          <p:cNvSpPr/>
          <p:nvPr/>
        </p:nvSpPr>
        <p:spPr>
          <a:xfrm>
            <a:off x="2895600" y="6492875"/>
            <a:ext cx="72735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IT22057488 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b="1" dirty="0">
                <a:solidFill>
                  <a:schemeClr val="tx1"/>
                </a:solidFill>
              </a:rPr>
              <a:t>HARISHALINEE ELANGOVAN 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</p:txBody>
      </p:sp>
    </p:spTree>
    <p:extLst>
      <p:ext uri="{BB962C8B-B14F-4D97-AF65-F5344CB8AC3E}">
        <p14:creationId xmlns:p14="http://schemas.microsoft.com/office/powerpoint/2010/main" val="69339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1002-52C5-35D0-A4C4-08491A6A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9EEF260-4B06-7F0D-9757-B5FC3D17B7D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E25437-D8A9-DA6B-ED65-C3D0943E0EB9}"/>
              </a:ext>
            </a:extLst>
          </p:cNvPr>
          <p:cNvSpPr/>
          <p:nvPr/>
        </p:nvSpPr>
        <p:spPr>
          <a:xfrm>
            <a:off x="2871271" y="667484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IT22057488 </a:t>
            </a:r>
            <a:r>
              <a:rPr lang="en-US" sz="1800" dirty="0">
                <a:solidFill>
                  <a:schemeClr val="tx1"/>
                </a:solidFill>
              </a:rPr>
              <a:t>|</a:t>
            </a:r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en-US" b="1" dirty="0">
                <a:solidFill>
                  <a:schemeClr val="tx1"/>
                </a:solidFill>
              </a:rPr>
              <a:t>HARISHALINEE ELANGOVAN 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</a:t>
            </a:r>
          </a:p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3DDF3-E733-100C-81FB-46D0D5EB9138}"/>
              </a:ext>
            </a:extLst>
          </p:cNvPr>
          <p:cNvSpPr txBox="1"/>
          <p:nvPr/>
        </p:nvSpPr>
        <p:spPr>
          <a:xfrm>
            <a:off x="1066800" y="1063938"/>
            <a:ext cx="7772400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SzPct val="100000"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Application of Domain Knowledge and Methodology</a:t>
            </a:r>
          </a:p>
          <a:p>
            <a:endParaRPr lang="en-US" dirty="0"/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Domain knowledge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Human movement analysis, patient safety monitoring, fall risk patterns, and healthcare environment constraints.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Methodology base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Skeletal pose extraction from video and feature generation from body joint coordinates.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Temporal layer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</a:t>
            </a:r>
            <a:r>
              <a:rPr lang="en-US" sz="1500" dirty="0" err="1">
                <a:solidFill>
                  <a:srgbClr val="0F2742"/>
                </a:solidFill>
                <a:latin typeface="Aptos"/>
              </a:rPr>
              <a:t>Spatio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-temporal motion modeling analyzes joint movement sequences to detect instability patterns.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Relational layer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Skeletal graph representation models body joints and their relationships for motion understanding.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Latest technologies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Pose estimation models, ST-GCN (</a:t>
            </a:r>
            <a:r>
              <a:rPr lang="en-US" sz="1500" dirty="0" err="1">
                <a:solidFill>
                  <a:srgbClr val="0F2742"/>
                </a:solidFill>
                <a:latin typeface="Aptos"/>
              </a:rPr>
              <a:t>Spatio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-Temporal Graph Convolutional Networks), edge computing, and real-time computer vision.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Delivered output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Real-time fall risk prediction, caregiver alerts, and privacy-safe skeletal event visualization with instability heatmap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b="1" dirty="0">
              <a:ea typeface="Cambria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11277A5-4D1B-2D41-343F-DB6296B36188}"/>
              </a:ext>
            </a:extLst>
          </p:cNvPr>
          <p:cNvSpPr/>
          <p:nvPr/>
        </p:nvSpPr>
        <p:spPr>
          <a:xfrm>
            <a:off x="1217688" y="582254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218431-6001-541C-9A9D-EDF70279F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623" y="1671637"/>
            <a:ext cx="64484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5FBE-5ABD-E1B1-AF89-C6A1CFBC5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CA81CE8-6ACD-6D61-B62F-EEB2E036753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863524-0359-4583-6725-5CF412912DA8}"/>
              </a:ext>
            </a:extLst>
          </p:cNvPr>
          <p:cNvSpPr/>
          <p:nvPr/>
        </p:nvSpPr>
        <p:spPr>
          <a:xfrm>
            <a:off x="2871271" y="667484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IT22057488 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b="1">
                <a:solidFill>
                  <a:schemeClr val="tx1"/>
                </a:solidFill>
              </a:rPr>
              <a:t>HARISHALINEE ELANGOVAN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R26-DS-010</a:t>
            </a:r>
          </a:p>
          <a:p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6C60C576-5072-A311-D671-41F1D3DE8D03}"/>
              </a:ext>
            </a:extLst>
          </p:cNvPr>
          <p:cNvSpPr/>
          <p:nvPr/>
        </p:nvSpPr>
        <p:spPr>
          <a:xfrm>
            <a:off x="957580" y="645579"/>
            <a:ext cx="1211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Edge-Enabled Skeletal Movement Analysis System for Real-Time Patient Fall Prediction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6E55F-39FB-83D6-4309-EE5454F5A4EA}"/>
              </a:ext>
            </a:extLst>
          </p:cNvPr>
          <p:cNvSpPr txBox="1"/>
          <p:nvPr/>
        </p:nvSpPr>
        <p:spPr>
          <a:xfrm>
            <a:off x="932180" y="1255752"/>
            <a:ext cx="1056386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SzPct val="100000"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Validation, Data Strategy, and Implementation Details</a:t>
            </a:r>
          </a:p>
          <a:p>
            <a:pPr>
              <a:buSzPct val="100000"/>
            </a:pPr>
            <a:endParaRPr lang="en-US" sz="2400" b="1" dirty="0">
              <a:solidFill>
                <a:srgbClr val="0F2742"/>
              </a:solidFill>
              <a:latin typeface="Aptos Display" pitchFamily="34" charset="0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Validation plan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Evaluate the proposed model against traditional fall detection approaches and simple motion-threshold methods.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Evaluation criteria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Fall prediction accuracy, false alarm rate, detection latency, and reliability of caregiver alerts.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Data strategy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Public human pose datasets and simulated movement scenarios are used for model validation when real patient data is limited.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Security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Ensure privacy by converting video into skeletal joint data and immediately deleting raw footage after pose extraction.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Implementation flow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Capture video → extract skeletal pose → analyze motion using ST-GCN → predict fall risk → trigger caregiver alert and visualization.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0F2742"/>
                </a:solidFill>
                <a:latin typeface="Aptos"/>
              </a:rPr>
              <a:t>Dependencies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: USB camera, edge laptop, pose estimation model, ST-GCN model, mobile notification service, and caregiver dashboard.</a:t>
            </a:r>
          </a:p>
          <a:p>
            <a:endParaRPr lang="en-US" b="1" dirty="0">
              <a:ea typeface="Cambria"/>
            </a:endParaRPr>
          </a:p>
          <a:p>
            <a:endParaRPr lang="en-US" b="1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1781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FBF7-07C6-AE9D-48FA-7573211A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DD661F-385F-7A00-FC17-DE2B8046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513"/>
            <a:ext cx="10363200" cy="7554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IT22294098 | VIDURSHA PRABAGARAN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CE2BD2-E342-38AA-598C-798299FC1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17" y="3734079"/>
            <a:ext cx="10972800" cy="285478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Component 03: Context-Aware Intelligent System for Automated ADL Extraction and Real-Time Documentation from Caregiver Voice Logs</a:t>
            </a:r>
            <a:endParaRPr lang="en-US" sz="2800" b="1" dirty="0">
              <a:solidFill>
                <a:schemeClr val="tx1"/>
              </a:solidFill>
              <a:ea typeface="Cambria"/>
            </a:endParaRPr>
          </a:p>
          <a:p>
            <a:pPr algn="ctr"/>
            <a:endParaRPr lang="en-US" sz="28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800" dirty="0">
              <a:solidFill>
                <a:schemeClr val="tx1"/>
              </a:solidFill>
              <a:ea typeface="Cambria"/>
            </a:endParaRPr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157372-A975-E1BD-A54F-DF64B1D6F30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sz="1800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F8D48-F113-A9FB-449D-9DA38F969437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36164-0A0C-CB26-37AE-34F6B878AA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22"/>
          <a:stretch>
            <a:fillRect/>
          </a:stretch>
        </p:blipFill>
        <p:spPr>
          <a:xfrm>
            <a:off x="9697655" y="531356"/>
            <a:ext cx="2245490" cy="21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4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0D6A8-93FA-1284-2ECC-4BB16F25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D39796-3367-5F32-EB2A-400C83C2A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873" y="1326265"/>
            <a:ext cx="10363200" cy="4953000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1"/>
              </a:solidFill>
              <a:latin typeface="Aptos"/>
              <a:ea typeface="Cambria"/>
            </a:endParaRPr>
          </a:p>
          <a:p>
            <a:endParaRPr lang="en-US" sz="1600" dirty="0">
              <a:solidFill>
                <a:schemeClr val="tx1"/>
              </a:solidFill>
              <a:latin typeface="Aptos"/>
              <a:ea typeface="+mn-lt"/>
              <a:cs typeface="+mn-lt"/>
            </a:endParaRPr>
          </a:p>
          <a:p>
            <a:pPr>
              <a:buSzPct val="100000"/>
            </a:pPr>
            <a:r>
              <a:rPr lang="en-US" sz="18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Problem Definition:</a:t>
            </a:r>
            <a:r>
              <a:rPr lang="en-US" sz="1800" b="1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0F2742"/>
                </a:solidFill>
                <a:latin typeface="Aptos"/>
              </a:rPr>
              <a:t>Manual documentation takes time and can be delayed, incomplete, or inaccurate.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0F2742"/>
                </a:solidFill>
                <a:latin typeface="Aptos"/>
              </a:rPr>
              <a:t>This increases caregiver workload and may reduce patient safety and care quality.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0F2742"/>
                </a:solidFill>
                <a:latin typeface="Aptos"/>
              </a:rPr>
              <a:t>The system converts caregiver speech into clear and structured ADL records in real time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500" dirty="0">
              <a:solidFill>
                <a:srgbClr val="0F2742"/>
              </a:solidFill>
              <a:latin typeface="Aptos"/>
            </a:endParaRPr>
          </a:p>
          <a:p>
            <a:pPr marL="342900" indent="-342900">
              <a:buChar char="•"/>
            </a:pPr>
            <a:endParaRPr lang="en-US" sz="1600" dirty="0">
              <a:solidFill>
                <a:schemeClr val="tx1"/>
              </a:solidFill>
              <a:latin typeface="Aptos"/>
              <a:ea typeface="+mn-lt"/>
              <a:cs typeface="+mn-lt"/>
            </a:endParaRPr>
          </a:p>
          <a:p>
            <a:pPr>
              <a:buSzPct val="100000"/>
            </a:pPr>
            <a:r>
              <a:rPr lang="en-US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Novelty:</a:t>
            </a:r>
            <a:r>
              <a:rPr lang="en-US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Speech recognition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Wake-word based ambient scribing  and voice shortcuts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Auto-editing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ADL extraction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Intelligent reporting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Shift handover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0F2742"/>
                </a:solidFill>
                <a:latin typeface="Aptos"/>
              </a:rPr>
              <a:t>3D spoken summaries</a:t>
            </a:r>
          </a:p>
          <a:p>
            <a:pPr marL="342900" indent="-342900">
              <a:buChar char="•"/>
            </a:pPr>
            <a:endParaRPr lang="en-US" sz="1600" dirty="0">
              <a:solidFill>
                <a:schemeClr val="tx1"/>
              </a:solidFill>
              <a:latin typeface="Aptos"/>
              <a:ea typeface="+mn-lt"/>
              <a:cs typeface="+mn-lt"/>
            </a:endParaRPr>
          </a:p>
          <a:p>
            <a:endParaRPr lang="en-US" dirty="0">
              <a:ea typeface="Cambr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A4663-9374-CBB9-372D-D04CF6BC644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3B51E-B985-F4DA-ED6B-E2E7C2CBF583}"/>
              </a:ext>
            </a:extLst>
          </p:cNvPr>
          <p:cNvSpPr/>
          <p:nvPr/>
        </p:nvSpPr>
        <p:spPr>
          <a:xfrm>
            <a:off x="2685000" y="6497891"/>
            <a:ext cx="6069815" cy="357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2C9A50-EF51-7C65-5924-42DD847CE02A}"/>
              </a:ext>
            </a:extLst>
          </p:cNvPr>
          <p:cNvSpPr txBox="1"/>
          <p:nvPr/>
        </p:nvSpPr>
        <p:spPr>
          <a:xfrm>
            <a:off x="571500" y="404770"/>
            <a:ext cx="1104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 - Aware Intelligent System For Automated ADL Extraction And Real Time Documentation From Caregiver Voice Logs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A9D03-869A-4E21-A04A-C746722ED74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sz="1800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8C3D9C56-4C2D-3156-F121-C3ABD30C8B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1" r="19795"/>
          <a:stretch>
            <a:fillRect/>
          </a:stretch>
        </p:blipFill>
        <p:spPr bwMode="auto">
          <a:xfrm>
            <a:off x="8077200" y="2743200"/>
            <a:ext cx="2987397" cy="338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B0D9-FB7B-EAAA-AD71-58A2642F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17988-592C-4FFC-7A71-46F6F7F8FEF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D66508-0D7A-13A3-C302-4F87708EABAE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  </a:t>
            </a:r>
            <a:r>
              <a:rPr lang="en-US" dirty="0">
                <a:solidFill>
                  <a:schemeClr val="tx1"/>
                </a:solidFill>
              </a:rPr>
              <a:t>| R26-DS-010 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60FE0-E162-67FE-63CA-38DFB432F354}"/>
              </a:ext>
            </a:extLst>
          </p:cNvPr>
          <p:cNvSpPr txBox="1"/>
          <p:nvPr/>
        </p:nvSpPr>
        <p:spPr>
          <a:xfrm>
            <a:off x="513185" y="2369181"/>
            <a:ext cx="8037807" cy="261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Design a context-aware intelligent system for ADL documentation from caregiver voice logs.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Convert caregiver speech into structured ADL records automatically.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Apply auto-editing to remove fillers, hesitations, and spoken corrections.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Improve accuracy and completeness of care documentation.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Generate shift handover summaries in text, speech, and 3D avatar video form.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Enhance continuity of care and patient safety through timely and clear information.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29DBCEA-BD6C-D28C-1C2A-2B2703491AE8}"/>
              </a:ext>
            </a:extLst>
          </p:cNvPr>
          <p:cNvSpPr/>
          <p:nvPr/>
        </p:nvSpPr>
        <p:spPr>
          <a:xfrm>
            <a:off x="609600" y="686314"/>
            <a:ext cx="104221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Context-Aware Intelligent System for Automated ADL Extraction and Real-Time Documentation from Caregiver Voice Logs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E52D6-5EE7-6123-AB67-8E08D0D6D972}"/>
              </a:ext>
            </a:extLst>
          </p:cNvPr>
          <p:cNvSpPr txBox="1"/>
          <p:nvPr/>
        </p:nvSpPr>
        <p:spPr>
          <a:xfrm>
            <a:off x="537069" y="1599920"/>
            <a:ext cx="6526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Objective</a:t>
            </a:r>
            <a:endParaRPr lang="en-US" sz="2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FFE5644-1870-F744-96CB-40909F1DC171}"/>
              </a:ext>
            </a:extLst>
          </p:cNvPr>
          <p:cNvSpPr/>
          <p:nvPr/>
        </p:nvSpPr>
        <p:spPr>
          <a:xfrm>
            <a:off x="8701262" y="1472447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F451858-21FE-F617-345A-BB3120EAD178}"/>
              </a:ext>
            </a:extLst>
          </p:cNvPr>
          <p:cNvSpPr/>
          <p:nvPr/>
        </p:nvSpPr>
        <p:spPr>
          <a:xfrm>
            <a:off x="8774414" y="1582175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78C1DC12-1BC0-4AE7-CD71-20A675E06C93}"/>
              </a:ext>
            </a:extLst>
          </p:cNvPr>
          <p:cNvSpPr/>
          <p:nvPr/>
        </p:nvSpPr>
        <p:spPr>
          <a:xfrm>
            <a:off x="8701262" y="2322839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853D529-F60C-8894-5256-87F45682577C}"/>
              </a:ext>
            </a:extLst>
          </p:cNvPr>
          <p:cNvSpPr/>
          <p:nvPr/>
        </p:nvSpPr>
        <p:spPr>
          <a:xfrm>
            <a:off x="8774414" y="2432567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5216EE96-368B-5113-D495-BE1BBCC2E85D}"/>
              </a:ext>
            </a:extLst>
          </p:cNvPr>
          <p:cNvSpPr/>
          <p:nvPr/>
        </p:nvSpPr>
        <p:spPr>
          <a:xfrm>
            <a:off x="8701262" y="3173231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49ECB441-114B-286E-289F-C069273204EA}"/>
              </a:ext>
            </a:extLst>
          </p:cNvPr>
          <p:cNvSpPr/>
          <p:nvPr/>
        </p:nvSpPr>
        <p:spPr>
          <a:xfrm>
            <a:off x="8774414" y="3282959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3AC1670B-25F6-1170-48DF-58538C5FA289}"/>
              </a:ext>
            </a:extLst>
          </p:cNvPr>
          <p:cNvSpPr/>
          <p:nvPr/>
        </p:nvSpPr>
        <p:spPr>
          <a:xfrm>
            <a:off x="8701262" y="4023623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7F9920EA-3BE7-BD17-0BD9-6311D2408ACA}"/>
              </a:ext>
            </a:extLst>
          </p:cNvPr>
          <p:cNvSpPr/>
          <p:nvPr/>
        </p:nvSpPr>
        <p:spPr>
          <a:xfrm>
            <a:off x="8774414" y="4133351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B5953AC1-59CD-8981-2240-6B3440E9DD0E}"/>
              </a:ext>
            </a:extLst>
          </p:cNvPr>
          <p:cNvSpPr/>
          <p:nvPr/>
        </p:nvSpPr>
        <p:spPr>
          <a:xfrm>
            <a:off x="8701262" y="4874015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064120F9-611C-1ABE-6F39-5C24280E8A93}"/>
              </a:ext>
            </a:extLst>
          </p:cNvPr>
          <p:cNvSpPr/>
          <p:nvPr/>
        </p:nvSpPr>
        <p:spPr>
          <a:xfrm>
            <a:off x="8774414" y="4983743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08BF26A5-6DAD-6002-2C92-3748027DA94D}"/>
              </a:ext>
            </a:extLst>
          </p:cNvPr>
          <p:cNvSpPr/>
          <p:nvPr/>
        </p:nvSpPr>
        <p:spPr>
          <a:xfrm>
            <a:off x="9753600" y="1581369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27985CB1-379B-77AF-7799-06002092FCF3}"/>
              </a:ext>
            </a:extLst>
          </p:cNvPr>
          <p:cNvSpPr/>
          <p:nvPr/>
        </p:nvSpPr>
        <p:spPr>
          <a:xfrm>
            <a:off x="9762930" y="2562339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A675AB6-A296-8F5C-5C92-89B74D01144B}"/>
              </a:ext>
            </a:extLst>
          </p:cNvPr>
          <p:cNvSpPr/>
          <p:nvPr/>
        </p:nvSpPr>
        <p:spPr>
          <a:xfrm>
            <a:off x="9753600" y="336467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230D88E-71EE-F0AF-3F67-9728910D7901}"/>
              </a:ext>
            </a:extLst>
          </p:cNvPr>
          <p:cNvSpPr/>
          <p:nvPr/>
        </p:nvSpPr>
        <p:spPr>
          <a:xfrm>
            <a:off x="9806473" y="4210055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42DBD2DE-8F64-B0F0-CB10-B699F57956AA}"/>
              </a:ext>
            </a:extLst>
          </p:cNvPr>
          <p:cNvSpPr/>
          <p:nvPr/>
        </p:nvSpPr>
        <p:spPr>
          <a:xfrm>
            <a:off x="9806473" y="505355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62420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B52E-5532-F192-44AE-6991A3E3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E147B3-E13B-1408-64E7-A8308C7B2990}"/>
              </a:ext>
            </a:extLst>
          </p:cNvPr>
          <p:cNvSpPr/>
          <p:nvPr/>
        </p:nvSpPr>
        <p:spPr>
          <a:xfrm>
            <a:off x="685800" y="1279999"/>
            <a:ext cx="10607040" cy="69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Sub-Objective - 1 : Voice Capture and Auto-Editing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08D3C528-0655-5C18-3FC1-06D81F3BFD4F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C3DC166-CCC2-887B-B05F-BAEC3448AC88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44B3C7B-F624-6042-26AE-4AFC0A21858A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EB6489B3-5FFA-F35A-4790-CD21E436B3CF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FCDCBC9-06B1-45CC-D1E0-13C70CB37172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3F4A3C6-4904-70A5-BCB9-C091102CF92A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4313E34D-2158-B62F-8ADA-DC6DCB278B2E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612A236-2F0D-FCE1-B9EE-7820C1F90021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5907563-2FA7-9722-450E-B6FED9510BD7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8ABED3-C0F1-9C82-0595-5D8DE3B1E125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1B7DCD13-4EB3-2641-A1F2-88B4AF9B9A89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6CA2EFB6-9C6A-86B8-E013-02C2A91741FC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FD0469C6-D234-C18C-2950-01493D029DFE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F0E863D-E2B9-D993-AF6D-53DB5DA911C1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71D394B-1519-F2DF-98B5-E76F119BDD07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9B6CD1-2F06-1DA3-8B42-0C9723EF66AC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F1BD2-8579-E565-BFA2-E168E6C001FF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  </a:t>
            </a:r>
            <a:r>
              <a:rPr lang="en-US" dirty="0">
                <a:solidFill>
                  <a:schemeClr val="tx1"/>
                </a:solidFill>
              </a:rPr>
              <a:t>| R26-DS-010 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2D7FA54E-7E09-1B91-0E4A-7CE3FF08CAAA}"/>
              </a:ext>
            </a:extLst>
          </p:cNvPr>
          <p:cNvSpPr/>
          <p:nvPr/>
        </p:nvSpPr>
        <p:spPr>
          <a:xfrm>
            <a:off x="685800" y="773026"/>
            <a:ext cx="103960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Context-Aware Intelligent System for Automated ADL Extraction and Real-Time Documentation from Caregiver Voice Logs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C8F48F-EC0C-AFBF-ABE2-547394C21ACE}"/>
              </a:ext>
            </a:extLst>
          </p:cNvPr>
          <p:cNvSpPr txBox="1"/>
          <p:nvPr/>
        </p:nvSpPr>
        <p:spPr>
          <a:xfrm>
            <a:off x="616380" y="2079486"/>
            <a:ext cx="7924800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Specific: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Develop a module to capture caregiver voice logs and automatically remove fillers, hesitations, and spoken corrections.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Measurable: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Measure performance using speech recognition accuracy and disfluency detection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Achievable: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Can be implemented using existing ASR and disfluency handling techniques such as Whisper and NLP-based auto-editing.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Relevant: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Directly supports the need to reduce documentation burden and improve spoken input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Time-bound: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This component will be designed, developed, and tested within the planned research development period.</a:t>
            </a:r>
          </a:p>
        </p:txBody>
      </p:sp>
    </p:spTree>
    <p:extLst>
      <p:ext uri="{BB962C8B-B14F-4D97-AF65-F5344CB8AC3E}">
        <p14:creationId xmlns:p14="http://schemas.microsoft.com/office/powerpoint/2010/main" val="94901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75B2-FA1A-FDEF-97E6-913C33A6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750502-7AD1-928A-8675-89CE59567598}"/>
              </a:ext>
            </a:extLst>
          </p:cNvPr>
          <p:cNvSpPr/>
          <p:nvPr/>
        </p:nvSpPr>
        <p:spPr>
          <a:xfrm>
            <a:off x="591359" y="15308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Sub-Objective - 2 : ADL Extraction and Context-Aware Structuring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3AF02769-2738-7FA5-C239-A3A0412C9180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A9D86F9-8017-94C5-2EC9-E7DCDD17A32E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3B97B6D-BCA8-5325-168C-AF07A0368822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6CAF0A4-D659-6DDB-3043-CF549854531B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9781D86-83C9-C466-BB40-D8D721AEE76C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9B9470E-FA57-112B-7B97-3A5904E852F1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19AD83CB-46B8-0D6D-BFE5-8B0F64C27E89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61B62B9-AC6F-5E4C-BE7F-DEAD40D128E3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6F9F1A18-8545-A000-2483-BD575C94A657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02D37330-E108-084A-77EF-1E46EAC28496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D2E875A-8406-D6AD-F6F5-1B59C8FC7B18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4B1963F-C8E3-8F00-F7A8-E2449B7A76E4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CF4DE2DA-3616-DBAB-4EA6-CED247D95185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2E5E49D-2D0E-06BA-3C27-2B87355A35EC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A737E1D-CAC8-CF85-2847-2F125C109BE8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9B66FA-D952-2E46-6D31-5240F6071EF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CC695C-E404-B4C5-1E73-04D58A6024C0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  </a:t>
            </a:r>
            <a:r>
              <a:rPr lang="en-US" dirty="0">
                <a:solidFill>
                  <a:schemeClr val="tx1"/>
                </a:solidFill>
              </a:rPr>
              <a:t>| R26-DS-010 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32418674-A343-62B1-6C6F-DFABB41A1BEF}"/>
              </a:ext>
            </a:extLst>
          </p:cNvPr>
          <p:cNvSpPr/>
          <p:nvPr/>
        </p:nvSpPr>
        <p:spPr>
          <a:xfrm>
            <a:off x="579986" y="767695"/>
            <a:ext cx="10456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Context-Aware Intelligent System for Automated ADL Extraction and Real-Time Documentation from Caregiver Voice Logs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D80F06-4EEF-191B-A50E-AEE687986E20}"/>
              </a:ext>
            </a:extLst>
          </p:cNvPr>
          <p:cNvSpPr txBox="1"/>
          <p:nvPr/>
        </p:nvSpPr>
        <p:spPr>
          <a:xfrm>
            <a:off x="579986" y="1998107"/>
            <a:ext cx="7924800" cy="330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Specific: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Develop a domain-specific NLP module to extract ADL-related information such as medication, food intake, mobility, hygiene, symptoms, and emotional observations.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Measurable: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Measure extraction performance using precision, recall, and F1-score.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Achievable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Can be developed using named entity recognition, text classification, and context-aware processing methods.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Relevant: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This component is essential for transforming raw caregiver speech into structured care documentation.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Time-bound: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This module will be completed and evaluated during the system implementation and testing stages.</a:t>
            </a:r>
          </a:p>
        </p:txBody>
      </p:sp>
    </p:spTree>
    <p:extLst>
      <p:ext uri="{BB962C8B-B14F-4D97-AF65-F5344CB8AC3E}">
        <p14:creationId xmlns:p14="http://schemas.microsoft.com/office/powerpoint/2010/main" val="409553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995B-EE19-3C71-B227-367E5A45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EC38AA-AD19-A199-CBB2-BCA05291B344}"/>
              </a:ext>
            </a:extLst>
          </p:cNvPr>
          <p:cNvSpPr/>
          <p:nvPr/>
        </p:nvSpPr>
        <p:spPr>
          <a:xfrm>
            <a:off x="609600" y="150418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</a:rPr>
              <a:t>Sub-Objective - 3: Intelligent Reporting and Shift Handover Support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02B6041-50B1-B5D7-ACCF-332FD8D26E88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958C781-535A-5E7C-B3D8-561182374F1D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C41B885-487B-E778-D54C-4FF3858D4C42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FD04EB1-A73D-FB1C-7F1D-330D0512FDBD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C618EBC-84A0-E78A-20B5-2EAB10B4B44A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97E79C4-3E2A-E1F0-A5ED-FBE6B0E8E051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0D18D669-9DFA-488D-D65F-6A8B445B1A95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B2A1D813-7864-02E6-64FD-41DBE7EF0954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127EC7C-25BD-B6AE-A2EE-440AA4F2DD4C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02C3EE4-2A40-83F3-2971-DA9E2C84AB20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02B4940-329A-9ABE-86E4-D57B80ACB184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E369881-9E02-1569-823A-3F43BC6B859F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2DC8B954-D25F-AD2A-FF95-03D48CCA6F39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B7A0C236-AB5B-829F-6172-0980CB1F52F5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6C35906-67D3-9DB4-BF2D-55C2C160D313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E3BA08-B9BB-4593-BFEF-01CE46667B5C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AC863-C4FE-370A-EDE7-8E0DDE94D557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  </a:t>
            </a:r>
            <a:r>
              <a:rPr lang="en-US" dirty="0">
                <a:solidFill>
                  <a:schemeClr val="tx1"/>
                </a:solidFill>
              </a:rPr>
              <a:t>| R26-DS-010 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3B05EAB4-A1D1-D233-838C-69E81D1A79DA}"/>
              </a:ext>
            </a:extLst>
          </p:cNvPr>
          <p:cNvSpPr/>
          <p:nvPr/>
        </p:nvSpPr>
        <p:spPr>
          <a:xfrm>
            <a:off x="609600" y="866105"/>
            <a:ext cx="10477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Context-Aware Intelligent System for Automated ADL Extraction and Real-Time Documentation from Caregiver Voice Logs</a:t>
            </a:r>
          </a:p>
          <a:p>
            <a:endParaRPr lang="en-US" sz="2000" b="1" dirty="0">
              <a:solidFill>
                <a:srgbClr val="0F2742"/>
              </a:solidFill>
              <a:latin typeface="Aptos Display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82AD79-E34E-7C14-9CA9-8FB10A442464}"/>
              </a:ext>
            </a:extLst>
          </p:cNvPr>
          <p:cNvSpPr txBox="1"/>
          <p:nvPr/>
        </p:nvSpPr>
        <p:spPr>
          <a:xfrm>
            <a:off x="457200" y="2250142"/>
            <a:ext cx="7924800" cy="330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Specific: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Generate structured ADL reports and shift handover summaries in text, speech, and 3D avatar video 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Measurable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: Evaluate the summaries based on clarity, completeness, correctness, and usefulness.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Achievable: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Can be implemented by integrating reporting, Text-to-Speech, and 3D avatar presentation technologies.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Relevant: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Supports continuity of care and improves communication between outgoing and incoming caregivers.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Time-bound: </a:t>
            </a: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This feature will be developed in the final stage of the project and validated before the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11654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4087-EFFD-B0CE-7FD7-9E081E7C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204955-85DE-68A1-6767-6D7D9B40A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17" y="2286000"/>
            <a:ext cx="10363200" cy="4034286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Application of Domain Knowledge:</a:t>
            </a:r>
            <a:r>
              <a:rPr lang="en-US" sz="1600" b="1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The proposed system uses healthcare knowledge related to Activities of Daily Living such as medication, meals, mobility, hygiene, sleep, and emotional condition.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8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Research Methodology:</a:t>
            </a:r>
            <a:r>
              <a:rPr lang="en-US" sz="1600" b="1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The study follows requirement analysis, speech processing, natural language processing, system design, implementation, and testing.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8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Knowledge Domain that Contributes to the Methodology: 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The methodology is supported by healthcare knowledge, speech recognition, natural language processing, and intelligent system design.</a:t>
            </a:r>
          </a:p>
          <a:p>
            <a:pPr marL="285750" indent="-285750">
              <a:buChar char="•"/>
            </a:pPr>
            <a:endParaRPr lang="en-US" sz="1600" b="1" dirty="0">
              <a:solidFill>
                <a:schemeClr val="tx1"/>
              </a:solidFill>
              <a:latin typeface="Aptos"/>
              <a:ea typeface="Cambria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Latest Technologies Used:</a:t>
            </a:r>
            <a:r>
              <a:rPr lang="en-US" sz="1600" b="1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Whisper for speech-to-text, </a:t>
            </a:r>
            <a:r>
              <a:rPr lang="en-US" sz="1800" dirty="0" err="1">
                <a:solidFill>
                  <a:srgbClr val="0F2742"/>
                </a:solidFill>
                <a:latin typeface="Aptos"/>
              </a:rPr>
              <a:t>spaCy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 for NLP, NLTK for text preprocessing, Transformers from Hugging Face for context-aware summarization, Porcupine for wake-word detection, and pyttsx3 for text-to-speech.</a:t>
            </a:r>
          </a:p>
          <a:p>
            <a:pPr marL="285750" indent="-285750">
              <a:buSzPct val="100000"/>
              <a:buFont typeface="Arial"/>
              <a:buChar char="•"/>
            </a:pPr>
            <a:endParaRPr lang="en-US" sz="1800" dirty="0">
              <a:solidFill>
                <a:srgbClr val="0F2742"/>
              </a:solidFill>
              <a:latin typeface="Aptos"/>
            </a:endParaRPr>
          </a:p>
          <a:p>
            <a:pPr marL="285750" indent="-285750">
              <a:buChar char="•"/>
            </a:pPr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Validation and Evaluation: 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The system can be evaluated using transcription accuracy, ADL extraction accuracy, usability testing, and the quality of generated reports and shift handover summaries</a:t>
            </a:r>
            <a:r>
              <a:rPr lang="en-US" sz="1600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.</a:t>
            </a:r>
            <a:endParaRPr lang="en-US" sz="1600" dirty="0">
              <a:solidFill>
                <a:schemeClr val="tx1"/>
              </a:solidFill>
              <a:latin typeface="Aptos"/>
              <a:ea typeface="Cambria"/>
            </a:endParaRPr>
          </a:p>
          <a:p>
            <a:pPr marL="285750" indent="-285750">
              <a:buChar char="•"/>
            </a:pPr>
            <a:endParaRPr lang="en-US" sz="1600" b="1" dirty="0">
              <a:solidFill>
                <a:schemeClr val="tx1"/>
              </a:solidFill>
              <a:latin typeface="Aptos"/>
              <a:ea typeface="Cambria"/>
            </a:endParaRPr>
          </a:p>
          <a:p>
            <a:pPr marL="285750" indent="-285750">
              <a:buChar char="•"/>
            </a:pPr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Data Availability, Security, and Ethical Clearance</a:t>
            </a:r>
            <a:r>
              <a:rPr lang="en-US" sz="1600" b="1" dirty="0">
                <a:solidFill>
                  <a:schemeClr val="tx1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1800" dirty="0">
                <a:solidFill>
                  <a:srgbClr val="0F2742"/>
                </a:solidFill>
                <a:latin typeface="Aptos"/>
              </a:rPr>
              <a:t>The system requires caregiver voice data and ADL-related information, while ensuring patient privacy, secure data handling, and proper ethical approval before using real healthcare data.</a:t>
            </a:r>
          </a:p>
          <a:p>
            <a:pPr marL="800100" lvl="1" indent="-342900">
              <a:buFont typeface="Wingdings" pitchFamily="2" charset="2"/>
              <a:buChar char="•"/>
            </a:pPr>
            <a:endParaRPr lang="en-US" sz="1600" dirty="0">
              <a:solidFill>
                <a:srgbClr val="000000"/>
              </a:solidFill>
              <a:ea typeface="Cambria"/>
            </a:endParaRPr>
          </a:p>
          <a:p>
            <a:pPr marL="342900" indent="-342900">
              <a:buChar char="•"/>
            </a:pPr>
            <a:endParaRPr lang="en-US" dirty="0">
              <a:solidFill>
                <a:srgbClr val="000000"/>
              </a:solidFill>
              <a:ea typeface="Cambria"/>
            </a:endParaRPr>
          </a:p>
          <a:p>
            <a:endParaRPr lang="en-US" dirty="0">
              <a:solidFill>
                <a:srgbClr val="898989"/>
              </a:solidFill>
              <a:ea typeface="Cambr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437AD-6398-0E3B-A563-CD257637AEAE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BB9718-7175-F196-E35E-F1101482573A}"/>
              </a:ext>
            </a:extLst>
          </p:cNvPr>
          <p:cNvSpPr/>
          <p:nvPr/>
        </p:nvSpPr>
        <p:spPr>
          <a:xfrm>
            <a:off x="2642154" y="6498081"/>
            <a:ext cx="6200642" cy="3142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4F0CA-C04E-205C-511A-C355EA3DD04C}"/>
              </a:ext>
            </a:extLst>
          </p:cNvPr>
          <p:cNvSpPr txBox="1"/>
          <p:nvPr/>
        </p:nvSpPr>
        <p:spPr>
          <a:xfrm>
            <a:off x="963084" y="375630"/>
            <a:ext cx="1104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 - Aware Intelligent System For Automated ADL Extraction And Real Time Documentation From Caregiver Voice Logs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D646BC-A9E6-1F6E-A099-C4BDF1C7E8A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sz="1800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42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B302B-EF12-7F8E-0DB5-E2F22C0B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BBBC7-DFF1-CE3E-4071-988240C5C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133601"/>
            <a:ext cx="10363200" cy="2971800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2800" dirty="0">
              <a:solidFill>
                <a:schemeClr val="tx1"/>
              </a:solidFill>
              <a:ea typeface="Cambria"/>
            </a:endParaRPr>
          </a:p>
          <a:p>
            <a:endParaRPr lang="en-US" sz="2800" dirty="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endParaRPr lang="en-US" b="1" u="sng" dirty="0">
              <a:solidFill>
                <a:schemeClr val="tx1"/>
              </a:solidFill>
              <a:ea typeface="Cambria"/>
            </a:endParaRP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3874DE-C050-E93C-F2BA-AEA7026BBE0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A8C36700-16BC-621E-5BB6-B3287DD9F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13" r="-163"/>
          <a:stretch>
            <a:fillRect/>
          </a:stretch>
        </p:blipFill>
        <p:spPr>
          <a:xfrm>
            <a:off x="2088311" y="1924621"/>
            <a:ext cx="7699091" cy="4257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8A6474-86FB-678F-EB26-1322D6B0727A}"/>
              </a:ext>
            </a:extLst>
          </p:cNvPr>
          <p:cNvSpPr txBox="1"/>
          <p:nvPr/>
        </p:nvSpPr>
        <p:spPr>
          <a:xfrm>
            <a:off x="963084" y="1273236"/>
            <a:ext cx="58127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System overview</a:t>
            </a:r>
            <a:endParaRPr lang="en-US" sz="2400" b="1" dirty="0">
              <a:solidFill>
                <a:schemeClr val="tx2">
                  <a:lumMod val="49000"/>
                </a:schemeClr>
              </a:solidFill>
              <a:latin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9731F7-8E42-288A-3FEA-3A15BD8D91E5}"/>
              </a:ext>
            </a:extLst>
          </p:cNvPr>
          <p:cNvSpPr/>
          <p:nvPr/>
        </p:nvSpPr>
        <p:spPr>
          <a:xfrm>
            <a:off x="2977491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IT22294098</a:t>
            </a:r>
            <a:r>
              <a:rPr lang="en-US" sz="1800" dirty="0">
                <a:solidFill>
                  <a:schemeClr val="tx1"/>
                </a:solidFill>
              </a:rPr>
              <a:t>   | </a:t>
            </a:r>
            <a:r>
              <a:rPr lang="en-US" dirty="0">
                <a:solidFill>
                  <a:schemeClr val="tx1"/>
                </a:solidFill>
              </a:rPr>
              <a:t>Vidursha Prabagaran</a:t>
            </a:r>
            <a:r>
              <a:rPr lang="en-US" b="1" dirty="0">
                <a:solidFill>
                  <a:schemeClr val="tx1"/>
                </a:solidFill>
              </a:rPr>
              <a:t> 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1EE13-4AFE-8058-B258-FF28A64D0D87}"/>
              </a:ext>
            </a:extLst>
          </p:cNvPr>
          <p:cNvSpPr txBox="1"/>
          <p:nvPr/>
        </p:nvSpPr>
        <p:spPr>
          <a:xfrm>
            <a:off x="963084" y="375630"/>
            <a:ext cx="1104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 – Aware Intelligent System For Automated ADL Extraction And Real Time Documentation From Caregiver Voice Logs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F95569-D7B1-38B0-E184-4303316F9D7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sz="1800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523385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E8182-4A6C-16C1-ED39-716B813A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74B4FA-7B71-A985-E759-0C3675D0C6E7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1B4D914-4043-0692-3AA4-23E7A4525BD3}"/>
              </a:ext>
            </a:extLst>
          </p:cNvPr>
          <p:cNvSpPr txBox="1">
            <a:spLocks/>
          </p:cNvSpPr>
          <p:nvPr/>
        </p:nvSpPr>
        <p:spPr>
          <a:xfrm>
            <a:off x="762000" y="1828800"/>
            <a:ext cx="8305800" cy="479009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Validation: </a:t>
            </a:r>
            <a:r>
              <a:rPr lang="en-US" sz="1500" dirty="0">
                <a:solidFill>
                  <a:srgbClr val="0F2742"/>
                </a:solidFill>
                <a:latin typeface="Aptos"/>
              </a:rPr>
              <a:t>The proposed solution will be evaluated based on speech transcription accuracy, ADL information extraction accuracy, and the quality of the generated reports and shift handover summaries.</a:t>
            </a:r>
          </a:p>
          <a:p>
            <a:pPr marL="0" indent="0">
              <a:buNone/>
            </a:pPr>
            <a:endParaRPr lang="en-US" sz="1600" b="1" dirty="0">
              <a:latin typeface="Aptos"/>
            </a:endParaRPr>
          </a:p>
          <a:p>
            <a:pPr marL="285750" indent="-285750"/>
            <a:endParaRPr lang="en-US" sz="1600" b="1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marL="285750" indent="-285750"/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Usability Testing: </a:t>
            </a: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The system will also be tested to measure how easy, useful, and practical it is for caregivers in real care environments.</a:t>
            </a:r>
          </a:p>
          <a:p>
            <a:pPr marL="285750" indent="-285750"/>
            <a:endParaRPr lang="en-US" sz="1600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marL="285750" indent="-285750"/>
            <a:endParaRPr lang="en-US" sz="1600" b="1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marL="285750" indent="-285750"/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Data Strategy</a:t>
            </a: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: The research will use caregiver voice samples and ADL-related text data for system training, testing, and performance evaluation.</a:t>
            </a:r>
          </a:p>
          <a:p>
            <a:pPr marL="285750" indent="-285750"/>
            <a:endParaRPr lang="en-US" sz="1600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marL="285750" indent="-285750"/>
            <a:endParaRPr lang="en-US" sz="1400" dirty="0">
              <a:latin typeface="Aptos"/>
              <a:ea typeface="+mn-lt"/>
              <a:cs typeface="+mn-lt"/>
            </a:endParaRPr>
          </a:p>
          <a:p>
            <a:pPr marL="285750" indent="-285750"/>
            <a:r>
              <a:rPr lang="en-US" sz="16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Data Security and Ethics: </a:t>
            </a: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All data will be managed securely by anonymizing patient information, maintaining confidentiality, limiting access to authorized users, and following ethical guidelines during data collection and system use.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latin typeface="Aptos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•"/>
            </a:pPr>
            <a:endParaRPr lang="en-US" sz="1600" dirty="0">
              <a:solidFill>
                <a:srgbClr val="000000"/>
              </a:solidFill>
              <a:ea typeface="Cambria"/>
            </a:endParaRPr>
          </a:p>
          <a:p>
            <a:endParaRPr lang="en-US" dirty="0">
              <a:solidFill>
                <a:srgbClr val="000000"/>
              </a:solidFill>
              <a:ea typeface="Cambria"/>
            </a:endParaRPr>
          </a:p>
          <a:p>
            <a:endParaRPr lang="en-US" dirty="0">
              <a:solidFill>
                <a:srgbClr val="898989"/>
              </a:solidFill>
              <a:ea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1735B-2401-F90E-D620-856546303F8C}"/>
              </a:ext>
            </a:extLst>
          </p:cNvPr>
          <p:cNvSpPr txBox="1"/>
          <p:nvPr/>
        </p:nvSpPr>
        <p:spPr>
          <a:xfrm>
            <a:off x="963084" y="375630"/>
            <a:ext cx="1104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Context – Aware Intelligent System For Automated ADL Extraction And Real Time Documentation From Caregiver Voice Logs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D00FFA-3254-8477-A9B8-1522BAA15E9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IT22294098</a:t>
            </a:r>
            <a:r>
              <a:rPr lang="en-US" sz="1800" dirty="0">
                <a:solidFill>
                  <a:schemeClr val="tx1"/>
                </a:solidFill>
              </a:rPr>
              <a:t>   | </a:t>
            </a:r>
            <a:r>
              <a:rPr lang="en-US" b="1" dirty="0">
                <a:solidFill>
                  <a:schemeClr val="tx1"/>
                </a:solidFill>
              </a:rPr>
              <a:t>VIDURSHA PRABAGARAN 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R26-DS-010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9BB0A83D-2EDE-2F81-B1D5-D9B1C59AB21F}"/>
              </a:ext>
            </a:extLst>
          </p:cNvPr>
          <p:cNvSpPr/>
          <p:nvPr/>
        </p:nvSpPr>
        <p:spPr>
          <a:xfrm>
            <a:off x="1066800" y="128242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Validation, Data Strategy, and Implementation Details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61CE7-4CBF-B807-4004-055BEEE4B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7"/>
          <a:stretch>
            <a:fillRect/>
          </a:stretch>
        </p:blipFill>
        <p:spPr>
          <a:xfrm>
            <a:off x="9257876" y="1241315"/>
            <a:ext cx="286958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54ED0-5B19-71C5-C596-16BF52D5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F81B71-BD22-9261-C222-048FD760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47800"/>
            <a:ext cx="11279808" cy="755426"/>
          </a:xfrm>
        </p:spPr>
        <p:txBody>
          <a:bodyPr>
            <a:normAutofit/>
          </a:bodyPr>
          <a:lstStyle/>
          <a:p>
            <a:r>
              <a:rPr lang="en-US" sz="3600" dirty="0"/>
              <a:t>IT22289384 | KAUSHALYA NAGENTHRARAJA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F4ED6B-A7B2-359F-EDC9-AE1FAF54A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120" y="4402975"/>
            <a:ext cx="11287760" cy="1336622"/>
          </a:xfrm>
        </p:spPr>
        <p:txBody>
          <a:bodyPr>
            <a:normAutofit/>
          </a:bodyPr>
          <a:lstStyle/>
          <a:p>
            <a:pPr algn="ctr"/>
            <a:r>
              <a:rPr lang="en-US" sz="33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Component 04: Personalized Sign Language Tutoring System for Caregivers</a:t>
            </a:r>
            <a:endParaRPr lang="en-US" sz="3300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algn="ctr"/>
            <a:endParaRPr lang="en-US" dirty="0">
              <a:solidFill>
                <a:srgbClr val="898989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464F3-63D0-044D-ECC3-549A29F2126F}"/>
              </a:ext>
            </a:extLst>
          </p:cNvPr>
          <p:cNvSpPr/>
          <p:nvPr/>
        </p:nvSpPr>
        <p:spPr>
          <a:xfrm>
            <a:off x="361795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Cambria"/>
              </a:rPr>
              <a:t>IT22289384   | KAUSHALYA NAGENTHRARAJA </a:t>
            </a:r>
            <a:r>
              <a:rPr lang="en-US" dirty="0">
                <a:solidFill>
                  <a:schemeClr val="tx1"/>
                </a:solidFill>
                <a:latin typeface="Cambria"/>
              </a:rPr>
              <a:t>| R26-DS-010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1963B-C4EA-3098-389C-843E0167433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A3C82-DE8C-7F71-4E5C-E107E3E7D1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0" r="5741" b="16667"/>
          <a:stretch>
            <a:fillRect/>
          </a:stretch>
        </p:blipFill>
        <p:spPr>
          <a:xfrm>
            <a:off x="9372600" y="455208"/>
            <a:ext cx="2668048" cy="250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7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A3E0-754A-8967-B286-841BD58D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832D40C9-A69F-8809-1F40-8C57E138B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50662"/>
            <a:ext cx="11361312" cy="114299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F2742"/>
                </a:solidFill>
                <a:latin typeface="Aptos Display" pitchFamily="34" charset="0"/>
                <a:ea typeface="+mn-ea"/>
                <a:cs typeface="+mn-cs"/>
              </a:rPr>
              <a:t>Personalized Sign Language Tutoring System for Caregivers</a:t>
            </a:r>
            <a:r>
              <a:rPr lang="en-US" sz="3000" b="0" dirty="0">
                <a:latin typeface="Calibri"/>
                <a:ea typeface="Calibri"/>
                <a:cs typeface="Calibri"/>
              </a:rPr>
              <a:t> </a:t>
            </a:r>
            <a:br>
              <a:rPr lang="en-US" sz="3000" b="0" dirty="0">
                <a:latin typeface="Calibri"/>
                <a:ea typeface="Calibri"/>
                <a:cs typeface="Calibri"/>
              </a:rPr>
            </a:br>
            <a:endParaRPr lang="en-US" sz="3600" b="0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980473-A206-0597-7CFB-6C1BC4A1C08D}"/>
              </a:ext>
            </a:extLst>
          </p:cNvPr>
          <p:cNvSpPr/>
          <p:nvPr/>
        </p:nvSpPr>
        <p:spPr>
          <a:xfrm>
            <a:off x="2649682" y="6407726"/>
            <a:ext cx="5974772" cy="406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988AA0-B2EB-81CB-76C3-C452B5D5ADF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427CB-9BAE-7038-83A8-6029485D6FAB}"/>
              </a:ext>
            </a:extLst>
          </p:cNvPr>
          <p:cNvSpPr txBox="1"/>
          <p:nvPr/>
        </p:nvSpPr>
        <p:spPr>
          <a:xfrm>
            <a:off x="786562" y="1013816"/>
            <a:ext cx="10643438" cy="25976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Problem Definition:</a:t>
            </a:r>
          </a:p>
          <a:p>
            <a:pPr>
              <a:spcBef>
                <a:spcPct val="20000"/>
              </a:spcBef>
            </a:pPr>
            <a:endParaRPr lang="en-US" sz="1600" b="1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Caregivers struggle to communicate effectively with deaf or hard-of-hearing care recipients during everyday care delivery.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Current sign-learning systems are largely generic and do not adequately support caregiver-specific, guided, and adaptive learning.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This creates a clear need for a personalized tutoring system that improves practical and confidence-building care communication.</a:t>
            </a:r>
          </a:p>
          <a:p>
            <a:endParaRPr lang="en-US" dirty="0">
              <a:ea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674B3-19FF-A0DA-7AF9-CD08741F2236}"/>
              </a:ext>
            </a:extLst>
          </p:cNvPr>
          <p:cNvSpPr txBox="1"/>
          <p:nvPr/>
        </p:nvSpPr>
        <p:spPr>
          <a:xfrm>
            <a:off x="786563" y="3803104"/>
            <a:ext cx="10719638" cy="24129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Novelty</a:t>
            </a:r>
          </a:p>
          <a:p>
            <a:pPr>
              <a:spcBef>
                <a:spcPct val="20000"/>
              </a:spcBef>
            </a:pPr>
            <a:endParaRPr lang="en-US" sz="1600" b="1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marL="228600" indent="-228600">
              <a:spcBef>
                <a:spcPct val="20000"/>
              </a:spcBef>
              <a:buFont typeface=""/>
              <a:buChar char="•"/>
            </a:pP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Caregiver-specific sign tutoring for real care-delivery communication, instead of general sign-language learning</a:t>
            </a:r>
          </a:p>
          <a:p>
            <a:pPr marL="228600" indent="-228600">
              <a:spcBef>
                <a:spcPct val="20000"/>
              </a:spcBef>
              <a:buFont typeface=""/>
              <a:buChar char="•"/>
            </a:pP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Adaptive and explainable learning support through speed-tolerant evaluation and corrective feedback, not just sign recognition</a:t>
            </a:r>
          </a:p>
          <a:p>
            <a:pPr marL="228600" indent="-228600">
              <a:spcBef>
                <a:spcPct val="20000"/>
              </a:spcBef>
              <a:buFont typeface=""/>
              <a:buChar char="•"/>
            </a:pPr>
            <a:r>
              <a:rPr lang="en-US" sz="1600" dirty="0">
                <a:solidFill>
                  <a:schemeClr val="tx2">
                    <a:lumMod val="49000"/>
                  </a:schemeClr>
                </a:solidFill>
                <a:latin typeface="Aptos"/>
                <a:ea typeface="+mn-lt"/>
                <a:cs typeface="+mn-lt"/>
              </a:rPr>
              <a:t>Integrated tutoring approach combining vision-based assessment, 3D avatar guidance, and personalized practice within the overall Caregiver Co-Pilot solution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FD6C2F-CF46-FD85-F44E-9BE409618194}"/>
              </a:ext>
            </a:extLst>
          </p:cNvPr>
          <p:cNvSpPr/>
          <p:nvPr/>
        </p:nvSpPr>
        <p:spPr>
          <a:xfrm>
            <a:off x="361795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Cambria"/>
              </a:rPr>
              <a:t>IT22289384   | KAUSHALYA NAGENTHRARAJA </a:t>
            </a:r>
            <a:r>
              <a:rPr lang="en-US" dirty="0">
                <a:solidFill>
                  <a:schemeClr val="tx1"/>
                </a:solidFill>
                <a:latin typeface="Cambria"/>
              </a:rPr>
              <a:t>| R26-DS-010</a:t>
            </a:r>
          </a:p>
        </p:txBody>
      </p:sp>
    </p:spTree>
    <p:extLst>
      <p:ext uri="{BB962C8B-B14F-4D97-AF65-F5344CB8AC3E}">
        <p14:creationId xmlns:p14="http://schemas.microsoft.com/office/powerpoint/2010/main" val="231157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01F8-F47B-71E6-D21E-B08996C2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B83E35-A5A2-84F9-58C3-44F21F480257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163EA-F480-01F3-B8DC-62C7D5C0FDCF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IT22289384| Kaushalya Nagenthraraja   | R26-DS-010  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F79-DCF8-F0E9-AC51-23F53989B7E3}"/>
              </a:ext>
            </a:extLst>
          </p:cNvPr>
          <p:cNvSpPr txBox="1"/>
          <p:nvPr/>
        </p:nvSpPr>
        <p:spPr>
          <a:xfrm>
            <a:off x="513185" y="2122821"/>
            <a:ext cx="8037807" cy="332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 Define and identify care-related signs and phrases required for routine caregiving communication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Develop a computer vision-based system to evaluate caregiver-performed signs with measurable accuracy and timing tolerance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>
                  <a:lumMod val="49000"/>
                </a:schemeClr>
              </a:solidFill>
              <a:latin typeface="Aptos"/>
              <a:ea typeface="+mn-lt"/>
              <a:cs typeface="+mn-lt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Design interpretable feedback and 3D avatar guidance for correcting hand movement and timing errors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Implement adaptive learning to personalize practice based on user performance and repeated errors1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490" dirty="0">
              <a:solidFill>
                <a:srgbClr val="1F2937"/>
              </a:solidFill>
              <a:latin typeface="Aptos" pitchFamily="34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90" dirty="0">
                <a:solidFill>
                  <a:srgbClr val="1F2937"/>
                </a:solidFill>
                <a:latin typeface="Aptos" pitchFamily="34" charset="0"/>
              </a:rPr>
              <a:t>Evaluate system usability and learning effectiveness through user testing within the project timeline.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76769-922C-E254-D0D1-BD3E7BDC9B0A}"/>
              </a:ext>
            </a:extLst>
          </p:cNvPr>
          <p:cNvSpPr txBox="1"/>
          <p:nvPr/>
        </p:nvSpPr>
        <p:spPr>
          <a:xfrm>
            <a:off x="523345" y="1477355"/>
            <a:ext cx="6526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Objective</a:t>
            </a:r>
            <a:endParaRPr lang="en-US" sz="2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34A4C0C-BD43-1F66-A24D-84E15A7D2F8F}"/>
              </a:ext>
            </a:extLst>
          </p:cNvPr>
          <p:cNvSpPr/>
          <p:nvPr/>
        </p:nvSpPr>
        <p:spPr>
          <a:xfrm>
            <a:off x="8701262" y="1472447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30508AD-116C-1EAC-C589-15E41934D78A}"/>
              </a:ext>
            </a:extLst>
          </p:cNvPr>
          <p:cNvSpPr/>
          <p:nvPr/>
        </p:nvSpPr>
        <p:spPr>
          <a:xfrm>
            <a:off x="8774414" y="1582175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04D9F8E8-5B63-2614-0738-F0901DF5E698}"/>
              </a:ext>
            </a:extLst>
          </p:cNvPr>
          <p:cNvSpPr/>
          <p:nvPr/>
        </p:nvSpPr>
        <p:spPr>
          <a:xfrm>
            <a:off x="8701262" y="2322839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CBBBDBBD-1E1F-46A2-D174-895D7557D9EB}"/>
              </a:ext>
            </a:extLst>
          </p:cNvPr>
          <p:cNvSpPr/>
          <p:nvPr/>
        </p:nvSpPr>
        <p:spPr>
          <a:xfrm>
            <a:off x="8774414" y="2432567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001DB432-C016-98A2-C665-0C992DCCD833}"/>
              </a:ext>
            </a:extLst>
          </p:cNvPr>
          <p:cNvSpPr/>
          <p:nvPr/>
        </p:nvSpPr>
        <p:spPr>
          <a:xfrm>
            <a:off x="8701262" y="3173231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60017FEC-9A31-1372-2491-AB0D04EC75A2}"/>
              </a:ext>
            </a:extLst>
          </p:cNvPr>
          <p:cNvSpPr/>
          <p:nvPr/>
        </p:nvSpPr>
        <p:spPr>
          <a:xfrm>
            <a:off x="8774414" y="3282959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B70AB7A5-F40C-FCC0-2903-CD5A2A48C8D5}"/>
              </a:ext>
            </a:extLst>
          </p:cNvPr>
          <p:cNvSpPr/>
          <p:nvPr/>
        </p:nvSpPr>
        <p:spPr>
          <a:xfrm>
            <a:off x="8701262" y="4023623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1FA7E956-6AD8-D8C5-A0D1-9D65A9E84F52}"/>
              </a:ext>
            </a:extLst>
          </p:cNvPr>
          <p:cNvSpPr/>
          <p:nvPr/>
        </p:nvSpPr>
        <p:spPr>
          <a:xfrm>
            <a:off x="8774414" y="4133351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E34EA149-1E66-D635-969C-11F7D2A815A9}"/>
              </a:ext>
            </a:extLst>
          </p:cNvPr>
          <p:cNvSpPr/>
          <p:nvPr/>
        </p:nvSpPr>
        <p:spPr>
          <a:xfrm>
            <a:off x="8701262" y="4874015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FBAC74E3-8EE9-1ED6-136E-0ABB591425DE}"/>
              </a:ext>
            </a:extLst>
          </p:cNvPr>
          <p:cNvSpPr/>
          <p:nvPr/>
        </p:nvSpPr>
        <p:spPr>
          <a:xfrm>
            <a:off x="8774414" y="4983743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F9BCFF7-2A42-AC77-DACB-4A656C454E15}"/>
              </a:ext>
            </a:extLst>
          </p:cNvPr>
          <p:cNvSpPr/>
          <p:nvPr/>
        </p:nvSpPr>
        <p:spPr>
          <a:xfrm>
            <a:off x="9753600" y="16642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D97B943-999B-37FA-3766-404C15C6D461}"/>
              </a:ext>
            </a:extLst>
          </p:cNvPr>
          <p:cNvSpPr/>
          <p:nvPr/>
        </p:nvSpPr>
        <p:spPr>
          <a:xfrm>
            <a:off x="9753600" y="25024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1351814-B4C6-CBD4-5E0F-C891562364A0}"/>
              </a:ext>
            </a:extLst>
          </p:cNvPr>
          <p:cNvSpPr/>
          <p:nvPr/>
        </p:nvSpPr>
        <p:spPr>
          <a:xfrm>
            <a:off x="9753600" y="3352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1E5F522-AAD2-C4A3-FC6B-3DDCC4CB7518}"/>
              </a:ext>
            </a:extLst>
          </p:cNvPr>
          <p:cNvSpPr/>
          <p:nvPr/>
        </p:nvSpPr>
        <p:spPr>
          <a:xfrm>
            <a:off x="9806473" y="4210055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B6B18F06-B729-419B-A1E0-BB651BDCE206}"/>
              </a:ext>
            </a:extLst>
          </p:cNvPr>
          <p:cNvSpPr/>
          <p:nvPr/>
        </p:nvSpPr>
        <p:spPr>
          <a:xfrm>
            <a:off x="9806473" y="5029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35F6A71A-3C2C-36E2-CE01-375D9834F4A2}"/>
              </a:ext>
            </a:extLst>
          </p:cNvPr>
          <p:cNvSpPr txBox="1">
            <a:spLocks/>
          </p:cNvSpPr>
          <p:nvPr/>
        </p:nvSpPr>
        <p:spPr>
          <a:xfrm>
            <a:off x="523345" y="466275"/>
            <a:ext cx="11361312" cy="62211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PERSONALIZED SIGN LANGUAGE TUTORING SYSTEM FOR CAREGIVERS</a:t>
            </a:r>
            <a:r>
              <a:rPr lang="en-US" sz="2000" b="1" dirty="0">
                <a:latin typeface="Calibri"/>
                <a:ea typeface="Calibri"/>
                <a:cs typeface="Calibri"/>
              </a:rPr>
              <a:t> 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63375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0E48E-AF0E-321D-31AD-06FF3C8F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4D5733-91A5-CDCE-608C-5B49B8F7BF46}"/>
              </a:ext>
            </a:extLst>
          </p:cNvPr>
          <p:cNvSpPr/>
          <p:nvPr/>
        </p:nvSpPr>
        <p:spPr>
          <a:xfrm>
            <a:off x="591359" y="15308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Aptos Display" panose="020B0004020202020204" pitchFamily="34" charset="0"/>
              </a:rPr>
              <a:t>Sub-Objective 1: Care-Related Sign Identification and Definition</a:t>
            </a:r>
          </a:p>
          <a:p>
            <a:pPr marL="0" indent="0">
              <a:buNone/>
            </a:pPr>
            <a:endParaRPr lang="en-US" sz="2400" b="1" dirty="0">
              <a:latin typeface="Aptos Display" panose="020B0004020202020204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D450A98E-8490-3F92-B0C5-A86F129BF31F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2EBC0F1-7488-F773-3958-18338D281358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1204269-FBCE-E397-3B5C-B7C3564A3143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1076EA9-4D20-FE79-32C0-D8F22F94B76E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435C6E1-3DA5-B75A-3DE3-74F4B04AB55C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67D99ED-0249-6080-6606-9C0B3672A4C5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C234868F-9DAC-102E-E5C8-58872863DDBA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EC27875-B153-995C-5B35-0071B36F79E8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808A2E0-B62D-4E64-A1BF-21DC186A58C0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794F493C-F7E4-B112-2CE6-71EF77C07C5F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1155D48-C121-FDAA-AE2E-074A25FBEF0E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A79BDEE3-9EC9-9FB0-4537-F2647A167234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48FA0B0D-4A4E-241E-2B63-CE4782127C7F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EF49C4A-C01C-A60A-3359-0686911CACB2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924507B-B643-FE09-053E-9CEE8C814C5C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84A793-6D06-EC21-35BC-017B3C03F94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87FE03-8219-843B-5AAF-6EFC7D07AAD2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IT22289384 | Kaushalya Nagenthraraja | R26-DS-010  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B2DA14D2-1320-BAC2-4D07-57E8570D9A14}"/>
              </a:ext>
            </a:extLst>
          </p:cNvPr>
          <p:cNvSpPr/>
          <p:nvPr/>
        </p:nvSpPr>
        <p:spPr>
          <a:xfrm>
            <a:off x="2209800" y="612396"/>
            <a:ext cx="10456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PERSONALIZED SIGN LANGUAGE TUTORING SYSTEM FOR CAREGIVERS</a:t>
            </a:r>
            <a:r>
              <a:rPr lang="en-US" sz="2000" b="1" dirty="0">
                <a:latin typeface="Calibri"/>
                <a:ea typeface="Calibri"/>
                <a:cs typeface="Calibri"/>
              </a:rPr>
              <a:t> 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endParaRPr 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643D5D-FDE4-4D93-FD00-6583A5B88471}"/>
              </a:ext>
            </a:extLst>
          </p:cNvPr>
          <p:cNvSpPr txBox="1"/>
          <p:nvPr/>
        </p:nvSpPr>
        <p:spPr>
          <a:xfrm>
            <a:off x="565959" y="1917019"/>
            <a:ext cx="8028094" cy="353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Specific: </a:t>
            </a:r>
            <a:r>
              <a:rPr lang="en-US" sz="1600" dirty="0">
                <a:latin typeface="Aptos" panose="020B0004020202020204" pitchFamily="34" charset="0"/>
              </a:rPr>
              <a:t>Develop a structured set of essential care-related sign language gestures and phrases required for routine caregiving communication scenarios.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.</a:t>
            </a: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Measurable: </a:t>
            </a:r>
            <a:r>
              <a:rPr lang="en-US" sz="1600" dirty="0">
                <a:latin typeface="Aptos" panose="020B0004020202020204" pitchFamily="34" charset="0"/>
              </a:rPr>
              <a:t>Evaluate completeness by compiling a validated set of approximately 20–50 key signs and ensuring coverage of common caregiving tasks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Achievable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: </a:t>
            </a:r>
            <a:r>
              <a:rPr lang="en-US" sz="1600" dirty="0">
                <a:latin typeface="Aptos" panose="020B0004020202020204" pitchFamily="34" charset="0"/>
              </a:rPr>
              <a:t>Can be implemented using literature review, expert consultation, and analysis of real-world caregiving communication needs.</a:t>
            </a:r>
          </a:p>
          <a:p>
            <a:pPr algn="just"/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Relevant: </a:t>
            </a:r>
            <a:r>
              <a:rPr lang="en-US" sz="1600" dirty="0">
                <a:latin typeface="Aptos" panose="020B0004020202020204" pitchFamily="34" charset="0"/>
              </a:rPr>
              <a:t>This component is essential for ensuring that the tutoring system focuses on practical, caregiver-specific communication rather than general vocabulary.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Time-bound: </a:t>
            </a:r>
            <a:r>
              <a:rPr lang="en-US" sz="1600" dirty="0">
                <a:latin typeface="Aptos" panose="020B0004020202020204" pitchFamily="34" charset="0"/>
              </a:rPr>
              <a:t>This module will be completed during the initial phase of the project before system design and development.</a:t>
            </a:r>
            <a:endParaRPr lang="en-US" sz="149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92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539FC-689A-3607-6B89-5A388F1F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1969FB-9841-7A54-AB9B-937B13D7F13D}"/>
              </a:ext>
            </a:extLst>
          </p:cNvPr>
          <p:cNvSpPr/>
          <p:nvPr/>
        </p:nvSpPr>
        <p:spPr>
          <a:xfrm>
            <a:off x="591359" y="14478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 Display" panose="020B0004020202020204" pitchFamily="34" charset="0"/>
              </a:rPr>
              <a:t>Sub-Objective - 2 :</a:t>
            </a:r>
            <a:r>
              <a:rPr lang="en-US" sz="2400" b="1" dirty="0">
                <a:latin typeface="Aptos Display" panose="020B0004020202020204" pitchFamily="34" charset="0"/>
              </a:rPr>
              <a:t>Gesture Capture and Evaluation Module</a:t>
            </a:r>
            <a:endParaRPr lang="en-US" sz="2400" b="1" dirty="0">
              <a:solidFill>
                <a:srgbClr val="0F2742"/>
              </a:solidFill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Aptos Display" panose="020B0004020202020204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2064B58-562F-0530-0D93-0EFDE06492C7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4DEAEAA-E98D-47BC-F315-526F25F4242B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580A6C67-D22B-6AB5-B3F6-795C69F26350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9A8A74D-CBC9-0B9D-6ADB-BE3850B98C71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3C55900-9A85-9305-0A37-A11F122D0148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067D946-FD2E-3084-9866-68D3076C8716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6716BB15-2030-54F7-B1D8-0B520D633155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1E9E358-7772-354F-3EC4-1F7BF27E831B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FD59BA0A-382B-F6F9-EA17-553D4E2F9A11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0042B788-9E6A-3C51-F8D4-CB4FE8A7BA5B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3A102676-5D64-EB61-DDEA-C30EDE7F91DA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05920A5F-E69D-1873-27CB-4380DD45F671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FCF48C59-8E3F-BD5E-4420-6D6B84D8AC1D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705B60D-7D86-1C43-7AE3-F1A23165A42E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864841C-58E3-A456-85D0-DABA0BE07A98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86F7DB-5AA4-AFBD-66CA-6C86778102FA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CDFE59-C487-851D-8188-E134EF801A45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IT22289384 | Kaushalya Nagenthraraja | R26-DS-010  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5DE2E259-561B-159B-601A-FFF237E7FFF1}"/>
              </a:ext>
            </a:extLst>
          </p:cNvPr>
          <p:cNvSpPr/>
          <p:nvPr/>
        </p:nvSpPr>
        <p:spPr>
          <a:xfrm>
            <a:off x="2209800" y="612396"/>
            <a:ext cx="10456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PERSONALIZED SIGN LANGUAGE TUTORING SYSTEM FOR CAREGIVERS</a:t>
            </a:r>
            <a:r>
              <a:rPr lang="en-US" sz="2000" b="1" dirty="0">
                <a:latin typeface="Calibri"/>
                <a:ea typeface="Calibri"/>
                <a:cs typeface="Calibri"/>
              </a:rPr>
              <a:t> 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endParaRPr 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9BBF5B-524D-8A88-E1D5-F8231448CC34}"/>
              </a:ext>
            </a:extLst>
          </p:cNvPr>
          <p:cNvSpPr txBox="1"/>
          <p:nvPr/>
        </p:nvSpPr>
        <p:spPr>
          <a:xfrm>
            <a:off x="579986" y="1998107"/>
            <a:ext cx="7924800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Specific: </a:t>
            </a:r>
            <a:r>
              <a:rPr lang="en-US" sz="1600" dirty="0">
                <a:latin typeface="Aptos" panose="020B0004020202020204" pitchFamily="34" charset="0"/>
              </a:rPr>
              <a:t>Develop a computer vision-based module to capture caregiver-performed sign gestures and evaluate them using hand landmark detection and motion analysis</a:t>
            </a: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Measurable: </a:t>
            </a:r>
            <a:r>
              <a:rPr lang="en-US" sz="1600" dirty="0">
                <a:latin typeface="Aptos" panose="020B0004020202020204" pitchFamily="34" charset="0"/>
              </a:rPr>
              <a:t>Measure performance using gesture evaluation accuracy, timing tolerance, and consistency of landmark detection across multiple attempts.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Achievable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: </a:t>
            </a:r>
            <a:r>
              <a:rPr lang="en-US" sz="1600" dirty="0">
                <a:latin typeface="Aptos" panose="020B0004020202020204" pitchFamily="34" charset="0"/>
              </a:rPr>
              <a:t>Can be implemented using existing frameworks such as </a:t>
            </a:r>
            <a:r>
              <a:rPr lang="en-US" sz="1600" dirty="0" err="1">
                <a:latin typeface="Aptos" panose="020B0004020202020204" pitchFamily="34" charset="0"/>
              </a:rPr>
              <a:t>MediaPipe</a:t>
            </a:r>
            <a:r>
              <a:rPr lang="en-US" sz="1600" dirty="0">
                <a:latin typeface="Aptos" panose="020B0004020202020204" pitchFamily="34" charset="0"/>
              </a:rPr>
              <a:t> for hand tracking and Dynamic Time Warping (DTW) for sequence comparison.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Relevant: </a:t>
            </a:r>
            <a:r>
              <a:rPr lang="en-US" sz="1600" dirty="0">
                <a:latin typeface="Aptos" panose="020B0004020202020204" pitchFamily="34" charset="0"/>
              </a:rPr>
              <a:t>This component is critical for enabling real-time assessment of caregiver-performed signs and forming the foundation for feedback generation.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Time-bound: 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This module will be completed and evaluated during the system implementation and testing stages.</a:t>
            </a:r>
          </a:p>
        </p:txBody>
      </p:sp>
    </p:spTree>
    <p:extLst>
      <p:ext uri="{BB962C8B-B14F-4D97-AF65-F5344CB8AC3E}">
        <p14:creationId xmlns:p14="http://schemas.microsoft.com/office/powerpoint/2010/main" val="160866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FEF9-1255-8C8E-AD0D-E0806D33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9CCB19-8951-620E-B402-7586D6B86D8E}"/>
              </a:ext>
            </a:extLst>
          </p:cNvPr>
          <p:cNvSpPr/>
          <p:nvPr/>
        </p:nvSpPr>
        <p:spPr>
          <a:xfrm>
            <a:off x="591359" y="13716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2"/>
                </a:solidFill>
                <a:latin typeface="Aptos" panose="020B0004020202020204" pitchFamily="34" charset="0"/>
              </a:rPr>
              <a:t>Sub-Objective - 3 : </a:t>
            </a:r>
            <a:r>
              <a:rPr lang="en-US" sz="2400" b="1" dirty="0">
                <a:latin typeface="Aptos" panose="020B0004020202020204" pitchFamily="34" charset="0"/>
              </a:rPr>
              <a:t>Interpretable Feedback and 3D Avatar Guidance</a:t>
            </a:r>
            <a:endParaRPr lang="en-US" sz="2400" b="1" dirty="0">
              <a:solidFill>
                <a:srgbClr val="0F274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0A162DF4-1807-3FE4-E285-5C7403ECDEA8}"/>
              </a:ext>
            </a:extLst>
          </p:cNvPr>
          <p:cNvSpPr/>
          <p:nvPr/>
        </p:nvSpPr>
        <p:spPr>
          <a:xfrm>
            <a:off x="8780106" y="175611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1FA6A1"/>
          </a:solidFill>
          <a:ln w="12700">
            <a:solidFill>
              <a:srgbClr val="1FA6A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8151E41-6FCC-71AF-B0DE-CD5BEBC6C383}"/>
              </a:ext>
            </a:extLst>
          </p:cNvPr>
          <p:cNvSpPr/>
          <p:nvPr/>
        </p:nvSpPr>
        <p:spPr>
          <a:xfrm>
            <a:off x="8853258" y="1865846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020602A-2024-EBC0-0AB5-00FCC3FA2F03}"/>
              </a:ext>
            </a:extLst>
          </p:cNvPr>
          <p:cNvSpPr/>
          <p:nvPr/>
        </p:nvSpPr>
        <p:spPr>
          <a:xfrm>
            <a:off x="9624527" y="191581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Specific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83C1F0B9-DDB6-2F5F-D404-8804242BCCEB}"/>
              </a:ext>
            </a:extLst>
          </p:cNvPr>
          <p:cNvSpPr/>
          <p:nvPr/>
        </p:nvSpPr>
        <p:spPr>
          <a:xfrm>
            <a:off x="8780106" y="260651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E1B33AB-67DC-7F42-9806-A71C46871085}"/>
              </a:ext>
            </a:extLst>
          </p:cNvPr>
          <p:cNvSpPr/>
          <p:nvPr/>
        </p:nvSpPr>
        <p:spPr>
          <a:xfrm>
            <a:off x="8853258" y="2716238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M</a:t>
            </a:r>
            <a:endParaRPr lang="en-US" sz="2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5F492C32-ACA7-5BC7-D6B7-A5101B515C2B}"/>
              </a:ext>
            </a:extLst>
          </p:cNvPr>
          <p:cNvSpPr/>
          <p:nvPr/>
        </p:nvSpPr>
        <p:spPr>
          <a:xfrm>
            <a:off x="9633857" y="2896781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78CAE353-6801-6C32-0800-EBDA09768C46}"/>
              </a:ext>
            </a:extLst>
          </p:cNvPr>
          <p:cNvSpPr/>
          <p:nvPr/>
        </p:nvSpPr>
        <p:spPr>
          <a:xfrm>
            <a:off x="8780106" y="345690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8062750-6B5A-7513-1B00-50C7EA7D01B7}"/>
              </a:ext>
            </a:extLst>
          </p:cNvPr>
          <p:cNvSpPr/>
          <p:nvPr/>
        </p:nvSpPr>
        <p:spPr>
          <a:xfrm>
            <a:off x="8853258" y="3566630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A</a:t>
            </a:r>
            <a:endParaRPr lang="en-US" sz="2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FAE33B5-989F-61B8-A835-A40806AD9B0C}"/>
              </a:ext>
            </a:extLst>
          </p:cNvPr>
          <p:cNvSpPr/>
          <p:nvPr/>
        </p:nvSpPr>
        <p:spPr>
          <a:xfrm>
            <a:off x="9624527" y="36991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225B1F8C-9809-913C-4BE0-C553494D9F53}"/>
              </a:ext>
            </a:extLst>
          </p:cNvPr>
          <p:cNvSpPr/>
          <p:nvPr/>
        </p:nvSpPr>
        <p:spPr>
          <a:xfrm>
            <a:off x="8780106" y="430729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D9959D1-533C-1FB1-094B-F245FB13987A}"/>
              </a:ext>
            </a:extLst>
          </p:cNvPr>
          <p:cNvSpPr/>
          <p:nvPr/>
        </p:nvSpPr>
        <p:spPr>
          <a:xfrm>
            <a:off x="8853258" y="4417022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R</a:t>
            </a:r>
            <a:endParaRPr lang="en-US" sz="2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9F0A026F-47F1-8B13-FB61-63294F848967}"/>
              </a:ext>
            </a:extLst>
          </p:cNvPr>
          <p:cNvSpPr/>
          <p:nvPr/>
        </p:nvSpPr>
        <p:spPr>
          <a:xfrm>
            <a:off x="9677400" y="454449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A310E01F-06AE-FE9E-7B20-024475E23C1A}"/>
              </a:ext>
            </a:extLst>
          </p:cNvPr>
          <p:cNvSpPr/>
          <p:nvPr/>
        </p:nvSpPr>
        <p:spPr>
          <a:xfrm>
            <a:off x="8780106" y="515768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57BAC304-734F-9073-6EDA-CB7CC1549357}"/>
              </a:ext>
            </a:extLst>
          </p:cNvPr>
          <p:cNvSpPr/>
          <p:nvPr/>
        </p:nvSpPr>
        <p:spPr>
          <a:xfrm>
            <a:off x="8853258" y="5267414"/>
            <a:ext cx="5120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2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D9674A7-F20A-9EAB-B2B2-B73A3BFDF859}"/>
              </a:ext>
            </a:extLst>
          </p:cNvPr>
          <p:cNvSpPr/>
          <p:nvPr/>
        </p:nvSpPr>
        <p:spPr>
          <a:xfrm>
            <a:off x="9677400" y="538799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75F3D8-49F2-521F-0C78-7CE05D02BA9D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551BCD-513E-DCA7-8331-D53CBEC25C50}"/>
              </a:ext>
            </a:extLst>
          </p:cNvPr>
          <p:cNvSpPr/>
          <p:nvPr/>
        </p:nvSpPr>
        <p:spPr>
          <a:xfrm>
            <a:off x="2632435" y="6492874"/>
            <a:ext cx="72735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            IT22289384 | Kaushalya Nagenthraraja | R26-DS-010  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3035A71-1B7A-6276-F8B6-1B1D92115D69}"/>
              </a:ext>
            </a:extLst>
          </p:cNvPr>
          <p:cNvSpPr/>
          <p:nvPr/>
        </p:nvSpPr>
        <p:spPr>
          <a:xfrm>
            <a:off x="2209800" y="612396"/>
            <a:ext cx="10456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Aptos Display" pitchFamily="34" charset="0"/>
              </a:rPr>
              <a:t>PERSONALIZED SIGN LANGUAGE TUTORING SYSTEM FOR CAREGIVERS</a:t>
            </a:r>
            <a:r>
              <a:rPr lang="en-US" sz="2000" b="1" dirty="0">
                <a:latin typeface="Calibri"/>
                <a:ea typeface="Calibri"/>
                <a:cs typeface="Calibri"/>
              </a:rPr>
              <a:t> </a:t>
            </a:r>
            <a:br>
              <a:rPr lang="en-US" sz="2000" b="1" dirty="0">
                <a:latin typeface="Calibri"/>
                <a:ea typeface="Calibri"/>
                <a:cs typeface="Calibri"/>
              </a:rPr>
            </a:br>
            <a:endParaRPr 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B6C2D0-AD32-FA29-E884-4F97D7F141B8}"/>
              </a:ext>
            </a:extLst>
          </p:cNvPr>
          <p:cNvSpPr txBox="1"/>
          <p:nvPr/>
        </p:nvSpPr>
        <p:spPr>
          <a:xfrm>
            <a:off x="579986" y="1998107"/>
            <a:ext cx="7924800" cy="396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Specific: </a:t>
            </a:r>
            <a:r>
              <a:rPr lang="en-US" sz="1600" dirty="0">
                <a:latin typeface="Aptos" panose="020B0004020202020204" pitchFamily="34" charset="0"/>
              </a:rPr>
              <a:t>Develop a feedback module that generates interpretable corrective guidance and provides real-time 3D avatar demonstrations to assist users in correcting hand movement and timing errors.</a:t>
            </a: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Measurable: </a:t>
            </a:r>
            <a:r>
              <a:rPr lang="en-US" sz="1600" dirty="0">
                <a:latin typeface="Aptos" panose="020B0004020202020204" pitchFamily="34" charset="0"/>
              </a:rPr>
              <a:t>Evaluate effectiveness based on clarity of feedback, reduction in repeated errors, and improvement in user performance over successive practice attempts.</a:t>
            </a:r>
            <a:endParaRPr lang="en-US" sz="149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anose="020B0004020202020204" pitchFamily="34" charset="0"/>
              </a:rPr>
              <a:t>Achievable</a:t>
            </a:r>
            <a:r>
              <a:rPr lang="en-US" sz="1490" dirty="0">
                <a:solidFill>
                  <a:srgbClr val="1F2937"/>
                </a:solidFill>
                <a:latin typeface="Aptos" panose="020B0004020202020204" pitchFamily="34" charset="0"/>
              </a:rPr>
              <a:t>: </a:t>
            </a:r>
            <a:r>
              <a:rPr lang="en-US" sz="1600" dirty="0">
                <a:latin typeface="Aptos" panose="020B0004020202020204" pitchFamily="34" charset="0"/>
              </a:rPr>
              <a:t>Can be implemented using rule-based feedback mechanisms combined with 3D visualization tools such as Three.js for avatar-based guidance.</a:t>
            </a:r>
            <a:endParaRPr lang="en-US" sz="149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 err="1">
                <a:solidFill>
                  <a:srgbClr val="1F2937"/>
                </a:solidFill>
                <a:latin typeface="Aptos" panose="020B0004020202020204" pitchFamily="34" charset="0"/>
              </a:rPr>
              <a:t>Relevant:</a:t>
            </a:r>
            <a:r>
              <a:rPr lang="en-US" sz="1600" dirty="0" err="1">
                <a:latin typeface="Aptos" panose="020B0004020202020204" pitchFamily="34" charset="0"/>
              </a:rPr>
              <a:t>This</a:t>
            </a:r>
            <a:r>
              <a:rPr lang="en-US" sz="1600" dirty="0">
                <a:latin typeface="Aptos" panose="020B0004020202020204" pitchFamily="34" charset="0"/>
              </a:rPr>
              <a:t> component is essential for transforming gesture evaluation results into actionable learning support, improving user understanding and skill acquisition.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90" b="1" dirty="0">
              <a:solidFill>
                <a:srgbClr val="1F2937"/>
              </a:solidFill>
              <a:latin typeface="Aptos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90" b="1" dirty="0">
                <a:solidFill>
                  <a:srgbClr val="1F2937"/>
                </a:solidFill>
                <a:latin typeface="Aptos" pitchFamily="34" charset="0"/>
              </a:rPr>
              <a:t>Time-bound: </a:t>
            </a:r>
            <a:r>
              <a:rPr lang="en-US" sz="1600" dirty="0">
                <a:latin typeface="Aptos" panose="020B0004020202020204" pitchFamily="34" charset="0"/>
              </a:rPr>
              <a:t>This component is essential for transforming gesture evaluation results into actionable learning support, improving user understanding and skill acquisition.</a:t>
            </a:r>
            <a:endParaRPr lang="en-US" sz="149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52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AEE8-FEDE-F078-3114-47FBFE716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F863DA5-64C0-A179-0BE7-CAFE701A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1"/>
            <a:ext cx="10363200" cy="1142999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63072-DDF0-1186-9505-061712F5B1AA}"/>
              </a:ext>
            </a:extLst>
          </p:cNvPr>
          <p:cNvSpPr/>
          <p:nvPr/>
        </p:nvSpPr>
        <p:spPr>
          <a:xfrm>
            <a:off x="2649682" y="6407726"/>
            <a:ext cx="5974772" cy="406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1F0C3F-3E20-F85B-788C-9EDCDE8A2E67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669BE4-19DF-3844-5045-554ED520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795635"/>
            <a:ext cx="11643360" cy="55207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FBB8C0-7206-430A-E6BB-A899FED6A932}"/>
              </a:ext>
            </a:extLst>
          </p:cNvPr>
          <p:cNvSpPr/>
          <p:nvPr/>
        </p:nvSpPr>
        <p:spPr>
          <a:xfrm>
            <a:off x="361795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>
                <a:solidFill>
                  <a:schemeClr val="tx1"/>
                </a:solidFill>
                <a:latin typeface="Cambria"/>
              </a:rPr>
              <a:t>IT22289384   | Kaushalya N  | R26-DS-010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EBA161E-2892-1552-EA44-AF9744721A25}"/>
              </a:ext>
            </a:extLst>
          </p:cNvPr>
          <p:cNvSpPr txBox="1">
            <a:spLocks/>
          </p:cNvSpPr>
          <p:nvPr/>
        </p:nvSpPr>
        <p:spPr>
          <a:xfrm>
            <a:off x="1905000" y="250662"/>
            <a:ext cx="11361312" cy="1142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000">
                <a:solidFill>
                  <a:srgbClr val="0F2742"/>
                </a:solidFill>
                <a:latin typeface="Aptos Display" pitchFamily="34" charset="0"/>
                <a:ea typeface="+mn-ea"/>
                <a:cs typeface="+mn-cs"/>
              </a:rPr>
              <a:t>Personalized Sign Language Tutoring System for Caregivers</a:t>
            </a:r>
            <a:r>
              <a:rPr lang="en-US" sz="3000" b="0">
                <a:latin typeface="Calibri"/>
                <a:ea typeface="Calibri"/>
                <a:cs typeface="Calibri"/>
              </a:rPr>
              <a:t> </a:t>
            </a:r>
            <a:br>
              <a:rPr lang="en-US" sz="3000" b="0">
                <a:latin typeface="Calibri"/>
                <a:ea typeface="Calibri"/>
                <a:cs typeface="Calibri"/>
              </a:rPr>
            </a:br>
            <a:endParaRPr lang="en-US" sz="3600" b="0"/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A5A614-E20B-11F0-4A96-3A8643230562}"/>
              </a:ext>
            </a:extLst>
          </p:cNvPr>
          <p:cNvSpPr/>
          <p:nvPr/>
        </p:nvSpPr>
        <p:spPr>
          <a:xfrm>
            <a:off x="2667000" y="6492875"/>
            <a:ext cx="73497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Cambria"/>
              </a:rPr>
              <a:t>      IT22289384   | KAUSHALYA NAGENTHRARAJA </a:t>
            </a:r>
            <a:r>
              <a:rPr lang="en-US" dirty="0">
                <a:solidFill>
                  <a:schemeClr val="tx1"/>
                </a:solidFill>
                <a:latin typeface="Cambria"/>
              </a:rPr>
              <a:t>| R26-DS-010</a:t>
            </a:r>
          </a:p>
        </p:txBody>
      </p:sp>
    </p:spTree>
    <p:extLst>
      <p:ext uri="{BB962C8B-B14F-4D97-AF65-F5344CB8AC3E}">
        <p14:creationId xmlns:p14="http://schemas.microsoft.com/office/powerpoint/2010/main" val="79195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8B35C9-DA4B-9D19-345A-C808216B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63" y="770681"/>
            <a:ext cx="11730673" cy="5628097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A90767-D6EB-01D9-D0B0-5D5676229E5C}"/>
              </a:ext>
            </a:extLst>
          </p:cNvPr>
          <p:cNvSpPr/>
          <p:nvPr/>
        </p:nvSpPr>
        <p:spPr>
          <a:xfrm>
            <a:off x="2649682" y="6356926"/>
            <a:ext cx="5974772" cy="406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0725DE-5CCE-7AC8-C0C2-FEA1E857D3CD}"/>
              </a:ext>
            </a:extLst>
          </p:cNvPr>
          <p:cNvSpPr/>
          <p:nvPr/>
        </p:nvSpPr>
        <p:spPr>
          <a:xfrm>
            <a:off x="361795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>
                <a:solidFill>
                  <a:schemeClr val="tx1"/>
                </a:solidFill>
                <a:latin typeface="Cambria"/>
              </a:rPr>
              <a:t>IT22289384   | Kaushalya N  | R26-DS-010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89741FE0-6476-B862-564D-B671703BAC9F}"/>
              </a:ext>
            </a:extLst>
          </p:cNvPr>
          <p:cNvSpPr txBox="1">
            <a:spLocks/>
          </p:cNvSpPr>
          <p:nvPr/>
        </p:nvSpPr>
        <p:spPr>
          <a:xfrm>
            <a:off x="1905000" y="199181"/>
            <a:ext cx="11361312" cy="1142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000" dirty="0">
                <a:solidFill>
                  <a:srgbClr val="0F2742"/>
                </a:solidFill>
                <a:latin typeface="Aptos Display" pitchFamily="34" charset="0"/>
                <a:ea typeface="+mn-ea"/>
                <a:cs typeface="+mn-cs"/>
              </a:rPr>
              <a:t>Personalized Sign Language Tutoring System for Caregivers</a:t>
            </a:r>
            <a:r>
              <a:rPr lang="en-US" sz="3000" b="0" dirty="0">
                <a:latin typeface="Calibri"/>
                <a:ea typeface="Calibri"/>
                <a:cs typeface="Calibri"/>
              </a:rPr>
              <a:t> </a:t>
            </a:r>
            <a:br>
              <a:rPr lang="en-US" sz="3000" b="0" dirty="0">
                <a:latin typeface="Calibri"/>
                <a:ea typeface="Calibri"/>
                <a:cs typeface="Calibri"/>
              </a:rPr>
            </a:br>
            <a:endParaRPr lang="en-US" sz="3600" b="0" dirty="0"/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3044D0-A2C4-6130-1412-712B9AE28B99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7CA357-79D5-D2B7-4B16-0EB27AF38465}"/>
              </a:ext>
            </a:extLst>
          </p:cNvPr>
          <p:cNvSpPr/>
          <p:nvPr/>
        </p:nvSpPr>
        <p:spPr>
          <a:xfrm>
            <a:off x="2667000" y="6492875"/>
            <a:ext cx="73497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Cambria"/>
              </a:rPr>
              <a:t>      IT22289384   | KAUSHALYA NAGENTHRARAJA </a:t>
            </a:r>
            <a:r>
              <a:rPr lang="en-US" dirty="0">
                <a:solidFill>
                  <a:schemeClr val="tx1"/>
                </a:solidFill>
                <a:latin typeface="Cambria"/>
              </a:rPr>
              <a:t>| R26-DS-010</a:t>
            </a:r>
          </a:p>
        </p:txBody>
      </p:sp>
    </p:spTree>
    <p:extLst>
      <p:ext uri="{BB962C8B-B14F-4D97-AF65-F5344CB8AC3E}">
        <p14:creationId xmlns:p14="http://schemas.microsoft.com/office/powerpoint/2010/main" val="140321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59926-BC91-B7BB-3A6A-617B942E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77A01E-8FB0-C536-1D73-D26BBA5B5BEC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diagram of a sign language tutoring system&#10;&#10;AI-generated content may be incorrect.">
            <a:extLst>
              <a:ext uri="{FF2B5EF4-FFF2-40B4-BE49-F238E27FC236}">
                <a16:creationId xmlns:a16="http://schemas.microsoft.com/office/drawing/2014/main" id="{93CDA713-9DC6-44FD-D033-AD11893A8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1" t="186" r="4726" b="1679"/>
          <a:stretch>
            <a:fillRect/>
          </a:stretch>
        </p:blipFill>
        <p:spPr>
          <a:xfrm>
            <a:off x="1714500" y="815661"/>
            <a:ext cx="8151675" cy="56452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788EF6-86AF-DB2D-5532-CFC1CA99FDD2}"/>
              </a:ext>
            </a:extLst>
          </p:cNvPr>
          <p:cNvSpPr/>
          <p:nvPr/>
        </p:nvSpPr>
        <p:spPr>
          <a:xfrm>
            <a:off x="2606752" y="6453518"/>
            <a:ext cx="5974772" cy="406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22971-A85F-8C50-19EA-87F32766365E}"/>
              </a:ext>
            </a:extLst>
          </p:cNvPr>
          <p:cNvSpPr/>
          <p:nvPr/>
        </p:nvSpPr>
        <p:spPr>
          <a:xfrm>
            <a:off x="361795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>
                <a:solidFill>
                  <a:schemeClr val="tx1"/>
                </a:solidFill>
                <a:latin typeface="Cambria"/>
              </a:rPr>
              <a:t>IT22289384   | Kaushalya N  | R26-DS-010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9E907015-405F-DBA4-41D1-1DC7DFBEA778}"/>
              </a:ext>
            </a:extLst>
          </p:cNvPr>
          <p:cNvSpPr txBox="1">
            <a:spLocks/>
          </p:cNvSpPr>
          <p:nvPr/>
        </p:nvSpPr>
        <p:spPr>
          <a:xfrm>
            <a:off x="1905000" y="199181"/>
            <a:ext cx="11361312" cy="1142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000" dirty="0">
                <a:solidFill>
                  <a:srgbClr val="0F2742"/>
                </a:solidFill>
                <a:latin typeface="Aptos Display" pitchFamily="34" charset="0"/>
                <a:ea typeface="+mn-ea"/>
                <a:cs typeface="+mn-cs"/>
              </a:rPr>
              <a:t>Personalized Sign Language Tutoring System for Caregivers</a:t>
            </a:r>
            <a:r>
              <a:rPr lang="en-US" sz="3000" b="0" dirty="0">
                <a:latin typeface="Calibri"/>
                <a:ea typeface="Calibri"/>
                <a:cs typeface="Calibri"/>
              </a:rPr>
              <a:t> </a:t>
            </a:r>
            <a:br>
              <a:rPr lang="en-US" sz="3000" b="0" dirty="0">
                <a:latin typeface="Calibri"/>
                <a:ea typeface="Calibri"/>
                <a:cs typeface="Calibri"/>
              </a:rPr>
            </a:br>
            <a:endParaRPr lang="en-US" sz="3600" b="0" dirty="0"/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FF706C-B261-C43B-C3C5-D0DF6F2756BB}"/>
              </a:ext>
            </a:extLst>
          </p:cNvPr>
          <p:cNvSpPr/>
          <p:nvPr/>
        </p:nvSpPr>
        <p:spPr>
          <a:xfrm>
            <a:off x="2667000" y="6492875"/>
            <a:ext cx="73497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Cambria"/>
              </a:rPr>
              <a:t>      IT22289384   | KAUSHALYA NAGENTHRARAJA </a:t>
            </a:r>
            <a:r>
              <a:rPr lang="en-US" dirty="0">
                <a:solidFill>
                  <a:schemeClr val="tx1"/>
                </a:solidFill>
                <a:latin typeface="Cambria"/>
              </a:rPr>
              <a:t>| R26-DS-010</a:t>
            </a:r>
          </a:p>
        </p:txBody>
      </p:sp>
    </p:spTree>
    <p:extLst>
      <p:ext uri="{BB962C8B-B14F-4D97-AF65-F5344CB8AC3E}">
        <p14:creationId xmlns:p14="http://schemas.microsoft.com/office/powerpoint/2010/main" val="331788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12080B-ADF7-ABD3-A3B0-B852B9481E32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B633A1-AF44-3BE1-1AF3-CAB461937F67}"/>
              </a:ext>
            </a:extLst>
          </p:cNvPr>
          <p:cNvSpPr txBox="1">
            <a:spLocks/>
          </p:cNvSpPr>
          <p:nvPr/>
        </p:nvSpPr>
        <p:spPr>
          <a:xfrm>
            <a:off x="685800" y="152400"/>
            <a:ext cx="1027684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b="1" dirty="0"/>
              <a:t>Multimodal Computational Intelligence for Enhancing Caregiver Performance and Care Delivery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FF54B-4012-9E9A-DCD1-0B7FFACE9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5"/>
          <a:stretch>
            <a:fillRect/>
          </a:stretch>
        </p:blipFill>
        <p:spPr>
          <a:xfrm>
            <a:off x="2019300" y="1270000"/>
            <a:ext cx="81534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6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C58B76-FE0F-1DA1-5FB8-7B5E41119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11111"/>
          <a:stretch>
            <a:fillRect/>
          </a:stretch>
        </p:blipFill>
        <p:spPr>
          <a:xfrm>
            <a:off x="1066800" y="1143000"/>
            <a:ext cx="10287000" cy="5410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94F6AD-56F4-BB13-828C-9BD252D3DA3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2BBE78-4599-DDBD-6022-8D961F1D26C4}"/>
              </a:ext>
            </a:extLst>
          </p:cNvPr>
          <p:cNvSpPr txBox="1">
            <a:spLocks/>
          </p:cNvSpPr>
          <p:nvPr/>
        </p:nvSpPr>
        <p:spPr>
          <a:xfrm>
            <a:off x="571500" y="-13996"/>
            <a:ext cx="1127760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b="1" dirty="0"/>
              <a:t>Multimodal Computational Intelligence for Enhancing Caregiver Performance and Care Delivery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489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442A4-D749-D35F-8FF6-67C7545189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95400"/>
            <a:ext cx="9372600" cy="51123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8F6E08-C244-C3C7-C21D-3BD824D8038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6598A9-9DA5-60F7-1F8A-64EF83BC3E8C}"/>
              </a:ext>
            </a:extLst>
          </p:cNvPr>
          <p:cNvSpPr txBox="1">
            <a:spLocks/>
          </p:cNvSpPr>
          <p:nvPr/>
        </p:nvSpPr>
        <p:spPr>
          <a:xfrm>
            <a:off x="685800" y="152400"/>
            <a:ext cx="1027684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b="1" dirty="0"/>
              <a:t>Multimodal Computational Intelligence for Enhancing Caregiver Performance and Care Delivery – System Overview Diagram 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EAA25D-4A70-C966-58F4-0C3341859C85}"/>
              </a:ext>
            </a:extLst>
          </p:cNvPr>
          <p:cNvSpPr/>
          <p:nvPr/>
        </p:nvSpPr>
        <p:spPr>
          <a:xfrm>
            <a:off x="9677400" y="5900057"/>
            <a:ext cx="914400" cy="381000"/>
          </a:xfrm>
          <a:prstGeom prst="rect">
            <a:avLst/>
          </a:prstGeom>
          <a:solidFill>
            <a:srgbClr val="E8E9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4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DB40F-6943-1045-D205-D3F2C83A7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33"/>
          <a:stretch>
            <a:fillRect/>
          </a:stretch>
        </p:blipFill>
        <p:spPr>
          <a:xfrm>
            <a:off x="1809750" y="1371600"/>
            <a:ext cx="8572500" cy="50673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FC28CF7-77B4-E595-9584-2239FBF8ADC3}"/>
              </a:ext>
            </a:extLst>
          </p:cNvPr>
          <p:cNvSpPr txBox="1">
            <a:spLocks/>
          </p:cNvSpPr>
          <p:nvPr/>
        </p:nvSpPr>
        <p:spPr>
          <a:xfrm>
            <a:off x="685800" y="152400"/>
            <a:ext cx="1027684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b="1" dirty="0"/>
              <a:t>Multimodal Computational Intelligence for Enhancing Caregiver Performance and Care Delivery 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5DFE0-F623-8E7F-E7B3-D13E38D8A5FA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5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A5917-B929-2BA2-D562-3D4714A49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07"/>
          <a:stretch>
            <a:fillRect/>
          </a:stretch>
        </p:blipFill>
        <p:spPr>
          <a:xfrm>
            <a:off x="685800" y="1219200"/>
            <a:ext cx="10820400" cy="522960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855A636-5883-715E-F345-4AC8866E2FA6}"/>
              </a:ext>
            </a:extLst>
          </p:cNvPr>
          <p:cNvSpPr txBox="1">
            <a:spLocks/>
          </p:cNvSpPr>
          <p:nvPr/>
        </p:nvSpPr>
        <p:spPr>
          <a:xfrm>
            <a:off x="685800" y="152400"/>
            <a:ext cx="1027684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b="1" dirty="0"/>
              <a:t>Multimodal Computational Intelligence for Enhancing Caregiver Performance and Care Delivery – Gantt Chart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2D70E5-6998-0C07-251B-07FE2F088037}"/>
              </a:ext>
            </a:extLst>
          </p:cNvPr>
          <p:cNvSpPr/>
          <p:nvPr/>
        </p:nvSpPr>
        <p:spPr>
          <a:xfrm>
            <a:off x="10591800" y="5867400"/>
            <a:ext cx="609600" cy="152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4FF11D-74BF-9888-E777-9696EB8268D2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9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257C4-E73B-9609-68B4-A6BF777A0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4" r="1" b="12014"/>
          <a:stretch>
            <a:fillRect/>
          </a:stretch>
        </p:blipFill>
        <p:spPr>
          <a:xfrm>
            <a:off x="723900" y="435527"/>
            <a:ext cx="10744200" cy="598694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C6969A-B141-3822-7DB7-339C40791BB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1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447AA5-5393-5576-34BB-9415B7F19F4B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Kid Friendly Q And A Questions at Tawana Tibbs blog">
            <a:extLst>
              <a:ext uri="{FF2B5EF4-FFF2-40B4-BE49-F238E27FC236}">
                <a16:creationId xmlns:a16="http://schemas.microsoft.com/office/drawing/2014/main" id="{5DA598A1-2599-FECE-7675-319C70CEB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62000"/>
            <a:ext cx="9601200" cy="576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72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B84EE9-7C38-B4A1-62C3-55DDF36DAB5E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01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 descr="Thank You White Background Images – Browse 45,350 Stock Photos, Vectors ...">
            <a:extLst>
              <a:ext uri="{FF2B5EF4-FFF2-40B4-BE49-F238E27FC236}">
                <a16:creationId xmlns:a16="http://schemas.microsoft.com/office/drawing/2014/main" id="{26BB349A-D9D2-C0B0-E52B-D06E5734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10001568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81301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DDD912-EC25-40D5-B195-7CBDE2CACA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07D6A-5656-4EE9-A01D-35416FCA8CAB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42d1e402-c42d-419a-bd83-d8d365e28f11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396B20-9EC3-4B90-8231-ED6C5B68E593}"/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3349</TotalTime>
  <Words>3960</Words>
  <Application>Microsoft Office PowerPoint</Application>
  <PresentationFormat>Widescreen</PresentationFormat>
  <Paragraphs>561</Paragraphs>
  <Slides>49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Adobe Devanagari</vt:lpstr>
      <vt:lpstr>Aptos</vt:lpstr>
      <vt:lpstr>Aptos Display</vt:lpstr>
      <vt:lpstr>Arial</vt:lpstr>
      <vt:lpstr>Calibri</vt:lpstr>
      <vt:lpstr>Cambria</vt:lpstr>
      <vt:lpstr>Times New Roman</vt:lpstr>
      <vt:lpstr>Wingdings</vt:lpstr>
      <vt:lpstr>Office Theme</vt:lpstr>
      <vt:lpstr>Multimodal Computational Intelligence for Enhancing Caregiver Performance and Care Delivery </vt:lpstr>
      <vt:lpstr>PowerPoint Presentation</vt:lpstr>
      <vt:lpstr>PowerPoint Presentation</vt:lpstr>
      <vt:lpstr>IT22178640 | DAYANA PRIYADHARSHANI KUMAR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IT22057488 | HARISHALINEE ELANGOVAN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IT22294098 | VIDURSHA PRABAGARAN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IT22289384 | KAUSHALYA NAGENTHRARAJA</vt:lpstr>
      <vt:lpstr>Personalized Sign Language Tutoring System for Caregivers   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DAYANA K. it22178640</cp:lastModifiedBy>
  <cp:revision>31</cp:revision>
  <dcterms:created xsi:type="dcterms:W3CDTF">2025-08-25T09:34:25Z</dcterms:created>
  <dcterms:modified xsi:type="dcterms:W3CDTF">2026-03-20T16:52:54Z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