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81B33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08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·  FINAL YEAR RESEARCH PROJECT — PROGRESS PRESENTATION 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Computational Intelligence for Enhancing Caregiver Performance and Care Delivery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CareSense — a unified, web-based AI platform that detects caregiver stress, predicts patient falls, automates ADL documentation, and teaches sign language, evaluated as four independently rigorous modules.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081B33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681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82E"/>
                </a:solidFill>
              </a:rPr>
              <a:t>MAIN SUPERVISOR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4983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Samantha Thelijjagoda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681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82E"/>
                </a:solidFill>
              </a:rPr>
              <a:t>CO-SUPERVISOR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4983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Samadhi Rathnayake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9560" y="4681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82E"/>
                </a:solidFill>
              </a:rPr>
              <a:t>EXTERNAL SUPERVISOR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9560" y="4983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Velu Sivakumar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E"/>
                </a:solidFill>
              </a:rPr>
              <a:t>SLIIT Faculty of Computing  ·  Specialization: Data Science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91440" cy="2240280"/>
          </a:xfrm>
          <a:prstGeom prst="roundRect">
            <a:avLst/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81912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0" descr="/home/claude/photos/day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27632"/>
            <a:ext cx="1005840" cy="100584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1609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545"/>
                </a:solidFill>
              </a:rPr>
              <a:t>COMPONENT 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11680" y="1883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Dayana Priyadharshani Kumar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01168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IT22178640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" y="2743200"/>
            <a:ext cx="4809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Caregiver Workforce Deterioration Detection and Adaptive Workload Redistribution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371600"/>
            <a:ext cx="91440" cy="2240280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15" name="Shape 12"/>
          <p:cNvSpPr/>
          <p:nvPr/>
        </p:nvSpPr>
        <p:spPr>
          <a:xfrm>
            <a:off x="6419088" y="1581912"/>
            <a:ext cx="1097280" cy="1097280"/>
          </a:xfrm>
          <a:prstGeom prst="ellipse">
            <a:avLst/>
          </a:prstGeom>
          <a:solidFill>
            <a:srgbClr val="D9622B"/>
          </a:solidFill>
          <a:ln/>
        </p:spPr>
      </p:sp>
      <p:pic>
        <p:nvPicPr>
          <p:cNvPr id="16" name="Image 1" descr="/home/claude/photos/harishalin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627632"/>
            <a:ext cx="1005840" cy="1005840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80960" y="1609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B"/>
                </a:solidFill>
              </a:rPr>
              <a:t>COMPONENT 02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80960" y="1883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Harishalinee Elangovan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68096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IT22057488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64808" y="2743200"/>
            <a:ext cx="4809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Edge-Enabled Skeletal Movement Analysis System for Real-Time Patient Observable Fall Risk Detection and Prediction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502920" y="3831336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3831336"/>
            <a:ext cx="91440" cy="2240280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23" name="Shape 19"/>
          <p:cNvSpPr/>
          <p:nvPr/>
        </p:nvSpPr>
        <p:spPr>
          <a:xfrm>
            <a:off x="749808" y="4041648"/>
            <a:ext cx="1097280" cy="109728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4" name="Image 2" descr="/home/claude/photos/vidursh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087368"/>
            <a:ext cx="1005840" cy="1005840"/>
          </a:xfrm>
          <a:prstGeom prst="ellipse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01168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4F"/>
                </a:solidFill>
              </a:rPr>
              <a:t>COMPONENT 03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01168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Vidursha Prabagaran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2011680" y="4709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IT22294098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95528" y="5202936"/>
            <a:ext cx="4809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Intelligent System for Automated ADL Extraction and Real-Time Documentation from Caregiver Voice Logs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6172200" y="3831336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172200" y="3831336"/>
            <a:ext cx="91440" cy="2240280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31" name="Shape 26"/>
          <p:cNvSpPr/>
          <p:nvPr/>
        </p:nvSpPr>
        <p:spPr>
          <a:xfrm>
            <a:off x="6419088" y="4041648"/>
            <a:ext cx="1097280" cy="1097280"/>
          </a:xfrm>
          <a:prstGeom prst="ellipse">
            <a:avLst/>
          </a:prstGeom>
          <a:solidFill>
            <a:srgbClr val="6B4FBB"/>
          </a:solidFill>
          <a:ln/>
        </p:spPr>
      </p:sp>
      <p:pic>
        <p:nvPicPr>
          <p:cNvPr id="32" name="Image 3" descr="/home/claude/photos/kaushaly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087368"/>
            <a:ext cx="1005840" cy="1005840"/>
          </a:xfrm>
          <a:prstGeom prst="ellipse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8096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4FBB"/>
                </a:solidFill>
              </a:rPr>
              <a:t>COMPONENT 04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68096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Kaushalya Nagenthraraja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7680960" y="4709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IT22289384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6464808" y="5202936"/>
            <a:ext cx="4809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Sign Language Tutoring System for Caregivers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PANEL FEEDBACK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PP1 Comments — How We Addressed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928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877824"/>
          </a:xfrm>
          <a:prstGeom prst="roundRect">
            <a:avLst/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35331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/>
        </p:spPr>
      </p:sp>
      <p:pic>
        <p:nvPicPr>
          <p:cNvPr id="8" name="Image 0" descr="/home/claude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433779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2984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Dayana Priyadharshani Kumar 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IT22178640  ·  Stress-Risk Detection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5568" y="15819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Panel comment:  </a:t>
            </a:r>
            <a:pPr indent="0" marL="0">
              <a:buNone/>
            </a:pPr>
            <a:r>
              <a:rPr lang="en-US" sz="1100" i="1" dirty="0">
                <a:solidFill>
                  <a:srgbClr val="1A2B42"/>
                </a:solidFill>
              </a:rPr>
              <a:t>No comments recorded.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15568" y="1801368"/>
            <a:ext cx="104241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How we addressed it:  </a:t>
            </a:r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N/A — no PP1 panel feedback was received for this component.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203704"/>
            <a:ext cx="11292840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03704"/>
            <a:ext cx="73152" cy="128930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792" y="232257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D9622B"/>
          </a:solidFill>
          <a:ln/>
        </p:spPr>
      </p:sp>
      <p:pic>
        <p:nvPicPr>
          <p:cNvPr id="15" name="Image 1" descr="/home/claude/icons/wal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403043"/>
            <a:ext cx="204826" cy="2048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22677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Harishalinee Elangovan 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IT22057488  ·  Fall-Risk Detection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15568" y="255117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622B"/>
                </a:solidFill>
              </a:rPr>
              <a:t>Panel comment:  </a:t>
            </a:r>
            <a:pPr indent="0" marL="0">
              <a:buNone/>
            </a:pPr>
            <a:r>
              <a:rPr lang="en-US" sz="1100" i="1" dirty="0">
                <a:solidFill>
                  <a:srgbClr val="1A2B42"/>
                </a:solidFill>
              </a:rPr>
              <a:t>Even though live captures were not taken, the uploaded video should be converted to skeleton and analysed (a prototype is not needed).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15568" y="2898648"/>
            <a:ext cx="1042416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How we addressed it:  </a:t>
            </a:r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The fall-risk detection component now runs on real MediaPipe-extracted skeleton sequences (RGB is discarded immediately after pose extraction, never analysed as video). Subject-disjoint evaluation on 799 held-out sequences reaches 94.24% fusion accuracy, so the skeleton pipeline itself is validated without requiring a full end-to-end demo prototype.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584448"/>
            <a:ext cx="11292840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584448"/>
            <a:ext cx="73152" cy="128930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21" name="Shape 17"/>
          <p:cNvSpPr/>
          <p:nvPr/>
        </p:nvSpPr>
        <p:spPr>
          <a:xfrm>
            <a:off x="621792" y="3703320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E7D4F"/>
          </a:solidFill>
          <a:ln/>
        </p:spPr>
      </p:sp>
      <p:pic>
        <p:nvPicPr>
          <p:cNvPr id="22" name="Image 2" descr="/home/claude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783787"/>
            <a:ext cx="204826" cy="20482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5568" y="36484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Vidursha Prabagaran 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IT22294098  ·  Voice Documentation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15568" y="39319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Panel comment:  </a:t>
            </a:r>
            <a:pPr indent="0" marL="0">
              <a:buNone/>
            </a:pPr>
            <a:r>
              <a:rPr lang="en-US" sz="1100" i="1" dirty="0">
                <a:solidFill>
                  <a:srgbClr val="1A2B42"/>
                </a:solidFill>
              </a:rPr>
              <a:t>Improve and further validate the results.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115568" y="4279392"/>
            <a:ext cx="1042416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How we addressed it:  </a:t>
            </a:r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Validated results through qualitative testing on unseen sentences and a real caregiver recording, surfacing a data-ordering bug, a parsing artifact, and a grammar tool corrupting medication names — all fixed. Improved results via systematic ablations, cutting ASR word error rate from 25.97% to 15.57% (~40% relative improvement), and selected final models on which one caught safety-critical cases, not just the highest benchmark score.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965192"/>
            <a:ext cx="11292840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4965192"/>
            <a:ext cx="73152" cy="128930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28" name="Shape 23"/>
          <p:cNvSpPr/>
          <p:nvPr/>
        </p:nvSpPr>
        <p:spPr>
          <a:xfrm>
            <a:off x="621792" y="5084064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6B4FBB"/>
          </a:solidFill>
          <a:ln/>
        </p:spPr>
      </p:sp>
      <p:pic>
        <p:nvPicPr>
          <p:cNvPr id="29" name="Image 3" descr="/home/claude/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164531"/>
            <a:ext cx="204826" cy="20482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15568" y="5029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Kaushalya Nagenthraraja 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IT22289384  ·  Sign-Language Tutoring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5568" y="53126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4FBB"/>
                </a:solidFill>
              </a:rPr>
              <a:t>Panel comment:  </a:t>
            </a:r>
            <a:pPr indent="0" marL="0">
              <a:buNone/>
            </a:pPr>
            <a:r>
              <a:rPr lang="en-US" sz="1100" i="1" dirty="0">
                <a:solidFill>
                  <a:srgbClr val="1A2B42"/>
                </a:solidFill>
              </a:rPr>
              <a:t>Overall the project is good; however, accuracy should be improved, and feedback from experts/field should be obtained if possible.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115568" y="5660136"/>
            <a:ext cx="1042416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How we addressed it:  </a:t>
            </a:r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Recognition accuracy improved by comparing BiLSTM, SPOTER-style transformer, and TCN architectures with data augmentation and focal loss, selecting the best-performing TCN model (macro-F1 0.75). Field validation was carried out with CCHS Colombo to ground vocabulary and evaluation in real caregiver needs.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Field Insights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</a:rPr>
              <a:t>Before writing a single line of code, the team validated all four problems with three real care organisations.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1E5F8C"/>
          </a:solidFill>
          <a:ln/>
        </p:spPr>
      </p:sp>
      <p:pic>
        <p:nvPicPr>
          <p:cNvPr id="8" name="Image 0" descr="/home/claude/icons/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251277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383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Remark Elder Care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Discussed “Sign Vital” systems with co-founder Vidyantha Vasantha — confirming the need for stress detection via vocal harmonics.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3317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/>
        </p:spPr>
      </p:sp>
      <p:pic>
        <p:nvPicPr>
          <p:cNvPr id="13" name="Image 1" descr="/home/claude/icons/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491" y="25127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383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CCHS Colombo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6344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Director highlighted literacy barriers: staff struggle with manual logbooks and urgently need hands-free documentation.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83880" y="19659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23317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D9622B"/>
          </a:solidFill>
          <a:ln/>
        </p:spPr>
      </p:sp>
      <p:pic>
        <p:nvPicPr>
          <p:cNvPr id="18" name="Image 2" descr="/home/claude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971" y="251277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33832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2"/>
                </a:solidFill>
              </a:rPr>
              <a:t>Love &amp; Elder Care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0392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Director Hiran identified predictive fall analysis and logbook automation as the highest safety priorities.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02920" y="576072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Three organisations. Three independent confirmations that these four problems are real and unsolved.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Stakeholders &amp; Measurable Pain Point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B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B42"/>
                </a:solidFill>
              </a:rPr>
              <a:t>Four connected burdens hit caregivers together: </a:t>
            </a:r>
            <a:pPr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occupational stress, undetected falls, manual ADL documentation, and no formal training</a:t>
            </a:r>
            <a:pPr indent="0" marL="0">
              <a:buNone/>
            </a:pPr>
            <a:r>
              <a:rPr lang="en-US" sz="1350" dirty="0">
                <a:solidFill>
                  <a:srgbClr val="1A2B42"/>
                </a:solidFill>
              </a:rPr>
              <a:t> to communicate with deaf / hard-of-hearing patients.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Existing tools are single-purpose and reactive — each burden is handled in isolation, only after it has already occurred.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371600"/>
            <a:ext cx="64008" cy="1097280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447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5F8C"/>
                </a:solidFill>
              </a:rPr>
              <a:t>~1/3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190195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of US registered nurses report burnout; replacing one costs ≈$61,110.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3716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0" y="1371600"/>
            <a:ext cx="64008" cy="1097280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144475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622B"/>
                </a:solidFill>
              </a:rPr>
              <a:t>14M+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61120" y="190195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US adults 65+ fall yearly — 41,400 deaths (2023), ≈$80B in costs.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606040"/>
            <a:ext cx="64008" cy="1097280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4F"/>
                </a:solidFill>
              </a:rPr>
              <a:t>25–40%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313639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of a 12-hour shift spent documenting instead of caregiving.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26060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78240" y="2606040"/>
            <a:ext cx="64008" cy="1097280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267919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BB"/>
                </a:solidFill>
              </a:rPr>
              <a:t>6.3%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61120" y="313639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of surveyed staff had sign-language training, though 69.3% called it vital.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13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B"/>
                </a:solidFill>
              </a:rPr>
              <a:t>STAKEHOLDERS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24528"/>
          <a:ext cx="11155680" cy="196596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  <a:gridCol w="3017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Caregiver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stress dashboard, fall-risk alerts, voice documentation, sign-language lessons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burnout, safer patients, faster documentation, learns to 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Caregiver / 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Team-wide dashboards, escalation alerts, workload-redistribution suggestions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Oversight across all caregivers, earlier intervention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&amp; manages caregiver / supervisor accounts (email &amp; password), system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onboarding and access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B"/>
                </a:solidFill>
              </a:rPr>
              <a:t>RESEARCH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4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4193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5F8C"/>
          </a:solidFill>
          <a:ln/>
        </p:spPr>
      </p:sp>
      <p:pic>
        <p:nvPicPr>
          <p:cNvPr id="8" name="Image 0" descr="/home/claude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562" y="1852574"/>
            <a:ext cx="281635" cy="2816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51560" y="1572768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1572768"/>
            <a:ext cx="5074920" cy="548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16824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Stress Detection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195681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Existing tools ignore relational structure &amp; causal, pre-outcome features.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993392"/>
            <a:ext cx="22860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92240" y="157276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1572768"/>
            <a:ext cx="5120640" cy="548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16824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Objective 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75120" y="195681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Model personalized, causally-ordered stress risk (LOSO-validated).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26746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9622B"/>
          </a:solidFill>
          <a:ln/>
        </p:spPr>
      </p:sp>
      <p:pic>
        <p:nvPicPr>
          <p:cNvPr id="19" name="Image 1" descr="/home/claude/icons/wal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" y="2785262"/>
            <a:ext cx="281635" cy="28163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51560" y="2505456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51560" y="2505456"/>
            <a:ext cx="5074920" cy="548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22" name="Text 18"/>
          <p:cNvSpPr/>
          <p:nvPr/>
        </p:nvSpPr>
        <p:spPr>
          <a:xfrm>
            <a:off x="1234440" y="26151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Fall Detection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234440" y="288950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Lab-only validation — domain shift to real deployment cameras untested.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263640" y="2926080"/>
            <a:ext cx="22860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492240" y="250545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92240" y="2505456"/>
            <a:ext cx="5120640" cy="548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26151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Objective 2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675120" y="288950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Detect fall risk at the edge under subject-disjoint &amp; cross-dataset evaluation.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" y="360730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E7D4F"/>
          </a:solidFill>
          <a:ln/>
        </p:spPr>
      </p:sp>
      <p:pic>
        <p:nvPicPr>
          <p:cNvPr id="30" name="Image 2" descr="/home/claude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" y="3717950"/>
            <a:ext cx="281635" cy="281635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1051560" y="3438144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051560" y="3438144"/>
            <a:ext cx="5074920" cy="548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33" name="Text 28"/>
          <p:cNvSpPr/>
          <p:nvPr/>
        </p:nvSpPr>
        <p:spPr>
          <a:xfrm>
            <a:off x="1234440" y="3547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Documentation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234440" y="38221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Rigid prompted dialogue or unstructured transcripts, not free narration.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263640" y="3858768"/>
            <a:ext cx="22860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6492240" y="343814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492240" y="3438144"/>
            <a:ext cx="5120640" cy="548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38" name="Text 33"/>
          <p:cNvSpPr/>
          <p:nvPr/>
        </p:nvSpPr>
        <p:spPr>
          <a:xfrm>
            <a:off x="6675120" y="3547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Objective 3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675120" y="38221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Automate safety-aware documentation with high alert recall, GPU-free.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02920" y="453999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6B4FBB"/>
          </a:solidFill>
          <a:ln/>
        </p:spPr>
      </p:sp>
      <p:pic>
        <p:nvPicPr>
          <p:cNvPr id="41" name="Image 3" descr="/home/claude/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" y="4650638"/>
            <a:ext cx="281635" cy="281635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1051560" y="437083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1051560" y="4370832"/>
            <a:ext cx="5074920" cy="548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44" name="Text 38"/>
          <p:cNvSpPr/>
          <p:nvPr/>
        </p:nvSpPr>
        <p:spPr>
          <a:xfrm>
            <a:off x="123444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Sign-Language Tutoring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1234440" y="47548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Recognition-only — no per-landmark error localization or mastery adaptation.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6263640" y="4791456"/>
            <a:ext cx="22860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6492240" y="437083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6492240" y="4370832"/>
            <a:ext cx="5120640" cy="548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49" name="Text 43"/>
          <p:cNvSpPr/>
          <p:nvPr/>
        </p:nvSpPr>
        <p:spPr>
          <a:xfrm>
            <a:off x="6675120" y="4480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Objective 4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6675120" y="47548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Evaluate signing execution quality and adapt lessons to learner errors.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502920" y="5321808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0B254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77240" y="5321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82E"/>
                </a:solidFill>
              </a:rPr>
              <a:t>Objective 5 — Integrate &amp; Evaluate Holistically: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Unify all four components into one explainable, caregiver-facing dashboard and evaluate the system as a whole — reporting demonstrated results and limitations transparently.</a:t>
            </a:r>
            <a:endParaRPr lang="en-US" sz="1250" dirty="0"/>
          </a:p>
        </p:txBody>
      </p:sp>
      <p:sp>
        <p:nvSpPr>
          <p:cNvPr id="53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&amp;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E5F8C"/>
          </a:solidFill>
          <a:ln/>
        </p:spPr>
      </p:sp>
      <p:pic>
        <p:nvPicPr>
          <p:cNvPr id="6" name="Image 0" descr="/home/claude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4963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28016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AI-Assisted Caregiver Workforce Deterioration Detection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207008" y="1609344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07008" y="1609344"/>
            <a:ext cx="54864" cy="5120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0" name="Text 7"/>
          <p:cNvSpPr/>
          <p:nvPr/>
        </p:nvSpPr>
        <p:spPr>
          <a:xfrm>
            <a:off x="1344168" y="16093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Physio + workload signals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38728" y="1865376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858768" y="1609344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58768" y="1609344"/>
            <a:ext cx="54864" cy="5120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4" name="Text 11"/>
          <p:cNvSpPr/>
          <p:nvPr/>
        </p:nvSpPr>
        <p:spPr>
          <a:xfrm>
            <a:off x="3995928" y="16093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Personalized baseline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0488" y="1865376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10528" y="1609344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10528" y="1609344"/>
            <a:ext cx="54864" cy="5120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8" name="Text 15"/>
          <p:cNvSpPr/>
          <p:nvPr/>
        </p:nvSpPr>
        <p:spPr>
          <a:xfrm>
            <a:off x="6647688" y="16093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LightGBM risk model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42248" y="1865376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62288" y="1609344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162288" y="1609344"/>
            <a:ext cx="54864" cy="5120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22" name="Text 19"/>
          <p:cNvSpPr/>
          <p:nvPr/>
        </p:nvSpPr>
        <p:spPr>
          <a:xfrm>
            <a:off x="9299448" y="16093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SHAP explanation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235915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D9622B"/>
          </a:solidFill>
          <a:ln/>
        </p:spPr>
      </p:sp>
      <p:pic>
        <p:nvPicPr>
          <p:cNvPr id="24" name="Image 1" descr="/home/claude/icons/wal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2483876"/>
            <a:ext cx="317480" cy="317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07008" y="226771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Skeletal Movement-Based Fall-Risk Detection &amp; Prediction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1207008" y="2596896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1207008" y="2596896"/>
            <a:ext cx="54864" cy="5120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28" name="Text 24"/>
          <p:cNvSpPr/>
          <p:nvPr/>
        </p:nvSpPr>
        <p:spPr>
          <a:xfrm>
            <a:off x="1344168" y="259689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RGB camera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538728" y="2852928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3858768" y="2596896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858768" y="2596896"/>
            <a:ext cx="54864" cy="5120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32" name="Text 28"/>
          <p:cNvSpPr/>
          <p:nvPr/>
        </p:nvSpPr>
        <p:spPr>
          <a:xfrm>
            <a:off x="3995928" y="259689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MediaPipe skeleton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190488" y="2852928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6510528" y="2596896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510528" y="2596896"/>
            <a:ext cx="54864" cy="5120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36" name="Text 32"/>
          <p:cNvSpPr/>
          <p:nvPr/>
        </p:nvSpPr>
        <p:spPr>
          <a:xfrm>
            <a:off x="6647688" y="259689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ST-GCN + biomechanics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842248" y="2852928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9162288" y="2596896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9162288" y="2596896"/>
            <a:ext cx="54864" cy="5120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40" name="Text 36"/>
          <p:cNvSpPr/>
          <p:nvPr/>
        </p:nvSpPr>
        <p:spPr>
          <a:xfrm>
            <a:off x="9299448" y="259689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Fusion MLP risk verdict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02920" y="334670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E7D4F"/>
          </a:solidFill>
          <a:ln/>
        </p:spPr>
      </p:sp>
      <p:pic>
        <p:nvPicPr>
          <p:cNvPr id="42" name="Image 2" descr="/home/claude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3471428"/>
            <a:ext cx="317480" cy="3174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207008" y="325526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Automated ADL Extraction &amp; Voice-to-Documentation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1207008" y="3584448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1207008" y="3584448"/>
            <a:ext cx="54864" cy="5120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46" name="Text 41"/>
          <p:cNvSpPr/>
          <p:nvPr/>
        </p:nvSpPr>
        <p:spPr>
          <a:xfrm>
            <a:off x="1344168" y="35844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Caregiver speech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3538728" y="3840480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3858768" y="3584448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3858768" y="3584448"/>
            <a:ext cx="54864" cy="5120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50" name="Text 45"/>
          <p:cNvSpPr/>
          <p:nvPr/>
        </p:nvSpPr>
        <p:spPr>
          <a:xfrm>
            <a:off x="3995928" y="35844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ASR + cleanup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6190488" y="3840480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52" name="Shape 47"/>
          <p:cNvSpPr/>
          <p:nvPr/>
        </p:nvSpPr>
        <p:spPr>
          <a:xfrm>
            <a:off x="6510528" y="3584448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6510528" y="3584448"/>
            <a:ext cx="54864" cy="5120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54" name="Text 49"/>
          <p:cNvSpPr/>
          <p:nvPr/>
        </p:nvSpPr>
        <p:spPr>
          <a:xfrm>
            <a:off x="6647688" y="35844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ADL field extraction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8842248" y="3840480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56" name="Shape 51"/>
          <p:cNvSpPr/>
          <p:nvPr/>
        </p:nvSpPr>
        <p:spPr>
          <a:xfrm>
            <a:off x="9162288" y="3584448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9162288" y="3584448"/>
            <a:ext cx="54864" cy="5120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58" name="Text 53"/>
          <p:cNvSpPr/>
          <p:nvPr/>
        </p:nvSpPr>
        <p:spPr>
          <a:xfrm>
            <a:off x="9299448" y="35844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Alerts + report</a:t>
            </a:r>
            <a:endParaRPr lang="en-US" sz="1200" dirty="0"/>
          </a:p>
        </p:txBody>
      </p:sp>
      <p:sp>
        <p:nvSpPr>
          <p:cNvPr id="59" name="Shape 54"/>
          <p:cNvSpPr/>
          <p:nvPr/>
        </p:nvSpPr>
        <p:spPr>
          <a:xfrm>
            <a:off x="502920" y="433425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B4FBB"/>
          </a:solidFill>
          <a:ln/>
        </p:spPr>
      </p:sp>
      <p:pic>
        <p:nvPicPr>
          <p:cNvPr id="60" name="Image 3" descr="/home/claude/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4" y="4458980"/>
            <a:ext cx="317480" cy="317480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207008" y="424281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Personalized Sign-Language Tutoring System</a:t>
            </a:r>
            <a:endParaRPr lang="en-US" sz="1350" dirty="0"/>
          </a:p>
        </p:txBody>
      </p:sp>
      <p:sp>
        <p:nvSpPr>
          <p:cNvPr id="62" name="Shape 56"/>
          <p:cNvSpPr/>
          <p:nvPr/>
        </p:nvSpPr>
        <p:spPr>
          <a:xfrm>
            <a:off x="1207008" y="457200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3" name="Shape 57"/>
          <p:cNvSpPr/>
          <p:nvPr/>
        </p:nvSpPr>
        <p:spPr>
          <a:xfrm>
            <a:off x="1207008" y="4572000"/>
            <a:ext cx="54864" cy="5120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64" name="Text 58"/>
          <p:cNvSpPr/>
          <p:nvPr/>
        </p:nvSpPr>
        <p:spPr>
          <a:xfrm>
            <a:off x="1344168" y="45720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Signing video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3538728" y="4828032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66" name="Shape 60"/>
          <p:cNvSpPr/>
          <p:nvPr/>
        </p:nvSpPr>
        <p:spPr>
          <a:xfrm>
            <a:off x="3858768" y="457200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7" name="Shape 61"/>
          <p:cNvSpPr/>
          <p:nvPr/>
        </p:nvSpPr>
        <p:spPr>
          <a:xfrm>
            <a:off x="3858768" y="4572000"/>
            <a:ext cx="54864" cy="5120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68" name="Text 62"/>
          <p:cNvSpPr/>
          <p:nvPr/>
        </p:nvSpPr>
        <p:spPr>
          <a:xfrm>
            <a:off x="3995928" y="45720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Landmark tracking</a:t>
            </a:r>
            <a:endParaRPr lang="en-US" sz="1200" dirty="0"/>
          </a:p>
        </p:txBody>
      </p:sp>
      <p:sp>
        <p:nvSpPr>
          <p:cNvPr id="69" name="Shape 63"/>
          <p:cNvSpPr/>
          <p:nvPr/>
        </p:nvSpPr>
        <p:spPr>
          <a:xfrm>
            <a:off x="6190488" y="4828032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70" name="Shape 64"/>
          <p:cNvSpPr/>
          <p:nvPr/>
        </p:nvSpPr>
        <p:spPr>
          <a:xfrm>
            <a:off x="6510528" y="457200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1" name="Shape 65"/>
          <p:cNvSpPr/>
          <p:nvPr/>
        </p:nvSpPr>
        <p:spPr>
          <a:xfrm>
            <a:off x="6510528" y="4572000"/>
            <a:ext cx="54864" cy="5120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72" name="Text 66"/>
          <p:cNvSpPr/>
          <p:nvPr/>
        </p:nvSpPr>
        <p:spPr>
          <a:xfrm>
            <a:off x="6647688" y="45720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Recognition + DTW score</a:t>
            </a:r>
            <a:endParaRPr lang="en-US" sz="1200" dirty="0"/>
          </a:p>
        </p:txBody>
      </p:sp>
      <p:sp>
        <p:nvSpPr>
          <p:cNvPr id="73" name="Shape 67"/>
          <p:cNvSpPr/>
          <p:nvPr/>
        </p:nvSpPr>
        <p:spPr>
          <a:xfrm>
            <a:off x="8842248" y="4828032"/>
            <a:ext cx="32004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74" name="Shape 68"/>
          <p:cNvSpPr/>
          <p:nvPr/>
        </p:nvSpPr>
        <p:spPr>
          <a:xfrm>
            <a:off x="9162288" y="4572000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75" name="Shape 69"/>
          <p:cNvSpPr/>
          <p:nvPr/>
        </p:nvSpPr>
        <p:spPr>
          <a:xfrm>
            <a:off x="9162288" y="4572000"/>
            <a:ext cx="54864" cy="5120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76" name="Text 70"/>
          <p:cNvSpPr/>
          <p:nvPr/>
        </p:nvSpPr>
        <p:spPr>
          <a:xfrm>
            <a:off x="9299448" y="45720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Adaptive feedback</a:t>
            </a:r>
            <a:endParaRPr lang="en-US" sz="1200" dirty="0"/>
          </a:p>
        </p:txBody>
      </p:sp>
      <p:sp>
        <p:nvSpPr>
          <p:cNvPr id="77" name="Shape 71"/>
          <p:cNvSpPr/>
          <p:nvPr/>
        </p:nvSpPr>
        <p:spPr>
          <a:xfrm>
            <a:off x="502920" y="5294376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8" name="Text 72"/>
          <p:cNvSpPr/>
          <p:nvPr/>
        </p:nvSpPr>
        <p:spPr>
          <a:xfrm>
            <a:off x="777240" y="5340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2E"/>
                </a:solidFill>
              </a:rPr>
              <a:t>Unified Web-Based Caregiver Dashboard</a:t>
            </a:r>
            <a:endParaRPr lang="en-US" sz="1400" dirty="0"/>
          </a:p>
        </p:txBody>
      </p:sp>
      <p:sp>
        <p:nvSpPr>
          <p:cNvPr id="79" name="Text 73"/>
          <p:cNvSpPr/>
          <p:nvPr/>
        </p:nvSpPr>
        <p:spPr>
          <a:xfrm>
            <a:off x="777240" y="563270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0EC"/>
                </a:solidFill>
              </a:rPr>
              <a:t>All four pipelines are trained and evaluated independently, then converge into one explainable, real-time view for caregivers and supervisors.</a:t>
            </a:r>
            <a:endParaRPr lang="en-US" sz="1200" dirty="0"/>
          </a:p>
        </p:txBody>
      </p:sp>
      <p:sp>
        <p:nvSpPr>
          <p:cNvPr id="80" name="Text 7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81" name="Text 7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INTEGRATION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Completion Status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618488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E5F8C"/>
          </a:solidFill>
          <a:ln/>
        </p:spPr>
      </p:sp>
      <p:pic>
        <p:nvPicPr>
          <p:cNvPr id="7" name="Image 0" descr="/home/claude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176936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500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Deterioration Detection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5840" y="2715768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71576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✓ Core complete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05940" y="2971800"/>
            <a:ext cx="0" cy="32004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9184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1618488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D9622B"/>
          </a:solidFill>
          <a:ln/>
        </p:spPr>
      </p:sp>
      <p:pic>
        <p:nvPicPr>
          <p:cNvPr id="14" name="Image 1" descr="/home/claude/icons/wal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176936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3500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Fall-Risk Detection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794760" y="2715768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17" name="Text 13"/>
          <p:cNvSpPr/>
          <p:nvPr/>
        </p:nvSpPr>
        <p:spPr>
          <a:xfrm>
            <a:off x="3794760" y="271576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✓ Core complete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94860" y="2971800"/>
            <a:ext cx="0" cy="32004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8076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40880" y="1618488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/>
        </p:spPr>
      </p:sp>
      <p:pic>
        <p:nvPicPr>
          <p:cNvPr id="21" name="Image 2" descr="/home/claude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176936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23500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Voice Documentation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583680" y="2715768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24" name="Text 19"/>
          <p:cNvSpPr/>
          <p:nvPr/>
        </p:nvSpPr>
        <p:spPr>
          <a:xfrm>
            <a:off x="6583680" y="271576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✓ Core complete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83780" y="2971800"/>
            <a:ext cx="0" cy="32004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86968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829800" y="1618488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6B4FBB"/>
          </a:solidFill>
          <a:ln/>
        </p:spPr>
      </p:sp>
      <p:pic>
        <p:nvPicPr>
          <p:cNvPr id="28" name="Image 3" descr="/home/claude/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676" y="176936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06840" y="23500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Sign-Language Tutoring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9372600" y="2715768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31" name="Text 25"/>
          <p:cNvSpPr/>
          <p:nvPr/>
        </p:nvSpPr>
        <p:spPr>
          <a:xfrm>
            <a:off x="9372600" y="2715768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4F"/>
                </a:solidFill>
              </a:rPr>
              <a:t>✓ Core complete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172700" y="2971800"/>
            <a:ext cx="0" cy="32004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502920" y="34290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31520" y="35661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0A82E"/>
          </a:solidFill>
          <a:ln/>
        </p:spPr>
      </p:sp>
      <p:pic>
        <p:nvPicPr>
          <p:cNvPr id="35" name="Image 4" descr="/home/claude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3676802"/>
            <a:ext cx="281635" cy="28163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17320" y="35387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Unified Backend API + Caregiver Dashboard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417320" y="384962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0EC"/>
                </a:solidFill>
              </a:rPr>
              <a:t>FastAPI inference services route every module's output into one explainable, real-time dashboard.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3200400" y="4206240"/>
            <a:ext cx="0" cy="36576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8503920" y="4206240"/>
            <a:ext cx="0" cy="36576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1280160" y="46177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508760" y="4800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5F8C"/>
          </a:solidFill>
          <a:ln/>
        </p:spPr>
      </p:sp>
      <p:pic>
        <p:nvPicPr>
          <p:cNvPr id="42" name="Image 5" descr="/home/claude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344" y="4901184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2103120" y="4754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Structured Data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2103120" y="50200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8C"/>
                </a:solidFill>
              </a:rPr>
              <a:t>Supabase (PostgreSQL)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508760" y="5303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Caregiver &amp; patient records, risk scores, ADL fields, accounts, session logs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537960" y="46177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766560" y="4800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622B"/>
          </a:solidFill>
          <a:ln/>
        </p:spPr>
      </p:sp>
      <p:pic>
        <p:nvPicPr>
          <p:cNvPr id="48" name="Image 6" descr="/home/claude/icons/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144" y="4901184"/>
            <a:ext cx="256032" cy="25603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360920" y="4754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Unstructured Data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7360920" y="50200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622B"/>
                </a:solidFill>
              </a:rPr>
              <a:t>Cloudflare (R2 Object Storage)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6766560" y="5303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Raw skeleton sequences, audio clips, signing video, trained model artifacts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53" name="Text 4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EVALUATION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Evidence &amp; Non-Functional Requirements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D9622B"/>
                </a:solidFill>
              </a:rPr>
              <a:t>EVALUATION EVIDENCE (measured on held-out / subject-disjoint test data)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2"/>
                </a:solidFill>
              </a:rPr>
              <a:t>Deterioration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ROC-AUC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700784"/>
            <a:ext cx="6217920" cy="292608"/>
          </a:xfrm>
          <a:prstGeom prst="roundRect">
            <a:avLst>
              <a:gd name="adj" fmla="val 15625"/>
            </a:avLst>
          </a:prstGeom>
          <a:solidFill>
            <a:srgbClr val="E7ECF2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700784"/>
            <a:ext cx="4483120" cy="292608"/>
          </a:xfrm>
          <a:prstGeom prst="roundRect">
            <a:avLst>
              <a:gd name="adj" fmla="val 15625"/>
            </a:avLst>
          </a:prstGeom>
          <a:solidFill>
            <a:srgbClr val="1E5F8C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16459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F8C"/>
                </a:solidFill>
              </a:rPr>
              <a:t>0.721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2"/>
                </a:solidFill>
              </a:rPr>
              <a:t>Fall-Risk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Accuracy @ 1.28% FPR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267712"/>
            <a:ext cx="6217920" cy="292608"/>
          </a:xfrm>
          <a:prstGeom prst="roundRect">
            <a:avLst>
              <a:gd name="adj" fmla="val 15625"/>
            </a:avLst>
          </a:prstGeom>
          <a:solidFill>
            <a:srgbClr val="E7EC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2267712"/>
            <a:ext cx="6038844" cy="292608"/>
          </a:xfrm>
          <a:prstGeom prst="roundRect">
            <a:avLst>
              <a:gd name="adj" fmla="val 15625"/>
            </a:avLst>
          </a:prstGeom>
          <a:solidFill>
            <a:srgbClr val="D9622B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0" y="221284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22B"/>
                </a:solidFill>
              </a:rPr>
              <a:t>97.12%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27066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2"/>
                </a:solidFill>
              </a:rPr>
              <a:t>Voice Documentation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9626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Word-Error Rate (lower is better)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2834640"/>
            <a:ext cx="6217920" cy="292608"/>
          </a:xfrm>
          <a:prstGeom prst="roundRect">
            <a:avLst>
              <a:gd name="adj" fmla="val 15625"/>
            </a:avLst>
          </a:prstGeom>
          <a:solidFill>
            <a:srgbClr val="E7ECF2"/>
          </a:solidFill>
          <a:ln/>
        </p:spPr>
      </p:sp>
      <p:sp>
        <p:nvSpPr>
          <p:cNvPr id="19" name="Shape 17"/>
          <p:cNvSpPr/>
          <p:nvPr/>
        </p:nvSpPr>
        <p:spPr>
          <a:xfrm>
            <a:off x="3611880" y="2834640"/>
            <a:ext cx="968130" cy="292608"/>
          </a:xfrm>
          <a:prstGeom prst="roundRect">
            <a:avLst>
              <a:gd name="adj" fmla="val 15625"/>
            </a:avLst>
          </a:prstGeom>
          <a:solidFill>
            <a:srgbClr val="2E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277977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</a:rPr>
              <a:t>15.57%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2"/>
                </a:solidFill>
              </a:rPr>
              <a:t>Sign-Language Tutoring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5295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Macro-F1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401568"/>
            <a:ext cx="6217920" cy="292608"/>
          </a:xfrm>
          <a:prstGeom prst="roundRect">
            <a:avLst>
              <a:gd name="adj" fmla="val 15625"/>
            </a:avLst>
          </a:prstGeom>
          <a:solidFill>
            <a:srgbClr val="E7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1880" y="3401568"/>
            <a:ext cx="4663440" cy="292608"/>
          </a:xfrm>
          <a:prstGeom prst="roundRect">
            <a:avLst>
              <a:gd name="adj" fmla="val 15625"/>
            </a:avLst>
          </a:prstGeom>
          <a:solidFill>
            <a:srgbClr val="6B4FBB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33467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BB"/>
                </a:solidFill>
              </a:rPr>
              <a:t>0.75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D9622B"/>
                </a:solidFill>
              </a:rPr>
              <a:t>NON-FUNCTIONAL REQUIREMENTS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498848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577340" y="468172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5F8C"/>
          </a:solidFill>
          <a:ln/>
        </p:spPr>
      </p:sp>
      <p:pic>
        <p:nvPicPr>
          <p:cNvPr id="29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4802429"/>
            <a:ext cx="307238" cy="30723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40080" y="53675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Privacy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67512" y="565099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RGB discarded immediately after pose extraction; only de-identified data stored.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337560" y="4498848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411980" y="468172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D9622B"/>
          </a:solidFill>
          <a:ln/>
        </p:spPr>
      </p:sp>
      <p:pic>
        <p:nvPicPr>
          <p:cNvPr id="34" name="Image 1" descr="/home/clau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681" y="4802429"/>
            <a:ext cx="307238" cy="30723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474720" y="53675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Real-Time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3502152" y="565099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CPU-only edge inference (6.22 ms/window) meets the 10-windows/s throughput requirement.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172200" y="4498848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7246620" y="468172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/>
        </p:spPr>
      </p:sp>
      <p:pic>
        <p:nvPicPr>
          <p:cNvPr id="39" name="Image 2" descr="/home/claude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21" y="4802429"/>
            <a:ext cx="307238" cy="30723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309360" y="53675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Explainability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6336792" y="565099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SHAP values, per-feature z-scores, and per-landmark DTW deviation explain every flag.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9006840" y="4498848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10081260" y="468172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6B4FBB"/>
          </a:solidFill>
          <a:ln/>
        </p:spPr>
      </p:sp>
      <p:pic>
        <p:nvPicPr>
          <p:cNvPr id="4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61" y="4802429"/>
            <a:ext cx="307238" cy="30723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144000" y="53675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B42"/>
                </a:solidFill>
              </a:rPr>
              <a:t>Robustness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9171432" y="5650992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Subject-disjoint &amp; cross-dataset protocols avoid identity or domain leakage.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48" name="Text 4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COMMERCIALIZATION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&amp; Demo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2763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E5F8C"/>
          </a:solidFill>
          <a:ln/>
        </p:spPr>
      </p:sp>
      <p:pic>
        <p:nvPicPr>
          <p:cNvPr id="7" name="Image 0" descr="/home/claude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4833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64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SaaS Subscription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Modular, per-component licensing for hospitals &amp; eldercare facilities.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2763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D9622B"/>
          </a:solidFill>
          <a:ln/>
        </p:spPr>
      </p:sp>
      <p:pic>
        <p:nvPicPr>
          <p:cNvPr id="12" name="Image 1" descr="/home/claude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74833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664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Target Market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17720" y="2240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Sri Lanka &amp; South Asia's growing elderly-care sector; global market &gt;USD 180B by 2030.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83880" y="137160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162763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/>
        </p:spPr>
      </p:sp>
      <p:pic>
        <p:nvPicPr>
          <p:cNvPr id="17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174833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1664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2"/>
                </a:solidFill>
              </a:rPr>
              <a:t>Defensibility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58200" y="2240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Only platform integrating all four caregiver pain points with edge-first privacy.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622B"/>
                </a:solidFill>
              </a:rPr>
              <a:t>DEMO ROADMAP TO FINAL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31520" y="5120640"/>
            <a:ext cx="8485632" cy="0"/>
          </a:xfrm>
          <a:prstGeom prst="line">
            <a:avLst/>
          </a:prstGeom>
          <a:noFill/>
          <a:ln/>
        </p:spPr>
      </p:sp>
      <p:sp>
        <p:nvSpPr>
          <p:cNvPr id="22" name="Shape 17"/>
          <p:cNvSpPr/>
          <p:nvPr/>
        </p:nvSpPr>
        <p:spPr>
          <a:xfrm>
            <a:off x="960120" y="5120640"/>
            <a:ext cx="1664208" cy="0"/>
          </a:xfrm>
          <a:prstGeom prst="line">
            <a:avLst/>
          </a:prstGeom>
          <a:noFill/>
          <a:ln w="25400">
            <a:solidFill>
              <a:srgbClr val="C7D0D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" y="4892040"/>
            <a:ext cx="457200" cy="457200"/>
          </a:xfrm>
          <a:prstGeom prst="ellipse">
            <a:avLst/>
          </a:prstGeom>
          <a:solidFill>
            <a:srgbClr val="1E5F8C"/>
          </a:solidFill>
          <a:ln/>
        </p:spPr>
      </p:sp>
      <p:sp>
        <p:nvSpPr>
          <p:cNvPr id="24" name="Text 19"/>
          <p:cNvSpPr/>
          <p:nvPr/>
        </p:nvSpPr>
        <p:spPr>
          <a:xfrm>
            <a:off x="50292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-45720" y="42519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Stress-Risk Detection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0" y="54589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Ship the real-time FastAPI inference backend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081528" y="5120640"/>
            <a:ext cx="1664208" cy="0"/>
          </a:xfrm>
          <a:prstGeom prst="line">
            <a:avLst/>
          </a:prstGeom>
          <a:noFill/>
          <a:ln w="25400">
            <a:solidFill>
              <a:srgbClr val="C7D0D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624328" y="4892040"/>
            <a:ext cx="457200" cy="457200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9" name="Text 24"/>
          <p:cNvSpPr/>
          <p:nvPr/>
        </p:nvSpPr>
        <p:spPr>
          <a:xfrm>
            <a:off x="2624328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2075688" y="42519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Fall-Risk Detection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2121408" y="54589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Extend the webcam domain-adaptation dataset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202936" y="5120640"/>
            <a:ext cx="1664208" cy="0"/>
          </a:xfrm>
          <a:prstGeom prst="line">
            <a:avLst/>
          </a:prstGeom>
          <a:noFill/>
          <a:ln w="25400">
            <a:solidFill>
              <a:srgbClr val="C7D0D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745736" y="48920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4" name="Text 29"/>
          <p:cNvSpPr/>
          <p:nvPr/>
        </p:nvSpPr>
        <p:spPr>
          <a:xfrm>
            <a:off x="4745736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4197096" y="42519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Voice Documentation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4242816" y="54589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Add ClinicalBERT alerts + gTTS spoken handover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324344" y="5120640"/>
            <a:ext cx="1664208" cy="0"/>
          </a:xfrm>
          <a:prstGeom prst="line">
            <a:avLst/>
          </a:prstGeom>
          <a:noFill/>
          <a:ln w="25400">
            <a:solidFill>
              <a:srgbClr val="C7D0D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867144" y="4892040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39" name="Text 34"/>
          <p:cNvSpPr/>
          <p:nvPr/>
        </p:nvSpPr>
        <p:spPr>
          <a:xfrm>
            <a:off x="6867144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6318504" y="42519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Sign-Language Tutoring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6364224" y="54589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Expert / clinical feedback to raise sign accuracy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988552" y="489204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3" name="Text 38"/>
          <p:cNvSpPr/>
          <p:nvPr/>
        </p:nvSpPr>
        <p:spPr>
          <a:xfrm>
            <a:off x="8988552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8439912" y="425196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Final Demo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8485632" y="54589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One unified dashboard, all four modules live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— Data Flow &amp; Beneficiaries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1691640" cy="27432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214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2"/>
                </a:solidFill>
              </a:rPr>
              <a:t>DATA SOURCES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EMR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Voice Mics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Cameras (skeleton)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17320"/>
            <a:ext cx="3566160" cy="54864"/>
          </a:xfrm>
          <a:prstGeom prst="roundRect">
            <a:avLst/>
          </a:prstGeom>
          <a:solidFill>
            <a:srgbClr val="1E5F8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5819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5F8C"/>
          </a:solidFill>
          <a:ln/>
        </p:spPr>
      </p:sp>
      <p:pic>
        <p:nvPicPr>
          <p:cNvPr id="13" name="Image 0" descr="/home/claude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682496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9184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Caregiver Strain Detection &amp; Adaptive Redistribution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697480" y="22402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Monitors biometrics &amp; logs; prevents burnout, suggests fair shift adjustments.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97480" y="3081528"/>
            <a:ext cx="1188720" cy="228600"/>
          </a:xfrm>
          <a:prstGeom prst="roundRect">
            <a:avLst>
              <a:gd name="adj" fmla="val 48000"/>
            </a:avLst>
          </a:prstGeom>
          <a:solidFill>
            <a:srgbClr val="E4F3EA"/>
          </a:solidFill>
          <a:ln/>
        </p:spPr>
      </p:sp>
      <p:sp>
        <p:nvSpPr>
          <p:cNvPr id="17" name="Text 14"/>
          <p:cNvSpPr/>
          <p:nvPr/>
        </p:nvSpPr>
        <p:spPr>
          <a:xfrm>
            <a:off x="2697480" y="30815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STABLE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1417320"/>
            <a:ext cx="3566160" cy="54864"/>
          </a:xfrm>
          <a:prstGeom prst="roundRect">
            <a:avLst/>
          </a:prstGeom>
          <a:solidFill>
            <a:srgbClr val="D9622B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5819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622B"/>
          </a:solidFill>
          <a:ln/>
        </p:spPr>
      </p:sp>
      <p:pic>
        <p:nvPicPr>
          <p:cNvPr id="21" name="Image 1" descr="/home/claude/icons/wal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8249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Edge Fall Prediction &amp; Risk Assessment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46520" y="22402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Analyzes anonymized skeleton movement at the edge; detects instability, sends real-time alerts.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46520" y="3081528"/>
            <a:ext cx="1188720" cy="228600"/>
          </a:xfrm>
          <a:prstGeom prst="roundRect">
            <a:avLst>
              <a:gd name="adj" fmla="val 48000"/>
            </a:avLst>
          </a:prstGeom>
          <a:solidFill>
            <a:srgbClr val="E4F3EA"/>
          </a:solidFill>
          <a:ln/>
        </p:spPr>
      </p:sp>
      <p:sp>
        <p:nvSpPr>
          <p:cNvPr id="25" name="Text 21"/>
          <p:cNvSpPr/>
          <p:nvPr/>
        </p:nvSpPr>
        <p:spPr>
          <a:xfrm>
            <a:off x="6446520" y="30815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STABLE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251460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14600" y="3611880"/>
            <a:ext cx="3566160" cy="54864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28" name="Shape 24"/>
          <p:cNvSpPr/>
          <p:nvPr/>
        </p:nvSpPr>
        <p:spPr>
          <a:xfrm>
            <a:off x="2697480" y="37764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4F"/>
          </a:solidFill>
          <a:ln/>
        </p:spPr>
      </p:sp>
      <p:pic>
        <p:nvPicPr>
          <p:cNvPr id="29" name="Image 2" descr="/home/claude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3877056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29184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Context-Aware ADL Documentation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2697480" y="4434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Transcribes caregiver voice into structured, accurate ADL records; auto-generates handover summaries.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2697480" y="5276088"/>
            <a:ext cx="1188720" cy="228600"/>
          </a:xfrm>
          <a:prstGeom prst="roundRect">
            <a:avLst>
              <a:gd name="adj" fmla="val 48000"/>
            </a:avLst>
          </a:prstGeom>
          <a:solidFill>
            <a:srgbClr val="E4F3EA"/>
          </a:solidFill>
          <a:ln/>
        </p:spPr>
      </p:sp>
      <p:sp>
        <p:nvSpPr>
          <p:cNvPr id="33" name="Text 28"/>
          <p:cNvSpPr/>
          <p:nvPr/>
        </p:nvSpPr>
        <p:spPr>
          <a:xfrm>
            <a:off x="2697480" y="52760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STABLE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26364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263640" y="3611880"/>
            <a:ext cx="3566160" cy="54864"/>
          </a:xfrm>
          <a:prstGeom prst="roundRect">
            <a:avLst/>
          </a:prstGeom>
          <a:solidFill>
            <a:srgbClr val="6B4FBB"/>
          </a:solidFill>
          <a:ln/>
        </p:spPr>
      </p:sp>
      <p:sp>
        <p:nvSpPr>
          <p:cNvPr id="36" name="Shape 31"/>
          <p:cNvSpPr/>
          <p:nvPr/>
        </p:nvSpPr>
        <p:spPr>
          <a:xfrm>
            <a:off x="6446520" y="37764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6B4FBB"/>
          </a:solidFill>
          <a:ln/>
        </p:spPr>
      </p:sp>
      <p:pic>
        <p:nvPicPr>
          <p:cNvPr id="37" name="Image 3" descr="/home/claude/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877056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04088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B42"/>
                </a:solidFill>
              </a:rPr>
              <a:t>Personalized Sign-Language Tutoring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446520" y="4434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</a:rPr>
              <a:t>Uses computer vision for real-time sign recognition; delivers customized lessons and feedback.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446520" y="5276088"/>
            <a:ext cx="1188720" cy="228600"/>
          </a:xfrm>
          <a:prstGeom prst="roundRect">
            <a:avLst>
              <a:gd name="adj" fmla="val 48000"/>
            </a:avLst>
          </a:prstGeom>
          <a:solidFill>
            <a:srgbClr val="E4F3EA"/>
          </a:solidFill>
          <a:ln/>
        </p:spPr>
      </p:sp>
      <p:sp>
        <p:nvSpPr>
          <p:cNvPr id="41" name="Text 35"/>
          <p:cNvSpPr/>
          <p:nvPr/>
        </p:nvSpPr>
        <p:spPr>
          <a:xfrm>
            <a:off x="6446520" y="52760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STABLE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10012680" y="237744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0104120" y="237744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INTEGRATED AI CAREGIVING PLATFORM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2057400" y="3383280"/>
            <a:ext cx="45720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45" name="Shape 39"/>
          <p:cNvSpPr/>
          <p:nvPr/>
        </p:nvSpPr>
        <p:spPr>
          <a:xfrm>
            <a:off x="6080760" y="3291840"/>
            <a:ext cx="18288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46" name="Shape 40"/>
          <p:cNvSpPr/>
          <p:nvPr/>
        </p:nvSpPr>
        <p:spPr>
          <a:xfrm>
            <a:off x="9829800" y="3291840"/>
            <a:ext cx="182880" cy="0"/>
          </a:xfrm>
          <a:prstGeom prst="line">
            <a:avLst/>
          </a:prstGeom>
          <a:noFill/>
          <a:ln w="19050">
            <a:solidFill>
              <a:srgbClr val="B7C2D0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10195560" y="4434840"/>
            <a:ext cx="1600200" cy="173736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8" name="Text 42"/>
          <p:cNvSpPr/>
          <p:nvPr/>
        </p:nvSpPr>
        <p:spPr>
          <a:xfrm>
            <a:off x="10195560" y="4526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Beneficiaries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10287000" y="484632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Caregivers · Patients · Supervisors · Institutions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51" name="Text 4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E0A8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Project planning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Requirement analysis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Shared data strategy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Workload management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112264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2185416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IT22178640 — Workforce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12264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0370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Deterioration risk detection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2203704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Schedule stability analysis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2203704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Fair workload redistribution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203704" y="457200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Explainable case narratives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767328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D9622B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IT22057488 — Fall Prediction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67328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5876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Skeletal pose extraction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858768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Fall risk prediction model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3858768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Risk replay visualization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3858768" y="457200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False-alarm minimization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422392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2E7D4F"/>
          </a:solidFill>
          <a:ln/>
        </p:spPr>
      </p:sp>
      <p:sp>
        <p:nvSpPr>
          <p:cNvPr id="27" name="Text 25"/>
          <p:cNvSpPr/>
          <p:nvPr/>
        </p:nvSpPr>
        <p:spPr>
          <a:xfrm>
            <a:off x="5495544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IT22294098 — Voice Documentation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22392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1383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ADL speech-to-text pipeline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5513832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ADL content extraction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5513832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Voice-log documentation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513832" y="457200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Interactive report summaries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7077456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6B4FBB"/>
          </a:solidFill>
          <a:ln/>
        </p:spPr>
      </p:sp>
      <p:sp>
        <p:nvSpPr>
          <p:cNvPr id="34" name="Text 32"/>
          <p:cNvSpPr/>
          <p:nvPr/>
        </p:nvSpPr>
        <p:spPr>
          <a:xfrm>
            <a:off x="7150608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IT22289384 — Sign-Language Tutoring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77456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6889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Sign language collection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7168896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3D avatar instruction module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7168896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Adaptive feedback system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7168896" y="457200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Usability &amp; learning tests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8732520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8805672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&amp; Testing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732520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82396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Module integration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8823960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System validation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8823960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User testing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10387584" y="1325880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10460736" y="132588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Presentation &amp; Report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387584" y="1984248"/>
            <a:ext cx="1572768" cy="4416552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1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47902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Final report writing</a:t>
            </a:r>
            <a:endParaRPr lang="en-US" sz="1030" dirty="0"/>
          </a:p>
        </p:txBody>
      </p:sp>
      <p:sp>
        <p:nvSpPr>
          <p:cNvPr id="50" name="Text 48"/>
          <p:cNvSpPr/>
          <p:nvPr/>
        </p:nvSpPr>
        <p:spPr>
          <a:xfrm>
            <a:off x="10479024" y="292608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Project presentation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10479024" y="374904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A2B42"/>
                </a:solidFill>
              </a:rPr>
              <a:t>• Commercialization planning</a:t>
            </a:r>
            <a:endParaRPr lang="en-US" sz="103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Timeline — Gantt Chart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4612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Jan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Feb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5478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Mar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210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Apr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7210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May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942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Jun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8942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Jul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674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Aug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0674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Sep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1540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406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Oct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2406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Nov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3272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41380" y="1143000"/>
            <a:ext cx="708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</a:rPr>
              <a:t>Dec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041380" y="1417320"/>
            <a:ext cx="0" cy="5074920"/>
          </a:xfrm>
          <a:prstGeom prst="line">
            <a:avLst/>
          </a:prstGeom>
          <a:noFill/>
          <a:ln w="9525">
            <a:solidFill>
              <a:srgbClr val="EDF0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141732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Project Initiation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1654150"/>
            <a:ext cx="1629918" cy="372161"/>
          </a:xfrm>
          <a:prstGeom prst="roundRect">
            <a:avLst>
              <a:gd name="adj" fmla="val 12285"/>
            </a:avLst>
          </a:prstGeom>
          <a:solidFill>
            <a:srgbClr val="1E5F8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26314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Proposal &amp; Requirements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499970"/>
            <a:ext cx="921258" cy="372161"/>
          </a:xfrm>
          <a:prstGeom prst="roundRect">
            <a:avLst>
              <a:gd name="adj" fmla="val 12285"/>
            </a:avLst>
          </a:prstGeom>
          <a:solidFill>
            <a:srgbClr val="2E7D4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0896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System Design &amp; Initial Dev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72100" y="3345790"/>
            <a:ext cx="1204722" cy="372161"/>
          </a:xfrm>
          <a:prstGeom prst="roundRect">
            <a:avLst>
              <a:gd name="adj" fmla="val 12285"/>
            </a:avLst>
          </a:prstGeom>
          <a:solidFill>
            <a:srgbClr val="E0A82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95478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AI &amp; Model Development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97296" y="4191610"/>
            <a:ext cx="2055114" cy="372161"/>
          </a:xfrm>
          <a:prstGeom prst="roundRect">
            <a:avLst>
              <a:gd name="adj" fmla="val 12285"/>
            </a:avLst>
          </a:prstGeom>
          <a:solidFill>
            <a:srgbClr val="6B4FB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0060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Integration &amp; Testing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89420" y="5037430"/>
            <a:ext cx="1913382" cy="372161"/>
          </a:xfrm>
          <a:prstGeom prst="roundRect">
            <a:avLst>
              <a:gd name="adj" fmla="val 12285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646420"/>
            <a:ext cx="27432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2"/>
                </a:solidFill>
              </a:rPr>
              <a:t>Final Submissions &amp; Closeout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915400" y="5883250"/>
            <a:ext cx="2551176" cy="372161"/>
          </a:xfrm>
          <a:prstGeom prst="roundRect">
            <a:avLst>
              <a:gd name="adj" fmla="val 12285"/>
            </a:avLst>
          </a:prstGeom>
          <a:solidFill>
            <a:srgbClr val="5B6B7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8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081B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9456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Q &amp; 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</a:rPr>
              <a:t>Questions from the panel about CareSense — architecture, evaluation, and next steps.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R26-DS-010  |  CareSense  |  SLIIT Faculty of Computing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5486400" cy="5486400"/>
          </a:xfrm>
          <a:prstGeom prst="ellipse">
            <a:avLst/>
          </a:prstGeom>
          <a:solidFill>
            <a:srgbClr val="081B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A82E"/>
                </a:solidFill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R26-DS-010  ·  CareSense  ·  SLIIT Faculty of Computing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2026-08-27T06:17:36Z</dcterms:created>
  <dcterms:modified xsi:type="dcterms:W3CDTF">2026-08-27T06:17:36Z</dcterms:modified>
</cp:coreProperties>
</file>